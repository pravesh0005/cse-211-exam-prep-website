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030" r:id="rId2"/>
    <p:sldId id="4032" r:id="rId3"/>
    <p:sldId id="4033" r:id="rId4"/>
    <p:sldId id="4041" r:id="rId5"/>
    <p:sldId id="4042" r:id="rId6"/>
    <p:sldId id="4034" r:id="rId7"/>
    <p:sldId id="4035" r:id="rId8"/>
    <p:sldId id="4036" r:id="rId9"/>
    <p:sldId id="4037" r:id="rId10"/>
    <p:sldId id="4040" r:id="rId11"/>
    <p:sldId id="4039" r:id="rId12"/>
    <p:sldId id="4038" r:id="rId13"/>
    <p:sldId id="404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89599" autoAdjust="0"/>
  </p:normalViewPr>
  <p:slideViewPr>
    <p:cSldViewPr snapToGrid="0">
      <p:cViewPr varScale="1">
        <p:scale>
          <a:sx n="85" d="100"/>
          <a:sy n="85" d="100"/>
        </p:scale>
        <p:origin x="4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9:20:17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24575,'350'0'0,"-326"-1"0,0-1 0,31-8 0,-29 5 0,44-3 0,472 6 0,-262 4 0,790-2-1365,-1049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9:20:21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0 177 24575,'20'-1'0,"1"-1"0,26-7 0,23-1 0,39 5 0,85-8 0,-91 2 0,48-8 0,-83 7 0,1 3 0,94-1 0,-148 10 0,56 1 0,139-16 0,-128 6 0,0 4 0,104 7 0,-54 0 0,591-2 0,-695-1 0,52-10 0,-51 5 0,43-1 0,-25 6 0,16 0 0,82-11 0,-76 4-24,0 4 0,79 4 0,-52 2-1269,-75-2-5533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47:45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847 1 24143,'-846'498'0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47:49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24575,'113'51'0,"-66"-32"0,-1 2 0,51 33 0,-74-40 0,42 18 0,4 3 0,-58-29 0,366 196 0,-364-195 0,1 1 0,-1 0 0,-1 1 0,0 1 0,17 16 0,-16-14 0,1 0 0,0-1 0,20 12 0,-13-10-1365,-4-3-5461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47:51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24575,'1057'0'0,"-883"12"0,-25 0 0,144-12-1365,-273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3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0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aplayground.com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2273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Overview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4336434" y="1168124"/>
            <a:ext cx="5354413" cy="4170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History, Evolution Of HDL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Typical HDL- based Design Flow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Comparison with Software Programming Languages</a:t>
            </a: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Verilog</a:t>
            </a: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Register Transfer and Micro Operation</a:t>
            </a: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Register Transfer Language</a:t>
            </a: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Bus and Memory Transfer</a:t>
            </a: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Shift Register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Micro operations (Arithmetic, logic, shift)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Addition, Subtraction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 Multiplication Algorithm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cs typeface="Arial" panose="020B0604020202020204" pitchFamily="34" charset="0"/>
              </a:rPr>
              <a:t> Booth Multiplication</a:t>
            </a: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28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FA0AE8-42EB-6A17-B27D-B447202ADEEB}"/>
              </a:ext>
            </a:extLst>
          </p:cNvPr>
          <p:cNvSpPr txBox="1"/>
          <p:nvPr/>
        </p:nvSpPr>
        <p:spPr>
          <a:xfrm>
            <a:off x="528918" y="582705"/>
            <a:ext cx="111341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cs typeface="Arial" panose="020B0604020202020204" pitchFamily="34" charset="0"/>
              </a:rPr>
              <a:t>History of HDL (</a:t>
            </a:r>
            <a:r>
              <a:rPr lang="en-US" sz="4000" b="1" dirty="0">
                <a:solidFill>
                  <a:schemeClr val="tx2"/>
                </a:solidFill>
                <a:cs typeface="Arial" panose="020B0604020202020204" pitchFamily="34" charset="0"/>
              </a:rPr>
              <a:t>Hardware Description Languages)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6E756-43A0-6A02-4115-736AC0A6EA99}"/>
              </a:ext>
            </a:extLst>
          </p:cNvPr>
          <p:cNvSpPr txBox="1"/>
          <p:nvPr/>
        </p:nvSpPr>
        <p:spPr>
          <a:xfrm>
            <a:off x="528918" y="2339788"/>
            <a:ext cx="110445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early days, digital circuits were designed using manual schematics and logic gates.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drew circuits using AND, OR, NOT gates on paper.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systems became complex (microprocessors, controllers, FPGA designs), manual design became difficult and error-prone.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Designers needed a faster and more reliable way to describe hardware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59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A04EE-500A-B5EB-B8A3-CD893DF33D6B}"/>
              </a:ext>
            </a:extLst>
          </p:cNvPr>
          <p:cNvSpPr txBox="1"/>
          <p:nvPr/>
        </p:nvSpPr>
        <p:spPr>
          <a:xfrm>
            <a:off x="645459" y="1622272"/>
            <a:ext cx="10901082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digital system design, Hardware Description Languages (HDLs) were introduced.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HDLs allow engineers to describe hardware behavior using code rather than drawing circuits.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Designers can model systems at different levels such as behavioral, dataflow, and structural level.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most widely used HDLs are: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VHDL (Very High-Speed Integrated Circuit Hardware Description Language)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81970-B302-0921-1547-4F7FCFCB6C03}"/>
              </a:ext>
            </a:extLst>
          </p:cNvPr>
          <p:cNvSpPr txBox="1"/>
          <p:nvPr/>
        </p:nvSpPr>
        <p:spPr>
          <a:xfrm>
            <a:off x="887506" y="475129"/>
            <a:ext cx="104169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Evolution of Hardware Description Languages (HDLs)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2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D00B1F-4791-DE2B-F6D6-D563A8B0A066}"/>
              </a:ext>
            </a:extLst>
          </p:cNvPr>
          <p:cNvSpPr txBox="1"/>
          <p:nvPr/>
        </p:nvSpPr>
        <p:spPr>
          <a:xfrm>
            <a:off x="1237129" y="493059"/>
            <a:ext cx="10228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Typical HDL-Based Design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FC8DA-E38E-C612-E91B-899764CD17E8}"/>
              </a:ext>
            </a:extLst>
          </p:cNvPr>
          <p:cNvSpPr txBox="1"/>
          <p:nvPr/>
        </p:nvSpPr>
        <p:spPr>
          <a:xfrm>
            <a:off x="806824" y="1200945"/>
            <a:ext cx="889298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 design follows a systematic process: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→ Simulation → Synthesis → Verification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Write HDL code describing the circuit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Test the design using a simulator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Convert HDL code into hardware gates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Ensure the circuit produces correct outputs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8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6C02F8-5CED-17D1-BF1D-37127105D6C7}"/>
              </a:ext>
            </a:extLst>
          </p:cNvPr>
          <p:cNvSpPr txBox="1"/>
          <p:nvPr/>
        </p:nvSpPr>
        <p:spPr>
          <a:xfrm>
            <a:off x="1623209" y="654050"/>
            <a:ext cx="9690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HDL Design Flow Using EDA Playground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6C8C0-FDB8-D762-368F-4BC547AEAF3F}"/>
              </a:ext>
            </a:extLst>
          </p:cNvPr>
          <p:cNvSpPr txBox="1"/>
          <p:nvPr/>
        </p:nvSpPr>
        <p:spPr>
          <a:xfrm>
            <a:off x="701040" y="1182370"/>
            <a:ext cx="876628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 in the simulator: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Write Verilog Design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Describe the hardware circuit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Create Testbench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Apply input signals for testing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Run Simulation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Execute the design using simulator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View Waveform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Observe signal behavior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EPWave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Verify Output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Compare results with expected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57764A-79D0-E97A-CF65-69AB7534ADAF}"/>
              </a:ext>
            </a:extLst>
          </p:cNvPr>
          <p:cNvSpPr txBox="1"/>
          <p:nvPr/>
        </p:nvSpPr>
        <p:spPr>
          <a:xfrm>
            <a:off x="1344706" y="1335741"/>
            <a:ext cx="9403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for simulator </a:t>
            </a:r>
          </a:p>
          <a:p>
            <a:r>
              <a:rPr lang="en-US" dirty="0">
                <a:hlinkClick r:id="rId2"/>
              </a:rPr>
              <a:t>https://www.edaplayground.com/</a:t>
            </a:r>
            <a:endParaRPr lang="en-US" dirty="0"/>
          </a:p>
          <a:p>
            <a:r>
              <a:rPr lang="en-US" dirty="0"/>
              <a:t>Sign with google account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2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087E34-4612-176C-088F-D060BDDD7B37}"/>
              </a:ext>
            </a:extLst>
          </p:cNvPr>
          <p:cNvSpPr txBox="1"/>
          <p:nvPr/>
        </p:nvSpPr>
        <p:spPr>
          <a:xfrm>
            <a:off x="1075765" y="1021976"/>
            <a:ext cx="107217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Left Window – Testbench (testbench.sv)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where you write the testbench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testbench is used to provide inputs and check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simulates how the circuit behaves.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Right Window – Design (design.sv)</a:t>
            </a:r>
          </a:p>
          <a:p>
            <a:r>
              <a:rPr lang="en-US" dirty="0"/>
              <a:t>This is where you write the actual Verilog circuit design.</a:t>
            </a:r>
          </a:p>
          <a:p>
            <a:r>
              <a:rPr lang="en-US" dirty="0"/>
              <a:t>Example (AND Gate):</a:t>
            </a:r>
          </a:p>
          <a:p>
            <a:endParaRPr lang="en-US" dirty="0"/>
          </a:p>
          <a:p>
            <a:r>
              <a:rPr lang="en-US" b="1" dirty="0"/>
              <a:t>Run the Simulation</a:t>
            </a:r>
          </a:p>
          <a:p>
            <a:r>
              <a:rPr lang="en-US" dirty="0"/>
              <a:t>Steps:</a:t>
            </a:r>
          </a:p>
          <a:p>
            <a:r>
              <a:rPr lang="en-US" dirty="0"/>
              <a:t>Write </a:t>
            </a:r>
            <a:r>
              <a:rPr lang="en-US" b="1" dirty="0"/>
              <a:t>design code</a:t>
            </a:r>
            <a:r>
              <a:rPr lang="en-US" dirty="0"/>
              <a:t> on the </a:t>
            </a:r>
            <a:r>
              <a:rPr lang="en-US" b="1" dirty="0"/>
              <a:t>right side</a:t>
            </a:r>
            <a:r>
              <a:rPr lang="en-US" dirty="0"/>
              <a:t>.</a:t>
            </a:r>
          </a:p>
          <a:p>
            <a:r>
              <a:rPr lang="en-US" dirty="0"/>
              <a:t>Write </a:t>
            </a:r>
            <a:r>
              <a:rPr lang="en-US" b="1" dirty="0"/>
              <a:t>testbench code</a:t>
            </a:r>
            <a:r>
              <a:rPr lang="en-US" dirty="0"/>
              <a:t> on the </a:t>
            </a:r>
            <a:r>
              <a:rPr lang="en-US" b="1" dirty="0"/>
              <a:t>left side</a:t>
            </a:r>
            <a:r>
              <a:rPr lang="en-US" dirty="0"/>
              <a:t>.</a:t>
            </a:r>
          </a:p>
          <a:p>
            <a:r>
              <a:rPr lang="en-US" dirty="0"/>
              <a:t>Click </a:t>
            </a:r>
            <a:r>
              <a:rPr lang="en-US" b="1" dirty="0"/>
              <a:t>Run</a:t>
            </a:r>
            <a:r>
              <a:rPr lang="en-US" dirty="0"/>
              <a:t> (top blue button).</a:t>
            </a:r>
          </a:p>
          <a:p>
            <a:r>
              <a:rPr lang="en-US" dirty="0"/>
              <a:t>Output will appear in the </a:t>
            </a:r>
            <a:r>
              <a:rPr lang="en-US" b="1" dirty="0"/>
              <a:t>Log window</a:t>
            </a:r>
            <a:r>
              <a:rPr lang="en-US" dirty="0"/>
              <a:t> below.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8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257AC3-86A7-82D9-6A12-13BA3CCB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70" y="851647"/>
            <a:ext cx="11510683" cy="5700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0E300A-3254-640D-0625-9460EB9E123A}"/>
                  </a:ext>
                </a:extLst>
              </p14:cNvPr>
              <p14:cNvContentPartPr/>
              <p14:nvPr/>
            </p14:nvContentPartPr>
            <p14:xfrm>
              <a:off x="295821" y="2527009"/>
              <a:ext cx="886680" cy="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0E300A-3254-640D-0625-9460EB9E12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501" y="2522689"/>
                <a:ext cx="8953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67CDF5-9568-0868-7EEB-8C371CFB2EF8}"/>
                  </a:ext>
                </a:extLst>
              </p14:cNvPr>
              <p14:cNvContentPartPr/>
              <p14:nvPr/>
            </p14:nvContentPartPr>
            <p14:xfrm>
              <a:off x="340821" y="3468409"/>
              <a:ext cx="1218240" cy="63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67CDF5-9568-0868-7EEB-8C371CFB2E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6501" y="3464089"/>
                <a:ext cx="122688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76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DBD656-A6EE-211B-3B81-EC1599449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1390"/>
            <a:ext cx="12192000" cy="2623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3DA513-8008-E2BA-8B07-1AF7AE7DB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6" y="3657600"/>
            <a:ext cx="852991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3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44B02E-D6EC-BAAB-2296-07B27C358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1557076"/>
            <a:ext cx="9850225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97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C02EE3-A90A-E443-40B6-0C980492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058"/>
            <a:ext cx="12192000" cy="5252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422BB2-5D1C-C339-7899-BC4B92B45DF2}"/>
              </a:ext>
            </a:extLst>
          </p:cNvPr>
          <p:cNvSpPr txBox="1"/>
          <p:nvPr/>
        </p:nvSpPr>
        <p:spPr>
          <a:xfrm>
            <a:off x="896471" y="690282"/>
            <a:ext cx="623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 Adder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D74558-A82A-AC8E-8986-CACA75007DBF}"/>
                  </a:ext>
                </a:extLst>
              </p14:cNvPr>
              <p14:cNvContentPartPr/>
              <p14:nvPr/>
            </p14:nvContentPartPr>
            <p14:xfrm>
              <a:off x="9260181" y="2267809"/>
              <a:ext cx="305280" cy="17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D74558-A82A-AC8E-8986-CACA75007D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55861" y="2263489"/>
                <a:ext cx="31392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6EC83EE-9B78-20A6-399C-EA10C6FDD371}"/>
              </a:ext>
            </a:extLst>
          </p:cNvPr>
          <p:cNvGrpSpPr/>
          <p:nvPr/>
        </p:nvGrpSpPr>
        <p:grpSpPr>
          <a:xfrm>
            <a:off x="9287181" y="2429449"/>
            <a:ext cx="636840" cy="227880"/>
            <a:chOff x="9287181" y="2429449"/>
            <a:chExt cx="63684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4C6E2B-5BDB-EF2C-2CC1-745A3E475F83}"/>
                    </a:ext>
                  </a:extLst>
                </p14:cNvPr>
                <p14:cNvContentPartPr/>
                <p14:nvPr/>
              </p14:nvContentPartPr>
              <p14:xfrm>
                <a:off x="9287181" y="2447089"/>
                <a:ext cx="379800" cy="21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4C6E2B-5BDB-EF2C-2CC1-745A3E475F8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282861" y="2442769"/>
                  <a:ext cx="388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65459D-1FA5-F31B-401F-4BBA21A28D9B}"/>
                    </a:ext>
                  </a:extLst>
                </p14:cNvPr>
                <p14:cNvContentPartPr/>
                <p14:nvPr/>
              </p14:nvContentPartPr>
              <p14:xfrm>
                <a:off x="9314181" y="2429449"/>
                <a:ext cx="609840" cy="9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65459D-1FA5-F31B-401F-4BBA21A28D9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09861" y="2425129"/>
                  <a:ext cx="61848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8F6407-9C31-CC5C-8A27-AB0C9C4A4123}"/>
              </a:ext>
            </a:extLst>
          </p:cNvPr>
          <p:cNvSpPr txBox="1"/>
          <p:nvPr/>
        </p:nvSpPr>
        <p:spPr>
          <a:xfrm>
            <a:off x="9924021" y="2079812"/>
            <a:ext cx="199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Verilog code</a:t>
            </a:r>
          </a:p>
        </p:txBody>
      </p:sp>
    </p:spTree>
    <p:extLst>
      <p:ext uri="{BB962C8B-B14F-4D97-AF65-F5344CB8AC3E}">
        <p14:creationId xmlns:p14="http://schemas.microsoft.com/office/powerpoint/2010/main" val="51529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A9FE2-4438-FE85-9CF7-5692CC42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6220"/>
            <a:ext cx="12192000" cy="20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91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4283F7-9664-CB9A-F272-97B111A83F44}"/>
              </a:ext>
            </a:extLst>
          </p:cNvPr>
          <p:cNvSpPr txBox="1"/>
          <p:nvPr/>
        </p:nvSpPr>
        <p:spPr>
          <a:xfrm>
            <a:off x="1127760" y="704354"/>
            <a:ext cx="1037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Comparison: HDL vs Software Programming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4321CB-C577-2304-93EF-70EDAF221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33642"/>
              </p:ext>
            </p:extLst>
          </p:nvPr>
        </p:nvGraphicFramePr>
        <p:xfrm>
          <a:off x="838200" y="1778000"/>
          <a:ext cx="10515600" cy="350345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506851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25367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79784"/>
                    </a:ext>
                  </a:extLst>
                </a:gridCol>
              </a:tblGrid>
              <a:tr h="70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Software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HDL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927493"/>
                  </a:ext>
                </a:extLst>
              </a:tr>
              <a:tr h="70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 software programs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Design hardware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564793"/>
                  </a:ext>
                </a:extLst>
              </a:tr>
              <a:tr h="70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Sequential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Parallel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2207"/>
                  </a:ext>
                </a:extLst>
              </a:tr>
              <a:tr h="70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C, Java,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Verilog, VHDL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064337"/>
                  </a:ext>
                </a:extLst>
              </a:tr>
              <a:tr h="70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Software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Digital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624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4266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26874</TotalTime>
  <Words>474</Words>
  <Application>Microsoft Office PowerPoint</Application>
  <PresentationFormat>Widescreen</PresentationFormat>
  <Paragraphs>87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Aarti Shar</cp:lastModifiedBy>
  <cp:revision>135</cp:revision>
  <dcterms:created xsi:type="dcterms:W3CDTF">2024-12-19T08:47:23Z</dcterms:created>
  <dcterms:modified xsi:type="dcterms:W3CDTF">2026-03-16T06:48:09Z</dcterms:modified>
</cp:coreProperties>
</file>