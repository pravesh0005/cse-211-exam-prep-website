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4074" r:id="rId2"/>
    <p:sldId id="4022" r:id="rId3"/>
    <p:sldId id="4023" r:id="rId4"/>
    <p:sldId id="4028" r:id="rId5"/>
    <p:sldId id="4075" r:id="rId6"/>
    <p:sldId id="4029" r:id="rId7"/>
    <p:sldId id="4030" r:id="rId8"/>
    <p:sldId id="4031" r:id="rId9"/>
    <p:sldId id="4032" r:id="rId10"/>
    <p:sldId id="4067" r:id="rId11"/>
    <p:sldId id="4033" r:id="rId12"/>
    <p:sldId id="4068" r:id="rId13"/>
    <p:sldId id="4034" r:id="rId14"/>
    <p:sldId id="4035" r:id="rId15"/>
    <p:sldId id="4069" r:id="rId16"/>
    <p:sldId id="4036" r:id="rId17"/>
    <p:sldId id="4070" r:id="rId18"/>
    <p:sldId id="4037" r:id="rId19"/>
    <p:sldId id="4038" r:id="rId20"/>
    <p:sldId id="4039" r:id="rId21"/>
    <p:sldId id="4040" r:id="rId22"/>
    <p:sldId id="4041" r:id="rId23"/>
    <p:sldId id="4042" r:id="rId24"/>
    <p:sldId id="4071" r:id="rId25"/>
    <p:sldId id="4043" r:id="rId26"/>
    <p:sldId id="4044" r:id="rId27"/>
    <p:sldId id="4076" r:id="rId28"/>
    <p:sldId id="4045" r:id="rId29"/>
    <p:sldId id="4046" r:id="rId30"/>
    <p:sldId id="4047" r:id="rId31"/>
    <p:sldId id="4048" r:id="rId32"/>
    <p:sldId id="4049" r:id="rId33"/>
    <p:sldId id="4050" r:id="rId34"/>
    <p:sldId id="4051" r:id="rId35"/>
    <p:sldId id="4052" r:id="rId36"/>
    <p:sldId id="4077" r:id="rId37"/>
    <p:sldId id="4053" r:id="rId38"/>
    <p:sldId id="4054" r:id="rId39"/>
    <p:sldId id="4055" r:id="rId40"/>
    <p:sldId id="4056" r:id="rId41"/>
    <p:sldId id="4057" r:id="rId42"/>
    <p:sldId id="4058" r:id="rId43"/>
    <p:sldId id="4072" r:id="rId44"/>
    <p:sldId id="4059" r:id="rId45"/>
    <p:sldId id="4060" r:id="rId46"/>
    <p:sldId id="4073" r:id="rId47"/>
    <p:sldId id="4061" r:id="rId48"/>
    <p:sldId id="4062" r:id="rId49"/>
    <p:sldId id="4063" r:id="rId50"/>
    <p:sldId id="4064" r:id="rId51"/>
    <p:sldId id="4065" r:id="rId52"/>
    <p:sldId id="4066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6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F1E273-25F7-4820-BA54-BBBE448866A6}" v="282" dt="2026-01-29T01:30:47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9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Negi" userId="a2cd59b2fb4601fa" providerId="LiveId" clId="{A0752751-C24E-40F3-8C0E-0655707D2AE4}"/>
    <pc:docChg chg="undo redo custSel addSld delSld modSld">
      <pc:chgData name="Deepa Negi" userId="a2cd59b2fb4601fa" providerId="LiveId" clId="{A0752751-C24E-40F3-8C0E-0655707D2AE4}" dt="2026-01-29T01:36:20.191" v="2606" actId="20577"/>
      <pc:docMkLst>
        <pc:docMk/>
      </pc:docMkLst>
      <pc:sldChg chg="addSp modSp mod">
        <pc:chgData name="Deepa Negi" userId="a2cd59b2fb4601fa" providerId="LiveId" clId="{A0752751-C24E-40F3-8C0E-0655707D2AE4}" dt="2026-01-19T15:07:20.935" v="184" actId="113"/>
        <pc:sldMkLst>
          <pc:docMk/>
          <pc:sldMk cId="4099957629" sldId="4022"/>
        </pc:sldMkLst>
        <pc:spChg chg="add mod">
          <ac:chgData name="Deepa Negi" userId="a2cd59b2fb4601fa" providerId="LiveId" clId="{A0752751-C24E-40F3-8C0E-0655707D2AE4}" dt="2026-01-19T15:07:20.935" v="184" actId="113"/>
          <ac:spMkLst>
            <pc:docMk/>
            <pc:sldMk cId="4099957629" sldId="4022"/>
            <ac:spMk id="4" creationId="{409CAE30-8268-6C5A-8120-D47F2EF84E21}"/>
          </ac:spMkLst>
        </pc:spChg>
        <pc:picChg chg="mod">
          <ac:chgData name="Deepa Negi" userId="a2cd59b2fb4601fa" providerId="LiveId" clId="{A0752751-C24E-40F3-8C0E-0655707D2AE4}" dt="2026-01-19T15:01:57.023" v="96" actId="1076"/>
          <ac:picMkLst>
            <pc:docMk/>
            <pc:sldMk cId="4099957629" sldId="4022"/>
            <ac:picMk id="1026" creationId="{00000000-0000-0000-0000-000000000000}"/>
          </ac:picMkLst>
        </pc:picChg>
      </pc:sldChg>
      <pc:sldChg chg="addSp delSp modSp mod">
        <pc:chgData name="Deepa Negi" userId="a2cd59b2fb4601fa" providerId="LiveId" clId="{A0752751-C24E-40F3-8C0E-0655707D2AE4}" dt="2026-01-19T15:09:43.868" v="205" actId="1076"/>
        <pc:sldMkLst>
          <pc:docMk/>
          <pc:sldMk cId="3687875495" sldId="4023"/>
        </pc:sldMkLst>
        <pc:spChg chg="mod">
          <ac:chgData name="Deepa Negi" userId="a2cd59b2fb4601fa" providerId="LiveId" clId="{A0752751-C24E-40F3-8C0E-0655707D2AE4}" dt="2026-01-19T15:09:43.868" v="205" actId="1076"/>
          <ac:spMkLst>
            <pc:docMk/>
            <pc:sldMk cId="3687875495" sldId="4023"/>
            <ac:spMk id="3" creationId="{00000000-0000-0000-0000-000000000000}"/>
          </ac:spMkLst>
        </pc:spChg>
        <pc:spChg chg="add mod">
          <ac:chgData name="Deepa Negi" userId="a2cd59b2fb4601fa" providerId="LiveId" clId="{A0752751-C24E-40F3-8C0E-0655707D2AE4}" dt="2026-01-19T15:09:30.229" v="202" actId="1076"/>
          <ac:spMkLst>
            <pc:docMk/>
            <pc:sldMk cId="3687875495" sldId="4023"/>
            <ac:spMk id="6" creationId="{A24B5813-44D7-A83B-68F6-7D8E2CFECA41}"/>
          </ac:spMkLst>
        </pc:spChg>
      </pc:sldChg>
      <pc:sldChg chg="addSp delSp modSp mod">
        <pc:chgData name="Deepa Negi" userId="a2cd59b2fb4601fa" providerId="LiveId" clId="{A0752751-C24E-40F3-8C0E-0655707D2AE4}" dt="2026-01-19T15:15:19.628" v="253" actId="1076"/>
        <pc:sldMkLst>
          <pc:docMk/>
          <pc:sldMk cId="442812404" sldId="4028"/>
        </pc:sldMkLst>
        <pc:spChg chg="mod">
          <ac:chgData name="Deepa Negi" userId="a2cd59b2fb4601fa" providerId="LiveId" clId="{A0752751-C24E-40F3-8C0E-0655707D2AE4}" dt="2026-01-18T11:06:19.477" v="19" actId="1076"/>
          <ac:spMkLst>
            <pc:docMk/>
            <pc:sldMk cId="442812404" sldId="4028"/>
            <ac:spMk id="2" creationId="{00000000-0000-0000-0000-000000000000}"/>
          </ac:spMkLst>
        </pc:spChg>
        <pc:spChg chg="add mod">
          <ac:chgData name="Deepa Negi" userId="a2cd59b2fb4601fa" providerId="LiveId" clId="{A0752751-C24E-40F3-8C0E-0655707D2AE4}" dt="2026-01-18T11:06:23.703" v="20" actId="1076"/>
          <ac:spMkLst>
            <pc:docMk/>
            <pc:sldMk cId="442812404" sldId="4028"/>
            <ac:spMk id="3" creationId="{A825E5B5-DD1B-0C7C-6537-54792BCC7073}"/>
          </ac:spMkLst>
        </pc:spChg>
        <pc:spChg chg="add mod">
          <ac:chgData name="Deepa Negi" userId="a2cd59b2fb4601fa" providerId="LiveId" clId="{A0752751-C24E-40F3-8C0E-0655707D2AE4}" dt="2026-01-19T15:15:19.628" v="253" actId="1076"/>
          <ac:spMkLst>
            <pc:docMk/>
            <pc:sldMk cId="442812404" sldId="4028"/>
            <ac:spMk id="7" creationId="{1F860098-C761-1B7E-4FC5-703ABE2BAC04}"/>
          </ac:spMkLst>
        </pc:spChg>
        <pc:picChg chg="mod">
          <ac:chgData name="Deepa Negi" userId="a2cd59b2fb4601fa" providerId="LiveId" clId="{A0752751-C24E-40F3-8C0E-0655707D2AE4}" dt="2026-01-19T15:12:07.136" v="234" actId="1076"/>
          <ac:picMkLst>
            <pc:docMk/>
            <pc:sldMk cId="442812404" sldId="4028"/>
            <ac:picMk id="1026" creationId="{00000000-0000-0000-0000-000000000000}"/>
          </ac:picMkLst>
        </pc:picChg>
      </pc:sldChg>
      <pc:sldChg chg="addSp delSp modSp mod">
        <pc:chgData name="Deepa Negi" userId="a2cd59b2fb4601fa" providerId="LiveId" clId="{A0752751-C24E-40F3-8C0E-0655707D2AE4}" dt="2026-01-19T15:26:04.242" v="310" actId="255"/>
        <pc:sldMkLst>
          <pc:docMk/>
          <pc:sldMk cId="1202422461" sldId="4030"/>
        </pc:sldMkLst>
        <pc:spChg chg="mod">
          <ac:chgData name="Deepa Negi" userId="a2cd59b2fb4601fa" providerId="LiveId" clId="{A0752751-C24E-40F3-8C0E-0655707D2AE4}" dt="2026-01-19T15:26:04.242" v="310" actId="255"/>
          <ac:spMkLst>
            <pc:docMk/>
            <pc:sldMk cId="1202422461" sldId="4030"/>
            <ac:spMk id="3078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1T13:06:56.611" v="630" actId="14100"/>
        <pc:sldMkLst>
          <pc:docMk/>
          <pc:sldMk cId="843877258" sldId="4031"/>
        </pc:sldMkLst>
        <pc:spChg chg="add mod">
          <ac:chgData name="Deepa Negi" userId="a2cd59b2fb4601fa" providerId="LiveId" clId="{A0752751-C24E-40F3-8C0E-0655707D2AE4}" dt="2026-01-19T15:33:20.795" v="328" actId="20577"/>
          <ac:spMkLst>
            <pc:docMk/>
            <pc:sldMk cId="843877258" sldId="4031"/>
            <ac:spMk id="3" creationId="{EF331162-5550-2262-CBBE-93DA9AF2A835}"/>
          </ac:spMkLst>
        </pc:spChg>
        <pc:spChg chg="add mod">
          <ac:chgData name="Deepa Negi" userId="a2cd59b2fb4601fa" providerId="LiveId" clId="{A0752751-C24E-40F3-8C0E-0655707D2AE4}" dt="2026-01-19T15:33:27.241" v="335" actId="20577"/>
          <ac:spMkLst>
            <pc:docMk/>
            <pc:sldMk cId="843877258" sldId="4031"/>
            <ac:spMk id="6" creationId="{8F01A1DB-DD0F-F834-F066-0A051CAC9B4B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4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5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6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7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8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09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10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11" creationId="{00000000-0000-0000-0000-000000000000}"/>
          </ac:spMkLst>
        </pc:spChg>
        <pc:spChg chg="mod">
          <ac:chgData name="Deepa Negi" userId="a2cd59b2fb4601fa" providerId="LiveId" clId="{A0752751-C24E-40F3-8C0E-0655707D2AE4}" dt="2026-01-21T13:06:56.611" v="630" actId="14100"/>
          <ac:spMkLst>
            <pc:docMk/>
            <pc:sldMk cId="843877258" sldId="4031"/>
            <ac:spMk id="4112" creationId="{00000000-0000-0000-0000-000000000000}"/>
          </ac:spMkLst>
        </pc:spChg>
        <pc:grpChg chg="mod">
          <ac:chgData name="Deepa Negi" userId="a2cd59b2fb4601fa" providerId="LiveId" clId="{A0752751-C24E-40F3-8C0E-0655707D2AE4}" dt="2026-01-21T13:06:56.611" v="630" actId="14100"/>
          <ac:grpSpMkLst>
            <pc:docMk/>
            <pc:sldMk cId="843877258" sldId="4031"/>
            <ac:grpSpMk id="4102" creationId="{00000000-0000-0000-0000-000000000000}"/>
          </ac:grpSpMkLst>
        </pc:grpChg>
      </pc:sldChg>
      <pc:sldChg chg="modSp mod">
        <pc:chgData name="Deepa Negi" userId="a2cd59b2fb4601fa" providerId="LiveId" clId="{A0752751-C24E-40F3-8C0E-0655707D2AE4}" dt="2026-01-19T15:41:17.139" v="391" actId="14100"/>
        <pc:sldMkLst>
          <pc:docMk/>
          <pc:sldMk cId="620098478" sldId="4032"/>
        </pc:sldMkLst>
        <pc:spChg chg="mod">
          <ac:chgData name="Deepa Negi" userId="a2cd59b2fb4601fa" providerId="LiveId" clId="{A0752751-C24E-40F3-8C0E-0655707D2AE4}" dt="2026-01-19T15:37:17.861" v="357" actId="14100"/>
          <ac:spMkLst>
            <pc:docMk/>
            <pc:sldMk cId="620098478" sldId="4032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19T15:41:17.139" v="391" actId="14100"/>
          <ac:spMkLst>
            <pc:docMk/>
            <pc:sldMk cId="620098478" sldId="4032"/>
            <ac:spMk id="5127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0T13:26:34.004" v="464" actId="20577"/>
        <pc:sldMkLst>
          <pc:docMk/>
          <pc:sldMk cId="2337495966" sldId="4033"/>
        </pc:sldMkLst>
        <pc:spChg chg="add mod">
          <ac:chgData name="Deepa Negi" userId="a2cd59b2fb4601fa" providerId="LiveId" clId="{A0752751-C24E-40F3-8C0E-0655707D2AE4}" dt="2026-01-20T13:26:34.004" v="464" actId="20577"/>
          <ac:spMkLst>
            <pc:docMk/>
            <pc:sldMk cId="2337495966" sldId="4033"/>
            <ac:spMk id="3" creationId="{BD5E5B7F-CC1F-473E-7305-F11BFB563F29}"/>
          </ac:spMkLst>
        </pc:spChg>
        <pc:spChg chg="mod">
          <ac:chgData name="Deepa Negi" userId="a2cd59b2fb4601fa" providerId="LiveId" clId="{A0752751-C24E-40F3-8C0E-0655707D2AE4}" dt="2026-01-20T13:17:04.033" v="429" actId="207"/>
          <ac:spMkLst>
            <pc:docMk/>
            <pc:sldMk cId="2337495966" sldId="4033"/>
            <ac:spMk id="6150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18T11:29:59.414" v="26" actId="207"/>
        <pc:sldMkLst>
          <pc:docMk/>
          <pc:sldMk cId="4239563936" sldId="4034"/>
        </pc:sldMkLst>
        <pc:spChg chg="mod">
          <ac:chgData name="Deepa Negi" userId="a2cd59b2fb4601fa" providerId="LiveId" clId="{A0752751-C24E-40F3-8C0E-0655707D2AE4}" dt="2026-01-18T11:29:59.414" v="26" actId="207"/>
          <ac:spMkLst>
            <pc:docMk/>
            <pc:sldMk cId="4239563936" sldId="4034"/>
            <ac:spMk id="7174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0T13:46:19.021" v="507" actId="255"/>
        <pc:sldMkLst>
          <pc:docMk/>
          <pc:sldMk cId="674452085" sldId="4035"/>
        </pc:sldMkLst>
        <pc:spChg chg="mod">
          <ac:chgData name="Deepa Negi" userId="a2cd59b2fb4601fa" providerId="LiveId" clId="{A0752751-C24E-40F3-8C0E-0655707D2AE4}" dt="2026-01-20T13:46:19.021" v="507" actId="255"/>
          <ac:spMkLst>
            <pc:docMk/>
            <pc:sldMk cId="674452085" sldId="4035"/>
            <ac:spMk id="8199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0T14:07:35.536" v="532" actId="14100"/>
        <pc:sldMkLst>
          <pc:docMk/>
          <pc:sldMk cId="1898807402" sldId="4036"/>
        </pc:sldMkLst>
        <pc:spChg chg="mod">
          <ac:chgData name="Deepa Negi" userId="a2cd59b2fb4601fa" providerId="LiveId" clId="{A0752751-C24E-40F3-8C0E-0655707D2AE4}" dt="2026-01-20T14:07:35.536" v="532" actId="14100"/>
          <ac:spMkLst>
            <pc:docMk/>
            <pc:sldMk cId="1898807402" sldId="4036"/>
            <ac:spMk id="9223" creationId="{00000000-0000-0000-0000-000000000000}"/>
          </ac:spMkLst>
        </pc:spChg>
      </pc:sldChg>
      <pc:sldChg chg="addSp delSp modSp mod">
        <pc:chgData name="Deepa Negi" userId="a2cd59b2fb4601fa" providerId="LiveId" clId="{A0752751-C24E-40F3-8C0E-0655707D2AE4}" dt="2026-01-20T14:20:36" v="552" actId="1076"/>
        <pc:sldMkLst>
          <pc:docMk/>
          <pc:sldMk cId="870999493" sldId="4037"/>
        </pc:sldMkLst>
        <pc:spChg chg="add mod">
          <ac:chgData name="Deepa Negi" userId="a2cd59b2fb4601fa" providerId="LiveId" clId="{A0752751-C24E-40F3-8C0E-0655707D2AE4}" dt="2026-01-20T14:20:36" v="552" actId="1076"/>
          <ac:spMkLst>
            <pc:docMk/>
            <pc:sldMk cId="870999493" sldId="4037"/>
            <ac:spMk id="7" creationId="{836AAA26-2E22-CCF7-D23F-E0444B358762}"/>
          </ac:spMkLst>
        </pc:spChg>
        <pc:picChg chg="mod">
          <ac:chgData name="Deepa Negi" userId="a2cd59b2fb4601fa" providerId="LiveId" clId="{A0752751-C24E-40F3-8C0E-0655707D2AE4}" dt="2026-01-20T14:13:54.560" v="535" actId="1076"/>
          <ac:picMkLst>
            <pc:docMk/>
            <pc:sldMk cId="870999493" sldId="4037"/>
            <ac:picMk id="10242" creationId="{00000000-0000-0000-0000-000000000000}"/>
          </ac:picMkLst>
        </pc:picChg>
      </pc:sldChg>
      <pc:sldChg chg="addSp delSp modSp mod">
        <pc:chgData name="Deepa Negi" userId="a2cd59b2fb4601fa" providerId="LiveId" clId="{A0752751-C24E-40F3-8C0E-0655707D2AE4}" dt="2026-01-20T14:22:53.171" v="569" actId="1076"/>
        <pc:sldMkLst>
          <pc:docMk/>
          <pc:sldMk cId="304060501" sldId="4038"/>
        </pc:sldMkLst>
        <pc:spChg chg="add mod">
          <ac:chgData name="Deepa Negi" userId="a2cd59b2fb4601fa" providerId="LiveId" clId="{A0752751-C24E-40F3-8C0E-0655707D2AE4}" dt="2026-01-20T14:22:42.858" v="565" actId="1076"/>
          <ac:spMkLst>
            <pc:docMk/>
            <pc:sldMk cId="304060501" sldId="4038"/>
            <ac:spMk id="4" creationId="{D2F8D079-C399-343F-0B75-FA02DEEA4355}"/>
          </ac:spMkLst>
        </pc:spChg>
        <pc:picChg chg="mod">
          <ac:chgData name="Deepa Negi" userId="a2cd59b2fb4601fa" providerId="LiveId" clId="{A0752751-C24E-40F3-8C0E-0655707D2AE4}" dt="2026-01-20T14:22:53.171" v="569" actId="1076"/>
          <ac:picMkLst>
            <pc:docMk/>
            <pc:sldMk cId="304060501" sldId="4038"/>
            <ac:picMk id="11266" creationId="{00000000-0000-0000-0000-000000000000}"/>
          </ac:picMkLst>
        </pc:picChg>
      </pc:sldChg>
      <pc:sldChg chg="addSp modSp mod">
        <pc:chgData name="Deepa Negi" userId="a2cd59b2fb4601fa" providerId="LiveId" clId="{A0752751-C24E-40F3-8C0E-0655707D2AE4}" dt="2026-01-21T12:50:31.712" v="572" actId="1076"/>
        <pc:sldMkLst>
          <pc:docMk/>
          <pc:sldMk cId="2204788273" sldId="4040"/>
        </pc:sldMkLst>
        <pc:spChg chg="add mod">
          <ac:chgData name="Deepa Negi" userId="a2cd59b2fb4601fa" providerId="LiveId" clId="{A0752751-C24E-40F3-8C0E-0655707D2AE4}" dt="2026-01-21T12:50:31.712" v="572" actId="1076"/>
          <ac:spMkLst>
            <pc:docMk/>
            <pc:sldMk cId="2204788273" sldId="4040"/>
            <ac:spMk id="3" creationId="{4F433C53-54D0-765B-BB46-A8DE8D90B39D}"/>
          </ac:spMkLst>
        </pc:spChg>
      </pc:sldChg>
      <pc:sldChg chg="addSp modSp mod">
        <pc:chgData name="Deepa Negi" userId="a2cd59b2fb4601fa" providerId="LiveId" clId="{A0752751-C24E-40F3-8C0E-0655707D2AE4}" dt="2026-01-21T13:35:35.565" v="1222" actId="14100"/>
        <pc:sldMkLst>
          <pc:docMk/>
          <pc:sldMk cId="3801235314" sldId="4041"/>
        </pc:sldMkLst>
        <pc:spChg chg="add mod">
          <ac:chgData name="Deepa Negi" userId="a2cd59b2fb4601fa" providerId="LiveId" clId="{A0752751-C24E-40F3-8C0E-0655707D2AE4}" dt="2026-01-21T13:32:59.430" v="1214" actId="14100"/>
          <ac:spMkLst>
            <pc:docMk/>
            <pc:sldMk cId="3801235314" sldId="4041"/>
            <ac:spMk id="2" creationId="{E5A42E71-0744-29E3-88E8-A8527BCD8107}"/>
          </ac:spMkLst>
        </pc:spChg>
        <pc:spChg chg="mod">
          <ac:chgData name="Deepa Negi" userId="a2cd59b2fb4601fa" providerId="LiveId" clId="{A0752751-C24E-40F3-8C0E-0655707D2AE4}" dt="2026-01-21T12:55:17.235" v="574" actId="14100"/>
          <ac:spMkLst>
            <pc:docMk/>
            <pc:sldMk cId="3801235314" sldId="4041"/>
            <ac:spMk id="4" creationId="{00000000-0000-0000-0000-000000000000}"/>
          </ac:spMkLst>
        </pc:spChg>
        <pc:spChg chg="add mod">
          <ac:chgData name="Deepa Negi" userId="a2cd59b2fb4601fa" providerId="LiveId" clId="{A0752751-C24E-40F3-8C0E-0655707D2AE4}" dt="2026-01-21T13:34:33.042" v="1221" actId="207"/>
          <ac:spMkLst>
            <pc:docMk/>
            <pc:sldMk cId="3801235314" sldId="4041"/>
            <ac:spMk id="6" creationId="{14BF04EF-1234-519C-C81A-A7CD432F8F01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352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357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379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380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06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07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37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49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57" creationId="{00000000-0000-0000-0000-000000000000}"/>
          </ac:spMkLst>
        </pc:spChg>
        <pc:spChg chg="mod">
          <ac:chgData name="Deepa Negi" userId="a2cd59b2fb4601fa" providerId="LiveId" clId="{A0752751-C24E-40F3-8C0E-0655707D2AE4}" dt="2026-01-21T12:55:23.083" v="575" actId="1076"/>
          <ac:spMkLst>
            <pc:docMk/>
            <pc:sldMk cId="3801235314" sldId="4041"/>
            <ac:spMk id="14468" creationId="{00000000-0000-0000-0000-000000000000}"/>
          </ac:spMkLst>
        </pc:spChg>
        <pc:picChg chg="add mod">
          <ac:chgData name="Deepa Negi" userId="a2cd59b2fb4601fa" providerId="LiveId" clId="{A0752751-C24E-40F3-8C0E-0655707D2AE4}" dt="2026-01-21T13:35:35.565" v="1222" actId="14100"/>
          <ac:picMkLst>
            <pc:docMk/>
            <pc:sldMk cId="3801235314" sldId="4041"/>
            <ac:picMk id="5" creationId="{50A74F81-B66F-5A6E-88C5-F875F07216CB}"/>
          </ac:picMkLst>
        </pc:picChg>
      </pc:sldChg>
      <pc:sldChg chg="addSp modSp mod">
        <pc:chgData name="Deepa Negi" userId="a2cd59b2fb4601fa" providerId="LiveId" clId="{A0752751-C24E-40F3-8C0E-0655707D2AE4}" dt="2026-01-22T07:36:37.841" v="1255" actId="1076"/>
        <pc:sldMkLst>
          <pc:docMk/>
          <pc:sldMk cId="2806417758" sldId="4042"/>
        </pc:sldMkLst>
        <pc:spChg chg="add mod">
          <ac:chgData name="Deepa Negi" userId="a2cd59b2fb4601fa" providerId="LiveId" clId="{A0752751-C24E-40F3-8C0E-0655707D2AE4}" dt="2026-01-22T07:36:22.301" v="1253" actId="14100"/>
          <ac:spMkLst>
            <pc:docMk/>
            <pc:sldMk cId="2806417758" sldId="4042"/>
            <ac:spMk id="2" creationId="{41330C67-8DDC-3380-58BC-92316049EAB4}"/>
          </ac:spMkLst>
        </pc:spChg>
        <pc:spChg chg="mod">
          <ac:chgData name="Deepa Negi" userId="a2cd59b2fb4601fa" providerId="LiveId" clId="{A0752751-C24E-40F3-8C0E-0655707D2AE4}" dt="2026-01-21T13:45:41.588" v="1250"/>
          <ac:spMkLst>
            <pc:docMk/>
            <pc:sldMk cId="2806417758" sldId="4042"/>
            <ac:spMk id="15367" creationId="{00000000-0000-0000-0000-000000000000}"/>
          </ac:spMkLst>
        </pc:spChg>
        <pc:cxnChg chg="mod">
          <ac:chgData name="Deepa Negi" userId="a2cd59b2fb4601fa" providerId="LiveId" clId="{A0752751-C24E-40F3-8C0E-0655707D2AE4}" dt="2026-01-22T07:36:37.841" v="1255" actId="1076"/>
          <ac:cxnSpMkLst>
            <pc:docMk/>
            <pc:sldMk cId="2806417758" sldId="4042"/>
            <ac:cxnSpMk id="164" creationId="{00000000-0000-0000-0000-000000000000}"/>
          </ac:cxnSpMkLst>
        </pc:cxnChg>
      </pc:sldChg>
      <pc:sldChg chg="addSp delSp modSp mod">
        <pc:chgData name="Deepa Negi" userId="a2cd59b2fb4601fa" providerId="LiveId" clId="{A0752751-C24E-40F3-8C0E-0655707D2AE4}" dt="2026-01-24T07:48:22.902" v="1490" actId="207"/>
        <pc:sldMkLst>
          <pc:docMk/>
          <pc:sldMk cId="3253465836" sldId="4043"/>
        </pc:sldMkLst>
        <pc:spChg chg="add mod">
          <ac:chgData name="Deepa Negi" userId="a2cd59b2fb4601fa" providerId="LiveId" clId="{A0752751-C24E-40F3-8C0E-0655707D2AE4}" dt="2026-01-24T07:04:21.873" v="1272" actId="1076"/>
          <ac:spMkLst>
            <pc:docMk/>
            <pc:sldMk cId="3253465836" sldId="4043"/>
            <ac:spMk id="3" creationId="{6E776E28-4B05-D093-BAFF-2315E30B72BA}"/>
          </ac:spMkLst>
        </pc:spChg>
        <pc:spChg chg="add mod">
          <ac:chgData name="Deepa Negi" userId="a2cd59b2fb4601fa" providerId="LiveId" clId="{A0752751-C24E-40F3-8C0E-0655707D2AE4}" dt="2026-01-24T07:41:17.148" v="1466"/>
          <ac:spMkLst>
            <pc:docMk/>
            <pc:sldMk cId="3253465836" sldId="4043"/>
            <ac:spMk id="6" creationId="{C8B6BA4D-A438-D5EB-5EA7-189D4599F181}"/>
          </ac:spMkLst>
        </pc:spChg>
        <pc:spChg chg="mod">
          <ac:chgData name="Deepa Negi" userId="a2cd59b2fb4601fa" providerId="LiveId" clId="{A0752751-C24E-40F3-8C0E-0655707D2AE4}" dt="2026-01-24T07:48:22.902" v="1490" actId="207"/>
          <ac:spMkLst>
            <pc:docMk/>
            <pc:sldMk cId="3253465836" sldId="4043"/>
            <ac:spMk id="16390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395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397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399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9:31.246" v="1435" actId="20577"/>
          <ac:spMkLst>
            <pc:docMk/>
            <pc:sldMk cId="3253465836" sldId="4043"/>
            <ac:spMk id="16402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1:26.438" v="1308" actId="20577"/>
          <ac:spMkLst>
            <pc:docMk/>
            <pc:sldMk cId="3253465836" sldId="4043"/>
            <ac:spMk id="16403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07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0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3:52.909" v="1353" actId="1076"/>
          <ac:spMkLst>
            <pc:docMk/>
            <pc:sldMk cId="3253465836" sldId="4043"/>
            <ac:spMk id="16413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5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6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7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8" creationId="{00000000-0000-0000-0000-000000000000}"/>
          </ac:spMkLst>
        </pc:spChg>
        <pc:spChg chg="mod">
          <ac:chgData name="Deepa Negi" userId="a2cd59b2fb4601fa" providerId="LiveId" clId="{A0752751-C24E-40F3-8C0E-0655707D2AE4}" dt="2026-01-24T07:14:13.275" v="1357" actId="1076"/>
          <ac:spMkLst>
            <pc:docMk/>
            <pc:sldMk cId="3253465836" sldId="4043"/>
            <ac:spMk id="16419" creationId="{00000000-0000-0000-0000-000000000000}"/>
          </ac:spMkLst>
        </pc:spChg>
      </pc:sldChg>
      <pc:sldChg chg="addSp delSp modSp mod">
        <pc:chgData name="Deepa Negi" userId="a2cd59b2fb4601fa" providerId="LiveId" clId="{A0752751-C24E-40F3-8C0E-0655707D2AE4}" dt="2026-01-24T07:40:01.305" v="1464" actId="1076"/>
        <pc:sldMkLst>
          <pc:docMk/>
          <pc:sldMk cId="2856652399" sldId="4044"/>
        </pc:sldMkLst>
        <pc:spChg chg="mod">
          <ac:chgData name="Deepa Negi" userId="a2cd59b2fb4601fa" providerId="LiveId" clId="{A0752751-C24E-40F3-8C0E-0655707D2AE4}" dt="2026-01-24T07:02:02.131" v="1259" actId="1076"/>
          <ac:spMkLst>
            <pc:docMk/>
            <pc:sldMk cId="2856652399" sldId="4044"/>
            <ac:spMk id="93" creationId="{00000000-0000-0000-0000-000000000000}"/>
          </ac:spMkLst>
        </pc:spChg>
        <pc:grpChg chg="mod">
          <ac:chgData name="Deepa Negi" userId="a2cd59b2fb4601fa" providerId="LiveId" clId="{A0752751-C24E-40F3-8C0E-0655707D2AE4}" dt="2026-01-24T07:18:21.780" v="1423" actId="1076"/>
          <ac:grpSpMkLst>
            <pc:docMk/>
            <pc:sldMk cId="2856652399" sldId="4044"/>
            <ac:grpSpMk id="17415" creationId="{00000000-0000-0000-0000-000000000000}"/>
          </ac:grpSpMkLst>
        </pc:grpChg>
        <pc:picChg chg="add mod">
          <ac:chgData name="Deepa Negi" userId="a2cd59b2fb4601fa" providerId="LiveId" clId="{A0752751-C24E-40F3-8C0E-0655707D2AE4}" dt="2026-01-24T07:40:01.305" v="1464" actId="1076"/>
          <ac:picMkLst>
            <pc:docMk/>
            <pc:sldMk cId="2856652399" sldId="4044"/>
            <ac:picMk id="15" creationId="{57E31167-BCB7-6D28-E3E0-74F35FAF47B0}"/>
          </ac:picMkLst>
        </pc:picChg>
      </pc:sldChg>
      <pc:sldChg chg="modSp mod">
        <pc:chgData name="Deepa Negi" userId="a2cd59b2fb4601fa" providerId="LiveId" clId="{A0752751-C24E-40F3-8C0E-0655707D2AE4}" dt="2026-01-24T07:57:12.404" v="1551" actId="20577"/>
        <pc:sldMkLst>
          <pc:docMk/>
          <pc:sldMk cId="1372408094" sldId="4045"/>
        </pc:sldMkLst>
        <pc:spChg chg="mod">
          <ac:chgData name="Deepa Negi" userId="a2cd59b2fb4601fa" providerId="LiveId" clId="{A0752751-C24E-40F3-8C0E-0655707D2AE4}" dt="2026-01-17T16:32:28.537" v="1" actId="207"/>
          <ac:spMkLst>
            <pc:docMk/>
            <pc:sldMk cId="1372408094" sldId="4045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2T15:58:41.898" v="1257" actId="207"/>
          <ac:spMkLst>
            <pc:docMk/>
            <pc:sldMk cId="1372408094" sldId="4045"/>
            <ac:spMk id="18438" creationId="{00000000-0000-0000-0000-000000000000}"/>
          </ac:spMkLst>
        </pc:spChg>
        <pc:spChg chg="mod">
          <ac:chgData name="Deepa Negi" userId="a2cd59b2fb4601fa" providerId="LiveId" clId="{A0752751-C24E-40F3-8C0E-0655707D2AE4}" dt="2026-01-24T07:55:43.040" v="1515" actId="1076"/>
          <ac:spMkLst>
            <pc:docMk/>
            <pc:sldMk cId="1372408094" sldId="4045"/>
            <ac:spMk id="18439" creationId="{00000000-0000-0000-0000-000000000000}"/>
          </ac:spMkLst>
        </pc:spChg>
        <pc:spChg chg="mod">
          <ac:chgData name="Deepa Negi" userId="a2cd59b2fb4601fa" providerId="LiveId" clId="{A0752751-C24E-40F3-8C0E-0655707D2AE4}" dt="2026-01-24T07:55:32.784" v="1514" actId="1076"/>
          <ac:spMkLst>
            <pc:docMk/>
            <pc:sldMk cId="1372408094" sldId="4045"/>
            <ac:spMk id="18440" creationId="{00000000-0000-0000-0000-000000000000}"/>
          </ac:spMkLst>
        </pc:spChg>
        <pc:spChg chg="mod">
          <ac:chgData name="Deepa Negi" userId="a2cd59b2fb4601fa" providerId="LiveId" clId="{A0752751-C24E-40F3-8C0E-0655707D2AE4}" dt="2026-01-24T07:57:12.404" v="1551" actId="20577"/>
          <ac:spMkLst>
            <pc:docMk/>
            <pc:sldMk cId="1372408094" sldId="4045"/>
            <ac:spMk id="18441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4T10:10:07.217" v="1601" actId="207"/>
        <pc:sldMkLst>
          <pc:docMk/>
          <pc:sldMk cId="3610305474" sldId="4046"/>
        </pc:sldMkLst>
        <pc:spChg chg="mod">
          <ac:chgData name="Deepa Negi" userId="a2cd59b2fb4601fa" providerId="LiveId" clId="{A0752751-C24E-40F3-8C0E-0655707D2AE4}" dt="2026-01-24T10:10:07.217" v="1601" actId="207"/>
          <ac:spMkLst>
            <pc:docMk/>
            <pc:sldMk cId="3610305474" sldId="4046"/>
            <ac:spMk id="19462" creationId="{00000000-0000-0000-0000-000000000000}"/>
          </ac:spMkLst>
        </pc:spChg>
        <pc:spChg chg="mod">
          <ac:chgData name="Deepa Negi" userId="a2cd59b2fb4601fa" providerId="LiveId" clId="{A0752751-C24E-40F3-8C0E-0655707D2AE4}" dt="2026-01-24T10:07:44.586" v="1600" actId="207"/>
          <ac:spMkLst>
            <pc:docMk/>
            <pc:sldMk cId="3610305474" sldId="4046"/>
            <ac:spMk id="19463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4T11:19:41.458" v="1621" actId="20577"/>
        <pc:sldMkLst>
          <pc:docMk/>
          <pc:sldMk cId="3962816386" sldId="4047"/>
        </pc:sldMkLst>
        <pc:spChg chg="add mod">
          <ac:chgData name="Deepa Negi" userId="a2cd59b2fb4601fa" providerId="LiveId" clId="{A0752751-C24E-40F3-8C0E-0655707D2AE4}" dt="2026-01-24T09:52:42.969" v="1557" actId="20577"/>
          <ac:spMkLst>
            <pc:docMk/>
            <pc:sldMk cId="3962816386" sldId="4047"/>
            <ac:spMk id="3" creationId="{1EDC49BC-AC04-FA9A-3AEA-88ED9B679B89}"/>
          </ac:spMkLst>
        </pc:spChg>
        <pc:spChg chg="mod">
          <ac:chgData name="Deepa Negi" userId="a2cd59b2fb4601fa" providerId="LiveId" clId="{A0752751-C24E-40F3-8C0E-0655707D2AE4}" dt="2026-01-24T10:00:09.784" v="1588" actId="14100"/>
          <ac:spMkLst>
            <pc:docMk/>
            <pc:sldMk cId="3962816386" sldId="4047"/>
            <ac:spMk id="4" creationId="{00000000-0000-0000-0000-000000000000}"/>
          </ac:spMkLst>
        </pc:spChg>
        <pc:spChg chg="add mod">
          <ac:chgData name="Deepa Negi" userId="a2cd59b2fb4601fa" providerId="LiveId" clId="{A0752751-C24E-40F3-8C0E-0655707D2AE4}" dt="2026-01-24T11:19:41.458" v="1621" actId="20577"/>
          <ac:spMkLst>
            <pc:docMk/>
            <pc:sldMk cId="3962816386" sldId="4047"/>
            <ac:spMk id="6" creationId="{C7119C38-12A6-B055-48DD-741E7AB0B216}"/>
          </ac:spMkLst>
        </pc:spChg>
        <pc:spChg chg="add mod">
          <ac:chgData name="Deepa Negi" userId="a2cd59b2fb4601fa" providerId="LiveId" clId="{A0752751-C24E-40F3-8C0E-0655707D2AE4}" dt="2026-01-24T10:14:25.190" v="1604"/>
          <ac:spMkLst>
            <pc:docMk/>
            <pc:sldMk cId="3962816386" sldId="4047"/>
            <ac:spMk id="9" creationId="{341A4638-E372-75C2-C5B2-C6DBBCA34091}"/>
          </ac:spMkLst>
        </pc:spChg>
        <pc:spChg chg="add mod">
          <ac:chgData name="Deepa Negi" userId="a2cd59b2fb4601fa" providerId="LiveId" clId="{A0752751-C24E-40F3-8C0E-0655707D2AE4}" dt="2026-01-24T10:02:40.810" v="1599" actId="255"/>
          <ac:spMkLst>
            <pc:docMk/>
            <pc:sldMk cId="3962816386" sldId="4047"/>
            <ac:spMk id="11" creationId="{36768215-AB2E-CE17-CDBE-C778D914473D}"/>
          </ac:spMkLst>
        </pc:spChg>
      </pc:sldChg>
      <pc:sldChg chg="addSp modSp mod">
        <pc:chgData name="Deepa Negi" userId="a2cd59b2fb4601fa" providerId="LiveId" clId="{A0752751-C24E-40F3-8C0E-0655707D2AE4}" dt="2026-01-24T11:49:30.874" v="1712" actId="1076"/>
        <pc:sldMkLst>
          <pc:docMk/>
          <pc:sldMk cId="1625966653" sldId="4048"/>
        </pc:sldMkLst>
        <pc:spChg chg="add mod">
          <ac:chgData name="Deepa Negi" userId="a2cd59b2fb4601fa" providerId="LiveId" clId="{A0752751-C24E-40F3-8C0E-0655707D2AE4}" dt="2026-01-24T11:49:30.874" v="1712" actId="1076"/>
          <ac:spMkLst>
            <pc:docMk/>
            <pc:sldMk cId="1625966653" sldId="4048"/>
            <ac:spMk id="3" creationId="{A91385EA-90A9-9FB1-AB15-F1F5426006CC}"/>
          </ac:spMkLst>
        </pc:spChg>
        <pc:spChg chg="mod">
          <ac:chgData name="Deepa Negi" userId="a2cd59b2fb4601fa" providerId="LiveId" clId="{A0752751-C24E-40F3-8C0E-0655707D2AE4}" dt="2026-01-24T10:15:23.093" v="1606" actId="14100"/>
          <ac:spMkLst>
            <pc:docMk/>
            <pc:sldMk cId="1625966653" sldId="4048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4T10:25:10.832" v="1608" actId="1076"/>
          <ac:spMkLst>
            <pc:docMk/>
            <pc:sldMk cId="1625966653" sldId="4048"/>
            <ac:spMk id="21512" creationId="{00000000-0000-0000-0000-000000000000}"/>
          </ac:spMkLst>
        </pc:spChg>
        <pc:spChg chg="mod">
          <ac:chgData name="Deepa Negi" userId="a2cd59b2fb4601fa" providerId="LiveId" clId="{A0752751-C24E-40F3-8C0E-0655707D2AE4}" dt="2026-01-24T10:25:16.501" v="1609" actId="1076"/>
          <ac:spMkLst>
            <pc:docMk/>
            <pc:sldMk cId="1625966653" sldId="4048"/>
            <ac:spMk id="21513" creationId="{00000000-0000-0000-0000-000000000000}"/>
          </ac:spMkLst>
        </pc:spChg>
        <pc:picChg chg="mod">
          <ac:chgData name="Deepa Negi" userId="a2cd59b2fb4601fa" providerId="LiveId" clId="{A0752751-C24E-40F3-8C0E-0655707D2AE4}" dt="2026-01-24T10:25:05.296" v="1607" actId="1076"/>
          <ac:picMkLst>
            <pc:docMk/>
            <pc:sldMk cId="1625966653" sldId="4048"/>
            <ac:picMk id="21511" creationId="{00000000-0000-0000-0000-000000000000}"/>
          </ac:picMkLst>
        </pc:picChg>
      </pc:sldChg>
      <pc:sldChg chg="modSp mod">
        <pc:chgData name="Deepa Negi" userId="a2cd59b2fb4601fa" providerId="LiveId" clId="{A0752751-C24E-40F3-8C0E-0655707D2AE4}" dt="2026-01-25T05:42:16.981" v="1754" actId="20577"/>
        <pc:sldMkLst>
          <pc:docMk/>
          <pc:sldMk cId="1527179442" sldId="4049"/>
        </pc:sldMkLst>
        <pc:spChg chg="mod">
          <ac:chgData name="Deepa Negi" userId="a2cd59b2fb4601fa" providerId="LiveId" clId="{A0752751-C24E-40F3-8C0E-0655707D2AE4}" dt="2026-01-24T10:10:14.974" v="1602" actId="207"/>
          <ac:spMkLst>
            <pc:docMk/>
            <pc:sldMk cId="1527179442" sldId="4049"/>
            <ac:spMk id="22534" creationId="{00000000-0000-0000-0000-000000000000}"/>
          </ac:spMkLst>
        </pc:spChg>
        <pc:spChg chg="mod">
          <ac:chgData name="Deepa Negi" userId="a2cd59b2fb4601fa" providerId="LiveId" clId="{A0752751-C24E-40F3-8C0E-0655707D2AE4}" dt="2026-01-25T05:42:16.981" v="1754" actId="20577"/>
          <ac:spMkLst>
            <pc:docMk/>
            <pc:sldMk cId="1527179442" sldId="4049"/>
            <ac:spMk id="22535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5T05:59:26.571" v="1874" actId="1076"/>
        <pc:sldMkLst>
          <pc:docMk/>
          <pc:sldMk cId="3322975610" sldId="4050"/>
        </pc:sldMkLst>
        <pc:spChg chg="add mod">
          <ac:chgData name="Deepa Negi" userId="a2cd59b2fb4601fa" providerId="LiveId" clId="{A0752751-C24E-40F3-8C0E-0655707D2AE4}" dt="2026-01-25T05:45:51.608" v="1761" actId="1076"/>
          <ac:spMkLst>
            <pc:docMk/>
            <pc:sldMk cId="3322975610" sldId="4050"/>
            <ac:spMk id="3" creationId="{49AFC083-FFBA-92F4-E7D3-175788ACACE6}"/>
          </ac:spMkLst>
        </pc:spChg>
        <pc:spChg chg="mod">
          <ac:chgData name="Deepa Negi" userId="a2cd59b2fb4601fa" providerId="LiveId" clId="{A0752751-C24E-40F3-8C0E-0655707D2AE4}" dt="2026-01-25T05:45:37.901" v="1758" actId="14100"/>
          <ac:spMkLst>
            <pc:docMk/>
            <pc:sldMk cId="3322975610" sldId="4050"/>
            <ac:spMk id="4" creationId="{00000000-0000-0000-0000-000000000000}"/>
          </ac:spMkLst>
        </pc:spChg>
        <pc:spChg chg="add mod">
          <ac:chgData name="Deepa Negi" userId="a2cd59b2fb4601fa" providerId="LiveId" clId="{A0752751-C24E-40F3-8C0E-0655707D2AE4}" dt="2026-01-25T05:59:26.571" v="1874" actId="1076"/>
          <ac:spMkLst>
            <pc:docMk/>
            <pc:sldMk cId="3322975610" sldId="4050"/>
            <ac:spMk id="6" creationId="{39731A6C-EBE8-ECC5-6AC3-332B4D1B5EE8}"/>
          </ac:spMkLst>
        </pc:spChg>
        <pc:spChg chg="mod">
          <ac:chgData name="Deepa Negi" userId="a2cd59b2fb4601fa" providerId="LiveId" clId="{A0752751-C24E-40F3-8C0E-0655707D2AE4}" dt="2026-01-25T05:46:53.471" v="1762" actId="20577"/>
          <ac:spMkLst>
            <pc:docMk/>
            <pc:sldMk cId="3322975610" sldId="4050"/>
            <ac:spMk id="23562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5T06:37:46.074" v="2003" actId="1076"/>
        <pc:sldMkLst>
          <pc:docMk/>
          <pc:sldMk cId="1866555382" sldId="4051"/>
        </pc:sldMkLst>
        <pc:spChg chg="add mod">
          <ac:chgData name="Deepa Negi" userId="a2cd59b2fb4601fa" providerId="LiveId" clId="{A0752751-C24E-40F3-8C0E-0655707D2AE4}" dt="2026-01-25T06:37:46.074" v="2003" actId="1076"/>
          <ac:spMkLst>
            <pc:docMk/>
            <pc:sldMk cId="1866555382" sldId="4051"/>
            <ac:spMk id="3" creationId="{0E681D52-E2F2-0740-F9A6-D7D0E370BF03}"/>
          </ac:spMkLst>
        </pc:spChg>
        <pc:spChg chg="mod">
          <ac:chgData name="Deepa Negi" userId="a2cd59b2fb4601fa" providerId="LiveId" clId="{A0752751-C24E-40F3-8C0E-0655707D2AE4}" dt="2026-01-25T06:05:12.036" v="1877" actId="14100"/>
          <ac:spMkLst>
            <pc:docMk/>
            <pc:sldMk cId="1866555382" sldId="4051"/>
            <ac:spMk id="4" creationId="{00000000-0000-0000-0000-000000000000}"/>
          </ac:spMkLst>
        </pc:spChg>
        <pc:grpChg chg="mod">
          <ac:chgData name="Deepa Negi" userId="a2cd59b2fb4601fa" providerId="LiveId" clId="{A0752751-C24E-40F3-8C0E-0655707D2AE4}" dt="2026-01-25T06:05:29.713" v="1880" actId="1076"/>
          <ac:grpSpMkLst>
            <pc:docMk/>
            <pc:sldMk cId="1866555382" sldId="4051"/>
            <ac:grpSpMk id="24583" creationId="{00000000-0000-0000-0000-000000000000}"/>
          </ac:grpSpMkLst>
        </pc:grpChg>
      </pc:sldChg>
      <pc:sldChg chg="addSp delSp modSp mod">
        <pc:chgData name="Deepa Negi" userId="a2cd59b2fb4601fa" providerId="LiveId" clId="{A0752751-C24E-40F3-8C0E-0655707D2AE4}" dt="2026-01-25T06:53:31.899" v="2074"/>
        <pc:sldMkLst>
          <pc:docMk/>
          <pc:sldMk cId="2016508527" sldId="4052"/>
        </pc:sldMkLst>
        <pc:spChg chg="mod">
          <ac:chgData name="Deepa Negi" userId="a2cd59b2fb4601fa" providerId="LiveId" clId="{A0752751-C24E-40F3-8C0E-0655707D2AE4}" dt="2026-01-25T06:43:00.470" v="2005" actId="14100"/>
          <ac:spMkLst>
            <pc:docMk/>
            <pc:sldMk cId="2016508527" sldId="4052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5T06:52:24.254" v="2068" actId="1076"/>
          <ac:spMkLst>
            <pc:docMk/>
            <pc:sldMk cId="2016508527" sldId="4052"/>
            <ac:spMk id="25607" creationId="{00000000-0000-0000-0000-000000000000}"/>
          </ac:spMkLst>
        </pc:spChg>
        <pc:graphicFrameChg chg="add mod">
          <ac:chgData name="Deepa Negi" userId="a2cd59b2fb4601fa" providerId="LiveId" clId="{A0752751-C24E-40F3-8C0E-0655707D2AE4}" dt="2026-01-25T06:47:21.327" v="2025" actId="1076"/>
          <ac:graphicFrameMkLst>
            <pc:docMk/>
            <pc:sldMk cId="2016508527" sldId="4052"/>
            <ac:graphicFrameMk id="5" creationId="{1A64032C-F5E1-7DB3-1070-9DB7E09325A8}"/>
          </ac:graphicFrameMkLst>
        </pc:graphicFrameChg>
        <pc:picChg chg="add mod">
          <ac:chgData name="Deepa Negi" userId="a2cd59b2fb4601fa" providerId="LiveId" clId="{A0752751-C24E-40F3-8C0E-0655707D2AE4}" dt="2026-01-25T06:53:31.899" v="2074"/>
          <ac:picMkLst>
            <pc:docMk/>
            <pc:sldMk cId="2016508527" sldId="4052"/>
            <ac:picMk id="9" creationId="{A68FFB38-04B3-78F5-BEFF-2C0C87C90FCF}"/>
          </ac:picMkLst>
        </pc:picChg>
      </pc:sldChg>
      <pc:sldChg chg="addSp modSp mod">
        <pc:chgData name="Deepa Negi" userId="a2cd59b2fb4601fa" providerId="LiveId" clId="{A0752751-C24E-40F3-8C0E-0655707D2AE4}" dt="2026-01-29T01:27:39.266" v="2505" actId="20577"/>
        <pc:sldMkLst>
          <pc:docMk/>
          <pc:sldMk cId="3606439753" sldId="4053"/>
        </pc:sldMkLst>
        <pc:spChg chg="add mod">
          <ac:chgData name="Deepa Negi" userId="a2cd59b2fb4601fa" providerId="LiveId" clId="{A0752751-C24E-40F3-8C0E-0655707D2AE4}" dt="2026-01-25T07:30:59.077" v="2128" actId="207"/>
          <ac:spMkLst>
            <pc:docMk/>
            <pc:sldMk cId="3606439753" sldId="4053"/>
            <ac:spMk id="3" creationId="{ECF49FE5-C726-8155-0EC8-03B5A92B52FB}"/>
          </ac:spMkLst>
        </pc:spChg>
        <pc:spChg chg="mod">
          <ac:chgData name="Deepa Negi" userId="a2cd59b2fb4601fa" providerId="LiveId" clId="{A0752751-C24E-40F3-8C0E-0655707D2AE4}" dt="2026-01-25T07:28:57.663" v="2095" actId="14100"/>
          <ac:spMkLst>
            <pc:docMk/>
            <pc:sldMk cId="3606439753" sldId="4053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5T07:43:01.840" v="2223" actId="207"/>
          <ac:spMkLst>
            <pc:docMk/>
            <pc:sldMk cId="3606439753" sldId="4053"/>
            <ac:spMk id="26630" creationId="{00000000-0000-0000-0000-000000000000}"/>
          </ac:spMkLst>
        </pc:spChg>
        <pc:spChg chg="mod">
          <ac:chgData name="Deepa Negi" userId="a2cd59b2fb4601fa" providerId="LiveId" clId="{A0752751-C24E-40F3-8C0E-0655707D2AE4}" dt="2026-01-25T07:31:04.205" v="2129" actId="1076"/>
          <ac:spMkLst>
            <pc:docMk/>
            <pc:sldMk cId="3606439753" sldId="4053"/>
            <ac:spMk id="26631" creationId="{00000000-0000-0000-0000-000000000000}"/>
          </ac:spMkLst>
        </pc:spChg>
        <pc:spChg chg="mod">
          <ac:chgData name="Deepa Negi" userId="a2cd59b2fb4601fa" providerId="LiveId" clId="{A0752751-C24E-40F3-8C0E-0655707D2AE4}" dt="2026-01-25T07:31:08.136" v="2130" actId="1076"/>
          <ac:spMkLst>
            <pc:docMk/>
            <pc:sldMk cId="3606439753" sldId="4053"/>
            <ac:spMk id="26632" creationId="{00000000-0000-0000-0000-000000000000}"/>
          </ac:spMkLst>
        </pc:spChg>
        <pc:spChg chg="mod">
          <ac:chgData name="Deepa Negi" userId="a2cd59b2fb4601fa" providerId="LiveId" clId="{A0752751-C24E-40F3-8C0E-0655707D2AE4}" dt="2026-01-25T07:43:48.647" v="2270" actId="20577"/>
          <ac:spMkLst>
            <pc:docMk/>
            <pc:sldMk cId="3606439753" sldId="4053"/>
            <ac:spMk id="26633" creationId="{00000000-0000-0000-0000-000000000000}"/>
          </ac:spMkLst>
        </pc:spChg>
        <pc:spChg chg="mod">
          <ac:chgData name="Deepa Negi" userId="a2cd59b2fb4601fa" providerId="LiveId" clId="{A0752751-C24E-40F3-8C0E-0655707D2AE4}" dt="2026-01-29T01:27:39.266" v="2505" actId="20577"/>
          <ac:spMkLst>
            <pc:docMk/>
            <pc:sldMk cId="3606439753" sldId="4053"/>
            <ac:spMk id="26634" creationId="{00000000-0000-0000-0000-000000000000}"/>
          </ac:spMkLst>
        </pc:spChg>
        <pc:spChg chg="mod">
          <ac:chgData name="Deepa Negi" userId="a2cd59b2fb4601fa" providerId="LiveId" clId="{A0752751-C24E-40F3-8C0E-0655707D2AE4}" dt="2026-01-25T07:39:34.854" v="2218" actId="1076"/>
          <ac:spMkLst>
            <pc:docMk/>
            <pc:sldMk cId="3606439753" sldId="4053"/>
            <ac:spMk id="26635" creationId="{00000000-0000-0000-0000-000000000000}"/>
          </ac:spMkLst>
        </pc:spChg>
      </pc:sldChg>
      <pc:sldChg chg="addSp delSp modSp mod">
        <pc:chgData name="Deepa Negi" userId="a2cd59b2fb4601fa" providerId="LiveId" clId="{A0752751-C24E-40F3-8C0E-0655707D2AE4}" dt="2026-01-29T01:30:47.965" v="2543" actId="14100"/>
        <pc:sldMkLst>
          <pc:docMk/>
          <pc:sldMk cId="450481039" sldId="4054"/>
        </pc:sldMkLst>
        <pc:spChg chg="mod">
          <ac:chgData name="Deepa Negi" userId="a2cd59b2fb4601fa" providerId="LiveId" clId="{A0752751-C24E-40F3-8C0E-0655707D2AE4}" dt="2026-01-25T07:52:49.751" v="2319" actId="14100"/>
          <ac:spMkLst>
            <pc:docMk/>
            <pc:sldMk cId="450481039" sldId="4054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56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57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58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59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0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1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2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3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4" creationId="{00000000-0000-0000-0000-000000000000}"/>
          </ac:spMkLst>
        </pc:spChg>
        <pc:spChg chg="mod">
          <ac:chgData name="Deepa Negi" userId="a2cd59b2fb4601fa" providerId="LiveId" clId="{A0752751-C24E-40F3-8C0E-0655707D2AE4}" dt="2026-01-25T07:55:29.331" v="2334" actId="14100"/>
          <ac:spMkLst>
            <pc:docMk/>
            <pc:sldMk cId="450481039" sldId="4054"/>
            <ac:spMk id="27665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0:47.965" v="2543" actId="14100"/>
          <ac:spMkLst>
            <pc:docMk/>
            <pc:sldMk cId="450481039" sldId="4054"/>
            <ac:spMk id="27666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9T01:36:20.191" v="2606" actId="20577"/>
        <pc:sldMkLst>
          <pc:docMk/>
          <pc:sldMk cId="1630598025" sldId="4055"/>
        </pc:sldMkLst>
        <pc:spChg chg="add mod">
          <ac:chgData name="Deepa Negi" userId="a2cd59b2fb4601fa" providerId="LiveId" clId="{A0752751-C24E-40F3-8C0E-0655707D2AE4}" dt="2026-01-25T08:47:13.401" v="2426" actId="1076"/>
          <ac:spMkLst>
            <pc:docMk/>
            <pc:sldMk cId="1630598025" sldId="4055"/>
            <ac:spMk id="3" creationId="{1EF7AA55-F711-C0AC-F114-1F33BEE6B135}"/>
          </ac:spMkLst>
        </pc:spChg>
        <pc:spChg chg="mod">
          <ac:chgData name="Deepa Negi" userId="a2cd59b2fb4601fa" providerId="LiveId" clId="{A0752751-C24E-40F3-8C0E-0655707D2AE4}" dt="2026-01-25T08:38:02.461" v="2412" actId="14100"/>
          <ac:spMkLst>
            <pc:docMk/>
            <pc:sldMk cId="1630598025" sldId="4055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5T08:57:47.355" v="2462" actId="207"/>
          <ac:spMkLst>
            <pc:docMk/>
            <pc:sldMk cId="1630598025" sldId="4055"/>
            <ac:spMk id="28678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681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683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685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693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698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708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713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715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716" creationId="{00000000-0000-0000-0000-000000000000}"/>
          </ac:spMkLst>
        </pc:spChg>
        <pc:spChg chg="mod">
          <ac:chgData name="Deepa Negi" userId="a2cd59b2fb4601fa" providerId="LiveId" clId="{A0752751-C24E-40F3-8C0E-0655707D2AE4}" dt="2026-01-25T08:37:57.192" v="2411" actId="1076"/>
          <ac:spMkLst>
            <pc:docMk/>
            <pc:sldMk cId="1630598025" sldId="4055"/>
            <ac:spMk id="28719" creationId="{00000000-0000-0000-0000-000000000000}"/>
          </ac:spMkLst>
        </pc:spChg>
        <pc:spChg chg="mod">
          <ac:chgData name="Deepa Negi" userId="a2cd59b2fb4601fa" providerId="LiveId" clId="{A0752751-C24E-40F3-8C0E-0655707D2AE4}" dt="2026-01-29T01:36:20.191" v="2606" actId="20577"/>
          <ac:spMkLst>
            <pc:docMk/>
            <pc:sldMk cId="1630598025" sldId="4055"/>
            <ac:spMk id="28723" creationId="{00000000-0000-0000-0000-000000000000}"/>
          </ac:spMkLst>
        </pc:spChg>
      </pc:sldChg>
      <pc:sldChg chg="addSp modSp mod">
        <pc:chgData name="Deepa Negi" userId="a2cd59b2fb4601fa" providerId="LiveId" clId="{A0752751-C24E-40F3-8C0E-0655707D2AE4}" dt="2026-01-25T08:56:52.035" v="2461" actId="1076"/>
        <pc:sldMkLst>
          <pc:docMk/>
          <pc:sldMk cId="2073763509" sldId="4056"/>
        </pc:sldMkLst>
        <pc:spChg chg="mod">
          <ac:chgData name="Deepa Negi" userId="a2cd59b2fb4601fa" providerId="LiveId" clId="{A0752751-C24E-40F3-8C0E-0655707D2AE4}" dt="2026-01-25T08:50:51.549" v="2432" actId="14100"/>
          <ac:spMkLst>
            <pc:docMk/>
            <pc:sldMk cId="2073763509" sldId="4056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5T08:56:47.493" v="2460" actId="1076"/>
          <ac:spMkLst>
            <pc:docMk/>
            <pc:sldMk cId="2073763509" sldId="4056"/>
            <ac:spMk id="29703" creationId="{00000000-0000-0000-0000-000000000000}"/>
          </ac:spMkLst>
        </pc:spChg>
        <pc:picChg chg="add mod">
          <ac:chgData name="Deepa Negi" userId="a2cd59b2fb4601fa" providerId="LiveId" clId="{A0752751-C24E-40F3-8C0E-0655707D2AE4}" dt="2026-01-25T08:56:52.035" v="2461" actId="1076"/>
          <ac:picMkLst>
            <pc:docMk/>
            <pc:sldMk cId="2073763509" sldId="4056"/>
            <ac:picMk id="5" creationId="{FDF3366C-ABD7-8366-37A2-71FE5F993998}"/>
          </ac:picMkLst>
        </pc:picChg>
      </pc:sldChg>
      <pc:sldChg chg="addSp modSp mod">
        <pc:chgData name="Deepa Negi" userId="a2cd59b2fb4601fa" providerId="LiveId" clId="{A0752751-C24E-40F3-8C0E-0655707D2AE4}" dt="2026-01-25T09:09:06.098" v="2485" actId="20577"/>
        <pc:sldMkLst>
          <pc:docMk/>
          <pc:sldMk cId="4050540615" sldId="4057"/>
        </pc:sldMkLst>
        <pc:spChg chg="add mod">
          <ac:chgData name="Deepa Negi" userId="a2cd59b2fb4601fa" providerId="LiveId" clId="{A0752751-C24E-40F3-8C0E-0655707D2AE4}" dt="2026-01-25T09:09:06.098" v="2485" actId="20577"/>
          <ac:spMkLst>
            <pc:docMk/>
            <pc:sldMk cId="4050540615" sldId="4057"/>
            <ac:spMk id="3" creationId="{20EA1D2B-318D-F25C-5A20-334C359EF1A8}"/>
          </ac:spMkLst>
        </pc:spChg>
        <pc:spChg chg="mod">
          <ac:chgData name="Deepa Negi" userId="a2cd59b2fb4601fa" providerId="LiveId" clId="{A0752751-C24E-40F3-8C0E-0655707D2AE4}" dt="2026-01-25T08:59:58.910" v="2464" actId="14100"/>
          <ac:spMkLst>
            <pc:docMk/>
            <pc:sldMk cId="4050540615" sldId="4057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43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51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2:36.896" v="2474" actId="20577"/>
          <ac:spMkLst>
            <pc:docMk/>
            <pc:sldMk cId="4050540615" sldId="4057"/>
            <ac:spMk id="30752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56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63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72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799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804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810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833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2:30.554" v="2472" actId="20577"/>
          <ac:spMkLst>
            <pc:docMk/>
            <pc:sldMk cId="4050540615" sldId="4057"/>
            <ac:spMk id="30838" creationId="{00000000-0000-0000-0000-000000000000}"/>
          </ac:spMkLst>
        </pc:spChg>
        <pc:spChg chg="mod">
          <ac:chgData name="Deepa Negi" userId="a2cd59b2fb4601fa" providerId="LiveId" clId="{A0752751-C24E-40F3-8C0E-0655707D2AE4}" dt="2026-01-25T09:03:50.860" v="2475"/>
          <ac:spMkLst>
            <pc:docMk/>
            <pc:sldMk cId="4050540615" sldId="4057"/>
            <ac:spMk id="30841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5T05:36:55.619" v="1713" actId="207"/>
        <pc:sldMkLst>
          <pc:docMk/>
          <pc:sldMk cId="264340502" sldId="4058"/>
        </pc:sldMkLst>
        <pc:spChg chg="mod">
          <ac:chgData name="Deepa Negi" userId="a2cd59b2fb4601fa" providerId="LiveId" clId="{A0752751-C24E-40F3-8C0E-0655707D2AE4}" dt="2026-01-25T05:36:55.619" v="1713" actId="207"/>
          <ac:spMkLst>
            <pc:docMk/>
            <pc:sldMk cId="264340502" sldId="4058"/>
            <ac:spMk id="31750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19T15:57:48.721" v="427" actId="14100"/>
        <pc:sldMkLst>
          <pc:docMk/>
          <pc:sldMk cId="4283155229" sldId="4067"/>
        </pc:sldMkLst>
        <pc:spChg chg="mod">
          <ac:chgData name="Deepa Negi" userId="a2cd59b2fb4601fa" providerId="LiveId" clId="{A0752751-C24E-40F3-8C0E-0655707D2AE4}" dt="2026-01-19T15:56:08.157" v="414" actId="14100"/>
          <ac:spMkLst>
            <pc:docMk/>
            <pc:sldMk cId="4283155229" sldId="4067"/>
            <ac:spMk id="4" creationId="{00000000-0000-0000-0000-000000000000}"/>
          </ac:spMkLst>
        </pc:spChg>
        <pc:spChg chg="mod">
          <ac:chgData name="Deepa Negi" userId="a2cd59b2fb4601fa" providerId="LiveId" clId="{A0752751-C24E-40F3-8C0E-0655707D2AE4}" dt="2026-01-19T15:57:48.721" v="427" actId="14100"/>
          <ac:spMkLst>
            <pc:docMk/>
            <pc:sldMk cId="4283155229" sldId="4067"/>
            <ac:spMk id="5127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0T13:32:21.505" v="473" actId="20577"/>
        <pc:sldMkLst>
          <pc:docMk/>
          <pc:sldMk cId="1956595671" sldId="4068"/>
        </pc:sldMkLst>
        <pc:spChg chg="mod">
          <ac:chgData name="Deepa Negi" userId="a2cd59b2fb4601fa" providerId="LiveId" clId="{A0752751-C24E-40F3-8C0E-0655707D2AE4}" dt="2026-01-20T13:32:21.505" v="473" actId="20577"/>
          <ac:spMkLst>
            <pc:docMk/>
            <pc:sldMk cId="1956595671" sldId="4068"/>
            <ac:spMk id="6151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0T13:37:58.944" v="479" actId="207"/>
        <pc:sldMkLst>
          <pc:docMk/>
          <pc:sldMk cId="2886280246" sldId="4069"/>
        </pc:sldMkLst>
        <pc:spChg chg="mod">
          <ac:chgData name="Deepa Negi" userId="a2cd59b2fb4601fa" providerId="LiveId" clId="{A0752751-C24E-40F3-8C0E-0655707D2AE4}" dt="2026-01-20T13:37:58.944" v="479" actId="207"/>
          <ac:spMkLst>
            <pc:docMk/>
            <pc:sldMk cId="2886280246" sldId="4069"/>
            <ac:spMk id="8199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21T13:51:20.147" v="1252"/>
        <pc:sldMkLst>
          <pc:docMk/>
          <pc:sldMk cId="2290696630" sldId="4071"/>
        </pc:sldMkLst>
        <pc:spChg chg="mod">
          <ac:chgData name="Deepa Negi" userId="a2cd59b2fb4601fa" providerId="LiveId" clId="{A0752751-C24E-40F3-8C0E-0655707D2AE4}" dt="2026-01-21T13:51:20.147" v="1252"/>
          <ac:spMkLst>
            <pc:docMk/>
            <pc:sldMk cId="2290696630" sldId="4071"/>
            <ac:spMk id="15367" creationId="{00000000-0000-0000-0000-000000000000}"/>
          </ac:spMkLst>
        </pc:spChg>
      </pc:sldChg>
      <pc:sldChg chg="modSp mod">
        <pc:chgData name="Deepa Negi" userId="a2cd59b2fb4601fa" providerId="LiveId" clId="{A0752751-C24E-40F3-8C0E-0655707D2AE4}" dt="2026-01-19T15:00:59.848" v="92" actId="20577"/>
        <pc:sldMkLst>
          <pc:docMk/>
          <pc:sldMk cId="519403034" sldId="4074"/>
        </pc:sldMkLst>
        <pc:spChg chg="mod">
          <ac:chgData name="Deepa Negi" userId="a2cd59b2fb4601fa" providerId="LiveId" clId="{A0752751-C24E-40F3-8C0E-0655707D2AE4}" dt="2026-01-19T15:00:59.848" v="92" actId="20577"/>
          <ac:spMkLst>
            <pc:docMk/>
            <pc:sldMk cId="519403034" sldId="4074"/>
            <ac:spMk id="3" creationId="{67C521B0-9134-2CF1-95E9-99E7F233F1DB}"/>
          </ac:spMkLst>
        </pc:spChg>
      </pc:sldChg>
      <pc:sldChg chg="addSp modSp new mod">
        <pc:chgData name="Deepa Negi" userId="a2cd59b2fb4601fa" providerId="LiveId" clId="{A0752751-C24E-40F3-8C0E-0655707D2AE4}" dt="2026-01-19T15:16:51.775" v="270" actId="14100"/>
        <pc:sldMkLst>
          <pc:docMk/>
          <pc:sldMk cId="3773422134" sldId="4075"/>
        </pc:sldMkLst>
        <pc:spChg chg="add mod">
          <ac:chgData name="Deepa Negi" userId="a2cd59b2fb4601fa" providerId="LiveId" clId="{A0752751-C24E-40F3-8C0E-0655707D2AE4}" dt="2026-01-19T15:15:45.177" v="258" actId="1076"/>
          <ac:spMkLst>
            <pc:docMk/>
            <pc:sldMk cId="3773422134" sldId="4075"/>
            <ac:spMk id="4" creationId="{F87CD3DD-3856-F17F-0E5B-4EE82C493088}"/>
          </ac:spMkLst>
        </pc:spChg>
        <pc:spChg chg="add mod">
          <ac:chgData name="Deepa Negi" userId="a2cd59b2fb4601fa" providerId="LiveId" clId="{A0752751-C24E-40F3-8C0E-0655707D2AE4}" dt="2026-01-19T15:15:51.955" v="260" actId="1076"/>
          <ac:spMkLst>
            <pc:docMk/>
            <pc:sldMk cId="3773422134" sldId="4075"/>
            <ac:spMk id="6" creationId="{4A26010B-B50C-5036-08FC-A7D71D14520E}"/>
          </ac:spMkLst>
        </pc:spChg>
        <pc:spChg chg="add mod">
          <ac:chgData name="Deepa Negi" userId="a2cd59b2fb4601fa" providerId="LiveId" clId="{A0752751-C24E-40F3-8C0E-0655707D2AE4}" dt="2026-01-19T15:16:51.775" v="270" actId="14100"/>
          <ac:spMkLst>
            <pc:docMk/>
            <pc:sldMk cId="3773422134" sldId="4075"/>
            <ac:spMk id="8" creationId="{6EE5E05F-1774-BDBC-E282-DF9E9484DC2D}"/>
          </ac:spMkLst>
        </pc:spChg>
        <pc:spChg chg="add mod">
          <ac:chgData name="Deepa Negi" userId="a2cd59b2fb4601fa" providerId="LiveId" clId="{A0752751-C24E-40F3-8C0E-0655707D2AE4}" dt="2026-01-19T15:16:45.262" v="269" actId="14100"/>
          <ac:spMkLst>
            <pc:docMk/>
            <pc:sldMk cId="3773422134" sldId="4075"/>
            <ac:spMk id="10" creationId="{017DA33E-19C2-B998-B9AA-F11B82F04314}"/>
          </ac:spMkLst>
        </pc:spChg>
      </pc:sldChg>
      <pc:sldChg chg="addSp modSp new mod">
        <pc:chgData name="Deepa Negi" userId="a2cd59b2fb4601fa" providerId="LiveId" clId="{A0752751-C24E-40F3-8C0E-0655707D2AE4}" dt="2026-01-24T07:46:25.485" v="1488" actId="207"/>
        <pc:sldMkLst>
          <pc:docMk/>
          <pc:sldMk cId="2530935492" sldId="4076"/>
        </pc:sldMkLst>
        <pc:spChg chg="add mod">
          <ac:chgData name="Deepa Negi" userId="a2cd59b2fb4601fa" providerId="LiveId" clId="{A0752751-C24E-40F3-8C0E-0655707D2AE4}" dt="2026-01-24T07:05:42.038" v="1302" actId="20577"/>
          <ac:spMkLst>
            <pc:docMk/>
            <pc:sldMk cId="2530935492" sldId="4076"/>
            <ac:spMk id="4" creationId="{AD58FE79-1B0C-DE79-BEBB-B7A2294757FD}"/>
          </ac:spMkLst>
        </pc:spChg>
        <pc:spChg chg="add mod">
          <ac:chgData name="Deepa Negi" userId="a2cd59b2fb4601fa" providerId="LiveId" clId="{A0752751-C24E-40F3-8C0E-0655707D2AE4}" dt="2026-01-24T07:44:11.173" v="1475" actId="1076"/>
          <ac:spMkLst>
            <pc:docMk/>
            <pc:sldMk cId="2530935492" sldId="4076"/>
            <ac:spMk id="6" creationId="{892D4BE1-27FF-B0AA-3AE1-E3B5DEBC3BD4}"/>
          </ac:spMkLst>
        </pc:spChg>
        <pc:spChg chg="add mod">
          <ac:chgData name="Deepa Negi" userId="a2cd59b2fb4601fa" providerId="LiveId" clId="{A0752751-C24E-40F3-8C0E-0655707D2AE4}" dt="2026-01-24T07:18:02.923" v="1421" actId="1076"/>
          <ac:spMkLst>
            <pc:docMk/>
            <pc:sldMk cId="2530935492" sldId="4076"/>
            <ac:spMk id="8" creationId="{577D5498-4F3F-0455-1978-946FD2905448}"/>
          </ac:spMkLst>
        </pc:spChg>
        <pc:spChg chg="add mod">
          <ac:chgData name="Deepa Negi" userId="a2cd59b2fb4601fa" providerId="LiveId" clId="{A0752751-C24E-40F3-8C0E-0655707D2AE4}" dt="2026-01-24T07:44:28.873" v="1478" actId="20577"/>
          <ac:spMkLst>
            <pc:docMk/>
            <pc:sldMk cId="2530935492" sldId="4076"/>
            <ac:spMk id="9" creationId="{9B8BC340-4D25-BB28-6BA1-5A9494C7DDE1}"/>
          </ac:spMkLst>
        </pc:spChg>
        <pc:spChg chg="add mod">
          <ac:chgData name="Deepa Negi" userId="a2cd59b2fb4601fa" providerId="LiveId" clId="{A0752751-C24E-40F3-8C0E-0655707D2AE4}" dt="2026-01-24T07:46:25.485" v="1488" actId="207"/>
          <ac:spMkLst>
            <pc:docMk/>
            <pc:sldMk cId="2530935492" sldId="4076"/>
            <ac:spMk id="11" creationId="{AA7E5742-36B3-06D2-90F5-EBC4E0C07E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FE31F5-84D9-4761-9F2B-901DD312A571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64114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020CBA-A14D-461B-AD1D-E66BE2D05512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4625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0F667-FA70-49BF-A363-1918F7D8B4DC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8401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8507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6146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284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519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A18212-0930-44B3-842C-A003A4F8FB16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19797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179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31966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33132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5410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FE4774-FEA1-476E-91C4-FE984FABB224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8455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DFC2E7-458D-494E-8008-50283EDE8210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484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CE1AD-87D7-4B57-BDEB-C2F608E09F9D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29883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B6CF24-EF45-49A2-994B-6CEA40E0101D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2499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105D04-B7D6-4B42-ABD3-60E9D594C6E8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074168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8478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49181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BF14EF-AC68-43D0-8DCD-78285FCBA1E5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96515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96F12-5145-446F-88E6-9DB102B1A8D4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826463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B9BC6C-87D8-4A45-A2EA-7E9707355327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0009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9D05C3-8473-4DF3-ACFF-F5B7755A7F96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661816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846BD-1C1A-4B2F-848F-CC0430004D16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847793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B3CDA0-E15D-440A-A3AD-49B61FF565FE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43174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34262-05B5-49BB-B205-929BA1ECC2F6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0182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959ED4-E846-4C22-B572-79028C6E2170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591766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6AFDD4-DCF7-44AA-8168-8E632CD52DA3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84947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68291-8D31-4589-8C06-F32CECEBF3E4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95897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96F12-5145-446F-88E6-9DB102B1A8D4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8264631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FE09A-5A85-4DB5-8C99-5FA4F044A632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858134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DA207-F66E-4AE0-971B-45277575B389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39148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D56A45-3590-44D3-A8FD-3B7F045EFA4B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720022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86EFAA-62DA-4F98-A7EE-84709EDB7AFE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5126207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37511F-5F68-44C6-BEE0-91753A44261E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1708294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544874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168613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0B9554-AD08-4199-839B-A57AB7FCB278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71879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670610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6034797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A55922-DD2D-4E28-AB51-1D978BA67AB7}" type="slidenum">
              <a:rPr lang="en-US" altLang="en-US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9432798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F0F7A-89A2-4FF2-A718-C4741CBCCDC9}" type="slidenum">
              <a:rPr lang="en-US" altLang="en-US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711262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56F21-D4FD-47D4-A3F8-23E3CA9247B0}" type="slidenum">
              <a:rPr lang="en-US" altLang="en-US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51928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2CF19A-4896-4B75-AB20-BD7DFE28FED5}" type="slidenum">
              <a:rPr lang="en-US" altLang="en-US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7770156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52BE42-C753-492E-9C08-EE5D11910546}" type="slidenum">
              <a:rPr lang="en-US" altLang="en-US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971289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DF922-A2D5-4BE3-9933-4F3F29749825}" type="slidenum">
              <a:rPr lang="en-US" altLang="en-US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0548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B0006A-9E91-5DDB-2E29-E367AE1C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D7FE2A-1E16-7C49-C5BD-34D1D1DF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C521B0-9134-2CF1-95E9-99E7F233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72" y="1399032"/>
            <a:ext cx="11878056" cy="4974336"/>
          </a:xfrm>
          <a:noFill/>
        </p:spPr>
        <p:txBody>
          <a:bodyPr>
            <a:normAutofit fontScale="25000" lnSpcReduction="20000"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-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us how exactly all the hardware units in the system are arranged and  </a:t>
            </a:r>
          </a:p>
          <a:p>
            <a:pPr marL="0" indent="0"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interconnected. </a:t>
            </a:r>
            <a:r>
              <a:rPr lang="en-US" sz="8000" dirty="0"/>
              <a:t>It focuses on:</a:t>
            </a:r>
          </a:p>
          <a:p>
            <a:r>
              <a:rPr lang="en-US" sz="8000" dirty="0"/>
              <a:t>Physical components</a:t>
            </a:r>
          </a:p>
          <a:p>
            <a:r>
              <a:rPr lang="en-US" sz="8000" dirty="0"/>
              <a:t>Internal connections</a:t>
            </a:r>
          </a:p>
          <a:p>
            <a:r>
              <a:rPr lang="en-US" sz="8000" dirty="0"/>
              <a:t>Data flow inside the system</a:t>
            </a:r>
          </a:p>
          <a:p>
            <a:pPr marL="0" indent="0">
              <a:buNone/>
            </a:pPr>
            <a:r>
              <a:rPr lang="en-US" sz="8000" dirty="0"/>
              <a:t>In simple words:</a:t>
            </a:r>
          </a:p>
          <a:p>
            <a:pPr marL="0" indent="0">
              <a:buNone/>
            </a:pPr>
            <a:r>
              <a:rPr lang="en-US" sz="8000" b="1" dirty="0"/>
              <a:t>Computer Organization = Internal hardware structure</a:t>
            </a:r>
          </a:p>
          <a:p>
            <a:pPr marL="0" indent="0">
              <a:buNone/>
            </a:pPr>
            <a:endParaRPr lang="en-US" sz="8000" dirty="0"/>
          </a:p>
          <a:p>
            <a:pPr marL="0" indent="0" fontAlgn="auto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to understand the functionalities of a system. It focuses on:</a:t>
            </a:r>
          </a:p>
          <a:p>
            <a:r>
              <a:rPr lang="en-US" sz="8000" dirty="0"/>
              <a:t>What operations the computer can perform</a:t>
            </a:r>
          </a:p>
          <a:p>
            <a:r>
              <a:rPr lang="en-US" sz="8000" dirty="0"/>
              <a:t>How a programmer uses the computer</a:t>
            </a:r>
          </a:p>
          <a:p>
            <a:r>
              <a:rPr lang="en-US" sz="8000" dirty="0"/>
              <a:t>What instructions the CPU understands</a:t>
            </a:r>
          </a:p>
          <a:p>
            <a:pPr marL="0" indent="0">
              <a:buNone/>
            </a:pPr>
            <a:r>
              <a:rPr lang="en-US" sz="8000" dirty="0"/>
              <a:t>In simple words:</a:t>
            </a:r>
          </a:p>
          <a:p>
            <a:pPr marL="0" indent="0">
              <a:buNone/>
            </a:pPr>
            <a:r>
              <a:rPr lang="en-US" sz="8000" b="1" dirty="0"/>
              <a:t>Computer Architecture = Capabilities of the computer</a:t>
            </a:r>
            <a:endParaRPr lang="en-US" sz="80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940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Organization of a Computer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lock Diagram Of Computer System-GoGlobalWa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085" y="1783080"/>
            <a:ext cx="5334452" cy="386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9CAE30-8268-6C5A-8120-D47F2EF84E21}"/>
              </a:ext>
            </a:extLst>
          </p:cNvPr>
          <p:cNvSpPr txBox="1"/>
          <p:nvPr/>
        </p:nvSpPr>
        <p:spPr>
          <a:xfrm>
            <a:off x="5561838" y="2154383"/>
            <a:ext cx="653307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The </a:t>
            </a:r>
            <a:r>
              <a:rPr lang="en-US" b="1" dirty="0"/>
              <a:t>Input Unit</a:t>
            </a:r>
            <a:r>
              <a:rPr lang="en-US" dirty="0"/>
              <a:t> is used to </a:t>
            </a:r>
            <a:r>
              <a:rPr lang="en-US" b="1" dirty="0"/>
              <a:t>enter data and instructions</a:t>
            </a:r>
            <a:r>
              <a:rPr lang="en-US" dirty="0"/>
              <a:t> into the computer.</a:t>
            </a:r>
          </a:p>
          <a:p>
            <a:r>
              <a:rPr lang="en-US" dirty="0"/>
              <a:t>2.   The </a:t>
            </a:r>
            <a:r>
              <a:rPr lang="en-US" b="1" dirty="0"/>
              <a:t>Control Unit</a:t>
            </a:r>
            <a:r>
              <a:rPr lang="en-US" dirty="0"/>
              <a:t>:</a:t>
            </a:r>
          </a:p>
          <a:p>
            <a:r>
              <a:rPr lang="en-US" dirty="0"/>
              <a:t>Controls the </a:t>
            </a:r>
            <a:r>
              <a:rPr lang="en-US" b="1" dirty="0"/>
              <a:t>entire operation</a:t>
            </a:r>
            <a:r>
              <a:rPr lang="en-US" dirty="0"/>
              <a:t> of the computer</a:t>
            </a:r>
          </a:p>
          <a:p>
            <a:r>
              <a:rPr lang="en-US" dirty="0"/>
              <a:t>Decides </a:t>
            </a:r>
            <a:r>
              <a:rPr lang="en-US" b="1" dirty="0"/>
              <a:t>what to do, when to do, and how to do</a:t>
            </a:r>
          </a:p>
          <a:p>
            <a:r>
              <a:rPr lang="en-US" dirty="0"/>
              <a:t>3. The </a:t>
            </a:r>
            <a:r>
              <a:rPr lang="en-US" b="1" dirty="0"/>
              <a:t>ALU</a:t>
            </a:r>
            <a:r>
              <a:rPr lang="en-US" dirty="0"/>
              <a:t> performs:</a:t>
            </a:r>
          </a:p>
          <a:p>
            <a:r>
              <a:rPr lang="en-US" b="1" dirty="0"/>
              <a:t>Arithmetic operations</a:t>
            </a:r>
            <a:r>
              <a:rPr lang="en-US" dirty="0"/>
              <a:t>: +, −, ×, ÷</a:t>
            </a:r>
          </a:p>
          <a:p>
            <a:r>
              <a:rPr lang="en-US" b="1" dirty="0"/>
              <a:t>Logical operations</a:t>
            </a:r>
            <a:r>
              <a:rPr lang="en-US" dirty="0"/>
              <a:t>: AND, OR, NOT, comparisons</a:t>
            </a:r>
          </a:p>
          <a:p>
            <a:r>
              <a:rPr lang="en-US" dirty="0"/>
              <a:t>4. </a:t>
            </a:r>
            <a:r>
              <a:rPr lang="en-US" b="1" dirty="0"/>
              <a:t>Primary Memory :</a:t>
            </a:r>
            <a:r>
              <a:rPr lang="en-US" dirty="0"/>
              <a:t>RAM, Cache</a:t>
            </a:r>
          </a:p>
          <a:p>
            <a:r>
              <a:rPr lang="en-US" dirty="0"/>
              <a:t>Characteristics: Fast access, Temporary storage, Data is lost when power is off</a:t>
            </a:r>
          </a:p>
          <a:p>
            <a:r>
              <a:rPr lang="en-US" dirty="0"/>
              <a:t>5. </a:t>
            </a:r>
            <a:r>
              <a:rPr lang="en-US" b="1" dirty="0"/>
              <a:t>Secondary Memory: </a:t>
            </a:r>
            <a:r>
              <a:rPr lang="en-US" dirty="0"/>
              <a:t>Hard Disk, SSD, Pen Drive</a:t>
            </a:r>
          </a:p>
          <a:p>
            <a:r>
              <a:rPr lang="en-US" dirty="0"/>
              <a:t>6. The </a:t>
            </a:r>
            <a:r>
              <a:rPr lang="en-US" b="1" dirty="0"/>
              <a:t>Output Unit</a:t>
            </a:r>
            <a:r>
              <a:rPr lang="en-US" dirty="0"/>
              <a:t>:</a:t>
            </a:r>
          </a:p>
          <a:p>
            <a:r>
              <a:rPr lang="en-US" dirty="0"/>
              <a:t>Displays the result of processing</a:t>
            </a:r>
          </a:p>
          <a:p>
            <a:r>
              <a:rPr lang="en-US" dirty="0"/>
              <a:t>Converts machine-readable output into </a:t>
            </a:r>
            <a:r>
              <a:rPr lang="en-US" b="1" dirty="0"/>
              <a:t>human-readable form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99957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" y="2015119"/>
            <a:ext cx="4861560" cy="2827762"/>
          </a:xfrm>
          <a:noFill/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Logic Unit (ALU)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)Primary memory (ii)Secondary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4B5813-44D7-A83B-68F6-7D8E2CFECA41}"/>
              </a:ext>
            </a:extLst>
          </p:cNvPr>
          <p:cNvSpPr txBox="1"/>
          <p:nvPr/>
        </p:nvSpPr>
        <p:spPr>
          <a:xfrm>
            <a:off x="5202936" y="1782401"/>
            <a:ext cx="723976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dirty="0"/>
              <a:t>User gives </a:t>
            </a:r>
            <a:r>
              <a:rPr lang="en-US" sz="2800" b="1" dirty="0"/>
              <a:t>input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Input goes to </a:t>
            </a:r>
            <a:r>
              <a:rPr lang="en-US" sz="2800" b="1" dirty="0"/>
              <a:t>memory</a:t>
            </a: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800" dirty="0"/>
              <a:t>CPU fetches data from memory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ALU processes the data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Result is stored back in memory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Output unit displays the result</a:t>
            </a:r>
          </a:p>
          <a:p>
            <a:pPr>
              <a:buNone/>
            </a:pPr>
            <a:r>
              <a:rPr lang="en-US" sz="2800" dirty="0"/>
              <a:t>This cycle is called the </a:t>
            </a:r>
            <a:r>
              <a:rPr lang="en-US" sz="2800" b="1" dirty="0"/>
              <a:t>Fetch–Decode–Execute cycle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68787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struction Cycle Explained | Fetch , Decode , Execute Cycle Step-By-Ste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0678"/>
          <a:stretch/>
        </p:blipFill>
        <p:spPr bwMode="auto">
          <a:xfrm>
            <a:off x="367283" y="1493448"/>
            <a:ext cx="7696200" cy="387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A825E5B5-DD1B-0C7C-6537-54792BCC7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760" y="2695015"/>
            <a:ext cx="37581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Read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Understand question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Solve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Write answer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860098-C761-1B7E-4FC5-703ABE2BAC04}"/>
              </a:ext>
            </a:extLst>
          </p:cNvPr>
          <p:cNvSpPr txBox="1"/>
          <p:nvPr/>
        </p:nvSpPr>
        <p:spPr>
          <a:xfrm>
            <a:off x="114300" y="5564231"/>
            <a:ext cx="12312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Instruction Cycle is the sequence of steps performed by the CPU to fetch, decode, execute, and store the result of an instruction.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4281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62F2BA6-FC18-2DC0-6255-DAEFB695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7CD3DD-3856-F17F-0E5B-4EE82C493088}"/>
              </a:ext>
            </a:extLst>
          </p:cNvPr>
          <p:cNvSpPr txBox="1"/>
          <p:nvPr/>
        </p:nvSpPr>
        <p:spPr>
          <a:xfrm>
            <a:off x="212598" y="924205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FETCH</a:t>
            </a:r>
          </a:p>
          <a:p>
            <a:pPr>
              <a:buNone/>
            </a:pPr>
            <a:r>
              <a:rPr lang="en-US" b="1" dirty="0"/>
              <a:t>What happens here?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CPU </a:t>
            </a:r>
            <a:r>
              <a:rPr lang="en-US" b="1" dirty="0"/>
              <a:t>fetches the instruction from memory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instruction is stored in the </a:t>
            </a:r>
            <a:r>
              <a:rPr lang="en-US" b="1" dirty="0"/>
              <a:t>Instruction Register (IR)</a:t>
            </a:r>
            <a:endParaRPr lang="en-US" dirty="0"/>
          </a:p>
          <a:p>
            <a:pPr>
              <a:buNone/>
            </a:pPr>
            <a:r>
              <a:rPr lang="en-US" dirty="0"/>
              <a:t>The address of the instruction is given by the </a:t>
            </a:r>
            <a:r>
              <a:rPr lang="en-US" b="1" dirty="0"/>
              <a:t>Program Counter (PC)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26010B-B50C-5036-08FC-A7D71D14520E}"/>
              </a:ext>
            </a:extLst>
          </p:cNvPr>
          <p:cNvSpPr txBox="1"/>
          <p:nvPr/>
        </p:nvSpPr>
        <p:spPr>
          <a:xfrm>
            <a:off x="212598" y="3363279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DECODE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What happens here?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Control Unit (CU)</a:t>
            </a:r>
            <a:r>
              <a:rPr lang="en-US" dirty="0"/>
              <a:t> decodes the 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understands: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What operation to perform?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Which data is required?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Where the data is located?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EE5E05F-1774-BDBC-E282-DF9E9484DC2D}"/>
              </a:ext>
            </a:extLst>
          </p:cNvPr>
          <p:cNvSpPr txBox="1"/>
          <p:nvPr/>
        </p:nvSpPr>
        <p:spPr>
          <a:xfrm>
            <a:off x="6549390" y="924205"/>
            <a:ext cx="56426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EXECUTE</a:t>
            </a:r>
          </a:p>
          <a:p>
            <a:pPr>
              <a:buNone/>
            </a:pPr>
            <a:r>
              <a:rPr lang="en-US" b="1" dirty="0"/>
              <a:t>What happens here?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actual operation is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Done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ALU</a:t>
            </a:r>
            <a:r>
              <a:rPr lang="en-US" dirty="0"/>
              <a:t> (for arithmetic &amp; logic)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 memory / I/O unit (depending on instruction)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17DA33E-19C2-B998-B9AA-F11B82F04314}"/>
              </a:ext>
            </a:extLst>
          </p:cNvPr>
          <p:cNvSpPr txBox="1"/>
          <p:nvPr/>
        </p:nvSpPr>
        <p:spPr>
          <a:xfrm>
            <a:off x="6613398" y="3640277"/>
            <a:ext cx="5366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4: STORE (Write Back)</a:t>
            </a:r>
          </a:p>
          <a:p>
            <a:pPr>
              <a:buNone/>
            </a:pPr>
            <a:r>
              <a:rPr lang="en-US" b="1" dirty="0"/>
              <a:t>What happens here?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result of execution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Stored in memory,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Stored in a register</a:t>
            </a:r>
          </a:p>
          <a:p>
            <a:pPr>
              <a:buNone/>
            </a:pPr>
            <a:r>
              <a:rPr lang="en-US" dirty="0"/>
              <a:t>Output may be displayed later.</a:t>
            </a:r>
          </a:p>
        </p:txBody>
      </p:sp>
    </p:spTree>
    <p:extLst>
      <p:ext uri="{BB962C8B-B14F-4D97-AF65-F5344CB8AC3E}">
        <p14:creationId xmlns:p14="http://schemas.microsoft.com/office/powerpoint/2010/main" xmlns="" val="377342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2453747" y="1153168"/>
            <a:ext cx="5208587" cy="570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Instruction Codes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Computer Registers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</a:rPr>
              <a:t>Computer Instructions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Common Bus System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Timing and Control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Instruction Cycle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Memory Reference Instructions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Input-Output and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Complete Computer Description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504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3078" name="Rectangle 3"/>
          <p:cNvSpPr txBox="1">
            <a:spLocks noChangeArrowheads="1"/>
          </p:cNvSpPr>
          <p:nvPr/>
        </p:nvSpPr>
        <p:spPr bwMode="auto">
          <a:xfrm>
            <a:off x="1838326" y="1350964"/>
            <a:ext cx="8448675" cy="5227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Every different processor type has its own design (different registers, buses, microoperations, machine instructions,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r>
              <a:rPr lang="en-US" altLang="ko-KR" sz="2000" b="1" dirty="0">
                <a:latin typeface="Calibri" panose="020F0502020204030204" pitchFamily="34" charset="0"/>
              </a:rPr>
              <a:t>)</a:t>
            </a:r>
          </a:p>
          <a:p>
            <a:r>
              <a:rPr lang="en-IN" sz="1600" dirty="0"/>
              <a:t>For example:</a:t>
            </a:r>
          </a:p>
          <a:p>
            <a:r>
              <a:rPr lang="en-IN" sz="1600" dirty="0"/>
              <a:t>Intel processor ≠ ARM processor</a:t>
            </a:r>
          </a:p>
          <a:p>
            <a:r>
              <a:rPr lang="en-IN" sz="1600" dirty="0"/>
              <a:t>Desktop CPU ≠ Mobile CPU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Modern processor is a very complex device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Many registers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Multiple arithmetic units, for both integer and floating point calculations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ability to pipeline several consecutive instructions to speed execution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1600" dirty="0"/>
              <a:t>Run multiple programs at the same time</a:t>
            </a:r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1600" dirty="0"/>
              <a:t>Execute </a:t>
            </a:r>
            <a:r>
              <a:rPr lang="en-US" altLang="en-US" sz="1600" b="1" dirty="0"/>
              <a:t>millions of instructions per second</a:t>
            </a:r>
            <a:endParaRPr lang="en-US" altLang="en-US" sz="1600" dirty="0"/>
          </a:p>
          <a:p>
            <a:pPr lvl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sz="1600" dirty="0"/>
              <a:t>Support graphics, AI, gaming, networking</a:t>
            </a: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dirty="0"/>
              <a:t>Modern processors are complex and powerful, but to understand their working, we first study a simplified processor model that clearly explains registers, instructions, and data flow.</a:t>
            </a:r>
            <a:endParaRPr lang="en-US" altLang="ko-KR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242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</a:t>
            </a:r>
          </a:p>
        </p:txBody>
      </p:sp>
      <p:grpSp>
        <p:nvGrpSpPr>
          <p:cNvPr id="4102" name="Group 19"/>
          <p:cNvGrpSpPr>
            <a:grpSpLocks/>
          </p:cNvGrpSpPr>
          <p:nvPr/>
        </p:nvGrpSpPr>
        <p:grpSpPr bwMode="auto">
          <a:xfrm>
            <a:off x="1752600" y="1087437"/>
            <a:ext cx="8686800" cy="4779963"/>
            <a:chOff x="276225" y="1533525"/>
            <a:chExt cx="8686800" cy="4780280"/>
          </a:xfrm>
        </p:grpSpPr>
        <p:sp>
          <p:nvSpPr>
            <p:cNvPr id="4104" name="Rectangle 3"/>
            <p:cNvSpPr txBox="1">
              <a:spLocks noChangeArrowheads="1"/>
            </p:cNvSpPr>
            <p:nvPr/>
          </p:nvSpPr>
          <p:spPr bwMode="auto">
            <a:xfrm>
              <a:off x="276225" y="1533525"/>
              <a:ext cx="8686800" cy="198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latin typeface="Calibri" panose="020F0502020204030204" pitchFamily="34" charset="0"/>
                </a:rPr>
                <a:t>The Basic Computer has two components, a processor and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latin typeface="Calibri" panose="020F0502020204030204" pitchFamily="34" charset="0"/>
                </a:rPr>
                <a:t>The memory has 4096 words in it</a:t>
              </a:r>
            </a:p>
            <a:p>
              <a:pPr lvl="1" ea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</a:pPr>
              <a:r>
                <a:rPr lang="en-US" altLang="ko-KR" sz="2000" b="1" dirty="0">
                  <a:latin typeface="Calibri" panose="020F0502020204030204" pitchFamily="34" charset="0"/>
                </a:rPr>
                <a:t>4096 = 2</a:t>
              </a:r>
              <a:r>
                <a:rPr lang="en-US" altLang="ko-KR" sz="2000" b="1" baseline="30000" dirty="0">
                  <a:latin typeface="Calibri" panose="020F0502020204030204" pitchFamily="34" charset="0"/>
                </a:rPr>
                <a:t>12</a:t>
              </a:r>
              <a:r>
                <a:rPr lang="en-US" altLang="ko-KR" sz="2000" b="1" dirty="0">
                  <a:latin typeface="Calibri" panose="020F0502020204030204" pitchFamily="34" charset="0"/>
                </a:rPr>
                <a:t>, so it takes 12 bits to select a word in memory</a:t>
              </a: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latin typeface="Calibri" panose="020F0502020204030204" pitchFamily="34" charset="0"/>
                </a:rPr>
                <a:t>Each word is 16 bits (2 byte) long, </a:t>
              </a:r>
              <a:r>
                <a:rPr lang="en-US" b="1" dirty="0"/>
                <a:t>so the memory organization is 4096 × 16.</a:t>
              </a:r>
              <a:endParaRPr lang="en-US" altLang="ko-KR" b="1" dirty="0">
                <a:latin typeface="Calibri" panose="020F0502020204030204" pitchFamily="34" charset="0"/>
              </a:endParaRPr>
            </a:p>
          </p:txBody>
        </p:sp>
        <p:sp>
          <p:nvSpPr>
            <p:cNvPr id="4105" name="Rectangle 4"/>
            <p:cNvSpPr>
              <a:spLocks noChangeArrowheads="1"/>
            </p:cNvSpPr>
            <p:nvPr/>
          </p:nvSpPr>
          <p:spPr bwMode="auto">
            <a:xfrm>
              <a:off x="5219700" y="3789363"/>
              <a:ext cx="638175" cy="514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6" name="Rectangle 5"/>
            <p:cNvSpPr>
              <a:spLocks noChangeArrowheads="1"/>
            </p:cNvSpPr>
            <p:nvPr/>
          </p:nvSpPr>
          <p:spPr bwMode="auto">
            <a:xfrm>
              <a:off x="6443663" y="3789363"/>
              <a:ext cx="792162" cy="23749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7" name="Text Box 6"/>
            <p:cNvSpPr txBox="1">
              <a:spLocks noChangeArrowheads="1"/>
            </p:cNvSpPr>
            <p:nvPr/>
          </p:nvSpPr>
          <p:spPr bwMode="auto">
            <a:xfrm>
              <a:off x="5233988" y="3422650"/>
              <a:ext cx="62388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6567488" y="3419475"/>
              <a:ext cx="7088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RAM</a:t>
              </a:r>
            </a:p>
          </p:txBody>
        </p:sp>
        <p:sp>
          <p:nvSpPr>
            <p:cNvPr id="4109" name="Text Box 9"/>
            <p:cNvSpPr txBox="1">
              <a:spLocks noChangeArrowheads="1"/>
            </p:cNvSpPr>
            <p:nvPr/>
          </p:nvSpPr>
          <p:spPr bwMode="auto">
            <a:xfrm>
              <a:off x="7216775" y="3759260"/>
              <a:ext cx="704039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0</a:t>
              </a: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4095</a:t>
              </a:r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6443663" y="5511860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1" name="Text Box 12"/>
            <p:cNvSpPr txBox="1">
              <a:spLocks noChangeArrowheads="1"/>
            </p:cNvSpPr>
            <p:nvPr/>
          </p:nvSpPr>
          <p:spPr bwMode="auto">
            <a:xfrm>
              <a:off x="7019925" y="5229225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>
              <a:off x="6372225" y="5229225"/>
              <a:ext cx="3674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15</a:t>
              </a:r>
            </a:p>
          </p:txBody>
        </p:sp>
      </p:grpSp>
      <p:sp>
        <p:nvSpPr>
          <p:cNvPr id="4103" name="Line 11"/>
          <p:cNvSpPr>
            <a:spLocks noChangeShapeType="1"/>
          </p:cNvSpPr>
          <p:nvPr/>
        </p:nvSpPr>
        <p:spPr bwMode="auto">
          <a:xfrm>
            <a:off x="7970838" y="52578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F331162-5550-2262-CBBE-93DA9AF2A835}"/>
              </a:ext>
            </a:extLst>
          </p:cNvPr>
          <p:cNvSpPr txBox="1"/>
          <p:nvPr/>
        </p:nvSpPr>
        <p:spPr>
          <a:xfrm>
            <a:off x="1975207" y="2688999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1. Memory is divided into </a:t>
            </a:r>
            <a:r>
              <a:rPr lang="en-US" b="1" dirty="0"/>
              <a:t>locations called words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word has a </a:t>
            </a:r>
            <a:r>
              <a:rPr lang="en-US" b="1" dirty="0"/>
              <a:t>unique address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number of words = </a:t>
            </a:r>
            <a:r>
              <a:rPr lang="en-US" b="1" dirty="0"/>
              <a:t>4096</a:t>
            </a:r>
            <a:endParaRPr lang="en-US" dirty="0"/>
          </a:p>
          <a:p>
            <a:pPr>
              <a:buNone/>
            </a:pPr>
            <a:r>
              <a:rPr lang="en-US" dirty="0"/>
              <a:t> So, memory addresses range from:</a:t>
            </a:r>
          </a:p>
          <a:p>
            <a:r>
              <a:rPr lang="en-US" b="1" dirty="0"/>
              <a:t>0 to 4095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F01A1DB-DD0F-F834-F066-0A051CAC9B4B}"/>
              </a:ext>
            </a:extLst>
          </p:cNvPr>
          <p:cNvSpPr txBox="1"/>
          <p:nvPr/>
        </p:nvSpPr>
        <p:spPr>
          <a:xfrm>
            <a:off x="1903769" y="4590212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2. Each memory location stores </a:t>
            </a:r>
            <a:r>
              <a:rPr lang="en-US" b="1" dirty="0"/>
              <a:t>16 bits of data or instruction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memory word = </a:t>
            </a:r>
            <a:r>
              <a:rPr lang="en-US" b="1" dirty="0"/>
              <a:t>16 bits</a:t>
            </a:r>
            <a:endParaRPr lang="en-US" dirty="0"/>
          </a:p>
          <a:p>
            <a:pPr>
              <a:buNone/>
            </a:pPr>
            <a:r>
              <a:rPr lang="en-US" dirty="0"/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Instructions in this computer are </a:t>
            </a:r>
            <a:r>
              <a:rPr lang="en-US" b="1" dirty="0"/>
              <a:t>16-bit instructions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also stored in </a:t>
            </a:r>
            <a:r>
              <a:rPr lang="en-US" b="1" dirty="0"/>
              <a:t>16-bit format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3877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22376" y="304800"/>
            <a:ext cx="1083564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868680" y="1317626"/>
            <a:ext cx="10600944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Program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sequence of (machine) instructions </a:t>
            </a:r>
          </a:p>
          <a:p>
            <a:r>
              <a:rPr lang="en-US" dirty="0"/>
              <a:t>A </a:t>
            </a:r>
            <a:r>
              <a:rPr lang="en-US" b="1" dirty="0"/>
              <a:t>collection of instructions a</a:t>
            </a:r>
            <a:r>
              <a:rPr lang="en-US" dirty="0"/>
              <a:t>rranged in a </a:t>
            </a:r>
            <a:r>
              <a:rPr lang="en-US" b="1" dirty="0"/>
              <a:t>specific order to</a:t>
            </a:r>
            <a:r>
              <a:rPr lang="en-US" dirty="0"/>
              <a:t> perform a </a:t>
            </a:r>
            <a:r>
              <a:rPr lang="en-US" b="1" dirty="0"/>
              <a:t>particular task</a:t>
            </a:r>
            <a:endParaRPr lang="en-US" dirty="0"/>
          </a:p>
          <a:p>
            <a:r>
              <a:rPr lang="en-US" dirty="0"/>
              <a:t>The computer </a:t>
            </a:r>
            <a:r>
              <a:rPr lang="en-US" b="1" dirty="0"/>
              <a:t>does not understand high-level languages</a:t>
            </a:r>
            <a:r>
              <a:rPr lang="en-US" dirty="0"/>
              <a:t> directly.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(Machine)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group of bits that tell the computer to </a:t>
            </a:r>
            <a:r>
              <a:rPr lang="en-US" altLang="ko-KR" sz="2000" b="1" i="1" dirty="0">
                <a:latin typeface="Calibri" panose="020F0502020204030204" pitchFamily="34" charset="0"/>
              </a:rPr>
              <a:t>perform a specific operation</a:t>
            </a:r>
            <a:r>
              <a:rPr lang="en-US" altLang="ko-KR" sz="2000" b="1" dirty="0">
                <a:latin typeface="Calibri" panose="020F0502020204030204" pitchFamily="34" charset="0"/>
              </a:rPr>
              <a:t> (a sequence of micro-operation) </a:t>
            </a:r>
          </a:p>
          <a:p>
            <a:r>
              <a:rPr lang="en-US" dirty="0"/>
              <a:t>A </a:t>
            </a:r>
            <a:r>
              <a:rPr lang="en-US" b="1" dirty="0"/>
              <a:t>machine instruction is</a:t>
            </a:r>
            <a:r>
              <a:rPr lang="en-US" dirty="0"/>
              <a:t> written in </a:t>
            </a:r>
            <a:r>
              <a:rPr lang="en-US" b="1" dirty="0"/>
              <a:t>binary (0s and 1s), </a:t>
            </a:r>
            <a:r>
              <a:rPr lang="en-US" dirty="0"/>
              <a:t>Is </a:t>
            </a:r>
            <a:r>
              <a:rPr lang="en-US" b="1" dirty="0"/>
              <a:t>understood directly by the CPU. </a:t>
            </a:r>
            <a:r>
              <a:rPr lang="en-US" dirty="0"/>
              <a:t>Each instruction triggers a </a:t>
            </a:r>
            <a:r>
              <a:rPr lang="en-US" b="1" dirty="0"/>
              <a:t>series of micro-operations</a:t>
            </a:r>
            <a:r>
              <a:rPr lang="en-US" dirty="0"/>
              <a:t> inside the CPU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marL="0" indent="0" algn="just" eaLnBrk="1" hangingPunct="1">
              <a:spcBef>
                <a:spcPct val="20000"/>
              </a:spcBef>
            </a:pP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The instructions of a program, along with any needed data are stored in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009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9604248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1847088" y="1317626"/>
            <a:ext cx="9390888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CPU reads the next instruction from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dirty="0"/>
              <a:t>The fetched instruction is stored in a special register called the </a:t>
            </a:r>
            <a:r>
              <a:rPr lang="en-US" b="1" dirty="0">
                <a:solidFill>
                  <a:srgbClr val="FF0000"/>
                </a:solidFill>
              </a:rPr>
              <a:t>Instruction Register (IR)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dirty="0"/>
              <a:t>IR holds </a:t>
            </a:r>
            <a:r>
              <a:rPr lang="en-US" b="1" dirty="0"/>
              <a:t>only one instruction at a time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dirty="0"/>
              <a:t>This instruction remains in IR </a:t>
            </a:r>
            <a:r>
              <a:rPr lang="en-US" b="1" dirty="0"/>
              <a:t>until it is fully executed</a:t>
            </a:r>
            <a:endParaRPr lang="en-US" dirty="0"/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Control circuitry in control unit then translates the instruction into the sequence of micro-operations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very necessary to implement it.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Without IR:</a:t>
            </a:r>
          </a:p>
          <a:p>
            <a:r>
              <a:rPr lang="en-US" dirty="0"/>
              <a:t>Instruction would not remain stable</a:t>
            </a:r>
          </a:p>
          <a:p>
            <a:r>
              <a:rPr lang="en-US" dirty="0"/>
              <a:t>Control Unit cannot decode properly</a:t>
            </a:r>
          </a:p>
          <a:p>
            <a:r>
              <a:rPr lang="en-US" dirty="0"/>
              <a:t>Execution becomes unreliable</a:t>
            </a:r>
          </a:p>
          <a:p>
            <a:r>
              <a:rPr lang="en-US" b="1" dirty="0"/>
              <a:t>IR acts as a bridge</a:t>
            </a:r>
            <a:r>
              <a:rPr lang="en-US" dirty="0"/>
              <a:t> between memory and execution.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3155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11350" y="857989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computer instruction is often divided into two parts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opcode (Operation Code) that specifies the operation for that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address that specifies the registers and/or locations in memory to use for that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since the memory contains 4096 (= 2</a:t>
            </a:r>
            <a:r>
              <a:rPr lang="en-US" altLang="ko-KR" sz="2000" b="1" baseline="30000" dirty="0">
                <a:latin typeface="Calibri" panose="020F0502020204030204" pitchFamily="34" charset="0"/>
              </a:rPr>
              <a:t>12</a:t>
            </a:r>
            <a:r>
              <a:rPr lang="en-US" altLang="ko-KR" sz="2000" b="1" dirty="0">
                <a:latin typeface="Calibri" panose="020F0502020204030204" pitchFamily="34" charset="0"/>
              </a:rPr>
              <a:t>) words,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we needs 12 bit to specify which memory address this instruction will use 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668838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 dirty="0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D5E5B7F-CC1F-473E-7305-F11BFB563F29}"/>
              </a:ext>
            </a:extLst>
          </p:cNvPr>
          <p:cNvSpPr txBox="1"/>
          <p:nvPr/>
        </p:nvSpPr>
        <p:spPr>
          <a:xfrm>
            <a:off x="7353364" y="5571872"/>
            <a:ext cx="29797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/>
              <a:t>Address field tells the CPU </a:t>
            </a:r>
            <a:r>
              <a:rPr lang="en-US" i="1" dirty="0"/>
              <a:t>where the data is (</a:t>
            </a:r>
            <a:r>
              <a:rPr lang="en-US" dirty="0"/>
              <a:t>A memory location or A register)</a:t>
            </a:r>
          </a:p>
        </p:txBody>
      </p:sp>
    </p:spTree>
    <p:extLst>
      <p:ext uri="{BB962C8B-B14F-4D97-AF65-F5344CB8AC3E}">
        <p14:creationId xmlns:p14="http://schemas.microsoft.com/office/powerpoint/2010/main" xmlns="" val="2337495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2066544" y="990600"/>
            <a:ext cx="8296656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r>
              <a:rPr lang="en-US" sz="2000" b="1" dirty="0"/>
              <a:t>How does the CPU know whether the address refers to actual data or to another address?</a:t>
            </a:r>
          </a:p>
          <a:p>
            <a:endParaRPr lang="en-US" sz="2000" dirty="0"/>
          </a:p>
          <a:p>
            <a:r>
              <a:rPr lang="en-US" sz="2000" dirty="0"/>
              <a:t>This is decided by something called the </a:t>
            </a:r>
            <a:r>
              <a:rPr lang="en-US" sz="2000" b="1" dirty="0"/>
              <a:t>addressing mode</a:t>
            </a:r>
            <a:r>
              <a:rPr lang="en-US" sz="2000" dirty="0"/>
              <a:t>.</a:t>
            </a: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15 bit of the instruction specifies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addressing mode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(0: direct addressing, 1: indirect addressing)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words, and hence the instructions, are 16 bits long, that leaves 3 bits for the instruction’s opcode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972051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956595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Addressing Mode</a:t>
            </a:r>
          </a:p>
        </p:txBody>
      </p:sp>
      <p:sp>
        <p:nvSpPr>
          <p:cNvPr id="7175" name="Rectangle 4"/>
          <p:cNvSpPr txBox="1">
            <a:spLocks noChangeArrowheads="1"/>
          </p:cNvSpPr>
          <p:nvPr/>
        </p:nvSpPr>
        <p:spPr bwMode="auto">
          <a:xfrm>
            <a:off x="1800226" y="1174750"/>
            <a:ext cx="8639175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The address field of an instruction can represent either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Direct address: the address in memory of the data to use (the address of the operand), or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Indirect address: the address in memory of the address in memory of the data to use (2 memory access)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marL="457200" lvl="1" indent="0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Effective Address (EA)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address, that can be directly used without modification to access an operand for a computation-type instruction, or as the target address for a branch-type instruction</a:t>
            </a:r>
          </a:p>
        </p:txBody>
      </p:sp>
      <p:grpSp>
        <p:nvGrpSpPr>
          <p:cNvPr id="7176" name="Group 80"/>
          <p:cNvGrpSpPr>
            <a:grpSpLocks/>
          </p:cNvGrpSpPr>
          <p:nvPr/>
        </p:nvGrpSpPr>
        <p:grpSpPr bwMode="auto">
          <a:xfrm>
            <a:off x="4918075" y="2041525"/>
            <a:ext cx="4991100" cy="3378200"/>
            <a:chOff x="830" y="1178"/>
            <a:chExt cx="3144" cy="2128"/>
          </a:xfrm>
        </p:grpSpPr>
        <p:sp>
          <p:nvSpPr>
            <p:cNvPr id="7177" name="Line 20"/>
            <p:cNvSpPr>
              <a:spLocks noChangeShapeType="1"/>
            </p:cNvSpPr>
            <p:nvPr/>
          </p:nvSpPr>
          <p:spPr bwMode="auto">
            <a:xfrm>
              <a:off x="111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21"/>
            <p:cNvSpPr>
              <a:spLocks noChangeArrowheads="1"/>
            </p:cNvSpPr>
            <p:nvPr/>
          </p:nvSpPr>
          <p:spPr bwMode="auto">
            <a:xfrm>
              <a:off x="1100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7179" name="Line 22"/>
            <p:cNvSpPr>
              <a:spLocks noChangeShapeType="1"/>
            </p:cNvSpPr>
            <p:nvPr/>
          </p:nvSpPr>
          <p:spPr bwMode="auto">
            <a:xfrm>
              <a:off x="1249" y="1416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Rectangle 23"/>
            <p:cNvSpPr>
              <a:spLocks noChangeArrowheads="1"/>
            </p:cNvSpPr>
            <p:nvPr/>
          </p:nvSpPr>
          <p:spPr bwMode="auto">
            <a:xfrm>
              <a:off x="1236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81" name="Rectangle 24"/>
            <p:cNvSpPr>
              <a:spLocks noChangeArrowheads="1"/>
            </p:cNvSpPr>
            <p:nvPr/>
          </p:nvSpPr>
          <p:spPr bwMode="auto">
            <a:xfrm>
              <a:off x="1778" y="1390"/>
              <a:ext cx="4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457 (MA)</a:t>
              </a:r>
            </a:p>
          </p:txBody>
        </p:sp>
        <p:sp>
          <p:nvSpPr>
            <p:cNvPr id="7182" name="Line 25"/>
            <p:cNvSpPr>
              <a:spLocks noChangeShapeType="1"/>
            </p:cNvSpPr>
            <p:nvPr/>
          </p:nvSpPr>
          <p:spPr bwMode="auto">
            <a:xfrm>
              <a:off x="1568" y="1416"/>
              <a:ext cx="0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26"/>
            <p:cNvSpPr>
              <a:spLocks noChangeArrowheads="1"/>
            </p:cNvSpPr>
            <p:nvPr/>
          </p:nvSpPr>
          <p:spPr bwMode="auto">
            <a:xfrm>
              <a:off x="870" y="1414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</a:p>
          </p:txBody>
        </p:sp>
        <p:sp>
          <p:nvSpPr>
            <p:cNvPr id="7184" name="Line 27"/>
            <p:cNvSpPr>
              <a:spLocks noChangeShapeType="1"/>
            </p:cNvSpPr>
            <p:nvPr/>
          </p:nvSpPr>
          <p:spPr bwMode="auto">
            <a:xfrm>
              <a:off x="1118" y="1957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28"/>
            <p:cNvSpPr>
              <a:spLocks noChangeShapeType="1"/>
            </p:cNvSpPr>
            <p:nvPr/>
          </p:nvSpPr>
          <p:spPr bwMode="auto">
            <a:xfrm>
              <a:off x="1118" y="2065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Rectangle 29"/>
            <p:cNvSpPr>
              <a:spLocks noChangeArrowheads="1"/>
            </p:cNvSpPr>
            <p:nvPr/>
          </p:nvSpPr>
          <p:spPr bwMode="auto">
            <a:xfrm>
              <a:off x="1367" y="1934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187" name="Rectangle 30"/>
            <p:cNvSpPr>
              <a:spLocks noChangeArrowheads="1"/>
            </p:cNvSpPr>
            <p:nvPr/>
          </p:nvSpPr>
          <p:spPr bwMode="auto">
            <a:xfrm>
              <a:off x="830" y="1958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grpSp>
          <p:nvGrpSpPr>
            <p:cNvPr id="7188" name="Group 31"/>
            <p:cNvGrpSpPr>
              <a:grpSpLocks/>
            </p:cNvGrpSpPr>
            <p:nvPr/>
          </p:nvGrpSpPr>
          <p:grpSpPr bwMode="auto">
            <a:xfrm>
              <a:off x="1118" y="2472"/>
              <a:ext cx="1115" cy="57"/>
              <a:chOff x="937" y="3785"/>
              <a:chExt cx="1119" cy="71"/>
            </a:xfrm>
          </p:grpSpPr>
          <p:sp>
            <p:nvSpPr>
              <p:cNvPr id="7233" name="Arc 32"/>
              <p:cNvSpPr>
                <a:spLocks/>
              </p:cNvSpPr>
              <p:nvPr/>
            </p:nvSpPr>
            <p:spPr bwMode="auto">
              <a:xfrm>
                <a:off x="937" y="3785"/>
                <a:ext cx="312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4" name="Arc 33"/>
              <p:cNvSpPr>
                <a:spLocks/>
              </p:cNvSpPr>
              <p:nvPr/>
            </p:nvSpPr>
            <p:spPr bwMode="auto">
              <a:xfrm>
                <a:off x="124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5" name="Arc 34"/>
              <p:cNvSpPr>
                <a:spLocks/>
              </p:cNvSpPr>
              <p:nvPr/>
            </p:nvSpPr>
            <p:spPr bwMode="auto">
              <a:xfrm>
                <a:off x="1529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6" name="Arc 35"/>
              <p:cNvSpPr>
                <a:spLocks/>
              </p:cNvSpPr>
              <p:nvPr/>
            </p:nvSpPr>
            <p:spPr bwMode="auto">
              <a:xfrm>
                <a:off x="1792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189" name="Line 36"/>
            <p:cNvSpPr>
              <a:spLocks noChangeShapeType="1"/>
            </p:cNvSpPr>
            <p:nvPr/>
          </p:nvSpPr>
          <p:spPr bwMode="auto">
            <a:xfrm>
              <a:off x="1113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Freeform 37"/>
            <p:cNvSpPr>
              <a:spLocks/>
            </p:cNvSpPr>
            <p:nvPr/>
          </p:nvSpPr>
          <p:spPr bwMode="auto">
            <a:xfrm>
              <a:off x="1110" y="1409"/>
              <a:ext cx="1131" cy="1089"/>
            </a:xfrm>
            <a:custGeom>
              <a:avLst/>
              <a:gdLst>
                <a:gd name="T0" fmla="*/ 0 w 1137"/>
                <a:gd name="T1" fmla="*/ 0 h 1361"/>
                <a:gd name="T2" fmla="*/ 1100 w 1137"/>
                <a:gd name="T3" fmla="*/ 0 h 1361"/>
                <a:gd name="T4" fmla="*/ 1100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91" name="Line 38"/>
            <p:cNvSpPr>
              <a:spLocks noChangeShapeType="1"/>
            </p:cNvSpPr>
            <p:nvPr/>
          </p:nvSpPr>
          <p:spPr bwMode="auto">
            <a:xfrm>
              <a:off x="283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39"/>
            <p:cNvSpPr>
              <a:spLocks noChangeArrowheads="1"/>
            </p:cNvSpPr>
            <p:nvPr/>
          </p:nvSpPr>
          <p:spPr bwMode="auto">
            <a:xfrm>
              <a:off x="2812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7193" name="Line 40"/>
            <p:cNvSpPr>
              <a:spLocks noChangeShapeType="1"/>
            </p:cNvSpPr>
            <p:nvPr/>
          </p:nvSpPr>
          <p:spPr bwMode="auto">
            <a:xfrm>
              <a:off x="2969" y="1404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Rectangle 41"/>
            <p:cNvSpPr>
              <a:spLocks noChangeArrowheads="1"/>
            </p:cNvSpPr>
            <p:nvPr/>
          </p:nvSpPr>
          <p:spPr bwMode="auto">
            <a:xfrm>
              <a:off x="2948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95" name="Rectangle 42"/>
            <p:cNvSpPr>
              <a:spLocks noChangeArrowheads="1"/>
            </p:cNvSpPr>
            <p:nvPr/>
          </p:nvSpPr>
          <p:spPr bwMode="auto">
            <a:xfrm>
              <a:off x="3490" y="1390"/>
              <a:ext cx="4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300 (MA)</a:t>
              </a:r>
            </a:p>
          </p:txBody>
        </p:sp>
        <p:sp>
          <p:nvSpPr>
            <p:cNvPr id="7196" name="Line 43"/>
            <p:cNvSpPr>
              <a:spLocks noChangeShapeType="1"/>
            </p:cNvSpPr>
            <p:nvPr/>
          </p:nvSpPr>
          <p:spPr bwMode="auto">
            <a:xfrm>
              <a:off x="3280" y="1404"/>
              <a:ext cx="0" cy="1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44"/>
            <p:cNvSpPr>
              <a:spLocks noChangeArrowheads="1"/>
            </p:cNvSpPr>
            <p:nvPr/>
          </p:nvSpPr>
          <p:spPr bwMode="auto">
            <a:xfrm>
              <a:off x="2600" y="139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35</a:t>
              </a:r>
            </a:p>
          </p:txBody>
        </p:sp>
        <p:sp>
          <p:nvSpPr>
            <p:cNvPr id="7198" name="Line 45"/>
            <p:cNvSpPr>
              <a:spLocks noChangeShapeType="1"/>
            </p:cNvSpPr>
            <p:nvPr/>
          </p:nvSpPr>
          <p:spPr bwMode="auto">
            <a:xfrm>
              <a:off x="2838" y="1740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46"/>
            <p:cNvSpPr>
              <a:spLocks noChangeShapeType="1"/>
            </p:cNvSpPr>
            <p:nvPr/>
          </p:nvSpPr>
          <p:spPr bwMode="auto">
            <a:xfrm>
              <a:off x="2838" y="1848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47"/>
            <p:cNvSpPr>
              <a:spLocks noChangeArrowheads="1"/>
            </p:cNvSpPr>
            <p:nvPr/>
          </p:nvSpPr>
          <p:spPr bwMode="auto">
            <a:xfrm>
              <a:off x="3219" y="1717"/>
              <a:ext cx="53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1350 (MA)</a:t>
              </a:r>
            </a:p>
          </p:txBody>
        </p:sp>
        <p:sp>
          <p:nvSpPr>
            <p:cNvPr id="7201" name="Rectangle 48"/>
            <p:cNvSpPr>
              <a:spLocks noChangeArrowheads="1"/>
            </p:cNvSpPr>
            <p:nvPr/>
          </p:nvSpPr>
          <p:spPr bwMode="auto">
            <a:xfrm>
              <a:off x="2541" y="1723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grpSp>
          <p:nvGrpSpPr>
            <p:cNvPr id="7202" name="Group 49"/>
            <p:cNvGrpSpPr>
              <a:grpSpLocks/>
            </p:cNvGrpSpPr>
            <p:nvPr/>
          </p:nvGrpSpPr>
          <p:grpSpPr bwMode="auto">
            <a:xfrm>
              <a:off x="2841" y="2472"/>
              <a:ext cx="1115" cy="57"/>
              <a:chOff x="2665" y="3785"/>
              <a:chExt cx="1119" cy="71"/>
            </a:xfrm>
          </p:grpSpPr>
          <p:sp>
            <p:nvSpPr>
              <p:cNvPr id="7229" name="Arc 50"/>
              <p:cNvSpPr>
                <a:spLocks/>
              </p:cNvSpPr>
              <p:nvPr/>
            </p:nvSpPr>
            <p:spPr bwMode="auto">
              <a:xfrm>
                <a:off x="2665" y="3785"/>
                <a:ext cx="30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0" name="Arc 51"/>
              <p:cNvSpPr>
                <a:spLocks/>
              </p:cNvSpPr>
              <p:nvPr/>
            </p:nvSpPr>
            <p:spPr bwMode="auto">
              <a:xfrm>
                <a:off x="296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1" name="Arc 52"/>
              <p:cNvSpPr>
                <a:spLocks/>
              </p:cNvSpPr>
              <p:nvPr/>
            </p:nvSpPr>
            <p:spPr bwMode="auto">
              <a:xfrm>
                <a:off x="3249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2" name="Arc 53"/>
              <p:cNvSpPr>
                <a:spLocks/>
              </p:cNvSpPr>
              <p:nvPr/>
            </p:nvSpPr>
            <p:spPr bwMode="auto">
              <a:xfrm>
                <a:off x="3516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203" name="Line 54"/>
            <p:cNvSpPr>
              <a:spLocks noChangeShapeType="1"/>
            </p:cNvSpPr>
            <p:nvPr/>
          </p:nvSpPr>
          <p:spPr bwMode="auto">
            <a:xfrm>
              <a:off x="2834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Freeform 55"/>
            <p:cNvSpPr>
              <a:spLocks/>
            </p:cNvSpPr>
            <p:nvPr/>
          </p:nvSpPr>
          <p:spPr bwMode="auto">
            <a:xfrm>
              <a:off x="2830" y="1409"/>
              <a:ext cx="1132" cy="1089"/>
            </a:xfrm>
            <a:custGeom>
              <a:avLst/>
              <a:gdLst>
                <a:gd name="T0" fmla="*/ 0 w 1137"/>
                <a:gd name="T1" fmla="*/ 0 h 1361"/>
                <a:gd name="T2" fmla="*/ 1106 w 1137"/>
                <a:gd name="T3" fmla="*/ 0 h 1361"/>
                <a:gd name="T4" fmla="*/ 1106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05" name="Line 56"/>
            <p:cNvSpPr>
              <a:spLocks noChangeShapeType="1"/>
            </p:cNvSpPr>
            <p:nvPr/>
          </p:nvSpPr>
          <p:spPr bwMode="auto">
            <a:xfrm>
              <a:off x="2838" y="214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57"/>
            <p:cNvSpPr>
              <a:spLocks noChangeShapeType="1"/>
            </p:cNvSpPr>
            <p:nvPr/>
          </p:nvSpPr>
          <p:spPr bwMode="auto">
            <a:xfrm>
              <a:off x="2838" y="225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Rectangle 58"/>
            <p:cNvSpPr>
              <a:spLocks noChangeArrowheads="1"/>
            </p:cNvSpPr>
            <p:nvPr/>
          </p:nvSpPr>
          <p:spPr bwMode="auto">
            <a:xfrm>
              <a:off x="3074" y="2125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208" name="Rectangle 59"/>
            <p:cNvSpPr>
              <a:spLocks noChangeArrowheads="1"/>
            </p:cNvSpPr>
            <p:nvPr/>
          </p:nvSpPr>
          <p:spPr bwMode="auto">
            <a:xfrm>
              <a:off x="2508" y="2125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9" name="Oval 60"/>
            <p:cNvSpPr>
              <a:spLocks noChangeArrowheads="1"/>
            </p:cNvSpPr>
            <p:nvPr/>
          </p:nvSpPr>
          <p:spPr bwMode="auto">
            <a:xfrm>
              <a:off x="1571" y="2689"/>
              <a:ext cx="207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0" name="Rectangle 61"/>
            <p:cNvSpPr>
              <a:spLocks noChangeArrowheads="1"/>
            </p:cNvSpPr>
            <p:nvPr/>
          </p:nvSpPr>
          <p:spPr bwMode="auto">
            <a:xfrm>
              <a:off x="1571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1" name="Rectangle 62"/>
            <p:cNvSpPr>
              <a:spLocks noChangeArrowheads="1"/>
            </p:cNvSpPr>
            <p:nvPr/>
          </p:nvSpPr>
          <p:spPr bwMode="auto">
            <a:xfrm>
              <a:off x="111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2" name="Rectangle 63"/>
            <p:cNvSpPr>
              <a:spLocks noChangeArrowheads="1"/>
            </p:cNvSpPr>
            <p:nvPr/>
          </p:nvSpPr>
          <p:spPr bwMode="auto">
            <a:xfrm>
              <a:off x="1525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13" name="Freeform 64"/>
            <p:cNvSpPr>
              <a:spLocks/>
            </p:cNvSpPr>
            <p:nvPr/>
          </p:nvSpPr>
          <p:spPr bwMode="auto">
            <a:xfrm>
              <a:off x="905" y="3179"/>
              <a:ext cx="766" cy="110"/>
            </a:xfrm>
            <a:custGeom>
              <a:avLst/>
              <a:gdLst>
                <a:gd name="T0" fmla="*/ 750 w 769"/>
                <a:gd name="T1" fmla="*/ 0 h 137"/>
                <a:gd name="T2" fmla="*/ 750 w 769"/>
                <a:gd name="T3" fmla="*/ 37 h 137"/>
                <a:gd name="T4" fmla="*/ 0 w 769"/>
                <a:gd name="T5" fmla="*/ 37 h 137"/>
                <a:gd name="T6" fmla="*/ 0 60000 65536"/>
                <a:gd name="T7" fmla="*/ 0 60000 65536"/>
                <a:gd name="T8" fmla="*/ 0 60000 65536"/>
                <a:gd name="T9" fmla="*/ 0 w 769"/>
                <a:gd name="T10" fmla="*/ 0 h 137"/>
                <a:gd name="T11" fmla="*/ 769 w 769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137">
                  <a:moveTo>
                    <a:pt x="768" y="0"/>
                  </a:moveTo>
                  <a:lnTo>
                    <a:pt x="768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14" name="Line 65"/>
            <p:cNvSpPr>
              <a:spLocks noChangeShapeType="1"/>
            </p:cNvSpPr>
            <p:nvPr/>
          </p:nvSpPr>
          <p:spPr bwMode="auto">
            <a:xfrm>
              <a:off x="902" y="2797"/>
              <a:ext cx="0" cy="5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66"/>
            <p:cNvSpPr>
              <a:spLocks noChangeShapeType="1"/>
            </p:cNvSpPr>
            <p:nvPr/>
          </p:nvSpPr>
          <p:spPr bwMode="auto">
            <a:xfrm>
              <a:off x="895" y="2794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Oval 67"/>
            <p:cNvSpPr>
              <a:spLocks noChangeArrowheads="1"/>
            </p:cNvSpPr>
            <p:nvPr/>
          </p:nvSpPr>
          <p:spPr bwMode="auto">
            <a:xfrm>
              <a:off x="3284" y="2689"/>
              <a:ext cx="215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7" name="Rectangle 68"/>
            <p:cNvSpPr>
              <a:spLocks noChangeArrowheads="1"/>
            </p:cNvSpPr>
            <p:nvPr/>
          </p:nvSpPr>
          <p:spPr bwMode="auto">
            <a:xfrm>
              <a:off x="3297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8" name="Rectangle 69"/>
            <p:cNvSpPr>
              <a:spLocks noChangeArrowheads="1"/>
            </p:cNvSpPr>
            <p:nvPr/>
          </p:nvSpPr>
          <p:spPr bwMode="auto">
            <a:xfrm>
              <a:off x="283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9" name="Rectangle 70"/>
            <p:cNvSpPr>
              <a:spLocks noChangeArrowheads="1"/>
            </p:cNvSpPr>
            <p:nvPr/>
          </p:nvSpPr>
          <p:spPr bwMode="auto">
            <a:xfrm>
              <a:off x="3267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20" name="Freeform 71"/>
            <p:cNvSpPr>
              <a:spLocks/>
            </p:cNvSpPr>
            <p:nvPr/>
          </p:nvSpPr>
          <p:spPr bwMode="auto">
            <a:xfrm>
              <a:off x="2617" y="3173"/>
              <a:ext cx="773" cy="110"/>
            </a:xfrm>
            <a:custGeom>
              <a:avLst/>
              <a:gdLst>
                <a:gd name="T0" fmla="*/ 752 w 777"/>
                <a:gd name="T1" fmla="*/ 0 h 137"/>
                <a:gd name="T2" fmla="*/ 752 w 777"/>
                <a:gd name="T3" fmla="*/ 37 h 137"/>
                <a:gd name="T4" fmla="*/ 0 w 777"/>
                <a:gd name="T5" fmla="*/ 37 h 137"/>
                <a:gd name="T6" fmla="*/ 0 60000 65536"/>
                <a:gd name="T7" fmla="*/ 0 60000 65536"/>
                <a:gd name="T8" fmla="*/ 0 60000 65536"/>
                <a:gd name="T9" fmla="*/ 0 w 777"/>
                <a:gd name="T10" fmla="*/ 0 h 137"/>
                <a:gd name="T11" fmla="*/ 777 w 777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7" h="137">
                  <a:moveTo>
                    <a:pt x="776" y="0"/>
                  </a:moveTo>
                  <a:lnTo>
                    <a:pt x="776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21" name="Line 72"/>
            <p:cNvSpPr>
              <a:spLocks noChangeShapeType="1"/>
            </p:cNvSpPr>
            <p:nvPr/>
          </p:nvSpPr>
          <p:spPr bwMode="auto">
            <a:xfrm>
              <a:off x="2609" y="2797"/>
              <a:ext cx="0" cy="4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Rectangle 73"/>
            <p:cNvSpPr>
              <a:spLocks noChangeArrowheads="1"/>
            </p:cNvSpPr>
            <p:nvPr/>
          </p:nvSpPr>
          <p:spPr bwMode="auto">
            <a:xfrm>
              <a:off x="1175" y="1178"/>
              <a:ext cx="9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Direct addressing</a:t>
              </a:r>
            </a:p>
          </p:txBody>
        </p:sp>
        <p:sp>
          <p:nvSpPr>
            <p:cNvPr id="7223" name="Rectangle 74"/>
            <p:cNvSpPr>
              <a:spLocks noChangeArrowheads="1"/>
            </p:cNvSpPr>
            <p:nvPr/>
          </p:nvSpPr>
          <p:spPr bwMode="auto">
            <a:xfrm>
              <a:off x="2889" y="1188"/>
              <a:ext cx="10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Indirect addressing</a:t>
              </a:r>
            </a:p>
          </p:txBody>
        </p:sp>
        <p:sp>
          <p:nvSpPr>
            <p:cNvPr id="7224" name="Line 75"/>
            <p:cNvSpPr>
              <a:spLocks noChangeShapeType="1"/>
            </p:cNvSpPr>
            <p:nvPr/>
          </p:nvSpPr>
          <p:spPr bwMode="auto">
            <a:xfrm>
              <a:off x="2611" y="2800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76"/>
            <p:cNvSpPr>
              <a:spLocks noChangeShapeType="1"/>
            </p:cNvSpPr>
            <p:nvPr/>
          </p:nvSpPr>
          <p:spPr bwMode="auto">
            <a:xfrm>
              <a:off x="3384" y="2250"/>
              <a:ext cx="0" cy="4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77"/>
            <p:cNvSpPr>
              <a:spLocks noChangeShapeType="1"/>
            </p:cNvSpPr>
            <p:nvPr/>
          </p:nvSpPr>
          <p:spPr bwMode="auto">
            <a:xfrm>
              <a:off x="1668" y="2076"/>
              <a:ext cx="0" cy="5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7" name="Line 78"/>
            <p:cNvSpPr>
              <a:spLocks noChangeShapeType="1"/>
            </p:cNvSpPr>
            <p:nvPr/>
          </p:nvSpPr>
          <p:spPr bwMode="auto">
            <a:xfrm>
              <a:off x="1674" y="2856"/>
              <a:ext cx="0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Line 79"/>
            <p:cNvSpPr>
              <a:spLocks noChangeShapeType="1"/>
            </p:cNvSpPr>
            <p:nvPr/>
          </p:nvSpPr>
          <p:spPr bwMode="auto">
            <a:xfrm>
              <a:off x="3390" y="2862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4239563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Processor (CPU) Registers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36294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processor has many registers to hold instructions, addresses, data, intermediate results 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has a register, the 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Program Counter (PC)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ko-KR" sz="2000" b="1" dirty="0">
                <a:latin typeface="Calibri" panose="020F0502020204030204" pitchFamily="34" charset="0"/>
              </a:rPr>
              <a:t>that holds the memory address of the next instruction to get. </a:t>
            </a:r>
            <a:r>
              <a:rPr lang="en-US" dirty="0"/>
              <a:t>PC always tells the CPU </a:t>
            </a:r>
            <a:r>
              <a:rPr lang="en-US" b="1" dirty="0"/>
              <a:t>where the next instruction is located in memory</a:t>
            </a:r>
            <a:r>
              <a:rPr lang="en-US" dirty="0"/>
              <a:t>.</a:t>
            </a:r>
            <a:endParaRPr lang="en-US" altLang="ko-KR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in the Basic Computer only has 4096 locations, the PC only needs 12 bits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u="sng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445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a direct or indirect addressing, the processor needs to keep track of what locations in memory it is addressing: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Address Register (AR)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ko-KR" sz="2000" b="1" dirty="0">
                <a:latin typeface="Calibri" panose="020F0502020204030204" pitchFamily="34" charset="0"/>
              </a:rPr>
              <a:t>is used for this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	The AR is a 12 bit register in the Basic Computer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an operand is found, using either direct or indirect addressing, it is placed in the 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Data Register (DR)</a:t>
            </a:r>
            <a:r>
              <a:rPr lang="en-US" altLang="ko-K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.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then uses this value as data for its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has a single general purpose register – the 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Accumulator (AC)</a:t>
            </a:r>
          </a:p>
        </p:txBody>
      </p:sp>
    </p:spTree>
    <p:extLst>
      <p:ext uri="{BB962C8B-B14F-4D97-AF65-F5344CB8AC3E}">
        <p14:creationId xmlns:p14="http://schemas.microsoft.com/office/powerpoint/2010/main" xmlns="" val="288628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752600" y="879094"/>
            <a:ext cx="8686799" cy="5674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significance of a general purpose register is that it can be referred to in instructions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LOAD AC, 200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STORE AC, 300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Meaning:</a:t>
            </a:r>
          </a:p>
          <a:p>
            <a:pPr marL="0" indent="0" algn="just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Load AC with contents of Memory[200]</a:t>
            </a:r>
          </a:p>
          <a:p>
            <a:pPr marL="0" indent="0" algn="just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Store contents of AC into Memory[300]</a:t>
            </a:r>
          </a:p>
          <a:p>
            <a:pPr marL="0" indent="0" algn="just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Since AC is mentioned in instructions, it is a general-purpose register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Often a processor will need a scratch register to store intermediate results or other temporary data; </a:t>
            </a:r>
            <a:r>
              <a:rPr lang="en-US" sz="2000" dirty="0"/>
              <a:t>“</a:t>
            </a:r>
            <a:r>
              <a:rPr lang="en-US" sz="1600" dirty="0"/>
              <a:t>TR helps the CPU, but the programmer never directly uses it.”</a:t>
            </a:r>
            <a:endParaRPr lang="en-US" altLang="ko-KR" sz="16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 this is the 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Temporary Register (TR)</a:t>
            </a:r>
          </a:p>
        </p:txBody>
      </p:sp>
    </p:spTree>
    <p:extLst>
      <p:ext uri="{BB962C8B-B14F-4D97-AF65-F5344CB8AC3E}">
        <p14:creationId xmlns:p14="http://schemas.microsoft.com/office/powerpoint/2010/main" xmlns="" val="1898807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uses a very simple model of input/output (I/O) operations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Input devices are considered to send 8 bits of character data to the processor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The processor can send 8 bits of character data to output devices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Input Register (INPR)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gotten from an input device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Output Register (OUTR)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to be send to an output device</a:t>
            </a:r>
          </a:p>
        </p:txBody>
      </p:sp>
    </p:spTree>
    <p:extLst>
      <p:ext uri="{BB962C8B-B14F-4D97-AF65-F5344CB8AC3E}">
        <p14:creationId xmlns:p14="http://schemas.microsoft.com/office/powerpoint/2010/main" xmlns="" val="3752092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9584"/>
          <a:stretch>
            <a:fillRect/>
          </a:stretch>
        </p:blipFill>
        <p:spPr bwMode="auto">
          <a:xfrm>
            <a:off x="289560" y="662261"/>
            <a:ext cx="7208520" cy="585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6AAA26-2E22-CCF7-D23F-E0444B358762}"/>
              </a:ext>
            </a:extLst>
          </p:cNvPr>
          <p:cNvSpPr txBox="1"/>
          <p:nvPr/>
        </p:nvSpPr>
        <p:spPr>
          <a:xfrm>
            <a:off x="7628382" y="2810548"/>
            <a:ext cx="39936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“Flags tell us the nature of the result after an ALU operation.”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result = 0 → Z flag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carry generated → CY = 1</a:t>
            </a:r>
          </a:p>
        </p:txBody>
      </p:sp>
    </p:spTree>
    <p:extLst>
      <p:ext uri="{BB962C8B-B14F-4D97-AF65-F5344CB8AC3E}">
        <p14:creationId xmlns:p14="http://schemas.microsoft.com/office/powerpoint/2010/main" xmlns="" val="87099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35365" y="471069"/>
            <a:ext cx="7545859" cy="5658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2F8D079-C399-343F-0B75-FA02DEEA4355}"/>
              </a:ext>
            </a:extLst>
          </p:cNvPr>
          <p:cNvSpPr txBox="1"/>
          <p:nvPr/>
        </p:nvSpPr>
        <p:spPr>
          <a:xfrm>
            <a:off x="3686748" y="6129792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8085 microprocessor trainer kit</a:t>
            </a:r>
          </a:p>
        </p:txBody>
      </p:sp>
    </p:spTree>
    <p:extLst>
      <p:ext uri="{BB962C8B-B14F-4D97-AF65-F5344CB8AC3E}">
        <p14:creationId xmlns:p14="http://schemas.microsoft.com/office/powerpoint/2010/main" xmlns="" val="304060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Processor Register</a:t>
            </a:r>
          </a:p>
        </p:txBody>
      </p:sp>
      <p:grpSp>
        <p:nvGrpSpPr>
          <p:cNvPr id="12295" name="Group 57"/>
          <p:cNvGrpSpPr>
            <a:grpSpLocks/>
          </p:cNvGrpSpPr>
          <p:nvPr/>
        </p:nvGrpSpPr>
        <p:grpSpPr bwMode="auto">
          <a:xfrm>
            <a:off x="2133601" y="1066801"/>
            <a:ext cx="8125895" cy="5726113"/>
            <a:chOff x="622300" y="792163"/>
            <a:chExt cx="6712328" cy="5925272"/>
          </a:xfrm>
        </p:grpSpPr>
        <p:sp>
          <p:nvSpPr>
            <p:cNvPr id="12296" name="Rectangle 3"/>
            <p:cNvSpPr>
              <a:spLocks noChangeArrowheads="1"/>
            </p:cNvSpPr>
            <p:nvPr/>
          </p:nvSpPr>
          <p:spPr bwMode="auto">
            <a:xfrm>
              <a:off x="2971800" y="4210940"/>
              <a:ext cx="1583892" cy="29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>
                  <a:latin typeface="Calibri" panose="020F0502020204030204" pitchFamily="34" charset="0"/>
                </a:rPr>
                <a:t>List of BC Registers</a:t>
              </a:r>
            </a:p>
          </p:txBody>
        </p:sp>
        <p:sp>
          <p:nvSpPr>
            <p:cNvPr id="12297" name="Rectangle 4"/>
            <p:cNvSpPr>
              <a:spLocks noChangeArrowheads="1"/>
            </p:cNvSpPr>
            <p:nvPr/>
          </p:nvSpPr>
          <p:spPr bwMode="auto">
            <a:xfrm>
              <a:off x="999966" y="4497685"/>
              <a:ext cx="5902325" cy="197102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298" name="Rectangle 5"/>
            <p:cNvSpPr>
              <a:spLocks noChangeArrowheads="1"/>
            </p:cNvSpPr>
            <p:nvPr/>
          </p:nvSpPr>
          <p:spPr bwMode="auto">
            <a:xfrm>
              <a:off x="857250" y="4497685"/>
              <a:ext cx="5081443" cy="221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DR            16        Data Register		 Holds memory operand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AR            12        Address Register        	 Holds address for memory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AC            16        Accumulator	 	 Processor register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IR	            16        Instruction Register     	Holds instruction code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PC            12        Program Counter		 Holds address of instruction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TR            16        Temporary Register    	 Holds temporary data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INPR         8         Input Register            	 Holds input character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OUTR       8	     Output Register          	 Holds output character</a:t>
              </a:r>
            </a:p>
            <a:p>
              <a:pPr eaLnBrk="1" latin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622300" y="792163"/>
              <a:ext cx="2637702" cy="379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latin typeface="Calibri" panose="020F0502020204030204" pitchFamily="34" charset="0"/>
                </a:rPr>
                <a:t>Registers in the Basic Computer</a:t>
              </a:r>
            </a:p>
          </p:txBody>
        </p:sp>
        <p:sp>
          <p:nvSpPr>
            <p:cNvPr id="12300" name="Rectangle 8"/>
            <p:cNvSpPr>
              <a:spLocks noChangeArrowheads="1"/>
            </p:cNvSpPr>
            <p:nvPr/>
          </p:nvSpPr>
          <p:spPr bwMode="auto">
            <a:xfrm>
              <a:off x="2070100" y="1538288"/>
              <a:ext cx="1582738" cy="223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1" name="Rectangle 9"/>
            <p:cNvSpPr>
              <a:spLocks noChangeArrowheads="1"/>
            </p:cNvSpPr>
            <p:nvPr/>
          </p:nvSpPr>
          <p:spPr bwMode="auto">
            <a:xfrm>
              <a:off x="1939925" y="1335088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02" name="Rectangle 10"/>
            <p:cNvSpPr>
              <a:spLocks noChangeArrowheads="1"/>
            </p:cNvSpPr>
            <p:nvPr/>
          </p:nvSpPr>
          <p:spPr bwMode="auto">
            <a:xfrm>
              <a:off x="3494088" y="1335088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3" name="Rectangle 11"/>
            <p:cNvSpPr>
              <a:spLocks noChangeArrowheads="1"/>
            </p:cNvSpPr>
            <p:nvPr/>
          </p:nvSpPr>
          <p:spPr bwMode="auto">
            <a:xfrm>
              <a:off x="2682875" y="1519238"/>
              <a:ext cx="30852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2304" name="Rectangle 12"/>
            <p:cNvSpPr>
              <a:spLocks noChangeArrowheads="1"/>
            </p:cNvSpPr>
            <p:nvPr/>
          </p:nvSpPr>
          <p:spPr bwMode="auto">
            <a:xfrm>
              <a:off x="1500188" y="2624138"/>
              <a:ext cx="2152650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5" name="Rectangle 13"/>
            <p:cNvSpPr>
              <a:spLocks noChangeArrowheads="1"/>
            </p:cNvSpPr>
            <p:nvPr/>
          </p:nvSpPr>
          <p:spPr bwMode="auto">
            <a:xfrm>
              <a:off x="1384300" y="2430463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06" name="Rectangle 14"/>
            <p:cNvSpPr>
              <a:spLocks noChangeArrowheads="1"/>
            </p:cNvSpPr>
            <p:nvPr/>
          </p:nvSpPr>
          <p:spPr bwMode="auto">
            <a:xfrm>
              <a:off x="3494088" y="2430463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7" name="Rectangle 15"/>
            <p:cNvSpPr>
              <a:spLocks noChangeArrowheads="1"/>
            </p:cNvSpPr>
            <p:nvPr/>
          </p:nvSpPr>
          <p:spPr bwMode="auto">
            <a:xfrm>
              <a:off x="2282825" y="2605088"/>
              <a:ext cx="27410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2308" name="Rectangle 16"/>
            <p:cNvSpPr>
              <a:spLocks noChangeArrowheads="1"/>
            </p:cNvSpPr>
            <p:nvPr/>
          </p:nvSpPr>
          <p:spPr bwMode="auto">
            <a:xfrm>
              <a:off x="1500188" y="3165475"/>
              <a:ext cx="2152650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1384300" y="295275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0" name="Rectangle 18"/>
            <p:cNvSpPr>
              <a:spLocks noChangeArrowheads="1"/>
            </p:cNvSpPr>
            <p:nvPr/>
          </p:nvSpPr>
          <p:spPr bwMode="auto">
            <a:xfrm>
              <a:off x="3494088" y="29527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1" name="Rectangle 19"/>
            <p:cNvSpPr>
              <a:spLocks noChangeArrowheads="1"/>
            </p:cNvSpPr>
            <p:nvPr/>
          </p:nvSpPr>
          <p:spPr bwMode="auto">
            <a:xfrm>
              <a:off x="2282825" y="3146425"/>
              <a:ext cx="30720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2312" name="Rectangle 20"/>
            <p:cNvSpPr>
              <a:spLocks noChangeArrowheads="1"/>
            </p:cNvSpPr>
            <p:nvPr/>
          </p:nvSpPr>
          <p:spPr bwMode="auto">
            <a:xfrm>
              <a:off x="1500188" y="3709988"/>
              <a:ext cx="941387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3" name="Rectangle 21"/>
            <p:cNvSpPr>
              <a:spLocks noChangeArrowheads="1"/>
            </p:cNvSpPr>
            <p:nvPr/>
          </p:nvSpPr>
          <p:spPr bwMode="auto">
            <a:xfrm>
              <a:off x="1384300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14" name="Rectangle 22"/>
            <p:cNvSpPr>
              <a:spLocks noChangeArrowheads="1"/>
            </p:cNvSpPr>
            <p:nvPr/>
          </p:nvSpPr>
          <p:spPr bwMode="auto">
            <a:xfrm>
              <a:off x="3494088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5" name="Rectangle 23"/>
            <p:cNvSpPr>
              <a:spLocks noChangeArrowheads="1"/>
            </p:cNvSpPr>
            <p:nvPr/>
          </p:nvSpPr>
          <p:spPr bwMode="auto">
            <a:xfrm>
              <a:off x="1625600" y="3687763"/>
              <a:ext cx="504502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2316" name="Rectangle 24"/>
            <p:cNvSpPr>
              <a:spLocks noChangeArrowheads="1"/>
            </p:cNvSpPr>
            <p:nvPr/>
          </p:nvSpPr>
          <p:spPr bwMode="auto">
            <a:xfrm>
              <a:off x="4410075" y="3165475"/>
              <a:ext cx="21542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7" name="Rectangle 25"/>
            <p:cNvSpPr>
              <a:spLocks noChangeArrowheads="1"/>
            </p:cNvSpPr>
            <p:nvPr/>
          </p:nvSpPr>
          <p:spPr bwMode="auto">
            <a:xfrm>
              <a:off x="4294188" y="2943225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8" name="Rectangle 26"/>
            <p:cNvSpPr>
              <a:spLocks noChangeArrowheads="1"/>
            </p:cNvSpPr>
            <p:nvPr/>
          </p:nvSpPr>
          <p:spPr bwMode="auto">
            <a:xfrm>
              <a:off x="6405563" y="2943225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9" name="Rectangle 27"/>
            <p:cNvSpPr>
              <a:spLocks noChangeArrowheads="1"/>
            </p:cNvSpPr>
            <p:nvPr/>
          </p:nvSpPr>
          <p:spPr bwMode="auto">
            <a:xfrm>
              <a:off x="5191125" y="3146425"/>
              <a:ext cx="32839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2320" name="Rectangle 28"/>
            <p:cNvSpPr>
              <a:spLocks noChangeArrowheads="1"/>
            </p:cNvSpPr>
            <p:nvPr/>
          </p:nvSpPr>
          <p:spPr bwMode="auto">
            <a:xfrm>
              <a:off x="4410075" y="3709988"/>
              <a:ext cx="215423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1" name="Rectangle 29"/>
            <p:cNvSpPr>
              <a:spLocks noChangeArrowheads="1"/>
            </p:cNvSpPr>
            <p:nvPr/>
          </p:nvSpPr>
          <p:spPr bwMode="auto">
            <a:xfrm>
              <a:off x="4294188" y="35052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22" name="Rectangle 30"/>
            <p:cNvSpPr>
              <a:spLocks noChangeArrowheads="1"/>
            </p:cNvSpPr>
            <p:nvPr/>
          </p:nvSpPr>
          <p:spPr bwMode="auto">
            <a:xfrm>
              <a:off x="6407150" y="35052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3" name="Rectangle 31"/>
            <p:cNvSpPr>
              <a:spLocks noChangeArrowheads="1"/>
            </p:cNvSpPr>
            <p:nvPr/>
          </p:nvSpPr>
          <p:spPr bwMode="auto">
            <a:xfrm>
              <a:off x="5191125" y="3687763"/>
              <a:ext cx="31737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2324" name="Rectangle 32"/>
            <p:cNvSpPr>
              <a:spLocks noChangeArrowheads="1"/>
            </p:cNvSpPr>
            <p:nvPr/>
          </p:nvSpPr>
          <p:spPr bwMode="auto">
            <a:xfrm>
              <a:off x="2070100" y="2079625"/>
              <a:ext cx="15827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5" name="Rectangle 33"/>
            <p:cNvSpPr>
              <a:spLocks noChangeArrowheads="1"/>
            </p:cNvSpPr>
            <p:nvPr/>
          </p:nvSpPr>
          <p:spPr bwMode="auto">
            <a:xfrm>
              <a:off x="1939925" y="18669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26" name="Rectangle 34"/>
            <p:cNvSpPr>
              <a:spLocks noChangeArrowheads="1"/>
            </p:cNvSpPr>
            <p:nvPr/>
          </p:nvSpPr>
          <p:spPr bwMode="auto">
            <a:xfrm>
              <a:off x="3494088" y="18669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7" name="Rectangle 35"/>
            <p:cNvSpPr>
              <a:spLocks noChangeArrowheads="1"/>
            </p:cNvSpPr>
            <p:nvPr/>
          </p:nvSpPr>
          <p:spPr bwMode="auto">
            <a:xfrm>
              <a:off x="2682875" y="2060575"/>
              <a:ext cx="32441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2328" name="Rectangle 36"/>
            <p:cNvSpPr>
              <a:spLocks noChangeArrowheads="1"/>
            </p:cNvSpPr>
            <p:nvPr/>
          </p:nvSpPr>
          <p:spPr bwMode="auto">
            <a:xfrm>
              <a:off x="2711450" y="3709988"/>
              <a:ext cx="94138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9" name="Rectangle 37"/>
            <p:cNvSpPr>
              <a:spLocks noChangeArrowheads="1"/>
            </p:cNvSpPr>
            <p:nvPr/>
          </p:nvSpPr>
          <p:spPr bwMode="auto">
            <a:xfrm>
              <a:off x="2767013" y="3687763"/>
              <a:ext cx="451536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2330" name="Rectangle 38"/>
            <p:cNvSpPr>
              <a:spLocks noChangeArrowheads="1"/>
            </p:cNvSpPr>
            <p:nvPr/>
          </p:nvSpPr>
          <p:spPr bwMode="auto">
            <a:xfrm>
              <a:off x="2282825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31" name="Rectangle 39"/>
            <p:cNvSpPr>
              <a:spLocks noChangeArrowheads="1"/>
            </p:cNvSpPr>
            <p:nvPr/>
          </p:nvSpPr>
          <p:spPr bwMode="auto">
            <a:xfrm>
              <a:off x="2595563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32" name="Rectangle 40"/>
            <p:cNvSpPr>
              <a:spLocks noChangeArrowheads="1"/>
            </p:cNvSpPr>
            <p:nvPr/>
          </p:nvSpPr>
          <p:spPr bwMode="auto">
            <a:xfrm>
              <a:off x="4410075" y="1439863"/>
              <a:ext cx="2154238" cy="1063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33" name="Rectangle 41"/>
            <p:cNvSpPr>
              <a:spLocks noChangeArrowheads="1"/>
            </p:cNvSpPr>
            <p:nvPr/>
          </p:nvSpPr>
          <p:spPr bwMode="auto">
            <a:xfrm>
              <a:off x="4964113" y="1663700"/>
              <a:ext cx="678600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4" name="Rectangle 42"/>
            <p:cNvSpPr>
              <a:spLocks noChangeArrowheads="1"/>
            </p:cNvSpPr>
            <p:nvPr/>
          </p:nvSpPr>
          <p:spPr bwMode="auto">
            <a:xfrm>
              <a:off x="5359400" y="2166938"/>
              <a:ext cx="151007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5" name="Rectangle 43"/>
            <p:cNvSpPr>
              <a:spLocks noChangeArrowheads="1"/>
            </p:cNvSpPr>
            <p:nvPr/>
          </p:nvSpPr>
          <p:spPr bwMode="auto">
            <a:xfrm>
              <a:off x="4965700" y="1957388"/>
              <a:ext cx="737551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2336" name="Line 46"/>
            <p:cNvSpPr>
              <a:spLocks noChangeShapeType="1"/>
            </p:cNvSpPr>
            <p:nvPr/>
          </p:nvSpPr>
          <p:spPr bwMode="auto">
            <a:xfrm>
              <a:off x="1171575" y="1200150"/>
              <a:ext cx="0" cy="29432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7" name="Line 47"/>
            <p:cNvSpPr>
              <a:spLocks noChangeShapeType="1"/>
            </p:cNvSpPr>
            <p:nvPr/>
          </p:nvSpPr>
          <p:spPr bwMode="auto">
            <a:xfrm rot="-5400000">
              <a:off x="4078288" y="1316038"/>
              <a:ext cx="0" cy="57912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 rot="-5400000">
              <a:off x="2584450" y="-168275"/>
              <a:ext cx="0" cy="2762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968750" y="1254125"/>
              <a:ext cx="0" cy="1619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 rot="-5400000">
              <a:off x="5456238" y="1417638"/>
              <a:ext cx="0" cy="29337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1" name="Line 51"/>
            <p:cNvSpPr>
              <a:spLocks noChangeShapeType="1"/>
            </p:cNvSpPr>
            <p:nvPr/>
          </p:nvSpPr>
          <p:spPr bwMode="auto">
            <a:xfrm>
              <a:off x="6940550" y="2892425"/>
              <a:ext cx="0" cy="12287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6927850" y="2676525"/>
              <a:ext cx="406778" cy="318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27983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3319" name="Rectangle 166"/>
          <p:cNvSpPr txBox="1">
            <a:spLocks noChangeArrowheads="1"/>
          </p:cNvSpPr>
          <p:nvPr/>
        </p:nvSpPr>
        <p:spPr bwMode="auto">
          <a:xfrm>
            <a:off x="2173288" y="1654176"/>
            <a:ext cx="7656512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registers in the Basic Computer are connected using a bus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This gives a savings in circuitry over complete connections between registers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F433C53-54D0-765B-BB46-A8DE8D90B39D}"/>
              </a:ext>
            </a:extLst>
          </p:cNvPr>
          <p:cNvSpPr txBox="1"/>
          <p:nvPr/>
        </p:nvSpPr>
        <p:spPr>
          <a:xfrm>
            <a:off x="2362200" y="2967335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 = a set of shared wires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one register places data on the bus at a time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Another register </a:t>
            </a:r>
            <a:r>
              <a:rPr lang="en-US" b="1" dirty="0"/>
              <a:t>reads data from the bus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478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6032" y="304800"/>
            <a:ext cx="11823192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grpSp>
        <p:nvGrpSpPr>
          <p:cNvPr id="14343" name="Group 156"/>
          <p:cNvGrpSpPr>
            <a:grpSpLocks/>
          </p:cNvGrpSpPr>
          <p:nvPr/>
        </p:nvGrpSpPr>
        <p:grpSpPr bwMode="auto">
          <a:xfrm>
            <a:off x="617666" y="1109662"/>
            <a:ext cx="4256087" cy="5272087"/>
            <a:chOff x="1611313" y="823913"/>
            <a:chExt cx="4681537" cy="5670550"/>
          </a:xfrm>
        </p:grpSpPr>
        <p:sp>
          <p:nvSpPr>
            <p:cNvPr id="14344" name="Arc 4"/>
            <p:cNvSpPr>
              <a:spLocks/>
            </p:cNvSpPr>
            <p:nvPr/>
          </p:nvSpPr>
          <p:spPr bwMode="auto">
            <a:xfrm>
              <a:off x="5649913" y="82867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5" name="Line 5"/>
            <p:cNvSpPr>
              <a:spLocks noChangeShapeType="1"/>
            </p:cNvSpPr>
            <p:nvPr/>
          </p:nvSpPr>
          <p:spPr bwMode="auto">
            <a:xfrm>
              <a:off x="5507038" y="866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Arc 6"/>
            <p:cNvSpPr>
              <a:spLocks/>
            </p:cNvSpPr>
            <p:nvPr/>
          </p:nvSpPr>
          <p:spPr bwMode="auto">
            <a:xfrm>
              <a:off x="5649913" y="939800"/>
              <a:ext cx="106362" cy="76200"/>
            </a:xfrm>
            <a:custGeom>
              <a:avLst/>
              <a:gdLst>
                <a:gd name="T0" fmla="*/ 122572509 w 21600"/>
                <a:gd name="T1" fmla="*/ 565190905 h 17255"/>
                <a:gd name="T2" fmla="*/ 129871225 w 21600"/>
                <a:gd name="T3" fmla="*/ 0 h 17255"/>
                <a:gd name="T4" fmla="*/ 1516291712 w 21600"/>
                <a:gd name="T5" fmla="*/ 28647343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5507038" y="982663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Arc 8"/>
            <p:cNvSpPr>
              <a:spLocks/>
            </p:cNvSpPr>
            <p:nvPr/>
          </p:nvSpPr>
          <p:spPr bwMode="auto">
            <a:xfrm>
              <a:off x="5649913" y="10477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>
              <a:off x="5507038" y="10890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5138738" y="86836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14351" name="Rectangle 12"/>
            <p:cNvSpPr>
              <a:spLocks noChangeArrowheads="1"/>
            </p:cNvSpPr>
            <p:nvPr/>
          </p:nvSpPr>
          <p:spPr bwMode="auto">
            <a:xfrm>
              <a:off x="5153025" y="97631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14352" name="Line 13"/>
            <p:cNvSpPr>
              <a:spLocks noChangeShapeType="1"/>
            </p:cNvSpPr>
            <p:nvPr/>
          </p:nvSpPr>
          <p:spPr bwMode="auto">
            <a:xfrm>
              <a:off x="5761038" y="831850"/>
              <a:ext cx="519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Freeform 14"/>
            <p:cNvSpPr>
              <a:spLocks/>
            </p:cNvSpPr>
            <p:nvPr/>
          </p:nvSpPr>
          <p:spPr bwMode="auto">
            <a:xfrm>
              <a:off x="5749925" y="1190625"/>
              <a:ext cx="176213" cy="5130800"/>
            </a:xfrm>
            <a:custGeom>
              <a:avLst/>
              <a:gdLst>
                <a:gd name="T0" fmla="*/ 0 w 125"/>
                <a:gd name="T1" fmla="*/ 0 h 4233"/>
                <a:gd name="T2" fmla="*/ 2147483647 w 125"/>
                <a:gd name="T3" fmla="*/ 0 h 4233"/>
                <a:gd name="T4" fmla="*/ 2147483647 w 125"/>
                <a:gd name="T5" fmla="*/ 2147483647 h 4233"/>
                <a:gd name="T6" fmla="*/ 0 60000 65536"/>
                <a:gd name="T7" fmla="*/ 0 60000 65536"/>
                <a:gd name="T8" fmla="*/ 0 60000 65536"/>
                <a:gd name="T9" fmla="*/ 0 w 125"/>
                <a:gd name="T10" fmla="*/ 0 h 4233"/>
                <a:gd name="T11" fmla="*/ 125 w 125"/>
                <a:gd name="T12" fmla="*/ 4233 h 4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4233">
                  <a:moveTo>
                    <a:pt x="0" y="0"/>
                  </a:moveTo>
                  <a:lnTo>
                    <a:pt x="124" y="0"/>
                  </a:lnTo>
                  <a:lnTo>
                    <a:pt x="124" y="4232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4" name="Line 15"/>
            <p:cNvSpPr>
              <a:spLocks noChangeShapeType="1"/>
            </p:cNvSpPr>
            <p:nvPr/>
          </p:nvSpPr>
          <p:spPr bwMode="auto">
            <a:xfrm>
              <a:off x="6138863" y="1185863"/>
              <a:ext cx="0" cy="528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Freeform 16"/>
            <p:cNvSpPr>
              <a:spLocks/>
            </p:cNvSpPr>
            <p:nvPr/>
          </p:nvSpPr>
          <p:spPr bwMode="auto">
            <a:xfrm>
              <a:off x="6134100" y="830263"/>
              <a:ext cx="158750" cy="349250"/>
            </a:xfrm>
            <a:custGeom>
              <a:avLst/>
              <a:gdLst>
                <a:gd name="T0" fmla="*/ 0 w 113"/>
                <a:gd name="T1" fmla="*/ 2147483647 h 289"/>
                <a:gd name="T2" fmla="*/ 2147483647 w 113"/>
                <a:gd name="T3" fmla="*/ 2147483647 h 289"/>
                <a:gd name="T4" fmla="*/ 2147483647 w 113"/>
                <a:gd name="T5" fmla="*/ 0 h 289"/>
                <a:gd name="T6" fmla="*/ 0 60000 65536"/>
                <a:gd name="T7" fmla="*/ 0 60000 65536"/>
                <a:gd name="T8" fmla="*/ 0 60000 65536"/>
                <a:gd name="T9" fmla="*/ 0 w 113"/>
                <a:gd name="T10" fmla="*/ 0 h 289"/>
                <a:gd name="T11" fmla="*/ 113 w 113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" h="289">
                  <a:moveTo>
                    <a:pt x="0" y="288"/>
                  </a:moveTo>
                  <a:lnTo>
                    <a:pt x="112" y="288"/>
                  </a:lnTo>
                  <a:lnTo>
                    <a:pt x="112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6" name="Rectangle 17"/>
            <p:cNvSpPr>
              <a:spLocks noChangeArrowheads="1"/>
            </p:cNvSpPr>
            <p:nvPr/>
          </p:nvSpPr>
          <p:spPr bwMode="auto">
            <a:xfrm>
              <a:off x="5781675" y="868363"/>
              <a:ext cx="43199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Bus</a:t>
              </a:r>
            </a:p>
          </p:txBody>
        </p:sp>
        <p:sp>
          <p:nvSpPr>
            <p:cNvPr id="14357" name="Rectangle 18"/>
            <p:cNvSpPr>
              <a:spLocks noChangeArrowheads="1"/>
            </p:cNvSpPr>
            <p:nvPr/>
          </p:nvSpPr>
          <p:spPr bwMode="auto">
            <a:xfrm>
              <a:off x="3622675" y="1198563"/>
              <a:ext cx="1047368" cy="460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 unit</a:t>
              </a:r>
            </a:p>
            <a:p>
              <a:pPr eaLnBrk="1" latinLnBrk="1" hangingPunct="1"/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58" name="Rectangle 19"/>
            <p:cNvSpPr>
              <a:spLocks noChangeArrowheads="1"/>
            </p:cNvSpPr>
            <p:nvPr/>
          </p:nvSpPr>
          <p:spPr bwMode="auto">
            <a:xfrm>
              <a:off x="3716338" y="1335088"/>
              <a:ext cx="81461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3446463" y="1152525"/>
              <a:ext cx="1389062" cy="415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60" name="Rectangle 21"/>
            <p:cNvSpPr>
              <a:spLocks noChangeArrowheads="1"/>
            </p:cNvSpPr>
            <p:nvPr/>
          </p:nvSpPr>
          <p:spPr bwMode="auto">
            <a:xfrm>
              <a:off x="3535363" y="2255838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61" name="Arc 22"/>
            <p:cNvSpPr>
              <a:spLocks/>
            </p:cNvSpPr>
            <p:nvPr/>
          </p:nvSpPr>
          <p:spPr bwMode="auto">
            <a:xfrm>
              <a:off x="5830888" y="1266825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2" name="Line 23"/>
            <p:cNvSpPr>
              <a:spLocks noChangeShapeType="1"/>
            </p:cNvSpPr>
            <p:nvPr/>
          </p:nvSpPr>
          <p:spPr bwMode="auto">
            <a:xfrm>
              <a:off x="4840288" y="1311275"/>
              <a:ext cx="1000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Rectangle 24"/>
            <p:cNvSpPr>
              <a:spLocks noChangeArrowheads="1"/>
            </p:cNvSpPr>
            <p:nvPr/>
          </p:nvSpPr>
          <p:spPr bwMode="auto">
            <a:xfrm>
              <a:off x="4814888" y="1470025"/>
              <a:ext cx="7158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4364" name="Arc 25"/>
            <p:cNvSpPr>
              <a:spLocks/>
            </p:cNvSpPr>
            <p:nvPr/>
          </p:nvSpPr>
          <p:spPr bwMode="auto">
            <a:xfrm>
              <a:off x="4846638" y="1436688"/>
              <a:ext cx="106362" cy="73025"/>
            </a:xfrm>
            <a:custGeom>
              <a:avLst/>
              <a:gdLst>
                <a:gd name="T0" fmla="*/ 1383128427 w 21600"/>
                <a:gd name="T1" fmla="*/ 0 h 17464"/>
                <a:gd name="T2" fmla="*/ 1390568406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5" name="Freeform 26"/>
            <p:cNvSpPr>
              <a:spLocks/>
            </p:cNvSpPr>
            <p:nvPr/>
          </p:nvSpPr>
          <p:spPr bwMode="auto">
            <a:xfrm>
              <a:off x="4937125" y="1473200"/>
              <a:ext cx="611188" cy="582613"/>
            </a:xfrm>
            <a:custGeom>
              <a:avLst/>
              <a:gdLst>
                <a:gd name="T0" fmla="*/ 0 w 433"/>
                <a:gd name="T1" fmla="*/ 0 h 481"/>
                <a:gd name="T2" fmla="*/ 2147483647 w 433"/>
                <a:gd name="T3" fmla="*/ 0 h 481"/>
                <a:gd name="T4" fmla="*/ 2147483647 w 433"/>
                <a:gd name="T5" fmla="*/ 2147483647 h 481"/>
                <a:gd name="T6" fmla="*/ 0 60000 65536"/>
                <a:gd name="T7" fmla="*/ 0 60000 65536"/>
                <a:gd name="T8" fmla="*/ 0 60000 65536"/>
                <a:gd name="T9" fmla="*/ 0 w 433"/>
                <a:gd name="T10" fmla="*/ 0 h 481"/>
                <a:gd name="T11" fmla="*/ 433 w 433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481">
                  <a:moveTo>
                    <a:pt x="0" y="0"/>
                  </a:moveTo>
                  <a:lnTo>
                    <a:pt x="432" y="0"/>
                  </a:lnTo>
                  <a:lnTo>
                    <a:pt x="432" y="4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6" name="Line 27"/>
            <p:cNvSpPr>
              <a:spLocks noChangeShapeType="1"/>
            </p:cNvSpPr>
            <p:nvPr/>
          </p:nvSpPr>
          <p:spPr bwMode="auto">
            <a:xfrm>
              <a:off x="4468813" y="157480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7" name="Rectangle 28"/>
            <p:cNvSpPr>
              <a:spLocks noChangeArrowheads="1"/>
            </p:cNvSpPr>
            <p:nvPr/>
          </p:nvSpPr>
          <p:spPr bwMode="auto">
            <a:xfrm>
              <a:off x="4192588" y="1693863"/>
              <a:ext cx="52544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14368" name="Rectangle 29"/>
            <p:cNvSpPr>
              <a:spLocks noChangeArrowheads="1"/>
            </p:cNvSpPr>
            <p:nvPr/>
          </p:nvSpPr>
          <p:spPr bwMode="auto">
            <a:xfrm>
              <a:off x="3478213" y="1693863"/>
              <a:ext cx="5677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14369" name="Rectangle 30"/>
            <p:cNvSpPr>
              <a:spLocks noChangeArrowheads="1"/>
            </p:cNvSpPr>
            <p:nvPr/>
          </p:nvSpPr>
          <p:spPr bwMode="auto">
            <a:xfrm>
              <a:off x="3598863" y="1960563"/>
              <a:ext cx="1252537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0" name="Line 31"/>
            <p:cNvSpPr>
              <a:spLocks noChangeShapeType="1"/>
            </p:cNvSpPr>
            <p:nvPr/>
          </p:nvSpPr>
          <p:spPr bwMode="auto">
            <a:xfrm flipH="1">
              <a:off x="403383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Line 32"/>
            <p:cNvSpPr>
              <a:spLocks noChangeShapeType="1"/>
            </p:cNvSpPr>
            <p:nvPr/>
          </p:nvSpPr>
          <p:spPr bwMode="auto">
            <a:xfrm>
              <a:off x="4360863" y="2155825"/>
              <a:ext cx="0" cy="117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2" name="Freeform 33"/>
            <p:cNvSpPr>
              <a:spLocks/>
            </p:cNvSpPr>
            <p:nvPr/>
          </p:nvSpPr>
          <p:spPr bwMode="auto">
            <a:xfrm>
              <a:off x="4670425" y="2165350"/>
              <a:ext cx="498475" cy="117475"/>
            </a:xfrm>
            <a:custGeom>
              <a:avLst/>
              <a:gdLst>
                <a:gd name="T0" fmla="*/ 0 w 353"/>
                <a:gd name="T1" fmla="*/ 0 h 97"/>
                <a:gd name="T2" fmla="*/ 0 w 353"/>
                <a:gd name="T3" fmla="*/ 2147483647 h 97"/>
                <a:gd name="T4" fmla="*/ 2147483647 w 353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53"/>
                <a:gd name="T10" fmla="*/ 0 h 97"/>
                <a:gd name="T11" fmla="*/ 353 w 35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" h="97">
                  <a:moveTo>
                    <a:pt x="0" y="0"/>
                  </a:moveTo>
                  <a:lnTo>
                    <a:pt x="0" y="96"/>
                  </a:lnTo>
                  <a:lnTo>
                    <a:pt x="352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3" name="Arc 34"/>
            <p:cNvSpPr>
              <a:spLocks/>
            </p:cNvSpPr>
            <p:nvPr/>
          </p:nvSpPr>
          <p:spPr bwMode="auto">
            <a:xfrm>
              <a:off x="5835650" y="20272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4" name="Line 35"/>
            <p:cNvSpPr>
              <a:spLocks noChangeShapeType="1"/>
            </p:cNvSpPr>
            <p:nvPr/>
          </p:nvSpPr>
          <p:spPr bwMode="auto">
            <a:xfrm>
              <a:off x="4875213" y="2063750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5" name="Rectangle 36"/>
            <p:cNvSpPr>
              <a:spLocks noChangeArrowheads="1"/>
            </p:cNvSpPr>
            <p:nvPr/>
          </p:nvSpPr>
          <p:spPr bwMode="auto">
            <a:xfrm>
              <a:off x="4016375" y="1933575"/>
              <a:ext cx="3826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4376" name="Freeform 37"/>
            <p:cNvSpPr>
              <a:spLocks/>
            </p:cNvSpPr>
            <p:nvPr/>
          </p:nvSpPr>
          <p:spPr bwMode="auto">
            <a:xfrm>
              <a:off x="4608513" y="2092325"/>
              <a:ext cx="138112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7" name="Rectangle 38"/>
            <p:cNvSpPr>
              <a:spLocks noChangeArrowheads="1"/>
            </p:cNvSpPr>
            <p:nvPr/>
          </p:nvSpPr>
          <p:spPr bwMode="auto">
            <a:xfrm>
              <a:off x="3548064" y="2811463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78" name="Rectangle 39"/>
            <p:cNvSpPr>
              <a:spLocks noChangeArrowheads="1"/>
            </p:cNvSpPr>
            <p:nvPr/>
          </p:nvSpPr>
          <p:spPr bwMode="auto">
            <a:xfrm>
              <a:off x="3598863" y="2519363"/>
              <a:ext cx="1252537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9" name="Line 40"/>
            <p:cNvSpPr>
              <a:spLocks noChangeShapeType="1"/>
            </p:cNvSpPr>
            <p:nvPr/>
          </p:nvSpPr>
          <p:spPr bwMode="auto">
            <a:xfrm>
              <a:off x="4033838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0" name="Line 41"/>
            <p:cNvSpPr>
              <a:spLocks noChangeShapeType="1"/>
            </p:cNvSpPr>
            <p:nvPr/>
          </p:nvSpPr>
          <p:spPr bwMode="auto">
            <a:xfrm>
              <a:off x="4360863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Freeform 42"/>
            <p:cNvSpPr>
              <a:spLocks/>
            </p:cNvSpPr>
            <p:nvPr/>
          </p:nvSpPr>
          <p:spPr bwMode="auto">
            <a:xfrm>
              <a:off x="4670425" y="2733675"/>
              <a:ext cx="487363" cy="106363"/>
            </a:xfrm>
            <a:custGeom>
              <a:avLst/>
              <a:gdLst>
                <a:gd name="T0" fmla="*/ 0 w 345"/>
                <a:gd name="T1" fmla="*/ 0 h 89"/>
                <a:gd name="T2" fmla="*/ 0 w 345"/>
                <a:gd name="T3" fmla="*/ 2147483647 h 89"/>
                <a:gd name="T4" fmla="*/ 2147483647 w 345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45"/>
                <a:gd name="T10" fmla="*/ 0 h 89"/>
                <a:gd name="T11" fmla="*/ 345 w 345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5" h="89">
                  <a:moveTo>
                    <a:pt x="0" y="0"/>
                  </a:moveTo>
                  <a:lnTo>
                    <a:pt x="0" y="88"/>
                  </a:lnTo>
                  <a:lnTo>
                    <a:pt x="344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2" name="Rectangle 43"/>
            <p:cNvSpPr>
              <a:spLocks noChangeArrowheads="1"/>
            </p:cNvSpPr>
            <p:nvPr/>
          </p:nvSpPr>
          <p:spPr bwMode="auto">
            <a:xfrm>
              <a:off x="4016375" y="2501900"/>
              <a:ext cx="363230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4383" name="Freeform 44"/>
            <p:cNvSpPr>
              <a:spLocks/>
            </p:cNvSpPr>
            <p:nvPr/>
          </p:nvSpPr>
          <p:spPr bwMode="auto">
            <a:xfrm>
              <a:off x="4603750" y="2659063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4" name="Rectangle 45"/>
            <p:cNvSpPr>
              <a:spLocks noChangeArrowheads="1"/>
            </p:cNvSpPr>
            <p:nvPr/>
          </p:nvSpPr>
          <p:spPr bwMode="auto">
            <a:xfrm>
              <a:off x="3424239" y="3433763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85" name="Rectangle 46"/>
            <p:cNvSpPr>
              <a:spLocks noChangeArrowheads="1"/>
            </p:cNvSpPr>
            <p:nvPr/>
          </p:nvSpPr>
          <p:spPr bwMode="auto">
            <a:xfrm>
              <a:off x="3389313" y="3119438"/>
              <a:ext cx="1446212" cy="2047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86" name="Line 47"/>
            <p:cNvSpPr>
              <a:spLocks noChangeShapeType="1"/>
            </p:cNvSpPr>
            <p:nvPr/>
          </p:nvSpPr>
          <p:spPr bwMode="auto">
            <a:xfrm>
              <a:off x="3576638" y="33337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Line 48"/>
            <p:cNvSpPr>
              <a:spLocks noChangeShapeType="1"/>
            </p:cNvSpPr>
            <p:nvPr/>
          </p:nvSpPr>
          <p:spPr bwMode="auto">
            <a:xfrm>
              <a:off x="4343400" y="3328988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8" name="Freeform 49"/>
            <p:cNvSpPr>
              <a:spLocks/>
            </p:cNvSpPr>
            <p:nvPr/>
          </p:nvSpPr>
          <p:spPr bwMode="auto">
            <a:xfrm>
              <a:off x="4654550" y="3333750"/>
              <a:ext cx="509588" cy="107950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9" name="Rectangle 50"/>
            <p:cNvSpPr>
              <a:spLocks noChangeArrowheads="1"/>
            </p:cNvSpPr>
            <p:nvPr/>
          </p:nvSpPr>
          <p:spPr bwMode="auto">
            <a:xfrm>
              <a:off x="3892550" y="3101975"/>
              <a:ext cx="386152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4390" name="Freeform 51"/>
            <p:cNvSpPr>
              <a:spLocks/>
            </p:cNvSpPr>
            <p:nvPr/>
          </p:nvSpPr>
          <p:spPr bwMode="auto">
            <a:xfrm>
              <a:off x="4586288" y="3262313"/>
              <a:ext cx="136525" cy="57150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1" name="Rectangle 52"/>
            <p:cNvSpPr>
              <a:spLocks noChangeArrowheads="1"/>
            </p:cNvSpPr>
            <p:nvPr/>
          </p:nvSpPr>
          <p:spPr bwMode="auto">
            <a:xfrm>
              <a:off x="3405188" y="4198938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92" name="Rectangle 53"/>
            <p:cNvSpPr>
              <a:spLocks noChangeArrowheads="1"/>
            </p:cNvSpPr>
            <p:nvPr/>
          </p:nvSpPr>
          <p:spPr bwMode="auto">
            <a:xfrm>
              <a:off x="3371850" y="3895725"/>
              <a:ext cx="1446213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93" name="Line 54"/>
            <p:cNvSpPr>
              <a:spLocks noChangeShapeType="1"/>
            </p:cNvSpPr>
            <p:nvPr/>
          </p:nvSpPr>
          <p:spPr bwMode="auto">
            <a:xfrm>
              <a:off x="3943350" y="410845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55"/>
            <p:cNvSpPr>
              <a:spLocks noChangeShapeType="1"/>
            </p:cNvSpPr>
            <p:nvPr/>
          </p:nvSpPr>
          <p:spPr bwMode="auto">
            <a:xfrm>
              <a:off x="4325938" y="4100513"/>
              <a:ext cx="0" cy="106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Freeform 56"/>
            <p:cNvSpPr>
              <a:spLocks/>
            </p:cNvSpPr>
            <p:nvPr/>
          </p:nvSpPr>
          <p:spPr bwMode="auto">
            <a:xfrm>
              <a:off x="4637088" y="4108450"/>
              <a:ext cx="509587" cy="109538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6" name="Rectangle 57"/>
            <p:cNvSpPr>
              <a:spLocks noChangeArrowheads="1"/>
            </p:cNvSpPr>
            <p:nvPr/>
          </p:nvSpPr>
          <p:spPr bwMode="auto">
            <a:xfrm>
              <a:off x="3857625" y="3878263"/>
              <a:ext cx="37380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4397" name="Freeform 58"/>
            <p:cNvSpPr>
              <a:spLocks/>
            </p:cNvSpPr>
            <p:nvPr/>
          </p:nvSpPr>
          <p:spPr bwMode="auto">
            <a:xfrm>
              <a:off x="4570413" y="4040188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8" name="Line 59"/>
            <p:cNvSpPr>
              <a:spLocks noChangeShapeType="1"/>
            </p:cNvSpPr>
            <p:nvPr/>
          </p:nvSpPr>
          <p:spPr bwMode="auto">
            <a:xfrm>
              <a:off x="2085975" y="3725863"/>
              <a:ext cx="3425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Arc 60"/>
            <p:cNvSpPr>
              <a:spLocks/>
            </p:cNvSpPr>
            <p:nvPr/>
          </p:nvSpPr>
          <p:spPr bwMode="auto">
            <a:xfrm>
              <a:off x="5835650" y="2574925"/>
              <a:ext cx="107950" cy="74613"/>
            </a:xfrm>
            <a:custGeom>
              <a:avLst/>
              <a:gdLst>
                <a:gd name="T0" fmla="*/ 135965974 w 21600"/>
                <a:gd name="T1" fmla="*/ 487765997 h 17255"/>
                <a:gd name="T2" fmla="*/ 144069098 w 21600"/>
                <a:gd name="T3" fmla="*/ 0 h 17255"/>
                <a:gd name="T4" fmla="*/ 1682036950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0" name="Line 61"/>
            <p:cNvSpPr>
              <a:spLocks noChangeShapeType="1"/>
            </p:cNvSpPr>
            <p:nvPr/>
          </p:nvSpPr>
          <p:spPr bwMode="auto">
            <a:xfrm>
              <a:off x="4875213" y="2620963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1" name="Arc 62"/>
            <p:cNvSpPr>
              <a:spLocks/>
            </p:cNvSpPr>
            <p:nvPr/>
          </p:nvSpPr>
          <p:spPr bwMode="auto">
            <a:xfrm>
              <a:off x="5842000" y="3186113"/>
              <a:ext cx="106363" cy="74612"/>
            </a:xfrm>
            <a:custGeom>
              <a:avLst/>
              <a:gdLst>
                <a:gd name="T0" fmla="*/ 122578310 w 21600"/>
                <a:gd name="T1" fmla="*/ 487719609 h 17255"/>
                <a:gd name="T2" fmla="*/ 129880246 w 21600"/>
                <a:gd name="T3" fmla="*/ 0 h 17255"/>
                <a:gd name="T4" fmla="*/ 1516390428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2" name="Line 63"/>
            <p:cNvSpPr>
              <a:spLocks noChangeShapeType="1"/>
            </p:cNvSpPr>
            <p:nvPr/>
          </p:nvSpPr>
          <p:spPr bwMode="auto">
            <a:xfrm>
              <a:off x="4857750" y="3232150"/>
              <a:ext cx="98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3" name="Arc 64"/>
            <p:cNvSpPr>
              <a:spLocks/>
            </p:cNvSpPr>
            <p:nvPr/>
          </p:nvSpPr>
          <p:spPr bwMode="auto">
            <a:xfrm>
              <a:off x="5824538" y="39576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4" name="Line 65"/>
            <p:cNvSpPr>
              <a:spLocks noChangeShapeType="1"/>
            </p:cNvSpPr>
            <p:nvPr/>
          </p:nvSpPr>
          <p:spPr bwMode="auto">
            <a:xfrm>
              <a:off x="4835525" y="3997325"/>
              <a:ext cx="987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Rectangle 66"/>
            <p:cNvSpPr>
              <a:spLocks noChangeArrowheads="1"/>
            </p:cNvSpPr>
            <p:nvPr/>
          </p:nvSpPr>
          <p:spPr bwMode="auto">
            <a:xfrm>
              <a:off x="2305050" y="3930650"/>
              <a:ext cx="460208" cy="35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ALU</a:t>
              </a:r>
            </a:p>
            <a:p>
              <a:pPr eaLnBrk="1" latinLnBrk="1" hangingPunct="1">
                <a:lnSpc>
                  <a:spcPct val="70000"/>
                </a:lnSpc>
              </a:pPr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406" name="Rectangle 68"/>
            <p:cNvSpPr>
              <a:spLocks noChangeArrowheads="1"/>
            </p:cNvSpPr>
            <p:nvPr/>
          </p:nvSpPr>
          <p:spPr bwMode="auto">
            <a:xfrm>
              <a:off x="2278063" y="3789363"/>
              <a:ext cx="534987" cy="5334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7" name="Rectangle 69"/>
            <p:cNvSpPr>
              <a:spLocks noChangeArrowheads="1"/>
            </p:cNvSpPr>
            <p:nvPr/>
          </p:nvSpPr>
          <p:spPr bwMode="auto">
            <a:xfrm>
              <a:off x="2963863" y="3729038"/>
              <a:ext cx="276831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4408" name="Rectangle 70"/>
            <p:cNvSpPr>
              <a:spLocks noChangeArrowheads="1"/>
            </p:cNvSpPr>
            <p:nvPr/>
          </p:nvSpPr>
          <p:spPr bwMode="auto">
            <a:xfrm>
              <a:off x="2989263" y="3760788"/>
              <a:ext cx="225425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9" name="Arc 71"/>
            <p:cNvSpPr>
              <a:spLocks/>
            </p:cNvSpPr>
            <p:nvPr/>
          </p:nvSpPr>
          <p:spPr bwMode="auto">
            <a:xfrm>
              <a:off x="2878138" y="3792538"/>
              <a:ext cx="109537" cy="84137"/>
            </a:xfrm>
            <a:custGeom>
              <a:avLst/>
              <a:gdLst>
                <a:gd name="T0" fmla="*/ 268313056 w 21600"/>
                <a:gd name="T1" fmla="*/ 478583169 h 19914"/>
                <a:gd name="T2" fmla="*/ 159566831 w 21600"/>
                <a:gd name="T3" fmla="*/ 0 h 19914"/>
                <a:gd name="T4" fmla="*/ 1862957237 w 21600"/>
                <a:gd name="T5" fmla="*/ 210188458 h 199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14"/>
                <a:gd name="T11" fmla="*/ 21600 w 21600"/>
                <a:gd name="T12" fmla="*/ 19914 h 199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14" fill="none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9914" stroke="0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3111" y="19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0" name="Line 72"/>
            <p:cNvSpPr>
              <a:spLocks noChangeShapeType="1"/>
            </p:cNvSpPr>
            <p:nvPr/>
          </p:nvSpPr>
          <p:spPr bwMode="auto">
            <a:xfrm>
              <a:off x="2794000" y="3832225"/>
              <a:ext cx="101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1" name="Arc 73"/>
            <p:cNvSpPr>
              <a:spLocks/>
            </p:cNvSpPr>
            <p:nvPr/>
          </p:nvSpPr>
          <p:spPr bwMode="auto">
            <a:xfrm>
              <a:off x="3262313" y="396716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2" name="Line 74"/>
            <p:cNvSpPr>
              <a:spLocks noChangeShapeType="1"/>
            </p:cNvSpPr>
            <p:nvPr/>
          </p:nvSpPr>
          <p:spPr bwMode="auto">
            <a:xfrm>
              <a:off x="2798763" y="3994150"/>
              <a:ext cx="481012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3" name="Arc 75"/>
            <p:cNvSpPr>
              <a:spLocks/>
            </p:cNvSpPr>
            <p:nvPr/>
          </p:nvSpPr>
          <p:spPr bwMode="auto">
            <a:xfrm>
              <a:off x="2176463" y="3854450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4" name="Line 76"/>
            <p:cNvSpPr>
              <a:spLocks noChangeShapeType="1"/>
            </p:cNvSpPr>
            <p:nvPr/>
          </p:nvSpPr>
          <p:spPr bwMode="auto">
            <a:xfrm>
              <a:off x="2085975" y="3892550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5" name="Arc 77"/>
            <p:cNvSpPr>
              <a:spLocks/>
            </p:cNvSpPr>
            <p:nvPr/>
          </p:nvSpPr>
          <p:spPr bwMode="auto">
            <a:xfrm>
              <a:off x="2176463" y="40195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6" name="Line 78"/>
            <p:cNvSpPr>
              <a:spLocks noChangeShapeType="1"/>
            </p:cNvSpPr>
            <p:nvPr/>
          </p:nvSpPr>
          <p:spPr bwMode="auto">
            <a:xfrm flipV="1">
              <a:off x="1955800" y="4056063"/>
              <a:ext cx="228600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7" name="Arc 79"/>
            <p:cNvSpPr>
              <a:spLocks/>
            </p:cNvSpPr>
            <p:nvPr/>
          </p:nvSpPr>
          <p:spPr bwMode="auto">
            <a:xfrm>
              <a:off x="2176463" y="41846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8" name="Line 80"/>
            <p:cNvSpPr>
              <a:spLocks noChangeShapeType="1"/>
            </p:cNvSpPr>
            <p:nvPr/>
          </p:nvSpPr>
          <p:spPr bwMode="auto">
            <a:xfrm>
              <a:off x="2085975" y="4221163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9" name="Line 81"/>
            <p:cNvSpPr>
              <a:spLocks noChangeShapeType="1"/>
            </p:cNvSpPr>
            <p:nvPr/>
          </p:nvSpPr>
          <p:spPr bwMode="auto">
            <a:xfrm flipV="1">
              <a:off x="2074863" y="3711575"/>
              <a:ext cx="0" cy="195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0" name="Line 82"/>
            <p:cNvSpPr>
              <a:spLocks noChangeShapeType="1"/>
            </p:cNvSpPr>
            <p:nvPr/>
          </p:nvSpPr>
          <p:spPr bwMode="auto">
            <a:xfrm flipV="1">
              <a:off x="2074863" y="4206875"/>
              <a:ext cx="0" cy="2413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1" name="Line 83"/>
            <p:cNvSpPr>
              <a:spLocks noChangeShapeType="1"/>
            </p:cNvSpPr>
            <p:nvPr/>
          </p:nvSpPr>
          <p:spPr bwMode="auto">
            <a:xfrm>
              <a:off x="2081213" y="4443413"/>
              <a:ext cx="3411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2" name="Line 84"/>
            <p:cNvSpPr>
              <a:spLocks noChangeShapeType="1"/>
            </p:cNvSpPr>
            <p:nvPr/>
          </p:nvSpPr>
          <p:spPr bwMode="auto">
            <a:xfrm>
              <a:off x="5168900" y="2058988"/>
              <a:ext cx="0" cy="41163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3" name="Line 85"/>
            <p:cNvSpPr>
              <a:spLocks noChangeShapeType="1"/>
            </p:cNvSpPr>
            <p:nvPr/>
          </p:nvSpPr>
          <p:spPr bwMode="auto">
            <a:xfrm>
              <a:off x="5500688" y="3236913"/>
              <a:ext cx="0" cy="493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4" name="Line 86"/>
            <p:cNvSpPr>
              <a:spLocks noChangeShapeType="1"/>
            </p:cNvSpPr>
            <p:nvPr/>
          </p:nvSpPr>
          <p:spPr bwMode="auto">
            <a:xfrm>
              <a:off x="5478463" y="4002088"/>
              <a:ext cx="0" cy="436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5" name="Rectangle 87"/>
            <p:cNvSpPr>
              <a:spLocks noChangeArrowheads="1"/>
            </p:cNvSpPr>
            <p:nvPr/>
          </p:nvSpPr>
          <p:spPr bwMode="auto">
            <a:xfrm>
              <a:off x="3371850" y="45561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6" name="Rectangle 88"/>
            <p:cNvSpPr>
              <a:spLocks noChangeArrowheads="1"/>
            </p:cNvSpPr>
            <p:nvPr/>
          </p:nvSpPr>
          <p:spPr bwMode="auto">
            <a:xfrm>
              <a:off x="3543300" y="4538663"/>
              <a:ext cx="51486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4427" name="Rectangle 89"/>
            <p:cNvSpPr>
              <a:spLocks noChangeArrowheads="1"/>
            </p:cNvSpPr>
            <p:nvPr/>
          </p:nvSpPr>
          <p:spPr bwMode="auto">
            <a:xfrm>
              <a:off x="3371850" y="4870450"/>
              <a:ext cx="1446213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8" name="Freeform 90"/>
            <p:cNvSpPr>
              <a:spLocks/>
            </p:cNvSpPr>
            <p:nvPr/>
          </p:nvSpPr>
          <p:spPr bwMode="auto">
            <a:xfrm>
              <a:off x="4637088" y="5084763"/>
              <a:ext cx="520700" cy="106362"/>
            </a:xfrm>
            <a:custGeom>
              <a:avLst/>
              <a:gdLst>
                <a:gd name="T0" fmla="*/ 0 w 369"/>
                <a:gd name="T1" fmla="*/ 0 h 89"/>
                <a:gd name="T2" fmla="*/ 0 w 369"/>
                <a:gd name="T3" fmla="*/ 2147483647 h 89"/>
                <a:gd name="T4" fmla="*/ 2147483647 w 369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9"/>
                <a:gd name="T10" fmla="*/ 0 h 89"/>
                <a:gd name="T11" fmla="*/ 369 w 369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9" h="89">
                  <a:moveTo>
                    <a:pt x="0" y="0"/>
                  </a:moveTo>
                  <a:lnTo>
                    <a:pt x="0" y="88"/>
                  </a:lnTo>
                  <a:lnTo>
                    <a:pt x="368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29" name="Rectangle 91"/>
            <p:cNvSpPr>
              <a:spLocks noChangeArrowheads="1"/>
            </p:cNvSpPr>
            <p:nvPr/>
          </p:nvSpPr>
          <p:spPr bwMode="auto">
            <a:xfrm>
              <a:off x="3857625" y="4852988"/>
              <a:ext cx="32972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4430" name="Freeform 92"/>
            <p:cNvSpPr>
              <a:spLocks/>
            </p:cNvSpPr>
            <p:nvPr/>
          </p:nvSpPr>
          <p:spPr bwMode="auto">
            <a:xfrm>
              <a:off x="4564063" y="5010150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1" name="Rectangle 93"/>
            <p:cNvSpPr>
              <a:spLocks noChangeArrowheads="1"/>
            </p:cNvSpPr>
            <p:nvPr/>
          </p:nvSpPr>
          <p:spPr bwMode="auto">
            <a:xfrm>
              <a:off x="3405188" y="5122863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32" name="Rectangle 94"/>
            <p:cNvSpPr>
              <a:spLocks noChangeArrowheads="1"/>
            </p:cNvSpPr>
            <p:nvPr/>
          </p:nvSpPr>
          <p:spPr bwMode="auto">
            <a:xfrm>
              <a:off x="3416300" y="5621337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433" name="Rectangle 95"/>
            <p:cNvSpPr>
              <a:spLocks noChangeArrowheads="1"/>
            </p:cNvSpPr>
            <p:nvPr/>
          </p:nvSpPr>
          <p:spPr bwMode="auto">
            <a:xfrm>
              <a:off x="3389313" y="5335588"/>
              <a:ext cx="1446212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34" name="Line 96"/>
            <p:cNvSpPr>
              <a:spLocks noChangeShapeType="1"/>
            </p:cNvSpPr>
            <p:nvPr/>
          </p:nvSpPr>
          <p:spPr bwMode="auto">
            <a:xfrm>
              <a:off x="3576638" y="55308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5" name="Line 97"/>
            <p:cNvSpPr>
              <a:spLocks noChangeShapeType="1"/>
            </p:cNvSpPr>
            <p:nvPr/>
          </p:nvSpPr>
          <p:spPr bwMode="auto">
            <a:xfrm flipH="1">
              <a:off x="4343400" y="5534025"/>
              <a:ext cx="0" cy="1127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6" name="Freeform 98"/>
            <p:cNvSpPr>
              <a:spLocks/>
            </p:cNvSpPr>
            <p:nvPr/>
          </p:nvSpPr>
          <p:spPr bwMode="auto">
            <a:xfrm>
              <a:off x="4654550" y="5538788"/>
              <a:ext cx="509588" cy="117475"/>
            </a:xfrm>
            <a:custGeom>
              <a:avLst/>
              <a:gdLst>
                <a:gd name="T0" fmla="*/ 0 w 361"/>
                <a:gd name="T1" fmla="*/ 0 h 97"/>
                <a:gd name="T2" fmla="*/ 0 w 361"/>
                <a:gd name="T3" fmla="*/ 2147483647 h 97"/>
                <a:gd name="T4" fmla="*/ 2147483647 w 361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61"/>
                <a:gd name="T10" fmla="*/ 0 h 97"/>
                <a:gd name="T11" fmla="*/ 361 w 361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97">
                  <a:moveTo>
                    <a:pt x="0" y="0"/>
                  </a:moveTo>
                  <a:lnTo>
                    <a:pt x="0" y="96"/>
                  </a:lnTo>
                  <a:lnTo>
                    <a:pt x="360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7" name="Rectangle 99"/>
            <p:cNvSpPr>
              <a:spLocks noChangeArrowheads="1"/>
            </p:cNvSpPr>
            <p:nvPr/>
          </p:nvSpPr>
          <p:spPr bwMode="auto">
            <a:xfrm>
              <a:off x="3873500" y="5314950"/>
              <a:ext cx="36675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4438" name="Freeform 100"/>
            <p:cNvSpPr>
              <a:spLocks/>
            </p:cNvSpPr>
            <p:nvPr/>
          </p:nvSpPr>
          <p:spPr bwMode="auto">
            <a:xfrm>
              <a:off x="4586288" y="5470525"/>
              <a:ext cx="136525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9" name="Rectangle 101"/>
            <p:cNvSpPr>
              <a:spLocks noChangeArrowheads="1"/>
            </p:cNvSpPr>
            <p:nvPr/>
          </p:nvSpPr>
          <p:spPr bwMode="auto">
            <a:xfrm>
              <a:off x="3406775" y="58642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40" name="Rectangle 102"/>
            <p:cNvSpPr>
              <a:spLocks noChangeArrowheads="1"/>
            </p:cNvSpPr>
            <p:nvPr/>
          </p:nvSpPr>
          <p:spPr bwMode="auto">
            <a:xfrm>
              <a:off x="3517900" y="5845175"/>
              <a:ext cx="57305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4441" name="Line 103"/>
            <p:cNvSpPr>
              <a:spLocks noChangeShapeType="1"/>
            </p:cNvSpPr>
            <p:nvPr/>
          </p:nvSpPr>
          <p:spPr bwMode="auto">
            <a:xfrm>
              <a:off x="3592513" y="60737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2" name="Rectangle 104"/>
            <p:cNvSpPr>
              <a:spLocks noChangeArrowheads="1"/>
            </p:cNvSpPr>
            <p:nvPr/>
          </p:nvSpPr>
          <p:spPr bwMode="auto">
            <a:xfrm>
              <a:off x="3416300" y="6111875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43" name="Freeform 105"/>
            <p:cNvSpPr>
              <a:spLocks/>
            </p:cNvSpPr>
            <p:nvPr/>
          </p:nvSpPr>
          <p:spPr bwMode="auto">
            <a:xfrm>
              <a:off x="4164013" y="6076950"/>
              <a:ext cx="1208087" cy="107950"/>
            </a:xfrm>
            <a:custGeom>
              <a:avLst/>
              <a:gdLst>
                <a:gd name="T0" fmla="*/ 0 w 857"/>
                <a:gd name="T1" fmla="*/ 0 h 89"/>
                <a:gd name="T2" fmla="*/ 0 w 857"/>
                <a:gd name="T3" fmla="*/ 2147483647 h 89"/>
                <a:gd name="T4" fmla="*/ 2147483647 w 857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857"/>
                <a:gd name="T10" fmla="*/ 0 h 89"/>
                <a:gd name="T11" fmla="*/ 857 w 857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9">
                  <a:moveTo>
                    <a:pt x="0" y="0"/>
                  </a:moveTo>
                  <a:lnTo>
                    <a:pt x="0" y="88"/>
                  </a:lnTo>
                  <a:lnTo>
                    <a:pt x="856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" name="Freeform 106"/>
            <p:cNvSpPr>
              <a:spLocks/>
            </p:cNvSpPr>
            <p:nvPr/>
          </p:nvSpPr>
          <p:spPr bwMode="auto">
            <a:xfrm>
              <a:off x="4095750" y="6005513"/>
              <a:ext cx="125413" cy="587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8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" name="Rectangle 107"/>
            <p:cNvSpPr>
              <a:spLocks noChangeArrowheads="1"/>
            </p:cNvSpPr>
            <p:nvPr/>
          </p:nvSpPr>
          <p:spPr bwMode="auto">
            <a:xfrm>
              <a:off x="5251450" y="5969000"/>
              <a:ext cx="6191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446" name="Line 108"/>
            <p:cNvSpPr>
              <a:spLocks noChangeShapeType="1"/>
            </p:cNvSpPr>
            <p:nvPr/>
          </p:nvSpPr>
          <p:spPr bwMode="auto">
            <a:xfrm flipH="1">
              <a:off x="1955800" y="4051300"/>
              <a:ext cx="0" cy="606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7" name="Line 109"/>
            <p:cNvSpPr>
              <a:spLocks noChangeShapeType="1"/>
            </p:cNvSpPr>
            <p:nvPr/>
          </p:nvSpPr>
          <p:spPr bwMode="auto">
            <a:xfrm flipH="1">
              <a:off x="1939925" y="4667250"/>
              <a:ext cx="143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" name="Line 110"/>
            <p:cNvSpPr>
              <a:spLocks noChangeShapeType="1"/>
            </p:cNvSpPr>
            <p:nvPr/>
          </p:nvSpPr>
          <p:spPr bwMode="auto">
            <a:xfrm>
              <a:off x="1785938" y="6326188"/>
              <a:ext cx="4143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9" name="Line 111"/>
            <p:cNvSpPr>
              <a:spLocks noChangeShapeType="1"/>
            </p:cNvSpPr>
            <p:nvPr/>
          </p:nvSpPr>
          <p:spPr bwMode="auto">
            <a:xfrm>
              <a:off x="1611313" y="6489700"/>
              <a:ext cx="4511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0" name="Arc 113"/>
            <p:cNvSpPr>
              <a:spLocks/>
            </p:cNvSpPr>
            <p:nvPr/>
          </p:nvSpPr>
          <p:spPr bwMode="auto">
            <a:xfrm>
              <a:off x="4654550" y="6365875"/>
              <a:ext cx="107950" cy="73025"/>
            </a:xfrm>
            <a:custGeom>
              <a:avLst/>
              <a:gdLst>
                <a:gd name="T0" fmla="*/ 1534308948 w 21600"/>
                <a:gd name="T1" fmla="*/ 0 h 17464"/>
                <a:gd name="T2" fmla="*/ 1542567519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1" name="Line 114"/>
            <p:cNvSpPr>
              <a:spLocks noChangeShapeType="1"/>
            </p:cNvSpPr>
            <p:nvPr/>
          </p:nvSpPr>
          <p:spPr bwMode="auto">
            <a:xfrm>
              <a:off x="4756150" y="6402388"/>
              <a:ext cx="395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2" name="Arc 115"/>
            <p:cNvSpPr>
              <a:spLocks/>
            </p:cNvSpPr>
            <p:nvPr/>
          </p:nvSpPr>
          <p:spPr bwMode="auto">
            <a:xfrm>
              <a:off x="2289175" y="6365875"/>
              <a:ext cx="106363" cy="73025"/>
            </a:xfrm>
            <a:custGeom>
              <a:avLst/>
              <a:gdLst>
                <a:gd name="T0" fmla="*/ 1383218327 w 21600"/>
                <a:gd name="T1" fmla="*/ 0 h 17464"/>
                <a:gd name="T2" fmla="*/ 1390659637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3" name="Line 116"/>
            <p:cNvSpPr>
              <a:spLocks noChangeShapeType="1"/>
            </p:cNvSpPr>
            <p:nvPr/>
          </p:nvSpPr>
          <p:spPr bwMode="auto">
            <a:xfrm>
              <a:off x="2384425" y="6402388"/>
              <a:ext cx="407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4" name="Line 117"/>
            <p:cNvSpPr>
              <a:spLocks noChangeShapeType="1"/>
            </p:cNvSpPr>
            <p:nvPr/>
          </p:nvSpPr>
          <p:spPr bwMode="auto">
            <a:xfrm>
              <a:off x="1611313" y="846138"/>
              <a:ext cx="3175" cy="5648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5" name="Arc 118"/>
            <p:cNvSpPr>
              <a:spLocks/>
            </p:cNvSpPr>
            <p:nvPr/>
          </p:nvSpPr>
          <p:spPr bwMode="auto">
            <a:xfrm>
              <a:off x="3335338" y="13144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6" name="Line 119"/>
            <p:cNvSpPr>
              <a:spLocks noChangeShapeType="1"/>
            </p:cNvSpPr>
            <p:nvPr/>
          </p:nvSpPr>
          <p:spPr bwMode="auto">
            <a:xfrm>
              <a:off x="1785938" y="1360488"/>
              <a:ext cx="1547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7" name="Arc 120"/>
            <p:cNvSpPr>
              <a:spLocks/>
            </p:cNvSpPr>
            <p:nvPr/>
          </p:nvSpPr>
          <p:spPr bwMode="auto">
            <a:xfrm>
              <a:off x="3487738" y="201771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8" name="Line 121"/>
            <p:cNvSpPr>
              <a:spLocks noChangeShapeType="1"/>
            </p:cNvSpPr>
            <p:nvPr/>
          </p:nvSpPr>
          <p:spPr bwMode="auto">
            <a:xfrm>
              <a:off x="1803400" y="2063750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9" name="Arc 122"/>
            <p:cNvSpPr>
              <a:spLocks/>
            </p:cNvSpPr>
            <p:nvPr/>
          </p:nvSpPr>
          <p:spPr bwMode="auto">
            <a:xfrm>
              <a:off x="3487738" y="257492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0" name="Line 123"/>
            <p:cNvSpPr>
              <a:spLocks noChangeShapeType="1"/>
            </p:cNvSpPr>
            <p:nvPr/>
          </p:nvSpPr>
          <p:spPr bwMode="auto">
            <a:xfrm>
              <a:off x="1803400" y="2620963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1" name="Arc 124"/>
            <p:cNvSpPr>
              <a:spLocks/>
            </p:cNvSpPr>
            <p:nvPr/>
          </p:nvSpPr>
          <p:spPr bwMode="auto">
            <a:xfrm>
              <a:off x="3278188" y="31861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2" name="Line 125"/>
            <p:cNvSpPr>
              <a:spLocks noChangeShapeType="1"/>
            </p:cNvSpPr>
            <p:nvPr/>
          </p:nvSpPr>
          <p:spPr bwMode="auto">
            <a:xfrm>
              <a:off x="1785938" y="3232150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3" name="Arc 126"/>
            <p:cNvSpPr>
              <a:spLocks/>
            </p:cNvSpPr>
            <p:nvPr/>
          </p:nvSpPr>
          <p:spPr bwMode="auto">
            <a:xfrm>
              <a:off x="3262313" y="492601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4" name="Line 127"/>
            <p:cNvSpPr>
              <a:spLocks noChangeShapeType="1"/>
            </p:cNvSpPr>
            <p:nvPr/>
          </p:nvSpPr>
          <p:spPr bwMode="auto">
            <a:xfrm>
              <a:off x="1785938" y="4972050"/>
              <a:ext cx="1474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5" name="Arc 128"/>
            <p:cNvSpPr>
              <a:spLocks/>
            </p:cNvSpPr>
            <p:nvPr/>
          </p:nvSpPr>
          <p:spPr bwMode="auto">
            <a:xfrm>
              <a:off x="3278188" y="53927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6" name="Line 129"/>
            <p:cNvSpPr>
              <a:spLocks noChangeShapeType="1"/>
            </p:cNvSpPr>
            <p:nvPr/>
          </p:nvSpPr>
          <p:spPr bwMode="auto">
            <a:xfrm>
              <a:off x="1785938" y="5437188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7" name="Arc 130"/>
            <p:cNvSpPr>
              <a:spLocks/>
            </p:cNvSpPr>
            <p:nvPr/>
          </p:nvSpPr>
          <p:spPr bwMode="auto">
            <a:xfrm>
              <a:off x="3313113" y="594836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8" name="Line 131"/>
            <p:cNvSpPr>
              <a:spLocks noChangeShapeType="1"/>
            </p:cNvSpPr>
            <p:nvPr/>
          </p:nvSpPr>
          <p:spPr bwMode="auto">
            <a:xfrm>
              <a:off x="1803400" y="5991225"/>
              <a:ext cx="151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9" name="Rectangle 132"/>
            <p:cNvSpPr>
              <a:spLocks noChangeArrowheads="1"/>
            </p:cNvSpPr>
            <p:nvPr/>
          </p:nvSpPr>
          <p:spPr bwMode="auto">
            <a:xfrm>
              <a:off x="5899150" y="11985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4470" name="Rectangle 133"/>
            <p:cNvSpPr>
              <a:spLocks noChangeArrowheads="1"/>
            </p:cNvSpPr>
            <p:nvPr/>
          </p:nvSpPr>
          <p:spPr bwMode="auto">
            <a:xfrm>
              <a:off x="5899150" y="19494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4471" name="Rectangle 134"/>
            <p:cNvSpPr>
              <a:spLocks noChangeArrowheads="1"/>
            </p:cNvSpPr>
            <p:nvPr/>
          </p:nvSpPr>
          <p:spPr bwMode="auto">
            <a:xfrm>
              <a:off x="5899150" y="25066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4472" name="Rectangle 135"/>
            <p:cNvSpPr>
              <a:spLocks noChangeArrowheads="1"/>
            </p:cNvSpPr>
            <p:nvPr/>
          </p:nvSpPr>
          <p:spPr bwMode="auto">
            <a:xfrm>
              <a:off x="5899150" y="31178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14473" name="Rectangle 136"/>
            <p:cNvSpPr>
              <a:spLocks noChangeArrowheads="1"/>
            </p:cNvSpPr>
            <p:nvPr/>
          </p:nvSpPr>
          <p:spPr bwMode="auto">
            <a:xfrm>
              <a:off x="5899150" y="3894138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14474" name="Arc 137"/>
            <p:cNvSpPr>
              <a:spLocks/>
            </p:cNvSpPr>
            <p:nvPr/>
          </p:nvSpPr>
          <p:spPr bwMode="auto">
            <a:xfrm>
              <a:off x="5824538" y="49260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5" name="Line 138"/>
            <p:cNvSpPr>
              <a:spLocks noChangeShapeType="1"/>
            </p:cNvSpPr>
            <p:nvPr/>
          </p:nvSpPr>
          <p:spPr bwMode="auto">
            <a:xfrm>
              <a:off x="4824413" y="4972050"/>
              <a:ext cx="998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6" name="Arc 139"/>
            <p:cNvSpPr>
              <a:spLocks/>
            </p:cNvSpPr>
            <p:nvPr/>
          </p:nvSpPr>
          <p:spPr bwMode="auto">
            <a:xfrm>
              <a:off x="5835650" y="53959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7" name="Line 140"/>
            <p:cNvSpPr>
              <a:spLocks noChangeShapeType="1"/>
            </p:cNvSpPr>
            <p:nvPr/>
          </p:nvSpPr>
          <p:spPr bwMode="auto">
            <a:xfrm>
              <a:off x="4835525" y="5437188"/>
              <a:ext cx="1004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8" name="Rectangle 141"/>
            <p:cNvSpPr>
              <a:spLocks noChangeArrowheads="1"/>
            </p:cNvSpPr>
            <p:nvPr/>
          </p:nvSpPr>
          <p:spPr bwMode="auto">
            <a:xfrm>
              <a:off x="5899150" y="48577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14479" name="Rectangle 142"/>
            <p:cNvSpPr>
              <a:spLocks noChangeArrowheads="1"/>
            </p:cNvSpPr>
            <p:nvPr/>
          </p:nvSpPr>
          <p:spPr bwMode="auto">
            <a:xfrm>
              <a:off x="5899150" y="5324475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14480" name="Oval 143"/>
            <p:cNvSpPr>
              <a:spLocks noChangeArrowheads="1"/>
            </p:cNvSpPr>
            <p:nvPr/>
          </p:nvSpPr>
          <p:spPr bwMode="auto">
            <a:xfrm>
              <a:off x="1617663" y="823913"/>
              <a:ext cx="157162" cy="5556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81" name="Line 144"/>
            <p:cNvSpPr>
              <a:spLocks noChangeShapeType="1"/>
            </p:cNvSpPr>
            <p:nvPr/>
          </p:nvSpPr>
          <p:spPr bwMode="auto">
            <a:xfrm>
              <a:off x="1773238" y="865188"/>
              <a:ext cx="3175" cy="5476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2" name="Line 145"/>
            <p:cNvSpPr>
              <a:spLocks noChangeShapeType="1"/>
            </p:cNvSpPr>
            <p:nvPr/>
          </p:nvSpPr>
          <p:spPr bwMode="auto">
            <a:xfrm>
              <a:off x="5753100" y="825500"/>
              <a:ext cx="0" cy="361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3" name="Line 146"/>
            <p:cNvSpPr>
              <a:spLocks noChangeShapeType="1"/>
            </p:cNvSpPr>
            <p:nvPr/>
          </p:nvSpPr>
          <p:spPr bwMode="auto">
            <a:xfrm>
              <a:off x="3729038" y="27336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4" name="Line 147"/>
            <p:cNvSpPr>
              <a:spLocks noChangeShapeType="1"/>
            </p:cNvSpPr>
            <p:nvPr/>
          </p:nvSpPr>
          <p:spPr bwMode="auto">
            <a:xfrm flipH="1">
              <a:off x="372268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5" name="Line 148"/>
            <p:cNvSpPr>
              <a:spLocks noChangeShapeType="1"/>
            </p:cNvSpPr>
            <p:nvPr/>
          </p:nvSpPr>
          <p:spPr bwMode="auto">
            <a:xfrm>
              <a:off x="3763963" y="158115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6" name="Line 149"/>
            <p:cNvSpPr>
              <a:spLocks noChangeShapeType="1"/>
            </p:cNvSpPr>
            <p:nvPr/>
          </p:nvSpPr>
          <p:spPr bwMode="auto">
            <a:xfrm>
              <a:off x="3963988" y="553720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7" name="Line 150"/>
            <p:cNvSpPr>
              <a:spLocks noChangeShapeType="1"/>
            </p:cNvSpPr>
            <p:nvPr/>
          </p:nvSpPr>
          <p:spPr bwMode="auto">
            <a:xfrm>
              <a:off x="3575050" y="411480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8" name="Line 151"/>
            <p:cNvSpPr>
              <a:spLocks noChangeShapeType="1"/>
            </p:cNvSpPr>
            <p:nvPr/>
          </p:nvSpPr>
          <p:spPr bwMode="auto">
            <a:xfrm>
              <a:off x="3563938" y="50736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9" name="Line 152"/>
            <p:cNvSpPr>
              <a:spLocks noChangeShapeType="1"/>
            </p:cNvSpPr>
            <p:nvPr/>
          </p:nvSpPr>
          <p:spPr bwMode="auto">
            <a:xfrm>
              <a:off x="3932238" y="332740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A42E71-0744-29E3-88E8-A8527BCD8107}"/>
              </a:ext>
            </a:extLst>
          </p:cNvPr>
          <p:cNvSpPr txBox="1"/>
          <p:nvPr/>
        </p:nvSpPr>
        <p:spPr>
          <a:xfrm>
            <a:off x="4930713" y="1041400"/>
            <a:ext cx="42772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8*1 mux used for 16 bit common bus</a:t>
            </a:r>
          </a:p>
          <a:p>
            <a:pPr marL="342900" indent="-342900">
              <a:buAutoNum type="arabicPeriod"/>
            </a:pPr>
            <a:r>
              <a:rPr lang="en-US" dirty="0"/>
              <a:t>E is like a flip flop which used to store the extra bit</a:t>
            </a:r>
          </a:p>
          <a:p>
            <a:pPr marL="342900" indent="-342900">
              <a:buAutoNum type="arabicPeriod"/>
            </a:pPr>
            <a:r>
              <a:rPr lang="en-US" dirty="0"/>
              <a:t>INPR and OUTR are bit different</a:t>
            </a:r>
          </a:p>
          <a:p>
            <a:pPr marL="342900" indent="-342900">
              <a:buAutoNum type="arabicPeriod"/>
            </a:pPr>
            <a:r>
              <a:rPr lang="en-US" dirty="0"/>
              <a:t>GIVE 010 SELECT LINES AND PC VALUE WILL COME ON THE BUS</a:t>
            </a:r>
          </a:p>
          <a:p>
            <a:pPr marL="342900" indent="-342900">
              <a:buAutoNum type="arabicPeriod"/>
            </a:pPr>
            <a:r>
              <a:rPr lang="en-US" dirty="0"/>
              <a:t>Select load value of AR as 1and now address goes in the AR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Read data from memory by selecting 111 and load data on common bus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Load data in the </a:t>
            </a:r>
            <a:r>
              <a:rPr lang="en-US" dirty="0">
                <a:solidFill>
                  <a:srgbClr val="FF0000"/>
                </a:solidFill>
              </a:rPr>
              <a:t>DR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Give data to ALU then to </a:t>
            </a:r>
            <a:r>
              <a:rPr lang="en-US" dirty="0">
                <a:solidFill>
                  <a:srgbClr val="FF0000"/>
                </a:solidFill>
              </a:rPr>
              <a:t>AC</a:t>
            </a:r>
            <a:r>
              <a:rPr lang="en-US" dirty="0"/>
              <a:t>, select 100 and load data on the common bus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Give to OUTR as load =1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All control statements are connected to common clock, by activating clock value we can load data.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A74F81-B66F-5A6E-88C5-F875F07216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43416" y="1041400"/>
            <a:ext cx="3035808" cy="4325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BF04EF-1234-519C-C81A-A7CD432F8F01}"/>
              </a:ext>
            </a:extLst>
          </p:cNvPr>
          <p:cNvSpPr txBox="1"/>
          <p:nvPr/>
        </p:nvSpPr>
        <p:spPr>
          <a:xfrm>
            <a:off x="9299448" y="4517136"/>
            <a:ext cx="26517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01235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Three control lines,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2</a:t>
            </a:r>
            <a:r>
              <a:rPr lang="en-US" altLang="ko-KR" sz="2000" b="1" dirty="0">
                <a:latin typeface="Calibri" panose="020F0502020204030204" pitchFamily="34" charset="0"/>
              </a:rPr>
              <a:t>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1</a:t>
            </a:r>
            <a:r>
              <a:rPr lang="en-US" altLang="ko-KR" sz="2000" b="1" dirty="0">
                <a:latin typeface="Calibri" panose="020F0502020204030204" pitchFamily="34" charset="0"/>
              </a:rPr>
              <a:t>, and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0</a:t>
            </a:r>
            <a:r>
              <a:rPr lang="en-US" altLang="ko-KR" sz="2000" b="1" dirty="0">
                <a:latin typeface="Calibri" panose="020F0502020204030204" pitchFamily="34" charset="0"/>
              </a:rPr>
              <a:t> control which register the bus selects as its input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marL="0" indent="0" algn="just" eaLnBrk="1" hangingPunct="1">
              <a:spcBef>
                <a:spcPct val="20000"/>
              </a:spcBef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</a:pPr>
            <a:endParaRPr lang="en-US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</a:pPr>
            <a:endParaRPr lang="en-US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Memory read transfers data from memory to a CPU register.</a:t>
            </a:r>
            <a:endParaRPr lang="en-US" altLang="ko-KR" sz="16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</a:pPr>
            <a:endParaRPr lang="en-US" sz="2000" b="1" dirty="0">
              <a:latin typeface="Calibri" panose="020F0502020204030204" pitchFamily="34" charset="0"/>
            </a:endParaRP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3263901" y="2043113"/>
            <a:ext cx="18399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0	x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1	AR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0	PC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1	DR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0	AC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1	IR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0	TR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1	Memory</a:t>
            </a:r>
          </a:p>
        </p:txBody>
      </p:sp>
      <p:sp>
        <p:nvSpPr>
          <p:cNvPr id="15369" name="Rectangle 12"/>
          <p:cNvSpPr>
            <a:spLocks noChangeArrowheads="1"/>
          </p:cNvSpPr>
          <p:nvPr/>
        </p:nvSpPr>
        <p:spPr bwMode="auto">
          <a:xfrm>
            <a:off x="3211514" y="1811339"/>
            <a:ext cx="1793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S</a:t>
            </a:r>
            <a:r>
              <a:rPr lang="en-US" altLang="ko-KR" sz="1600" b="1" baseline="-25000">
                <a:latin typeface="Calibri" panose="020F0502020204030204" pitchFamily="34" charset="0"/>
              </a:rPr>
              <a:t>2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1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0 	</a:t>
            </a:r>
            <a:r>
              <a:rPr lang="en-US" altLang="ko-KR" sz="1600" b="1">
                <a:latin typeface="Calibri" panose="020F0502020204030204" pitchFamily="34" charset="0"/>
              </a:rPr>
              <a:t>Register</a:t>
            </a:r>
            <a:endParaRPr lang="en-US" altLang="ko-KR" sz="1600" b="1" baseline="-25000">
              <a:latin typeface="Calibri" panose="020F0502020204030204" pitchFamily="34" charset="0"/>
            </a:endParaRPr>
          </a:p>
        </p:txBody>
      </p:sp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3038476" y="1809750"/>
            <a:ext cx="2066925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cxnSp>
        <p:nvCxnSpPr>
          <p:cNvPr id="164" name="Straight Connector 163"/>
          <p:cNvCxnSpPr/>
          <p:nvPr/>
        </p:nvCxnSpPr>
        <p:spPr>
          <a:xfrm>
            <a:off x="3046414" y="2147096"/>
            <a:ext cx="2057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370" idx="0"/>
            <a:endCxn id="15370" idx="2"/>
          </p:cNvCxnSpPr>
          <p:nvPr/>
        </p:nvCxnSpPr>
        <p:spPr>
          <a:xfrm rot="16200000" flipH="1">
            <a:off x="2958307" y="2924970"/>
            <a:ext cx="222885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1330C67-8DDC-3380-58BC-92316049E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2" y="1809750"/>
            <a:ext cx="45186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register has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input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=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copies data from the bus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= 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 ignores the bus</a:t>
            </a:r>
            <a:endParaRPr lang="en-US" dirty="0"/>
          </a:p>
          <a:p>
            <a:r>
              <a:rPr lang="en-US" dirty="0"/>
              <a:t>Source is chosen by </a:t>
            </a:r>
            <a:r>
              <a:rPr lang="en-US" b="1" dirty="0"/>
              <a:t>S₂ S₁ S₀</a:t>
            </a:r>
            <a:endParaRPr lang="en-US" dirty="0"/>
          </a:p>
          <a:p>
            <a:r>
              <a:rPr lang="en-US" dirty="0"/>
              <a:t>Destination is chosen by </a:t>
            </a:r>
            <a:r>
              <a:rPr lang="en-US" b="1" dirty="0"/>
              <a:t>Load signals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6417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12-bit registers, AR and PC, have 0’s loaded onto the bus in the high order 4 bit positions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the 8-bit register OUTR is loaded from the bus, the data comes from the low order 8 bits on the bus</a:t>
            </a:r>
          </a:p>
          <a:p>
            <a:pPr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The destination of bus data is determined by activating a register load or memory read signal. Since the bus is 16 bits wide, smaller registers use only the required lower bits, while unused higher-order bits are filled with zeros.</a:t>
            </a: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0696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1995326" y="382174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6391" name="Group 68"/>
          <p:cNvGrpSpPr>
            <a:grpSpLocks/>
          </p:cNvGrpSpPr>
          <p:nvPr/>
        </p:nvGrpSpPr>
        <p:grpSpPr bwMode="auto">
          <a:xfrm>
            <a:off x="2621280" y="1375569"/>
            <a:ext cx="8461244" cy="4900619"/>
            <a:chOff x="439738" y="1233488"/>
            <a:chExt cx="8460418" cy="4900613"/>
          </a:xfrm>
        </p:grpSpPr>
        <p:sp>
          <p:nvSpPr>
            <p:cNvPr id="16392" name="Rectangle 3"/>
            <p:cNvSpPr>
              <a:spLocks noChangeArrowheads="1"/>
            </p:cNvSpPr>
            <p:nvPr/>
          </p:nvSpPr>
          <p:spPr bwMode="auto">
            <a:xfrm>
              <a:off x="439738" y="1233488"/>
              <a:ext cx="3830857" cy="365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2000" b="1" dirty="0">
                  <a:latin typeface="Calibri" panose="020F0502020204030204" pitchFamily="34" charset="0"/>
                </a:rPr>
                <a:t>Basic Computer Instruction Format</a:t>
              </a:r>
            </a:p>
          </p:txBody>
        </p:sp>
        <p:sp>
          <p:nvSpPr>
            <p:cNvPr id="16393" name="Rectangle 5"/>
            <p:cNvSpPr>
              <a:spLocks noChangeArrowheads="1"/>
            </p:cNvSpPr>
            <p:nvPr/>
          </p:nvSpPr>
          <p:spPr bwMode="auto">
            <a:xfrm>
              <a:off x="1895475" y="2754313"/>
              <a:ext cx="3586163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16394" name="Line 6"/>
            <p:cNvSpPr>
              <a:spLocks noChangeShapeType="1"/>
            </p:cNvSpPr>
            <p:nvPr/>
          </p:nvSpPr>
          <p:spPr bwMode="auto">
            <a:xfrm>
              <a:off x="2301875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7"/>
            <p:cNvSpPr>
              <a:spLocks noChangeShapeType="1"/>
            </p:cNvSpPr>
            <p:nvPr/>
          </p:nvSpPr>
          <p:spPr bwMode="auto">
            <a:xfrm>
              <a:off x="3097213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Rectangle 8"/>
            <p:cNvSpPr>
              <a:spLocks noChangeArrowheads="1"/>
            </p:cNvSpPr>
            <p:nvPr/>
          </p:nvSpPr>
          <p:spPr bwMode="auto">
            <a:xfrm>
              <a:off x="1858963" y="2528888"/>
              <a:ext cx="6732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15     14</a:t>
              </a:r>
            </a:p>
          </p:txBody>
        </p:sp>
        <p:sp>
          <p:nvSpPr>
            <p:cNvPr id="16397" name="Rectangle 9"/>
            <p:cNvSpPr>
              <a:spLocks noChangeArrowheads="1"/>
            </p:cNvSpPr>
            <p:nvPr/>
          </p:nvSpPr>
          <p:spPr bwMode="auto">
            <a:xfrm>
              <a:off x="2776538" y="2528888"/>
              <a:ext cx="53219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12 11</a:t>
              </a:r>
            </a:p>
          </p:txBody>
        </p:sp>
        <p:sp>
          <p:nvSpPr>
            <p:cNvPr id="16398" name="Rectangle 10"/>
            <p:cNvSpPr>
              <a:spLocks noChangeArrowheads="1"/>
            </p:cNvSpPr>
            <p:nvPr/>
          </p:nvSpPr>
          <p:spPr bwMode="auto">
            <a:xfrm>
              <a:off x="5178425" y="2528888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6399" name="Rectangle 11"/>
            <p:cNvSpPr>
              <a:spLocks noChangeArrowheads="1"/>
            </p:cNvSpPr>
            <p:nvPr/>
          </p:nvSpPr>
          <p:spPr bwMode="auto">
            <a:xfrm>
              <a:off x="1973263" y="2749550"/>
              <a:ext cx="2244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16400" name="Rectangle 12"/>
            <p:cNvSpPr>
              <a:spLocks noChangeArrowheads="1"/>
            </p:cNvSpPr>
            <p:nvPr/>
          </p:nvSpPr>
          <p:spPr bwMode="auto">
            <a:xfrm>
              <a:off x="2347913" y="2736850"/>
              <a:ext cx="6773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16401" name="Rectangle 13"/>
            <p:cNvSpPr>
              <a:spLocks noChangeArrowheads="1"/>
            </p:cNvSpPr>
            <p:nvPr/>
          </p:nvSpPr>
          <p:spPr bwMode="auto">
            <a:xfrm>
              <a:off x="3697288" y="2740025"/>
              <a:ext cx="69397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860425" y="2097088"/>
              <a:ext cx="7038549" cy="643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1. Memory-Reference Instructions 	(OP-code = 000 ~ 110, I=0 OR 1)</a:t>
              </a:r>
            </a:p>
            <a:p>
              <a:pPr eaLnBrk="1" hangingPunct="1"/>
              <a:endParaRPr lang="en-US" altLang="ko-KR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3" name="Rectangle 23"/>
            <p:cNvSpPr>
              <a:spLocks noChangeArrowheads="1"/>
            </p:cNvSpPr>
            <p:nvPr/>
          </p:nvSpPr>
          <p:spPr bwMode="auto">
            <a:xfrm>
              <a:off x="860424" y="3273425"/>
              <a:ext cx="8039732" cy="920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2. Register-Reference Instructions 	(OP-code = 111, I = 0)</a:t>
              </a:r>
            </a:p>
            <a:p>
              <a:pPr eaLnBrk="1" hangingPunct="1"/>
              <a:endParaRPr lang="en-US" altLang="ko-KR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4" name="Rectangle 31"/>
            <p:cNvSpPr>
              <a:spLocks noChangeArrowheads="1"/>
            </p:cNvSpPr>
            <p:nvPr/>
          </p:nvSpPr>
          <p:spPr bwMode="auto">
            <a:xfrm>
              <a:off x="974238" y="5183901"/>
              <a:ext cx="6011711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 3. Input-Output Instructions		(OP-code =111, I = 1)</a:t>
              </a:r>
            </a:p>
          </p:txBody>
        </p:sp>
        <p:grpSp>
          <p:nvGrpSpPr>
            <p:cNvPr id="16405" name="Group 36"/>
            <p:cNvGrpSpPr>
              <a:grpSpLocks/>
            </p:cNvGrpSpPr>
            <p:nvPr/>
          </p:nvGrpSpPr>
          <p:grpSpPr bwMode="auto">
            <a:xfrm>
              <a:off x="1868488" y="3649667"/>
              <a:ext cx="3622675" cy="493713"/>
              <a:chOff x="1177" y="2203"/>
              <a:chExt cx="2282" cy="311"/>
            </a:xfrm>
          </p:grpSpPr>
          <p:sp>
            <p:nvSpPr>
              <p:cNvPr id="16414" name="Rectangle 16"/>
              <p:cNvSpPr>
                <a:spLocks noChangeArrowheads="1"/>
              </p:cNvSpPr>
              <p:nvPr/>
            </p:nvSpPr>
            <p:spPr bwMode="auto">
              <a:xfrm>
                <a:off x="1200" y="2344"/>
                <a:ext cx="2259" cy="13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15" name="Line 17"/>
              <p:cNvSpPr>
                <a:spLocks noChangeShapeType="1"/>
              </p:cNvSpPr>
              <p:nvPr/>
            </p:nvSpPr>
            <p:spPr bwMode="auto">
              <a:xfrm>
                <a:off x="1952" y="2338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6" name="Rectangle 18"/>
              <p:cNvSpPr>
                <a:spLocks noChangeArrowheads="1"/>
              </p:cNvSpPr>
              <p:nvPr/>
            </p:nvSpPr>
            <p:spPr bwMode="auto">
              <a:xfrm>
                <a:off x="1177" y="2203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17" name="Rectangle 19"/>
              <p:cNvSpPr>
                <a:spLocks noChangeArrowheads="1"/>
              </p:cNvSpPr>
              <p:nvPr/>
            </p:nvSpPr>
            <p:spPr bwMode="auto">
              <a:xfrm>
                <a:off x="1756" y="2203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8" name="Rectangle 20"/>
              <p:cNvSpPr>
                <a:spLocks noChangeArrowheads="1"/>
              </p:cNvSpPr>
              <p:nvPr/>
            </p:nvSpPr>
            <p:spPr bwMode="auto">
              <a:xfrm>
                <a:off x="3268" y="2203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9" name="Rectangle 21"/>
              <p:cNvSpPr>
                <a:spLocks noChangeArrowheads="1"/>
              </p:cNvSpPr>
              <p:nvPr/>
            </p:nvSpPr>
            <p:spPr bwMode="auto">
              <a:xfrm>
                <a:off x="2060" y="2335"/>
                <a:ext cx="85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Register operation</a:t>
                </a:r>
              </a:p>
            </p:txBody>
          </p:sp>
          <p:sp>
            <p:nvSpPr>
              <p:cNvPr id="16420" name="Rectangle 32"/>
              <p:cNvSpPr>
                <a:spLocks noChangeArrowheads="1"/>
              </p:cNvSpPr>
              <p:nvPr/>
            </p:nvSpPr>
            <p:spPr bwMode="auto">
              <a:xfrm>
                <a:off x="1237" y="2341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0    1    1    1</a:t>
                </a:r>
              </a:p>
            </p:txBody>
          </p:sp>
        </p:grpSp>
        <p:grpSp>
          <p:nvGrpSpPr>
            <p:cNvPr id="16406" name="Group 37"/>
            <p:cNvGrpSpPr>
              <a:grpSpLocks/>
            </p:cNvGrpSpPr>
            <p:nvPr/>
          </p:nvGrpSpPr>
          <p:grpSpPr bwMode="auto">
            <a:xfrm>
              <a:off x="1776413" y="5595938"/>
              <a:ext cx="3751262" cy="538163"/>
              <a:chOff x="1174" y="3429"/>
              <a:chExt cx="2363" cy="339"/>
            </a:xfrm>
          </p:grpSpPr>
          <p:sp>
            <p:nvSpPr>
              <p:cNvPr id="16407" name="Rectangle 24"/>
              <p:cNvSpPr>
                <a:spLocks noChangeArrowheads="1"/>
              </p:cNvSpPr>
              <p:nvPr/>
            </p:nvSpPr>
            <p:spPr bwMode="auto">
              <a:xfrm>
                <a:off x="1232" y="3614"/>
                <a:ext cx="2259" cy="13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08" name="Rectangle 26"/>
              <p:cNvSpPr>
                <a:spLocks noChangeArrowheads="1"/>
              </p:cNvSpPr>
              <p:nvPr/>
            </p:nvSpPr>
            <p:spPr bwMode="auto">
              <a:xfrm>
                <a:off x="1174" y="3456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09" name="Rectangle 27"/>
              <p:cNvSpPr>
                <a:spLocks noChangeArrowheads="1"/>
              </p:cNvSpPr>
              <p:nvPr/>
            </p:nvSpPr>
            <p:spPr bwMode="auto">
              <a:xfrm>
                <a:off x="1739" y="3429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0" name="Rectangle 28"/>
              <p:cNvSpPr>
                <a:spLocks noChangeArrowheads="1"/>
              </p:cNvSpPr>
              <p:nvPr/>
            </p:nvSpPr>
            <p:spPr bwMode="auto">
              <a:xfrm>
                <a:off x="3372" y="3482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1" name="Rectangle 29"/>
              <p:cNvSpPr>
                <a:spLocks noChangeArrowheads="1"/>
              </p:cNvSpPr>
              <p:nvPr/>
            </p:nvSpPr>
            <p:spPr bwMode="auto">
              <a:xfrm>
                <a:off x="2270" y="3585"/>
                <a:ext cx="6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I/O operation</a:t>
                </a:r>
              </a:p>
            </p:txBody>
          </p:sp>
          <p:sp>
            <p:nvSpPr>
              <p:cNvPr id="16412" name="Rectangle 33"/>
              <p:cNvSpPr>
                <a:spLocks noChangeArrowheads="1"/>
              </p:cNvSpPr>
              <p:nvPr/>
            </p:nvSpPr>
            <p:spPr bwMode="auto">
              <a:xfrm>
                <a:off x="1266" y="3595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1    1    1    1</a:t>
                </a:r>
              </a:p>
            </p:txBody>
          </p:sp>
          <p:sp>
            <p:nvSpPr>
              <p:cNvPr id="16413" name="Line 35"/>
              <p:cNvSpPr>
                <a:spLocks noChangeShapeType="1"/>
              </p:cNvSpPr>
              <p:nvPr/>
            </p:nvSpPr>
            <p:spPr bwMode="auto">
              <a:xfrm>
                <a:off x="1846" y="3638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E776E28-4B05-D093-BAFF-2315E30B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550" y="1814573"/>
            <a:ext cx="74892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000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001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ADD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010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LDA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011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100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BUN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110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ISZ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101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BSA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C8B6BA4D-A438-D5EB-5EA7-189D4599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473" y="4228148"/>
            <a:ext cx="64567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Bits 11-0 specify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register operation to perform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 memory address here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“Only </a:t>
            </a:r>
            <a:r>
              <a:rPr lang="en-US" b="1" dirty="0"/>
              <a:t>one bit</a:t>
            </a:r>
            <a:r>
              <a:rPr lang="en-US" dirty="0"/>
              <a:t> in the last 12 bits is set to indicate the operation.”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3465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7415" name="Group 98"/>
          <p:cNvGrpSpPr>
            <a:grpSpLocks/>
          </p:cNvGrpSpPr>
          <p:nvPr/>
        </p:nvGrpSpPr>
        <p:grpSpPr bwMode="auto">
          <a:xfrm>
            <a:off x="3135001" y="925512"/>
            <a:ext cx="7418699" cy="5932488"/>
            <a:chOff x="571569" y="808038"/>
            <a:chExt cx="7680414" cy="6336001"/>
          </a:xfrm>
        </p:grpSpPr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571569" y="1295727"/>
              <a:ext cx="7680414" cy="5848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AND        0xxx     8xxx       AND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ADD        1xxx     9xxx       Add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LDA         2xxx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Axxx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Load AC from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STA         3xxx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Bxxx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Store content of AC into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BUN        4xxx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Cxxx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 Branch unconditionally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BSA        5xxx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Dxxx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Branch and save return address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ISZ          6xxx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Exxx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Increment and skip if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CLA	   7800	          Clear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CLE	   7400	          Clear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CMA	   7200              Complement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CME	   7100	          Complement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CIR	   7080	          Circulate right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CIL	   7040	          Circulate left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INC	   7020	          Increment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SPA	   7010	          Skip next instr. if AC is positive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SNA	   7008	          Skip next instr. if AC is negative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SZA	   7004	          Skip next instr. if AC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SZE	   7002	          Skip next instr. if E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HLT	   7001	          Halt computer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INP	   F800	          Input character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OUT	   F400	          Output character from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SKI                F200	          Skip on input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SKO	   F100	          Skip on output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ION	   F080	          Interrupt on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IOF	   F040	          Interrupt off</a:t>
              </a:r>
            </a:p>
            <a:p>
              <a:pPr defTabSz="762000" latinLnBrk="1">
                <a:lnSpc>
                  <a:spcPct val="80000"/>
                </a:lnSpc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grpSp>
          <p:nvGrpSpPr>
            <p:cNvPr id="17417" name="Group 97"/>
            <p:cNvGrpSpPr>
              <a:grpSpLocks/>
            </p:cNvGrpSpPr>
            <p:nvPr/>
          </p:nvGrpSpPr>
          <p:grpSpPr bwMode="auto">
            <a:xfrm>
              <a:off x="1043578" y="808038"/>
              <a:ext cx="6408712" cy="6022337"/>
              <a:chOff x="1046753" y="808038"/>
              <a:chExt cx="6408712" cy="6022337"/>
            </a:xfrm>
          </p:grpSpPr>
          <p:sp>
            <p:nvSpPr>
              <p:cNvPr id="89" name="Rectangle 3"/>
              <p:cNvSpPr>
                <a:spLocks noChangeArrowheads="1"/>
              </p:cNvSpPr>
              <p:nvPr/>
            </p:nvSpPr>
            <p:spPr bwMode="auto">
              <a:xfrm>
                <a:off x="1096058" y="808038"/>
                <a:ext cx="6359407" cy="5149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                    Hex Code</a:t>
                </a:r>
              </a:p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Symbol    I = 0       I = 1                  Description</a:t>
                </a:r>
              </a:p>
            </p:txBody>
          </p:sp>
          <p:sp>
            <p:nvSpPr>
              <p:cNvPr id="90" name="Rectangle 4"/>
              <p:cNvSpPr>
                <a:spLocks noChangeArrowheads="1"/>
              </p:cNvSpPr>
              <p:nvPr/>
            </p:nvSpPr>
            <p:spPr bwMode="auto">
              <a:xfrm>
                <a:off x="1068119" y="914854"/>
                <a:ext cx="5412056" cy="591552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1906306" y="1019973"/>
                <a:ext cx="132137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1046753" y="1230212"/>
                <a:ext cx="540383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 flipH="1">
                <a:off x="1825774" y="847035"/>
                <a:ext cx="60810" cy="590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H="1">
                <a:off x="3166872" y="857207"/>
                <a:ext cx="52592" cy="5973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6" name="Line 15"/>
              <p:cNvSpPr>
                <a:spLocks noChangeShapeType="1"/>
              </p:cNvSpPr>
              <p:nvPr/>
            </p:nvSpPr>
            <p:spPr bwMode="auto">
              <a:xfrm>
                <a:off x="1056614" y="2667978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7" name="Line 16"/>
              <p:cNvSpPr>
                <a:spLocks noChangeShapeType="1"/>
              </p:cNvSpPr>
              <p:nvPr/>
            </p:nvSpPr>
            <p:spPr bwMode="auto">
              <a:xfrm>
                <a:off x="1066475" y="5446865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57E31167-BCB7-6D28-E3E0-74F35FAF4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61" y="3229676"/>
            <a:ext cx="2609039" cy="116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56652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FA5DC2E8-796F-F34D-9813-0039A8B8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D58FE79-1B0C-DE79-BEBB-B7A2294757FD}"/>
              </a:ext>
            </a:extLst>
          </p:cNvPr>
          <p:cNvSpPr txBox="1"/>
          <p:nvPr/>
        </p:nvSpPr>
        <p:spPr>
          <a:xfrm>
            <a:off x="2370582" y="566678"/>
            <a:ext cx="77975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                </a:t>
            </a:r>
            <a:r>
              <a:rPr lang="en-IN" b="1" dirty="0"/>
              <a:t>0 010 000000101010</a:t>
            </a:r>
          </a:p>
          <a:p>
            <a:r>
              <a:rPr lang="en-IN" dirty="0"/>
              <a:t>I = 0 → Direct addressing</a:t>
            </a:r>
          </a:p>
          <a:p>
            <a:r>
              <a:rPr lang="en-IN" dirty="0"/>
              <a:t>Opcode = 010 → LDA</a:t>
            </a:r>
          </a:p>
          <a:p>
            <a:r>
              <a:rPr lang="en-IN" dirty="0"/>
              <a:t>Address = 42</a:t>
            </a:r>
          </a:p>
          <a:p>
            <a:r>
              <a:rPr lang="en-IN" dirty="0"/>
              <a:t>Meaning:</a:t>
            </a:r>
          </a:p>
          <a:p>
            <a:r>
              <a:rPr lang="en-IN" dirty="0"/>
              <a:t>“Load the contents of memory location 42 directly into AC.”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2D4BE1-27FF-B0AA-3AE1-E3B5DEBC3BD4}"/>
              </a:ext>
            </a:extLst>
          </p:cNvPr>
          <p:cNvSpPr txBox="1"/>
          <p:nvPr/>
        </p:nvSpPr>
        <p:spPr>
          <a:xfrm>
            <a:off x="2370582" y="2434713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                  </a:t>
            </a:r>
            <a:r>
              <a:rPr lang="en-IN" b="1" dirty="0"/>
              <a:t>0 111 000000000001</a:t>
            </a:r>
          </a:p>
          <a:p>
            <a:r>
              <a:rPr lang="en-IN" dirty="0"/>
              <a:t>I = 0</a:t>
            </a:r>
          </a:p>
          <a:p>
            <a:r>
              <a:rPr lang="en-IN" dirty="0"/>
              <a:t>Opcode = 111</a:t>
            </a:r>
          </a:p>
          <a:p>
            <a:r>
              <a:rPr lang="en-IN" dirty="0"/>
              <a:t>Last bit = 1 → HLT</a:t>
            </a:r>
          </a:p>
          <a:p>
            <a:r>
              <a:rPr lang="en-IN" dirty="0"/>
              <a:t>Meaning:</a:t>
            </a:r>
          </a:p>
          <a:p>
            <a:r>
              <a:rPr lang="en-IN" dirty="0"/>
              <a:t>“Stop the computer.”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7D5498-4F3F-0455-1978-946FD2905448}"/>
              </a:ext>
            </a:extLst>
          </p:cNvPr>
          <p:cNvSpPr txBox="1"/>
          <p:nvPr/>
        </p:nvSpPr>
        <p:spPr>
          <a:xfrm>
            <a:off x="2370582" y="4458845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</a:t>
            </a:r>
            <a:r>
              <a:rPr lang="en-IN" b="1" dirty="0"/>
              <a:t>.                     1 111 000000000010</a:t>
            </a:r>
          </a:p>
          <a:p>
            <a:r>
              <a:rPr lang="en-IN" dirty="0"/>
              <a:t>I = 1</a:t>
            </a:r>
          </a:p>
          <a:p>
            <a:r>
              <a:rPr lang="en-IN" dirty="0"/>
              <a:t>Opcode = 111</a:t>
            </a:r>
          </a:p>
          <a:p>
            <a:r>
              <a:rPr lang="en-IN" dirty="0"/>
              <a:t>Operation = OUT</a:t>
            </a:r>
          </a:p>
          <a:p>
            <a:r>
              <a:rPr lang="en-IN" dirty="0"/>
              <a:t>Meaning:</a:t>
            </a:r>
          </a:p>
          <a:p>
            <a:r>
              <a:rPr lang="en-IN" dirty="0"/>
              <a:t>“Send the contents of AC to output device.”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9B8BC340-4D25-BB28-6BA1-5A9494C7DD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177784" y="2388546"/>
            <a:ext cx="365188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0–6 / 8–E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→ Memory reference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7xxx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→ Register reference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Fxxx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→ I/O instruction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A7E5742-36B3-06D2-90F5-EBC4E0C07E55}"/>
              </a:ext>
            </a:extLst>
          </p:cNvPr>
          <p:cNvSpPr txBox="1"/>
          <p:nvPr/>
        </p:nvSpPr>
        <p:spPr>
          <a:xfrm>
            <a:off x="7293102" y="3831997"/>
            <a:ext cx="48988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Instruction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A025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First hex digit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→ Indirect memory instruction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A=1010₂</a:t>
            </a:r>
            <a:r>
              <a:rPr lang="en-US" dirty="0">
                <a:solidFill>
                  <a:srgbClr val="FF0000"/>
                </a:solidFill>
              </a:rPr>
              <a:t> →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I=1</a:t>
            </a:r>
            <a:r>
              <a:rPr lang="en-US" dirty="0">
                <a:solidFill>
                  <a:srgbClr val="FF0000"/>
                </a:solidFill>
              </a:rPr>
              <a:t>, Opcode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010</a:t>
            </a:r>
            <a:r>
              <a:rPr lang="en-US" dirty="0">
                <a:solidFill>
                  <a:srgbClr val="FF0000"/>
                </a:solidFill>
              </a:rPr>
              <a:t> → </a:t>
            </a:r>
            <a:r>
              <a:rPr lang="en-US" b="1" dirty="0">
                <a:solidFill>
                  <a:srgbClr val="FF0000"/>
                </a:solidFill>
              </a:rPr>
              <a:t>LDA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Address =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025</a:t>
            </a: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Operation: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“Load AC from memory location pointed by address 025.”</a:t>
            </a:r>
          </a:p>
        </p:txBody>
      </p:sp>
    </p:spTree>
    <p:extLst>
      <p:ext uri="{BB962C8B-B14F-4D97-AF65-F5344CB8AC3E}">
        <p14:creationId xmlns:p14="http://schemas.microsoft.com/office/powerpoint/2010/main" xmlns="" val="2530935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Instruction Set Completeness</a:t>
            </a: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1753839" y="1946945"/>
            <a:ext cx="21796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</a:pPr>
            <a:r>
              <a:rPr lang="en-US" altLang="ko-KR" b="1" u="sng" dirty="0">
                <a:cs typeface="Arial" panose="020B0604020202020204" pitchFamily="34" charset="0"/>
              </a:rPr>
              <a:t> Instruction Types</a:t>
            </a:r>
          </a:p>
        </p:txBody>
      </p:sp>
      <p:sp>
        <p:nvSpPr>
          <p:cNvPr id="18440" name="Rectangle 5"/>
          <p:cNvSpPr>
            <a:spLocks noChangeArrowheads="1"/>
          </p:cNvSpPr>
          <p:nvPr/>
        </p:nvSpPr>
        <p:spPr bwMode="auto">
          <a:xfrm>
            <a:off x="1981200" y="1017588"/>
            <a:ext cx="8253413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ko-KR" b="1" dirty="0">
                <a:cs typeface="Arial" panose="020B0604020202020204" pitchFamily="34" charset="0"/>
              </a:rPr>
              <a:t>A computer should have a set of instructions so that the user can construct machine language programs to evaluate any function that is known to be computable.</a:t>
            </a:r>
          </a:p>
        </p:txBody>
      </p:sp>
      <p:sp>
        <p:nvSpPr>
          <p:cNvPr id="18441" name="Rectangle 6"/>
          <p:cNvSpPr>
            <a:spLocks noChangeArrowheads="1"/>
          </p:cNvSpPr>
          <p:nvPr/>
        </p:nvSpPr>
        <p:spPr bwMode="auto">
          <a:xfrm>
            <a:off x="1624013" y="2358533"/>
            <a:ext cx="8610600" cy="4167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cs typeface="Arial" panose="020B0604020202020204" pitchFamily="34" charset="0"/>
              </a:rPr>
              <a:t> Functional Instructions </a:t>
            </a:r>
            <a:r>
              <a:rPr lang="en-US" b="1" dirty="0"/>
              <a:t>operate on data (process the data)</a:t>
            </a:r>
            <a:endParaRPr lang="en-US" altLang="ko-KR" b="1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		- </a:t>
            </a:r>
            <a:r>
              <a:rPr lang="en-US" altLang="ko-KR" sz="1600" b="1" dirty="0">
                <a:cs typeface="Arial" panose="020B0604020202020204" pitchFamily="34" charset="0"/>
              </a:rPr>
              <a:t>Arithmetic, logic, and shift instructions		</a:t>
            </a:r>
          </a:p>
          <a:p>
            <a:pPr lvl="1" algn="just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	- ADD, CMA, INC, CIR, CIL, AND, CLA. </a:t>
            </a:r>
            <a:r>
              <a:rPr lang="en-US" sz="1600" dirty="0"/>
              <a:t>“Think of AC as a calculator display.</a:t>
            </a:r>
            <a:br>
              <a:rPr lang="en-US" sz="1600" dirty="0"/>
            </a:br>
            <a:r>
              <a:rPr lang="en-US" sz="1600" dirty="0"/>
              <a:t>These instructions </a:t>
            </a:r>
            <a:r>
              <a:rPr lang="en-US" sz="1600" b="1" dirty="0"/>
              <a:t>change the value shown on the display</a:t>
            </a:r>
            <a:r>
              <a:rPr lang="en-US" sz="1600" dirty="0"/>
              <a:t>.”</a:t>
            </a:r>
          </a:p>
          <a:p>
            <a:pPr lvl="1" algn="just">
              <a:lnSpc>
                <a:spcPct val="66000"/>
              </a:lnSpc>
              <a:spcBef>
                <a:spcPct val="40000"/>
              </a:spcBef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cs typeface="Arial" panose="020B0604020202020204" pitchFamily="34" charset="0"/>
              </a:rPr>
              <a:t>Transfer Instructions (move </a:t>
            </a:r>
            <a:r>
              <a:rPr lang="en-US" altLang="ko-KR" b="1">
                <a:cs typeface="Arial" panose="020B0604020202020204" pitchFamily="34" charset="0"/>
              </a:rPr>
              <a:t>the data)</a:t>
            </a:r>
            <a:endParaRPr lang="en-US" altLang="ko-KR" b="1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		-</a:t>
            </a:r>
            <a:r>
              <a:rPr lang="en-US" altLang="ko-KR" sz="1600" b="1" dirty="0">
                <a:cs typeface="Arial" panose="020B0604020202020204" pitchFamily="34" charset="0"/>
              </a:rPr>
              <a:t> Data transfers between the main memory and the processor registers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	- LDA, STA</a:t>
            </a:r>
          </a:p>
          <a:p>
            <a:pPr lvl="1" algn="just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cs typeface="Arial" panose="020B0604020202020204" pitchFamily="34" charset="0"/>
              </a:rPr>
              <a:t>Control Instructions </a:t>
            </a:r>
            <a:r>
              <a:rPr lang="en-US" b="1" dirty="0"/>
              <a:t>change the sequence of execution</a:t>
            </a:r>
            <a:r>
              <a:rPr lang="en-US" dirty="0"/>
              <a:t>.”</a:t>
            </a:r>
            <a:endParaRPr lang="en-US" altLang="ko-KR" b="1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		</a:t>
            </a:r>
            <a:r>
              <a:rPr lang="en-US" altLang="ko-KR" sz="1600" b="1" dirty="0">
                <a:cs typeface="Arial" panose="020B0604020202020204" pitchFamily="34" charset="0"/>
              </a:rPr>
              <a:t>- Program sequencing and control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	- BUN, BSA, ISZ</a:t>
            </a:r>
          </a:p>
          <a:p>
            <a:pPr lvl="1" algn="just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 dirty="0">
                <a:cs typeface="Arial" panose="020B0604020202020204" pitchFamily="34" charset="0"/>
              </a:rPr>
              <a:t>Input/output Instructions </a:t>
            </a:r>
            <a:r>
              <a:rPr lang="en-US" dirty="0"/>
              <a:t>allow the computer to </a:t>
            </a:r>
            <a:r>
              <a:rPr lang="en-US" b="1" dirty="0"/>
              <a:t>communicate with the outside world</a:t>
            </a:r>
            <a:r>
              <a:rPr lang="en-US" dirty="0"/>
              <a:t>.”</a:t>
            </a:r>
            <a:endParaRPr lang="en-US" altLang="ko-KR" b="1" dirty="0"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 dirty="0">
                <a:cs typeface="Arial" panose="020B0604020202020204" pitchFamily="34" charset="0"/>
              </a:rPr>
              <a:t>		</a:t>
            </a:r>
            <a:r>
              <a:rPr lang="en-US" altLang="ko-KR" sz="1600" b="1" dirty="0">
                <a:cs typeface="Arial" panose="020B0604020202020204" pitchFamily="34" charset="0"/>
              </a:rPr>
              <a:t>- Input and output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	- INP, OUT</a:t>
            </a:r>
          </a:p>
          <a:p>
            <a:pPr algn="just" eaLnBrk="1" hangingPunct="1">
              <a:lnSpc>
                <a:spcPct val="66000"/>
              </a:lnSpc>
              <a:buFont typeface="Wingdings" panose="05000000000000000000" pitchFamily="2" charset="2"/>
              <a:buChar char="Ø"/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2408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14475" y="65786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Control Unit</a:t>
            </a:r>
          </a:p>
        </p:txBody>
      </p:sp>
      <p:sp>
        <p:nvSpPr>
          <p:cNvPr id="19463" name="Rectangle 4"/>
          <p:cNvSpPr txBox="1">
            <a:spLocks noChangeArrowheads="1"/>
          </p:cNvSpPr>
          <p:nvPr/>
        </p:nvSpPr>
        <p:spPr bwMode="auto">
          <a:xfrm>
            <a:off x="2133601" y="1336676"/>
            <a:ext cx="776287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cs typeface="Arial" panose="020B0604020202020204" pitchFamily="34" charset="0"/>
              </a:rPr>
              <a:t>Control unit (CU) of a processor translates from machine instructions to the control signals for the </a:t>
            </a:r>
            <a:r>
              <a:rPr lang="en-US" altLang="ko-KR" sz="2000" b="1" dirty="0">
                <a:solidFill>
                  <a:srgbClr val="FF0000"/>
                </a:solidFill>
                <a:cs typeface="Arial" panose="020B0604020202020204" pitchFamily="34" charset="0"/>
              </a:rPr>
              <a:t>microoperations </a:t>
            </a:r>
            <a:r>
              <a:rPr lang="en-US" altLang="ko-KR" sz="2000" b="1" dirty="0">
                <a:cs typeface="Arial" panose="020B0604020202020204" pitchFamily="34" charset="0"/>
              </a:rPr>
              <a:t>that implement them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cs typeface="Arial" panose="020B0604020202020204" pitchFamily="34" charset="0"/>
              </a:rPr>
              <a:t>Control units are implemented in one of two ways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	Hardwired</a:t>
            </a:r>
            <a:r>
              <a:rPr lang="en-US" altLang="ko-KR" sz="2000" b="1" dirty="0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CU is made up of sequential and combinational circuits to generate the control signals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 dirty="0">
                <a:solidFill>
                  <a:schemeClr val="tx2"/>
                </a:solidFill>
                <a:cs typeface="Arial" panose="020B0604020202020204" pitchFamily="34" charset="0"/>
              </a:rPr>
              <a:t>	Microprogrammed</a:t>
            </a:r>
            <a:r>
              <a:rPr lang="en-US" altLang="ko-KR" sz="2000" b="1" dirty="0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 dirty="0">
                <a:cs typeface="Arial" panose="020B0604020202020204" pitchFamily="34" charset="0"/>
              </a:rPr>
              <a:t>	A control memory on the processor contains microprograms that activate the necessary control signals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cs typeface="Arial" panose="020B0604020202020204" pitchFamily="34" charset="0"/>
              </a:rPr>
              <a:t>We will consider a hardwired implementation of the control unit for the Basic Computer</a:t>
            </a:r>
          </a:p>
        </p:txBody>
      </p:sp>
    </p:spTree>
    <p:extLst>
      <p:ext uri="{BB962C8B-B14F-4D97-AF65-F5344CB8AC3E}">
        <p14:creationId xmlns:p14="http://schemas.microsoft.com/office/powerpoint/2010/main" xmlns="" val="3610305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9080" y="304800"/>
            <a:ext cx="1167384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and Control</a:t>
            </a:r>
          </a:p>
        </p:txBody>
      </p:sp>
      <p:grpSp>
        <p:nvGrpSpPr>
          <p:cNvPr id="20487" name="Group 121"/>
          <p:cNvGrpSpPr>
            <a:grpSpLocks/>
          </p:cNvGrpSpPr>
          <p:nvPr/>
        </p:nvGrpSpPr>
        <p:grpSpPr bwMode="auto">
          <a:xfrm>
            <a:off x="1981200" y="1165226"/>
            <a:ext cx="7384308" cy="5254625"/>
            <a:chOff x="457200" y="1165225"/>
            <a:chExt cx="7384346" cy="5254625"/>
          </a:xfrm>
        </p:grpSpPr>
        <p:sp>
          <p:nvSpPr>
            <p:cNvPr id="20488" name="Rectangle 4"/>
            <p:cNvSpPr>
              <a:spLocks noChangeArrowheads="1"/>
            </p:cNvSpPr>
            <p:nvPr/>
          </p:nvSpPr>
          <p:spPr bwMode="auto">
            <a:xfrm>
              <a:off x="457200" y="1165225"/>
              <a:ext cx="3173946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>
                  <a:cs typeface="Arial" panose="020B0604020202020204" pitchFamily="34" charset="0"/>
                </a:rPr>
                <a:t>Control unit of Basic Computer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984383" y="1973263"/>
              <a:ext cx="2970228" cy="1762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524136" y="1752600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register (IR)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30460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973271" y="19415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46348" y="1936750"/>
              <a:ext cx="1304852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14    13    12</a:t>
              </a: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75054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886218" y="1941513"/>
              <a:ext cx="6636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11 - 0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2413010" y="2711450"/>
              <a:ext cx="1258895" cy="542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752737" y="2757488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3 x 8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13036" y="28956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386023" y="3055938"/>
              <a:ext cx="162545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7  6 5 4 3  2 1 0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2544774" y="3265488"/>
              <a:ext cx="0" cy="504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264954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695587" y="3265488"/>
              <a:ext cx="0" cy="138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6" name="Arc 20"/>
            <p:cNvSpPr>
              <a:spLocks/>
            </p:cNvSpPr>
            <p:nvPr/>
          </p:nvSpPr>
          <p:spPr bwMode="auto">
            <a:xfrm>
              <a:off x="2787662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833700" y="3265488"/>
              <a:ext cx="0" cy="142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Arc 22"/>
            <p:cNvSpPr>
              <a:spLocks/>
            </p:cNvSpPr>
            <p:nvPr/>
          </p:nvSpPr>
          <p:spPr bwMode="auto">
            <a:xfrm>
              <a:off x="2924188" y="3394075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971813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0" name="Arc 24"/>
            <p:cNvSpPr>
              <a:spLocks/>
            </p:cNvSpPr>
            <p:nvPr/>
          </p:nvSpPr>
          <p:spPr bwMode="auto">
            <a:xfrm>
              <a:off x="307658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3124214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6"/>
            <p:cNvSpPr>
              <a:spLocks/>
            </p:cNvSpPr>
            <p:nvPr/>
          </p:nvSpPr>
          <p:spPr bwMode="auto">
            <a:xfrm>
              <a:off x="3214702" y="3394075"/>
              <a:ext cx="96838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255978" y="3260725"/>
              <a:ext cx="0" cy="153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Arc 28"/>
            <p:cNvSpPr>
              <a:spLocks/>
            </p:cNvSpPr>
            <p:nvPr/>
          </p:nvSpPr>
          <p:spPr bwMode="auto">
            <a:xfrm>
              <a:off x="3352815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3400440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3544904" y="3254375"/>
              <a:ext cx="0" cy="244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7" name="Arc 31"/>
            <p:cNvSpPr>
              <a:spLocks/>
            </p:cNvSpPr>
            <p:nvPr/>
          </p:nvSpPr>
          <p:spPr bwMode="auto">
            <a:xfrm>
              <a:off x="2573349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>
              <a:off x="2620974" y="2154238"/>
              <a:ext cx="0" cy="457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9" name="Arc 33"/>
            <p:cNvSpPr>
              <a:spLocks/>
            </p:cNvSpPr>
            <p:nvPr/>
          </p:nvSpPr>
          <p:spPr bwMode="auto">
            <a:xfrm>
              <a:off x="2924188" y="2601913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2971813" y="2139950"/>
              <a:ext cx="0" cy="471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1" name="Arc 35"/>
            <p:cNvSpPr>
              <a:spLocks/>
            </p:cNvSpPr>
            <p:nvPr/>
          </p:nvSpPr>
          <p:spPr bwMode="auto">
            <a:xfrm>
              <a:off x="3290903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3336940" y="2154238"/>
              <a:ext cx="0" cy="447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4903811" y="2828925"/>
              <a:ext cx="1258894" cy="18811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041533" y="3443288"/>
              <a:ext cx="177801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020896" y="34305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46" name="Arc 44"/>
            <p:cNvSpPr>
              <a:spLocks/>
            </p:cNvSpPr>
            <p:nvPr/>
          </p:nvSpPr>
          <p:spPr bwMode="auto">
            <a:xfrm>
              <a:off x="2070108" y="3335338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108209" y="2154238"/>
              <a:ext cx="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>
              <a:off x="4779985" y="3451225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3557604" y="3498850"/>
              <a:ext cx="122079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>
              <a:off x="4779985" y="3729038"/>
              <a:ext cx="119063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551124" y="3775075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2" name="Arc 51"/>
            <p:cNvSpPr>
              <a:spLocks/>
            </p:cNvSpPr>
            <p:nvPr/>
          </p:nvSpPr>
          <p:spPr bwMode="auto">
            <a:xfrm>
              <a:off x="4779985" y="3956050"/>
              <a:ext cx="119063" cy="74613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117734" y="4002088"/>
              <a:ext cx="26606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4021157" y="3243263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4141807" y="3292475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56" name="Arc 55"/>
            <p:cNvSpPr>
              <a:spLocks/>
            </p:cNvSpPr>
            <p:nvPr/>
          </p:nvSpPr>
          <p:spPr bwMode="auto">
            <a:xfrm>
              <a:off x="4779985" y="4173538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2551124" y="4221163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>
              <a:off x="2544774" y="4225925"/>
              <a:ext cx="0" cy="5000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Arc 58"/>
            <p:cNvSpPr>
              <a:spLocks/>
            </p:cNvSpPr>
            <p:nvPr/>
          </p:nvSpPr>
          <p:spPr bwMode="auto">
            <a:xfrm>
              <a:off x="4779985" y="4459288"/>
              <a:ext cx="119063" cy="777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771917" y="4508500"/>
              <a:ext cx="10064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3765567" y="4508500"/>
              <a:ext cx="0" cy="217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2413010" y="4729163"/>
              <a:ext cx="1546233" cy="546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2371735" y="4729163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15   14  . . . .  2  1  0</a:t>
              </a:r>
            </a:p>
          </p:txBody>
        </p:sp>
        <p:sp>
          <p:nvSpPr>
            <p:cNvPr id="64" name="Arc 63"/>
            <p:cNvSpPr>
              <a:spLocks/>
            </p:cNvSpPr>
            <p:nvPr/>
          </p:nvSpPr>
          <p:spPr bwMode="auto">
            <a:xfrm>
              <a:off x="2787662" y="4497388"/>
              <a:ext cx="952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V="1">
              <a:off x="2833700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Arc 65"/>
            <p:cNvSpPr>
              <a:spLocks/>
            </p:cNvSpPr>
            <p:nvPr/>
          </p:nvSpPr>
          <p:spPr bwMode="auto">
            <a:xfrm>
              <a:off x="3427428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V="1">
              <a:off x="34750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8" name="Arc 67"/>
            <p:cNvSpPr>
              <a:spLocks/>
            </p:cNvSpPr>
            <p:nvPr/>
          </p:nvSpPr>
          <p:spPr bwMode="auto">
            <a:xfrm>
              <a:off x="3567129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V="1">
              <a:off x="36147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776550" y="4887913"/>
              <a:ext cx="66364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 x 16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687650" y="50292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2838462" y="5559425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4-bit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624149" y="5700713"/>
              <a:ext cx="823949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sequence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2711462" y="5835650"/>
              <a:ext cx="743798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counter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2825762" y="5975350"/>
              <a:ext cx="5033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(SC)</a:t>
              </a: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51124" y="5583238"/>
              <a:ext cx="1120781" cy="592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7" name="Arc 76"/>
            <p:cNvSpPr>
              <a:spLocks/>
            </p:cNvSpPr>
            <p:nvPr/>
          </p:nvSpPr>
          <p:spPr bwMode="auto">
            <a:xfrm>
              <a:off x="2711462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V="1">
              <a:off x="275908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9" name="Arc 78"/>
            <p:cNvSpPr>
              <a:spLocks/>
            </p:cNvSpPr>
            <p:nvPr/>
          </p:nvSpPr>
          <p:spPr bwMode="auto">
            <a:xfrm>
              <a:off x="2924188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0" name="Arc 80"/>
            <p:cNvSpPr>
              <a:spLocks/>
            </p:cNvSpPr>
            <p:nvPr/>
          </p:nvSpPr>
          <p:spPr bwMode="auto">
            <a:xfrm>
              <a:off x="3140089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 flipV="1">
              <a:off x="318612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2" name="Arc 82"/>
            <p:cNvSpPr>
              <a:spLocks/>
            </p:cNvSpPr>
            <p:nvPr/>
          </p:nvSpPr>
          <p:spPr bwMode="auto">
            <a:xfrm>
              <a:off x="3352815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 flipV="1">
              <a:off x="3400440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4" name="Arc 84"/>
            <p:cNvSpPr>
              <a:spLocks/>
            </p:cNvSpPr>
            <p:nvPr/>
          </p:nvSpPr>
          <p:spPr bwMode="auto">
            <a:xfrm>
              <a:off x="3689367" y="5643563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3795730" y="5686425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Rectangle 86"/>
            <p:cNvSpPr>
              <a:spLocks noChangeArrowheads="1"/>
            </p:cNvSpPr>
            <p:nvPr/>
          </p:nvSpPr>
          <p:spPr bwMode="auto">
            <a:xfrm>
              <a:off x="4329133" y="5532438"/>
              <a:ext cx="1385003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Increment (INR)</a:t>
              </a:r>
            </a:p>
          </p:txBody>
        </p:sp>
        <p:sp>
          <p:nvSpPr>
            <p:cNvPr id="87" name="Arc 87"/>
            <p:cNvSpPr>
              <a:spLocks/>
            </p:cNvSpPr>
            <p:nvPr/>
          </p:nvSpPr>
          <p:spPr bwMode="auto">
            <a:xfrm>
              <a:off x="3689367" y="5811838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Line 88"/>
            <p:cNvSpPr>
              <a:spLocks noChangeShapeType="1"/>
            </p:cNvSpPr>
            <p:nvPr/>
          </p:nvSpPr>
          <p:spPr bwMode="auto">
            <a:xfrm>
              <a:off x="3795730" y="5854700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9"/>
            <p:cNvSpPr>
              <a:spLocks noChangeArrowheads="1"/>
            </p:cNvSpPr>
            <p:nvPr/>
          </p:nvSpPr>
          <p:spPr bwMode="auto">
            <a:xfrm>
              <a:off x="4318020" y="5732463"/>
              <a:ext cx="106440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Clear (CLR)</a:t>
              </a:r>
            </a:p>
          </p:txBody>
        </p:sp>
        <p:sp>
          <p:nvSpPr>
            <p:cNvPr id="90" name="Arc 90"/>
            <p:cNvSpPr>
              <a:spLocks/>
            </p:cNvSpPr>
            <p:nvPr/>
          </p:nvSpPr>
          <p:spPr bwMode="auto">
            <a:xfrm>
              <a:off x="3689367" y="6040438"/>
              <a:ext cx="120651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3795730" y="6081713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4324370" y="5959475"/>
              <a:ext cx="58349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Clock</a:t>
              </a:r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3525854" y="6016625"/>
              <a:ext cx="141288" cy="111125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0" y="48"/>
                </a:cxn>
                <a:cxn ang="0">
                  <a:pos x="88" y="88"/>
                </a:cxn>
              </a:cxnLst>
              <a:rect l="0" t="0" r="r" b="b"/>
              <a:pathLst>
                <a:path w="89" h="89">
                  <a:moveTo>
                    <a:pt x="88" y="0"/>
                  </a:moveTo>
                  <a:lnTo>
                    <a:pt x="0" y="48"/>
                  </a:lnTo>
                  <a:lnTo>
                    <a:pt x="88" y="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94"/>
            <p:cNvSpPr>
              <a:spLocks/>
            </p:cNvSpPr>
            <p:nvPr/>
          </p:nvSpPr>
          <p:spPr bwMode="auto">
            <a:xfrm>
              <a:off x="5492776" y="2722563"/>
              <a:ext cx="96839" cy="9207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 flipV="1">
              <a:off x="5540401" y="2230438"/>
              <a:ext cx="0" cy="520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5083199" y="2003425"/>
              <a:ext cx="114455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Other inputs</a:t>
              </a:r>
            </a:p>
          </p:txBody>
        </p:sp>
        <p:sp>
          <p:nvSpPr>
            <p:cNvPr id="97" name="Arc 97"/>
            <p:cNvSpPr>
              <a:spLocks/>
            </p:cNvSpPr>
            <p:nvPr/>
          </p:nvSpPr>
          <p:spPr bwMode="auto">
            <a:xfrm>
              <a:off x="7046947" y="3668713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6162705" y="3711575"/>
              <a:ext cx="9128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Rectangle 99"/>
            <p:cNvSpPr>
              <a:spLocks noChangeArrowheads="1"/>
            </p:cNvSpPr>
            <p:nvPr/>
          </p:nvSpPr>
          <p:spPr bwMode="auto">
            <a:xfrm>
              <a:off x="7097748" y="3538538"/>
              <a:ext cx="743798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Control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signals</a:t>
              </a:r>
            </a:p>
            <a:p>
              <a:pPr defTabSz="762000">
                <a:lnSpc>
                  <a:spcPct val="80000"/>
                </a:lnSpc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577" name="Group 104"/>
            <p:cNvGrpSpPr>
              <a:grpSpLocks/>
            </p:cNvGrpSpPr>
            <p:nvPr/>
          </p:nvGrpSpPr>
          <p:grpSpPr bwMode="auto">
            <a:xfrm>
              <a:off x="4435470" y="3490913"/>
              <a:ext cx="195138" cy="358244"/>
              <a:chOff x="2222" y="2510"/>
              <a:chExt cx="124" cy="290"/>
            </a:xfrm>
          </p:grpSpPr>
          <p:sp>
            <p:nvSpPr>
              <p:cNvPr id="101" name="Rectangle 101"/>
              <p:cNvSpPr>
                <a:spLocks noChangeArrowheads="1"/>
              </p:cNvSpPr>
              <p:nvPr/>
            </p:nvSpPr>
            <p:spPr bwMode="auto">
              <a:xfrm>
                <a:off x="2230" y="2510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2" name="Rectangle 102"/>
              <p:cNvSpPr>
                <a:spLocks noChangeArrowheads="1"/>
              </p:cNvSpPr>
              <p:nvPr/>
            </p:nvSpPr>
            <p:spPr bwMode="auto">
              <a:xfrm>
                <a:off x="2222" y="2558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2230" y="259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0578" name="Group 108"/>
            <p:cNvGrpSpPr>
              <a:grpSpLocks/>
            </p:cNvGrpSpPr>
            <p:nvPr/>
          </p:nvGrpSpPr>
          <p:grpSpPr bwMode="auto">
            <a:xfrm>
              <a:off x="4435470" y="4224346"/>
              <a:ext cx="195138" cy="357903"/>
              <a:chOff x="2222" y="3102"/>
              <a:chExt cx="124" cy="291"/>
            </a:xfrm>
          </p:grpSpPr>
          <p:sp>
            <p:nvSpPr>
              <p:cNvPr id="105" name="Rectangle 105"/>
              <p:cNvSpPr>
                <a:spLocks noChangeArrowheads="1"/>
              </p:cNvSpPr>
              <p:nvPr/>
            </p:nvSpPr>
            <p:spPr bwMode="auto">
              <a:xfrm>
                <a:off x="2230" y="3102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6" name="Rectangle 106"/>
              <p:cNvSpPr>
                <a:spLocks noChangeArrowheads="1"/>
              </p:cNvSpPr>
              <p:nvPr/>
            </p:nvSpPr>
            <p:spPr bwMode="auto">
              <a:xfrm>
                <a:off x="2222" y="3146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7" name="Rectangle 107"/>
              <p:cNvSpPr>
                <a:spLocks noChangeArrowheads="1"/>
              </p:cNvSpPr>
              <p:nvPr/>
            </p:nvSpPr>
            <p:spPr bwMode="auto">
              <a:xfrm>
                <a:off x="2230" y="318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4021157" y="35321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109" name="Rectangle 110"/>
            <p:cNvSpPr>
              <a:spLocks noChangeArrowheads="1"/>
            </p:cNvSpPr>
            <p:nvPr/>
          </p:nvSpPr>
          <p:spPr bwMode="auto">
            <a:xfrm>
              <a:off x="4017982" y="40163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4008456" y="42830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1" name="Rectangle 112"/>
            <p:cNvSpPr>
              <a:spLocks noChangeArrowheads="1"/>
            </p:cNvSpPr>
            <p:nvPr/>
          </p:nvSpPr>
          <p:spPr bwMode="auto">
            <a:xfrm>
              <a:off x="4141807" y="3581400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7</a:t>
              </a:r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4097357" y="40370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13" name="Rectangle 114"/>
            <p:cNvSpPr>
              <a:spLocks noChangeArrowheads="1"/>
            </p:cNvSpPr>
            <p:nvPr/>
          </p:nvSpPr>
          <p:spPr bwMode="auto">
            <a:xfrm>
              <a:off x="4097357" y="43322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4" name="Line 117"/>
            <p:cNvSpPr>
              <a:spLocks noChangeShapeType="1"/>
            </p:cNvSpPr>
            <p:nvPr/>
          </p:nvSpPr>
          <p:spPr bwMode="auto">
            <a:xfrm>
              <a:off x="2114559" y="3629025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Line 118"/>
            <p:cNvSpPr>
              <a:spLocks noChangeShapeType="1"/>
            </p:cNvSpPr>
            <p:nvPr/>
          </p:nvSpPr>
          <p:spPr bwMode="auto">
            <a:xfrm flipV="1">
              <a:off x="2976576" y="534670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Text Box 119"/>
            <p:cNvSpPr txBox="1">
              <a:spLocks noChangeArrowheads="1"/>
            </p:cNvSpPr>
            <p:nvPr/>
          </p:nvSpPr>
          <p:spPr bwMode="auto">
            <a:xfrm>
              <a:off x="4863589" y="3400425"/>
              <a:ext cx="1226625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Combinational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Control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logic</a:t>
              </a:r>
            </a:p>
          </p:txBody>
        </p:sp>
        <p:sp>
          <p:nvSpPr>
            <p:cNvPr id="117" name="Line 125"/>
            <p:cNvSpPr>
              <a:spLocks noChangeShapeType="1"/>
            </p:cNvSpPr>
            <p:nvPr/>
          </p:nvSpPr>
          <p:spPr bwMode="auto">
            <a:xfrm>
              <a:off x="6257955" y="3657600"/>
              <a:ext cx="9525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Line 126"/>
            <p:cNvSpPr>
              <a:spLocks noChangeShapeType="1"/>
            </p:cNvSpPr>
            <p:nvPr/>
          </p:nvSpPr>
          <p:spPr bwMode="auto">
            <a:xfrm>
              <a:off x="5495951" y="2619375"/>
              <a:ext cx="85725" cy="38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27"/>
            <p:cNvSpPr>
              <a:spLocks noChangeShapeType="1"/>
            </p:cNvSpPr>
            <p:nvPr/>
          </p:nvSpPr>
          <p:spPr bwMode="auto">
            <a:xfrm>
              <a:off x="4200544" y="2152650"/>
              <a:ext cx="0" cy="904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Line 129"/>
            <p:cNvSpPr>
              <a:spLocks noChangeShapeType="1"/>
            </p:cNvSpPr>
            <p:nvPr/>
          </p:nvSpPr>
          <p:spPr bwMode="auto">
            <a:xfrm>
              <a:off x="4200544" y="3048000"/>
              <a:ext cx="6858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Rectangle 130"/>
            <p:cNvSpPr>
              <a:spLocks noChangeArrowheads="1"/>
            </p:cNvSpPr>
            <p:nvPr/>
          </p:nvSpPr>
          <p:spPr bwMode="auto">
            <a:xfrm>
              <a:off x="1219204" y="2343150"/>
              <a:ext cx="5438803" cy="4076700"/>
            </a:xfrm>
            <a:prstGeom prst="rect">
              <a:avLst/>
            </a:prstGeom>
            <a:noFill/>
            <a:ln w="381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EDC49BC-AC04-FA9A-3AEA-88ED9B679B89}"/>
              </a:ext>
            </a:extLst>
          </p:cNvPr>
          <p:cNvSpPr txBox="1"/>
          <p:nvPr/>
        </p:nvSpPr>
        <p:spPr>
          <a:xfrm>
            <a:off x="5250942" y="103165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 of the CU: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Generate the right control signals </a:t>
            </a:r>
            <a:r>
              <a:rPr lang="en-US" b="1" dirty="0"/>
              <a:t>at the right clock time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7119C38-12A6-B055-48DD-741E7AB0B216}"/>
              </a:ext>
            </a:extLst>
          </p:cNvPr>
          <p:cNvSpPr txBox="1"/>
          <p:nvPr/>
        </p:nvSpPr>
        <p:spPr>
          <a:xfrm>
            <a:off x="513588" y="1868491"/>
            <a:ext cx="30251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D0 →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D1 → ADD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D2 → LDA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D7 → Register / I/O instructions</a:t>
            </a:r>
          </a:p>
          <a:p>
            <a:pPr>
              <a:buNone/>
            </a:pPr>
            <a:r>
              <a:rPr lang="en-US" sz="1400" dirty="0"/>
              <a:t>“Instruction Decoder converts instruction code into one-hot signals.”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41A4638-E372-75C2-C5B2-C6DBBCA34091}"/>
              </a:ext>
            </a:extLst>
          </p:cNvPr>
          <p:cNvSpPr txBox="1"/>
          <p:nvPr/>
        </p:nvSpPr>
        <p:spPr>
          <a:xfrm>
            <a:off x="259080" y="4521875"/>
            <a:ext cx="36918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Each T signal corresponds to </a:t>
            </a:r>
            <a:r>
              <a:rPr lang="en-US" sz="1400" b="1" dirty="0"/>
              <a:t>one clock cycle</a:t>
            </a:r>
            <a:r>
              <a:rPr lang="en-US" sz="1400" dirty="0"/>
              <a:t>.</a:t>
            </a:r>
          </a:p>
          <a:p>
            <a:r>
              <a:rPr lang="en-US" sz="1400" dirty="0"/>
              <a:t>T0 → Start fetch</a:t>
            </a:r>
          </a:p>
          <a:p>
            <a:r>
              <a:rPr lang="en-US" sz="1400" dirty="0"/>
              <a:t>T1 → Read memory</a:t>
            </a:r>
          </a:p>
          <a:p>
            <a:r>
              <a:rPr lang="en-US" sz="1400" dirty="0"/>
              <a:t>T2 → Decode instruction</a:t>
            </a:r>
          </a:p>
          <a:p>
            <a:r>
              <a:rPr lang="en-US" sz="1400" dirty="0"/>
              <a:t>T3 onwards → Execute</a:t>
            </a:r>
          </a:p>
          <a:p>
            <a:r>
              <a:rPr lang="en-US" sz="1400" dirty="0"/>
              <a:t>Only one T signal is active at a time</a:t>
            </a:r>
          </a:p>
          <a:p>
            <a:r>
              <a:rPr lang="en-US" sz="1400" dirty="0"/>
              <a:t>“Timing signals are like the bell periods in school.”</a:t>
            </a:r>
          </a:p>
          <a:p>
            <a:pPr marL="342900" indent="-342900">
              <a:buAutoNum type="arabicPeriod"/>
            </a:pP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6768215-AB2E-CE17-CDBE-C778D914473D}"/>
              </a:ext>
            </a:extLst>
          </p:cNvPr>
          <p:cNvSpPr txBox="1"/>
          <p:nvPr/>
        </p:nvSpPr>
        <p:spPr>
          <a:xfrm>
            <a:off x="8515731" y="1717457"/>
            <a:ext cx="3847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Inputs: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Decoder outputs (D0–D7)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Timing signals (T0–Tn)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Control bits (I, flags)</a:t>
            </a:r>
          </a:p>
          <a:p>
            <a:pPr>
              <a:buNone/>
            </a:pPr>
            <a:r>
              <a:rPr lang="en-US" sz="1400" dirty="0"/>
              <a:t>These are combined using </a:t>
            </a:r>
            <a:r>
              <a:rPr lang="en-US" sz="1400" b="1" dirty="0"/>
              <a:t>logic gates</a:t>
            </a:r>
            <a:r>
              <a:rPr lang="en-US" sz="1400" dirty="0"/>
              <a:t> to generate control signals.</a:t>
            </a:r>
          </a:p>
        </p:txBody>
      </p:sp>
    </p:spTree>
    <p:extLst>
      <p:ext uri="{BB962C8B-B14F-4D97-AF65-F5344CB8AC3E}">
        <p14:creationId xmlns:p14="http://schemas.microsoft.com/office/powerpoint/2010/main" xmlns="" val="3962816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6032" y="304800"/>
            <a:ext cx="11695176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Signals</a:t>
            </a:r>
          </a:p>
        </p:txBody>
      </p:sp>
      <p:pic>
        <p:nvPicPr>
          <p:cNvPr id="2151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8316" y="2612136"/>
            <a:ext cx="66325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659607" y="1041400"/>
            <a:ext cx="800893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Generated by 4-bit sequence counter and 4</a:t>
            </a:r>
            <a:r>
              <a:rPr lang="en-US" altLang="ko-KR" sz="1400" b="1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ko-KR" sz="1400" b="1">
                <a:cs typeface="Arial" panose="020B0604020202020204" pitchFamily="34" charset="0"/>
              </a:rPr>
              <a:t>16 decoder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The SC can be incremented or cleared.</a:t>
            </a:r>
          </a:p>
          <a:p>
            <a:pPr eaLnBrk="1" hangingPunct="1"/>
            <a:endParaRPr lang="en-US" altLang="ko-KR" sz="14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Example:  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2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3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. . .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       Assume: At time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SC is cleared to 0 if decoder output D3 is active.</a:t>
            </a:r>
          </a:p>
        </p:txBody>
      </p:sp>
      <p:sp>
        <p:nvSpPr>
          <p:cNvPr id="21513" name="Rectangle 5"/>
          <p:cNvSpPr>
            <a:spLocks noChangeArrowheads="1"/>
          </p:cNvSpPr>
          <p:nvPr/>
        </p:nvSpPr>
        <p:spPr bwMode="auto">
          <a:xfrm>
            <a:off x="2496948" y="2225929"/>
            <a:ext cx="1590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ko-KR" sz="14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400" b="1" dirty="0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ko-KR" sz="14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400" b="1" dirty="0">
                <a:solidFill>
                  <a:srgbClr val="000000"/>
                </a:solidFill>
                <a:cs typeface="Arial" panose="020B0604020202020204" pitchFamily="34" charset="0"/>
              </a:rPr>
              <a:t>: SC </a:t>
            </a:r>
            <a:r>
              <a: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4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1385EA-90A9-9FB1-AB15-F1F5426006CC}"/>
              </a:ext>
            </a:extLst>
          </p:cNvPr>
          <p:cNvSpPr txBox="1"/>
          <p:nvPr/>
        </p:nvSpPr>
        <p:spPr>
          <a:xfrm>
            <a:off x="7163563" y="3424805"/>
            <a:ext cx="4543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From waveform: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When </a:t>
            </a:r>
            <a:r>
              <a:rPr lang="en-US" sz="1600" b="1" dirty="0"/>
              <a:t>T4 AND D3</a:t>
            </a:r>
            <a:r>
              <a:rPr lang="en-US" sz="1600" dirty="0"/>
              <a:t> are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CLR SC becomes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SC is cleared to 0000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Next clock → </a:t>
            </a:r>
            <a:r>
              <a:rPr lang="en-US" sz="1600" b="1" dirty="0"/>
              <a:t>T0</a:t>
            </a:r>
          </a:p>
          <a:p>
            <a:r>
              <a:rPr lang="en-US" sz="1600" b="1" dirty="0"/>
              <a:t>Increment SC</a:t>
            </a:r>
            <a:r>
              <a:rPr lang="en-US" sz="1600" dirty="0"/>
              <a:t> → move to next timing step</a:t>
            </a:r>
          </a:p>
          <a:p>
            <a:r>
              <a:rPr lang="en-US" sz="1600" b="1" dirty="0"/>
              <a:t>Clear SC</a:t>
            </a:r>
            <a:r>
              <a:rPr lang="en-US" sz="1600" dirty="0"/>
              <a:t> → go back to T0 (start next instruction)</a:t>
            </a:r>
          </a:p>
          <a:p>
            <a:r>
              <a:rPr lang="en-US" sz="1600" dirty="0"/>
              <a:t>Clearing SC means instruction is finished; CPU is ready for the next instruction.”</a:t>
            </a:r>
          </a:p>
          <a:p>
            <a:r>
              <a:rPr lang="en-US" sz="1600" dirty="0">
                <a:solidFill>
                  <a:srgbClr val="FF0000"/>
                </a:solidFill>
              </a:rPr>
              <a:t>Hence in the example instruction cycle finishes from T0 to T4.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1625966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Instruction Cycle</a:t>
            </a:r>
          </a:p>
        </p:txBody>
      </p:sp>
      <p:sp>
        <p:nvSpPr>
          <p:cNvPr id="22535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cs typeface="Arial" panose="020B0604020202020204" pitchFamily="34" charset="0"/>
              </a:rPr>
              <a:t>In Basic Computer, a machine instruction is executed in the following cycle: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 dirty="0">
                <a:cs typeface="Arial" panose="020B0604020202020204" pitchFamily="34" charset="0"/>
              </a:rPr>
              <a:t>Fetch an instruction from memory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 dirty="0">
                <a:cs typeface="Arial" panose="020B0604020202020204" pitchFamily="34" charset="0"/>
              </a:rPr>
              <a:t>Decode the instruction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 dirty="0">
                <a:cs typeface="Arial" panose="020B0604020202020204" pitchFamily="34" charset="0"/>
              </a:rPr>
              <a:t>Read the effective address from memory if the instruction has an indirect address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 dirty="0">
                <a:cs typeface="Arial" panose="020B0604020202020204" pitchFamily="34" charset="0"/>
              </a:rPr>
              <a:t>Execute the instruction (depends on the type of instruction)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cs typeface="Arial" panose="020B0604020202020204" pitchFamily="34" charset="0"/>
              </a:rPr>
              <a:t>After an instruction is executed, the cycle starts again at step 1, for the next instruction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ko-KR" b="1" i="1" dirty="0">
                <a:solidFill>
                  <a:schemeClr val="tx2"/>
                </a:solidFill>
                <a:cs typeface="Arial" panose="020B0604020202020204" pitchFamily="34" charset="0"/>
              </a:rPr>
              <a:t>Note</a:t>
            </a:r>
            <a:r>
              <a:rPr lang="en-US" altLang="ko-KR" b="1" dirty="0">
                <a:solidFill>
                  <a:schemeClr val="tx2"/>
                </a:solidFill>
                <a:cs typeface="Arial" panose="020B0604020202020204" pitchFamily="34" charset="0"/>
              </a:rPr>
              <a:t>: Every different processor has its own (different) instruction cycle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7179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6888" y="304800"/>
            <a:ext cx="116586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Fetch and Decode</a:t>
            </a:r>
          </a:p>
        </p:txBody>
      </p:sp>
      <p:grpSp>
        <p:nvGrpSpPr>
          <p:cNvPr id="23559" name="Group 332"/>
          <p:cNvGrpSpPr>
            <a:grpSpLocks/>
          </p:cNvGrpSpPr>
          <p:nvPr/>
        </p:nvGrpSpPr>
        <p:grpSpPr bwMode="auto">
          <a:xfrm>
            <a:off x="1933576" y="1063626"/>
            <a:ext cx="7929563" cy="5256213"/>
            <a:chOff x="409575" y="1063625"/>
            <a:chExt cx="7929563" cy="5256495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1627188" y="1328738"/>
              <a:ext cx="34925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61" name="Rectangle 6"/>
            <p:cNvSpPr>
              <a:spLocks noChangeArrowheads="1"/>
            </p:cNvSpPr>
            <p:nvPr/>
          </p:nvSpPr>
          <p:spPr bwMode="auto">
            <a:xfrm>
              <a:off x="409575" y="1063625"/>
              <a:ext cx="2338782" cy="312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2000" b="1" u="sng" dirty="0">
                  <a:cs typeface="Arial" panose="020B0604020202020204" pitchFamily="34" charset="0"/>
                </a:rPr>
                <a:t>Fetch and Decode</a:t>
              </a:r>
            </a:p>
          </p:txBody>
        </p:sp>
        <p:sp>
          <p:nvSpPr>
            <p:cNvPr id="23562" name="Rectangle 7"/>
            <p:cNvSpPr>
              <a:spLocks noChangeArrowheads="1"/>
            </p:cNvSpPr>
            <p:nvPr/>
          </p:nvSpPr>
          <p:spPr bwMode="auto">
            <a:xfrm>
              <a:off x="3027363" y="1084263"/>
              <a:ext cx="5284588" cy="67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T0: AR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PC  (S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400" b="1" dirty="0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400" b="1" dirty="0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=010, T0=1)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T1: IR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 M [AR],  PC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 PC + 1   (S0S1S2=111, T1=1)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T2: D0, . . . , D7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 Decode IR(12-14), AR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 IR(0-11), I </a:t>
              </a:r>
              <a:r>
                <a:rPr lang="en-US" altLang="ko-KR" sz="1400" dirty="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 dirty="0">
                  <a:cs typeface="Arial" panose="020B0604020202020204" pitchFamily="34" charset="0"/>
                </a:rPr>
                <a:t> IR(15)</a:t>
              </a:r>
            </a:p>
          </p:txBody>
        </p:sp>
        <p:sp>
          <p:nvSpPr>
            <p:cNvPr id="23563" name="Arc 8"/>
            <p:cNvSpPr>
              <a:spLocks/>
            </p:cNvSpPr>
            <p:nvPr/>
          </p:nvSpPr>
          <p:spPr bwMode="auto">
            <a:xfrm>
              <a:off x="5475288" y="2044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4" name="Line 9"/>
            <p:cNvSpPr>
              <a:spLocks noChangeShapeType="1"/>
            </p:cNvSpPr>
            <p:nvPr/>
          </p:nvSpPr>
          <p:spPr bwMode="auto">
            <a:xfrm>
              <a:off x="5232400" y="209867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0"/>
            <p:cNvSpPr>
              <a:spLocks noChangeShapeType="1"/>
            </p:cNvSpPr>
            <p:nvPr/>
          </p:nvSpPr>
          <p:spPr bwMode="auto">
            <a:xfrm flipH="1">
              <a:off x="2411413" y="2030413"/>
              <a:ext cx="2530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Line 11"/>
            <p:cNvSpPr>
              <a:spLocks noChangeShapeType="1"/>
            </p:cNvSpPr>
            <p:nvPr/>
          </p:nvSpPr>
          <p:spPr bwMode="auto">
            <a:xfrm flipH="1">
              <a:off x="4824413" y="2098675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2"/>
            <p:cNvSpPr>
              <a:spLocks noChangeShapeType="1"/>
            </p:cNvSpPr>
            <p:nvPr/>
          </p:nvSpPr>
          <p:spPr bwMode="auto">
            <a:xfrm flipH="1" flipV="1">
              <a:off x="4824413" y="2170113"/>
              <a:ext cx="1285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68" name="Group 19"/>
            <p:cNvGrpSpPr>
              <a:grpSpLocks/>
            </p:cNvGrpSpPr>
            <p:nvPr/>
          </p:nvGrpSpPr>
          <p:grpSpPr bwMode="auto">
            <a:xfrm>
              <a:off x="4906963" y="1971675"/>
              <a:ext cx="320675" cy="255588"/>
              <a:chOff x="2608" y="2732"/>
              <a:chExt cx="217" cy="176"/>
            </a:xfrm>
          </p:grpSpPr>
          <p:sp>
            <p:nvSpPr>
              <p:cNvPr id="23715" name="Arc 13"/>
              <p:cNvSpPr>
                <a:spLocks/>
              </p:cNvSpPr>
              <p:nvPr/>
            </p:nvSpPr>
            <p:spPr bwMode="auto">
              <a:xfrm>
                <a:off x="2644" y="273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6" name="Arc 14"/>
              <p:cNvSpPr>
                <a:spLocks/>
              </p:cNvSpPr>
              <p:nvPr/>
            </p:nvSpPr>
            <p:spPr bwMode="auto">
              <a:xfrm>
                <a:off x="2644" y="281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7" name="Line 15"/>
              <p:cNvSpPr>
                <a:spLocks noChangeShapeType="1"/>
              </p:cNvSpPr>
              <p:nvPr/>
            </p:nvSpPr>
            <p:spPr bwMode="auto">
              <a:xfrm>
                <a:off x="2616" y="273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8" name="Line 16"/>
              <p:cNvSpPr>
                <a:spLocks noChangeShapeType="1"/>
              </p:cNvSpPr>
              <p:nvPr/>
            </p:nvSpPr>
            <p:spPr bwMode="auto">
              <a:xfrm>
                <a:off x="2616" y="290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9" name="Arc 17"/>
              <p:cNvSpPr>
                <a:spLocks/>
              </p:cNvSpPr>
              <p:nvPr/>
            </p:nvSpPr>
            <p:spPr bwMode="auto">
              <a:xfrm>
                <a:off x="2608" y="273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20" name="Arc 18"/>
              <p:cNvSpPr>
                <a:spLocks/>
              </p:cNvSpPr>
              <p:nvPr/>
            </p:nvSpPr>
            <p:spPr bwMode="auto">
              <a:xfrm>
                <a:off x="2608" y="281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69" name="Arc 20"/>
            <p:cNvSpPr>
              <a:spLocks/>
            </p:cNvSpPr>
            <p:nvPr/>
          </p:nvSpPr>
          <p:spPr bwMode="auto">
            <a:xfrm>
              <a:off x="5475288" y="2370138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0" name="Line 21"/>
            <p:cNvSpPr>
              <a:spLocks noChangeShapeType="1"/>
            </p:cNvSpPr>
            <p:nvPr/>
          </p:nvSpPr>
          <p:spPr bwMode="auto">
            <a:xfrm>
              <a:off x="5237163" y="242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22"/>
            <p:cNvSpPr>
              <a:spLocks noChangeShapeType="1"/>
            </p:cNvSpPr>
            <p:nvPr/>
          </p:nvSpPr>
          <p:spPr bwMode="auto">
            <a:xfrm flipH="1">
              <a:off x="4694238" y="2366963"/>
              <a:ext cx="265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23"/>
            <p:cNvSpPr>
              <a:spLocks noChangeShapeType="1"/>
            </p:cNvSpPr>
            <p:nvPr/>
          </p:nvSpPr>
          <p:spPr bwMode="auto">
            <a:xfrm flipH="1">
              <a:off x="2411413" y="2424113"/>
              <a:ext cx="2541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24"/>
            <p:cNvSpPr>
              <a:spLocks noChangeShapeType="1"/>
            </p:cNvSpPr>
            <p:nvPr/>
          </p:nvSpPr>
          <p:spPr bwMode="auto">
            <a:xfrm flipH="1" flipV="1">
              <a:off x="4824413" y="2495550"/>
              <a:ext cx="1238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74" name="Group 31"/>
            <p:cNvGrpSpPr>
              <a:grpSpLocks/>
            </p:cNvGrpSpPr>
            <p:nvPr/>
          </p:nvGrpSpPr>
          <p:grpSpPr bwMode="auto">
            <a:xfrm>
              <a:off x="4906963" y="2297113"/>
              <a:ext cx="320675" cy="268287"/>
              <a:chOff x="2608" y="2956"/>
              <a:chExt cx="217" cy="184"/>
            </a:xfrm>
          </p:grpSpPr>
          <p:sp>
            <p:nvSpPr>
              <p:cNvPr id="23709" name="Arc 25"/>
              <p:cNvSpPr>
                <a:spLocks/>
              </p:cNvSpPr>
              <p:nvPr/>
            </p:nvSpPr>
            <p:spPr bwMode="auto">
              <a:xfrm>
                <a:off x="2644" y="296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0" name="Arc 26"/>
              <p:cNvSpPr>
                <a:spLocks/>
              </p:cNvSpPr>
              <p:nvPr/>
            </p:nvSpPr>
            <p:spPr bwMode="auto">
              <a:xfrm>
                <a:off x="2644" y="304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1" name="Line 27"/>
              <p:cNvSpPr>
                <a:spLocks noChangeShapeType="1"/>
              </p:cNvSpPr>
              <p:nvPr/>
            </p:nvSpPr>
            <p:spPr bwMode="auto">
              <a:xfrm>
                <a:off x="2616" y="295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2" name="Line 28"/>
              <p:cNvSpPr>
                <a:spLocks noChangeShapeType="1"/>
              </p:cNvSpPr>
              <p:nvPr/>
            </p:nvSpPr>
            <p:spPr bwMode="auto">
              <a:xfrm>
                <a:off x="2616" y="314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3" name="Arc 29"/>
              <p:cNvSpPr>
                <a:spLocks/>
              </p:cNvSpPr>
              <p:nvPr/>
            </p:nvSpPr>
            <p:spPr bwMode="auto">
              <a:xfrm>
                <a:off x="2608" y="296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4" name="Arc 30"/>
              <p:cNvSpPr>
                <a:spLocks/>
              </p:cNvSpPr>
              <p:nvPr/>
            </p:nvSpPr>
            <p:spPr bwMode="auto">
              <a:xfrm>
                <a:off x="2608" y="304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75" name="Arc 32"/>
            <p:cNvSpPr>
              <a:spLocks/>
            </p:cNvSpPr>
            <p:nvPr/>
          </p:nvSpPr>
          <p:spPr bwMode="auto">
            <a:xfrm>
              <a:off x="5475288" y="2711450"/>
              <a:ext cx="112712" cy="9048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6" name="Line 33"/>
            <p:cNvSpPr>
              <a:spLocks noChangeShapeType="1"/>
            </p:cNvSpPr>
            <p:nvPr/>
          </p:nvSpPr>
          <p:spPr bwMode="auto">
            <a:xfrm>
              <a:off x="5232400" y="27622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34"/>
            <p:cNvSpPr>
              <a:spLocks noChangeShapeType="1"/>
            </p:cNvSpPr>
            <p:nvPr/>
          </p:nvSpPr>
          <p:spPr bwMode="auto">
            <a:xfrm flipH="1">
              <a:off x="4694238" y="269240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35"/>
            <p:cNvSpPr>
              <a:spLocks noChangeShapeType="1"/>
            </p:cNvSpPr>
            <p:nvPr/>
          </p:nvSpPr>
          <p:spPr bwMode="auto">
            <a:xfrm flipH="1">
              <a:off x="4824413" y="2762250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36"/>
            <p:cNvSpPr>
              <a:spLocks noChangeShapeType="1"/>
            </p:cNvSpPr>
            <p:nvPr/>
          </p:nvSpPr>
          <p:spPr bwMode="auto">
            <a:xfrm flipH="1">
              <a:off x="4824413" y="28209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80" name="Group 43"/>
            <p:cNvGrpSpPr>
              <a:grpSpLocks/>
            </p:cNvGrpSpPr>
            <p:nvPr/>
          </p:nvGrpSpPr>
          <p:grpSpPr bwMode="auto">
            <a:xfrm>
              <a:off x="4906963" y="2624138"/>
              <a:ext cx="320675" cy="266700"/>
              <a:chOff x="2608" y="3180"/>
              <a:chExt cx="217" cy="184"/>
            </a:xfrm>
          </p:grpSpPr>
          <p:sp>
            <p:nvSpPr>
              <p:cNvPr id="23703" name="Arc 37"/>
              <p:cNvSpPr>
                <a:spLocks/>
              </p:cNvSpPr>
              <p:nvPr/>
            </p:nvSpPr>
            <p:spPr bwMode="auto">
              <a:xfrm>
                <a:off x="2644" y="3185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4" name="Arc 38"/>
              <p:cNvSpPr>
                <a:spLocks/>
              </p:cNvSpPr>
              <p:nvPr/>
            </p:nvSpPr>
            <p:spPr bwMode="auto">
              <a:xfrm>
                <a:off x="2644" y="3268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5" name="Line 39"/>
              <p:cNvSpPr>
                <a:spLocks noChangeShapeType="1"/>
              </p:cNvSpPr>
              <p:nvPr/>
            </p:nvSpPr>
            <p:spPr bwMode="auto">
              <a:xfrm>
                <a:off x="2616" y="318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6" name="Line 40"/>
              <p:cNvSpPr>
                <a:spLocks noChangeShapeType="1"/>
              </p:cNvSpPr>
              <p:nvPr/>
            </p:nvSpPr>
            <p:spPr bwMode="auto">
              <a:xfrm>
                <a:off x="2616" y="3364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7" name="Arc 41"/>
              <p:cNvSpPr>
                <a:spLocks/>
              </p:cNvSpPr>
              <p:nvPr/>
            </p:nvSpPr>
            <p:spPr bwMode="auto">
              <a:xfrm>
                <a:off x="2608" y="3185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8" name="Arc 42"/>
              <p:cNvSpPr>
                <a:spLocks/>
              </p:cNvSpPr>
              <p:nvPr/>
            </p:nvSpPr>
            <p:spPr bwMode="auto">
              <a:xfrm>
                <a:off x="2608" y="3268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81" name="Line 44"/>
            <p:cNvSpPr>
              <a:spLocks noChangeShapeType="1"/>
            </p:cNvSpPr>
            <p:nvPr/>
          </p:nvSpPr>
          <p:spPr bwMode="auto">
            <a:xfrm>
              <a:off x="5580063" y="1895475"/>
              <a:ext cx="0" cy="1073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45"/>
            <p:cNvSpPr>
              <a:spLocks noChangeArrowheads="1"/>
            </p:cNvSpPr>
            <p:nvPr/>
          </p:nvSpPr>
          <p:spPr bwMode="auto">
            <a:xfrm>
              <a:off x="5527675" y="19685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583" name="Rectangle 46"/>
            <p:cNvSpPr>
              <a:spLocks noChangeArrowheads="1"/>
            </p:cNvSpPr>
            <p:nvPr/>
          </p:nvSpPr>
          <p:spPr bwMode="auto">
            <a:xfrm>
              <a:off x="5534025" y="2306638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584" name="Rectangle 47"/>
            <p:cNvSpPr>
              <a:spLocks noChangeArrowheads="1"/>
            </p:cNvSpPr>
            <p:nvPr/>
          </p:nvSpPr>
          <p:spPr bwMode="auto">
            <a:xfrm>
              <a:off x="5540375" y="2646363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585" name="Line 48"/>
            <p:cNvSpPr>
              <a:spLocks noChangeShapeType="1"/>
            </p:cNvSpPr>
            <p:nvPr/>
          </p:nvSpPr>
          <p:spPr bwMode="auto">
            <a:xfrm>
              <a:off x="5592763" y="1901825"/>
              <a:ext cx="812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Rectangle 49"/>
            <p:cNvSpPr>
              <a:spLocks noChangeArrowheads="1"/>
            </p:cNvSpPr>
            <p:nvPr/>
          </p:nvSpPr>
          <p:spPr bwMode="auto">
            <a:xfrm>
              <a:off x="5830888" y="2274888"/>
              <a:ext cx="45044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Bus</a:t>
              </a:r>
            </a:p>
          </p:txBody>
        </p:sp>
        <p:sp>
          <p:nvSpPr>
            <p:cNvPr id="23587" name="Line 50"/>
            <p:cNvSpPr>
              <a:spLocks noChangeShapeType="1"/>
            </p:cNvSpPr>
            <p:nvPr/>
          </p:nvSpPr>
          <p:spPr bwMode="auto">
            <a:xfrm>
              <a:off x="6397625" y="1895475"/>
              <a:ext cx="0" cy="1066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Line 51"/>
            <p:cNvSpPr>
              <a:spLocks noChangeShapeType="1"/>
            </p:cNvSpPr>
            <p:nvPr/>
          </p:nvSpPr>
          <p:spPr bwMode="auto">
            <a:xfrm>
              <a:off x="5586413" y="2959100"/>
              <a:ext cx="327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52"/>
            <p:cNvSpPr>
              <a:spLocks noChangeShapeType="1"/>
            </p:cNvSpPr>
            <p:nvPr/>
          </p:nvSpPr>
          <p:spPr bwMode="auto">
            <a:xfrm>
              <a:off x="6054725" y="2959100"/>
              <a:ext cx="355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53"/>
            <p:cNvSpPr>
              <a:spLocks noChangeShapeType="1"/>
            </p:cNvSpPr>
            <p:nvPr/>
          </p:nvSpPr>
          <p:spPr bwMode="auto">
            <a:xfrm>
              <a:off x="5918200" y="2965450"/>
              <a:ext cx="0" cy="3165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Rectangle 54"/>
            <p:cNvSpPr>
              <a:spLocks noChangeArrowheads="1"/>
            </p:cNvSpPr>
            <p:nvPr/>
          </p:nvSpPr>
          <p:spPr bwMode="auto">
            <a:xfrm>
              <a:off x="5857875" y="29860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92" name="Line 55"/>
            <p:cNvSpPr>
              <a:spLocks noChangeShapeType="1"/>
            </p:cNvSpPr>
            <p:nvPr/>
          </p:nvSpPr>
          <p:spPr bwMode="auto">
            <a:xfrm>
              <a:off x="6048375" y="2965450"/>
              <a:ext cx="0" cy="3303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Rectangle 56"/>
            <p:cNvSpPr>
              <a:spLocks noChangeArrowheads="1"/>
            </p:cNvSpPr>
            <p:nvPr/>
          </p:nvSpPr>
          <p:spPr bwMode="auto">
            <a:xfrm>
              <a:off x="3440113" y="2825750"/>
              <a:ext cx="1123950" cy="569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94" name="Rectangle 57"/>
            <p:cNvSpPr>
              <a:spLocks noChangeArrowheads="1"/>
            </p:cNvSpPr>
            <p:nvPr/>
          </p:nvSpPr>
          <p:spPr bwMode="auto">
            <a:xfrm>
              <a:off x="3570288" y="2873375"/>
              <a:ext cx="72295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595" name="Rectangle 58"/>
            <p:cNvSpPr>
              <a:spLocks noChangeArrowheads="1"/>
            </p:cNvSpPr>
            <p:nvPr/>
          </p:nvSpPr>
          <p:spPr bwMode="auto">
            <a:xfrm>
              <a:off x="3746500" y="3048000"/>
              <a:ext cx="44082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23596" name="Line 59"/>
            <p:cNvSpPr>
              <a:spLocks noChangeShapeType="1"/>
            </p:cNvSpPr>
            <p:nvPr/>
          </p:nvSpPr>
          <p:spPr bwMode="auto">
            <a:xfrm>
              <a:off x="4711700" y="2036763"/>
              <a:ext cx="0" cy="6556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rc 60"/>
            <p:cNvSpPr>
              <a:spLocks/>
            </p:cNvSpPr>
            <p:nvPr/>
          </p:nvSpPr>
          <p:spPr bwMode="auto">
            <a:xfrm>
              <a:off x="5807075" y="3033713"/>
              <a:ext cx="112713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98" name="Line 61"/>
            <p:cNvSpPr>
              <a:spLocks noChangeShapeType="1"/>
            </p:cNvSpPr>
            <p:nvPr/>
          </p:nvSpPr>
          <p:spPr bwMode="auto">
            <a:xfrm>
              <a:off x="4575175" y="3087688"/>
              <a:ext cx="1230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2"/>
            <p:cNvSpPr>
              <a:spLocks/>
            </p:cNvSpPr>
            <p:nvPr/>
          </p:nvSpPr>
          <p:spPr bwMode="auto">
            <a:xfrm>
              <a:off x="4581525" y="3230563"/>
              <a:ext cx="112713" cy="8731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0" name="Line 63"/>
            <p:cNvSpPr>
              <a:spLocks noChangeShapeType="1"/>
            </p:cNvSpPr>
            <p:nvPr/>
          </p:nvSpPr>
          <p:spPr bwMode="auto">
            <a:xfrm>
              <a:off x="4683125" y="3284538"/>
              <a:ext cx="774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64"/>
            <p:cNvSpPr>
              <a:spLocks noChangeArrowheads="1"/>
            </p:cNvSpPr>
            <p:nvPr/>
          </p:nvSpPr>
          <p:spPr bwMode="auto">
            <a:xfrm>
              <a:off x="4633913" y="3255963"/>
              <a:ext cx="7486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2" name="Arc 65"/>
            <p:cNvSpPr>
              <a:spLocks/>
            </p:cNvSpPr>
            <p:nvPr/>
          </p:nvSpPr>
          <p:spPr bwMode="auto">
            <a:xfrm>
              <a:off x="3992563" y="3402013"/>
              <a:ext cx="90487" cy="109537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3" name="Line 66"/>
            <p:cNvSpPr>
              <a:spLocks noChangeShapeType="1"/>
            </p:cNvSpPr>
            <p:nvPr/>
          </p:nvSpPr>
          <p:spPr bwMode="auto">
            <a:xfrm>
              <a:off x="4037013" y="3511550"/>
              <a:ext cx="0" cy="1746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67"/>
            <p:cNvSpPr>
              <a:spLocks noChangeArrowheads="1"/>
            </p:cNvSpPr>
            <p:nvPr/>
          </p:nvSpPr>
          <p:spPr bwMode="auto">
            <a:xfrm>
              <a:off x="4003675" y="3435350"/>
              <a:ext cx="52899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23605" name="Arc 68"/>
            <p:cNvSpPr>
              <a:spLocks/>
            </p:cNvSpPr>
            <p:nvPr/>
          </p:nvSpPr>
          <p:spPr bwMode="auto">
            <a:xfrm>
              <a:off x="3322638" y="3033713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6" name="Line 69"/>
            <p:cNvSpPr>
              <a:spLocks noChangeShapeType="1"/>
            </p:cNvSpPr>
            <p:nvPr/>
          </p:nvSpPr>
          <p:spPr bwMode="auto">
            <a:xfrm>
              <a:off x="2032000" y="3087688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70"/>
            <p:cNvSpPr>
              <a:spLocks noChangeShapeType="1"/>
            </p:cNvSpPr>
            <p:nvPr/>
          </p:nvSpPr>
          <p:spPr bwMode="auto">
            <a:xfrm>
              <a:off x="2700338" y="2430463"/>
              <a:ext cx="0" cy="2039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71"/>
            <p:cNvSpPr>
              <a:spLocks noChangeShapeType="1"/>
            </p:cNvSpPr>
            <p:nvPr/>
          </p:nvSpPr>
          <p:spPr bwMode="auto">
            <a:xfrm>
              <a:off x="2901950" y="2036763"/>
              <a:ext cx="0" cy="3822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72"/>
            <p:cNvSpPr>
              <a:spLocks noChangeShapeType="1"/>
            </p:cNvSpPr>
            <p:nvPr/>
          </p:nvSpPr>
          <p:spPr bwMode="auto">
            <a:xfrm flipH="1">
              <a:off x="3014663" y="3681413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73"/>
            <p:cNvSpPr>
              <a:spLocks noChangeShapeType="1"/>
            </p:cNvSpPr>
            <p:nvPr/>
          </p:nvSpPr>
          <p:spPr bwMode="auto">
            <a:xfrm flipH="1">
              <a:off x="2884488" y="3751263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1" name="Group 80"/>
            <p:cNvGrpSpPr>
              <a:grpSpLocks/>
            </p:cNvGrpSpPr>
            <p:nvPr/>
          </p:nvGrpSpPr>
          <p:grpSpPr bwMode="auto">
            <a:xfrm>
              <a:off x="3097213" y="3552825"/>
              <a:ext cx="320675" cy="254000"/>
              <a:chOff x="1384" y="3820"/>
              <a:chExt cx="217" cy="176"/>
            </a:xfrm>
          </p:grpSpPr>
          <p:sp>
            <p:nvSpPr>
              <p:cNvPr id="23697" name="Arc 74"/>
              <p:cNvSpPr>
                <a:spLocks/>
              </p:cNvSpPr>
              <p:nvPr/>
            </p:nvSpPr>
            <p:spPr bwMode="auto">
              <a:xfrm>
                <a:off x="1420" y="3825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8" name="Arc 75"/>
              <p:cNvSpPr>
                <a:spLocks/>
              </p:cNvSpPr>
              <p:nvPr/>
            </p:nvSpPr>
            <p:spPr bwMode="auto">
              <a:xfrm>
                <a:off x="1420" y="3904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9" name="Line 76"/>
              <p:cNvSpPr>
                <a:spLocks noChangeShapeType="1"/>
              </p:cNvSpPr>
              <p:nvPr/>
            </p:nvSpPr>
            <p:spPr bwMode="auto">
              <a:xfrm>
                <a:off x="1392" y="382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0" name="Line 77"/>
              <p:cNvSpPr>
                <a:spLocks noChangeShapeType="1"/>
              </p:cNvSpPr>
              <p:nvPr/>
            </p:nvSpPr>
            <p:spPr bwMode="auto">
              <a:xfrm>
                <a:off x="1392" y="399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1" name="Arc 78"/>
              <p:cNvSpPr>
                <a:spLocks/>
              </p:cNvSpPr>
              <p:nvPr/>
            </p:nvSpPr>
            <p:spPr bwMode="auto">
              <a:xfrm>
                <a:off x="1384" y="3825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2" name="Arc 79"/>
              <p:cNvSpPr>
                <a:spLocks/>
              </p:cNvSpPr>
              <p:nvPr/>
            </p:nvSpPr>
            <p:spPr bwMode="auto">
              <a:xfrm>
                <a:off x="1384" y="3904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2" name="Line 81"/>
            <p:cNvSpPr>
              <a:spLocks noChangeShapeType="1"/>
            </p:cNvSpPr>
            <p:nvPr/>
          </p:nvSpPr>
          <p:spPr bwMode="auto">
            <a:xfrm flipH="1" flipV="1">
              <a:off x="3014663" y="3609975"/>
              <a:ext cx="1238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83"/>
            <p:cNvSpPr>
              <a:spLocks noChangeShapeType="1"/>
            </p:cNvSpPr>
            <p:nvPr/>
          </p:nvSpPr>
          <p:spPr bwMode="auto">
            <a:xfrm flipH="1">
              <a:off x="2695575" y="4464050"/>
              <a:ext cx="449263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4" name="Group 90"/>
            <p:cNvGrpSpPr>
              <a:grpSpLocks/>
            </p:cNvGrpSpPr>
            <p:nvPr/>
          </p:nvGrpSpPr>
          <p:grpSpPr bwMode="auto">
            <a:xfrm>
              <a:off x="3097213" y="4273550"/>
              <a:ext cx="320675" cy="266700"/>
              <a:chOff x="1384" y="4316"/>
              <a:chExt cx="217" cy="184"/>
            </a:xfrm>
          </p:grpSpPr>
          <p:sp>
            <p:nvSpPr>
              <p:cNvPr id="23691" name="Arc 84"/>
              <p:cNvSpPr>
                <a:spLocks/>
              </p:cNvSpPr>
              <p:nvPr/>
            </p:nvSpPr>
            <p:spPr bwMode="auto">
              <a:xfrm>
                <a:off x="1420" y="432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2" name="Arc 85"/>
              <p:cNvSpPr>
                <a:spLocks/>
              </p:cNvSpPr>
              <p:nvPr/>
            </p:nvSpPr>
            <p:spPr bwMode="auto">
              <a:xfrm>
                <a:off x="1420" y="440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3" name="Line 86"/>
              <p:cNvSpPr>
                <a:spLocks noChangeShapeType="1"/>
              </p:cNvSpPr>
              <p:nvPr/>
            </p:nvSpPr>
            <p:spPr bwMode="auto">
              <a:xfrm>
                <a:off x="1392" y="431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4" name="Line 87"/>
              <p:cNvSpPr>
                <a:spLocks noChangeShapeType="1"/>
              </p:cNvSpPr>
              <p:nvPr/>
            </p:nvSpPr>
            <p:spPr bwMode="auto">
              <a:xfrm>
                <a:off x="1392" y="450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5" name="Arc 88"/>
              <p:cNvSpPr>
                <a:spLocks/>
              </p:cNvSpPr>
              <p:nvPr/>
            </p:nvSpPr>
            <p:spPr bwMode="auto">
              <a:xfrm>
                <a:off x="1384" y="432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6" name="Arc 89"/>
              <p:cNvSpPr>
                <a:spLocks/>
              </p:cNvSpPr>
              <p:nvPr/>
            </p:nvSpPr>
            <p:spPr bwMode="auto">
              <a:xfrm>
                <a:off x="1384" y="440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5" name="Line 91"/>
            <p:cNvSpPr>
              <a:spLocks noChangeShapeType="1"/>
            </p:cNvSpPr>
            <p:nvPr/>
          </p:nvSpPr>
          <p:spPr bwMode="auto">
            <a:xfrm flipH="1">
              <a:off x="3014663" y="4341813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Line 92"/>
            <p:cNvSpPr>
              <a:spLocks noChangeShapeType="1"/>
            </p:cNvSpPr>
            <p:nvPr/>
          </p:nvSpPr>
          <p:spPr bwMode="auto">
            <a:xfrm>
              <a:off x="3427413" y="3681413"/>
              <a:ext cx="6048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Rectangle 93"/>
            <p:cNvSpPr>
              <a:spLocks noChangeArrowheads="1"/>
            </p:cNvSpPr>
            <p:nvPr/>
          </p:nvSpPr>
          <p:spPr bwMode="auto">
            <a:xfrm>
              <a:off x="3711575" y="3954463"/>
              <a:ext cx="852488" cy="2301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18" name="Rectangle 94"/>
            <p:cNvSpPr>
              <a:spLocks noChangeArrowheads="1"/>
            </p:cNvSpPr>
            <p:nvPr/>
          </p:nvSpPr>
          <p:spPr bwMode="auto">
            <a:xfrm>
              <a:off x="3941763" y="3935413"/>
              <a:ext cx="38792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</a:t>
              </a:r>
            </a:p>
          </p:txBody>
        </p:sp>
        <p:sp>
          <p:nvSpPr>
            <p:cNvPr id="23619" name="Arc 95"/>
            <p:cNvSpPr>
              <a:spLocks/>
            </p:cNvSpPr>
            <p:nvPr/>
          </p:nvSpPr>
          <p:spPr bwMode="auto">
            <a:xfrm>
              <a:off x="5807075" y="4021138"/>
              <a:ext cx="112713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0" name="Line 96"/>
            <p:cNvSpPr>
              <a:spLocks noChangeShapeType="1"/>
            </p:cNvSpPr>
            <p:nvPr/>
          </p:nvSpPr>
          <p:spPr bwMode="auto">
            <a:xfrm>
              <a:off x="4556125" y="4076700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97"/>
            <p:cNvSpPr>
              <a:spLocks noChangeShapeType="1"/>
            </p:cNvSpPr>
            <p:nvPr/>
          </p:nvSpPr>
          <p:spPr bwMode="auto">
            <a:xfrm>
              <a:off x="5445125" y="3290888"/>
              <a:ext cx="0" cy="768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Arc 98"/>
            <p:cNvSpPr>
              <a:spLocks/>
            </p:cNvSpPr>
            <p:nvPr/>
          </p:nvSpPr>
          <p:spPr bwMode="auto">
            <a:xfrm>
              <a:off x="3595688" y="4021138"/>
              <a:ext cx="111125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3" name="Line 99"/>
            <p:cNvSpPr>
              <a:spLocks noChangeShapeType="1"/>
            </p:cNvSpPr>
            <p:nvPr/>
          </p:nvSpPr>
          <p:spPr bwMode="auto">
            <a:xfrm>
              <a:off x="2032000" y="4076700"/>
              <a:ext cx="1593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100"/>
            <p:cNvSpPr>
              <a:spLocks noChangeShapeType="1"/>
            </p:cNvSpPr>
            <p:nvPr/>
          </p:nvSpPr>
          <p:spPr bwMode="auto">
            <a:xfrm flipV="1">
              <a:off x="3427413" y="4400550"/>
              <a:ext cx="4032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Arc 101"/>
            <p:cNvSpPr>
              <a:spLocks/>
            </p:cNvSpPr>
            <p:nvPr/>
          </p:nvSpPr>
          <p:spPr bwMode="auto">
            <a:xfrm>
              <a:off x="3792538" y="4191000"/>
              <a:ext cx="90487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6" name="Line 102"/>
            <p:cNvSpPr>
              <a:spLocks noChangeShapeType="1"/>
            </p:cNvSpPr>
            <p:nvPr/>
          </p:nvSpPr>
          <p:spPr bwMode="auto">
            <a:xfrm flipV="1">
              <a:off x="3836988" y="4279900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Rectangle 103"/>
            <p:cNvSpPr>
              <a:spLocks noChangeArrowheads="1"/>
            </p:cNvSpPr>
            <p:nvPr/>
          </p:nvSpPr>
          <p:spPr bwMode="auto">
            <a:xfrm>
              <a:off x="3756025" y="4351338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28" name="Line 104"/>
            <p:cNvSpPr>
              <a:spLocks noChangeShapeType="1"/>
            </p:cNvSpPr>
            <p:nvPr/>
          </p:nvSpPr>
          <p:spPr bwMode="auto">
            <a:xfrm>
              <a:off x="4440238" y="4191000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Freeform 105"/>
            <p:cNvSpPr>
              <a:spLocks/>
            </p:cNvSpPr>
            <p:nvPr/>
          </p:nvSpPr>
          <p:spPr bwMode="auto">
            <a:xfrm>
              <a:off x="4368800" y="4122738"/>
              <a:ext cx="131763" cy="58737"/>
            </a:xfrm>
            <a:custGeom>
              <a:avLst/>
              <a:gdLst>
                <a:gd name="T0" fmla="*/ 0 w 89"/>
                <a:gd name="T1" fmla="*/ 2147483647 h 41"/>
                <a:gd name="T2" fmla="*/ 2147483647 w 89"/>
                <a:gd name="T3" fmla="*/ 0 h 41"/>
                <a:gd name="T4" fmla="*/ 2147483647 w 89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89"/>
                <a:gd name="T10" fmla="*/ 0 h 41"/>
                <a:gd name="T11" fmla="*/ 89 w 89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1">
                  <a:moveTo>
                    <a:pt x="0" y="40"/>
                  </a:moveTo>
                  <a:lnTo>
                    <a:pt x="40" y="0"/>
                  </a:lnTo>
                  <a:lnTo>
                    <a:pt x="88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0" name="Line 106"/>
            <p:cNvSpPr>
              <a:spLocks noChangeShapeType="1"/>
            </p:cNvSpPr>
            <p:nvPr/>
          </p:nvSpPr>
          <p:spPr bwMode="auto">
            <a:xfrm flipH="1">
              <a:off x="3014663" y="4400550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107"/>
            <p:cNvSpPr>
              <a:spLocks noChangeShapeType="1"/>
            </p:cNvSpPr>
            <p:nvPr/>
          </p:nvSpPr>
          <p:spPr bwMode="auto">
            <a:xfrm flipH="1">
              <a:off x="3014663" y="5064125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2" name="Line 108"/>
            <p:cNvSpPr>
              <a:spLocks noChangeShapeType="1"/>
            </p:cNvSpPr>
            <p:nvPr/>
          </p:nvSpPr>
          <p:spPr bwMode="auto">
            <a:xfrm flipH="1">
              <a:off x="2884488" y="5127625"/>
              <a:ext cx="241300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33" name="Group 115"/>
            <p:cNvGrpSpPr>
              <a:grpSpLocks/>
            </p:cNvGrpSpPr>
            <p:nvPr/>
          </p:nvGrpSpPr>
          <p:grpSpPr bwMode="auto">
            <a:xfrm>
              <a:off x="3097213" y="4935538"/>
              <a:ext cx="320675" cy="257175"/>
              <a:chOff x="1384" y="4772"/>
              <a:chExt cx="217" cy="176"/>
            </a:xfrm>
          </p:grpSpPr>
          <p:sp>
            <p:nvSpPr>
              <p:cNvPr id="23685" name="Arc 109"/>
              <p:cNvSpPr>
                <a:spLocks/>
              </p:cNvSpPr>
              <p:nvPr/>
            </p:nvSpPr>
            <p:spPr bwMode="auto">
              <a:xfrm>
                <a:off x="1420" y="477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6" name="Arc 110"/>
              <p:cNvSpPr>
                <a:spLocks/>
              </p:cNvSpPr>
              <p:nvPr/>
            </p:nvSpPr>
            <p:spPr bwMode="auto">
              <a:xfrm>
                <a:off x="1420" y="485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7" name="Line 111"/>
              <p:cNvSpPr>
                <a:spLocks noChangeShapeType="1"/>
              </p:cNvSpPr>
              <p:nvPr/>
            </p:nvSpPr>
            <p:spPr bwMode="auto">
              <a:xfrm>
                <a:off x="1392" y="477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8" name="Line 112"/>
              <p:cNvSpPr>
                <a:spLocks noChangeShapeType="1"/>
              </p:cNvSpPr>
              <p:nvPr/>
            </p:nvSpPr>
            <p:spPr bwMode="auto">
              <a:xfrm>
                <a:off x="1392" y="494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9" name="Arc 113"/>
              <p:cNvSpPr>
                <a:spLocks/>
              </p:cNvSpPr>
              <p:nvPr/>
            </p:nvSpPr>
            <p:spPr bwMode="auto">
              <a:xfrm>
                <a:off x="1384" y="477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0" name="Arc 114"/>
              <p:cNvSpPr>
                <a:spLocks/>
              </p:cNvSpPr>
              <p:nvPr/>
            </p:nvSpPr>
            <p:spPr bwMode="auto">
              <a:xfrm>
                <a:off x="1384" y="485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34" name="Line 116"/>
            <p:cNvSpPr>
              <a:spLocks noChangeShapeType="1"/>
            </p:cNvSpPr>
            <p:nvPr/>
          </p:nvSpPr>
          <p:spPr bwMode="auto">
            <a:xfrm flipH="1">
              <a:off x="3014663" y="49926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5" name="Rectangle 117"/>
            <p:cNvSpPr>
              <a:spLocks noChangeArrowheads="1"/>
            </p:cNvSpPr>
            <p:nvPr/>
          </p:nvSpPr>
          <p:spPr bwMode="auto">
            <a:xfrm>
              <a:off x="3711575" y="4605338"/>
              <a:ext cx="852488" cy="2428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36" name="Rectangle 118"/>
            <p:cNvSpPr>
              <a:spLocks noChangeArrowheads="1"/>
            </p:cNvSpPr>
            <p:nvPr/>
          </p:nvSpPr>
          <p:spPr bwMode="auto">
            <a:xfrm>
              <a:off x="3941763" y="4595813"/>
              <a:ext cx="3799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3637" name="Arc 119"/>
            <p:cNvSpPr>
              <a:spLocks/>
            </p:cNvSpPr>
            <p:nvPr/>
          </p:nvSpPr>
          <p:spPr bwMode="auto">
            <a:xfrm>
              <a:off x="5807075" y="4683125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8" name="Line 120"/>
            <p:cNvSpPr>
              <a:spLocks noChangeShapeType="1"/>
            </p:cNvSpPr>
            <p:nvPr/>
          </p:nvSpPr>
          <p:spPr bwMode="auto">
            <a:xfrm>
              <a:off x="4562475" y="4738688"/>
              <a:ext cx="12430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9" name="Arc 121"/>
            <p:cNvSpPr>
              <a:spLocks/>
            </p:cNvSpPr>
            <p:nvPr/>
          </p:nvSpPr>
          <p:spPr bwMode="auto">
            <a:xfrm>
              <a:off x="3595688" y="4683125"/>
              <a:ext cx="111125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0" name="Line 122"/>
            <p:cNvSpPr>
              <a:spLocks noChangeShapeType="1"/>
            </p:cNvSpPr>
            <p:nvPr/>
          </p:nvSpPr>
          <p:spPr bwMode="auto">
            <a:xfrm>
              <a:off x="2032000" y="4738688"/>
              <a:ext cx="1587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23"/>
            <p:cNvSpPr>
              <a:spLocks noChangeShapeType="1"/>
            </p:cNvSpPr>
            <p:nvPr/>
          </p:nvSpPr>
          <p:spPr bwMode="auto">
            <a:xfrm>
              <a:off x="3422650" y="5064125"/>
              <a:ext cx="555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Arc 124"/>
            <p:cNvSpPr>
              <a:spLocks/>
            </p:cNvSpPr>
            <p:nvPr/>
          </p:nvSpPr>
          <p:spPr bwMode="auto">
            <a:xfrm>
              <a:off x="3933825" y="4854575"/>
              <a:ext cx="88900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3" name="Line 125"/>
            <p:cNvSpPr>
              <a:spLocks noChangeShapeType="1"/>
            </p:cNvSpPr>
            <p:nvPr/>
          </p:nvSpPr>
          <p:spPr bwMode="auto">
            <a:xfrm flipV="1">
              <a:off x="3978275" y="4940300"/>
              <a:ext cx="0" cy="128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4" name="Rectangle 126"/>
            <p:cNvSpPr>
              <a:spLocks noChangeArrowheads="1"/>
            </p:cNvSpPr>
            <p:nvPr/>
          </p:nvSpPr>
          <p:spPr bwMode="auto">
            <a:xfrm>
              <a:off x="3883025" y="5041900"/>
              <a:ext cx="42640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INR</a:t>
              </a:r>
            </a:p>
          </p:txBody>
        </p:sp>
        <p:sp>
          <p:nvSpPr>
            <p:cNvPr id="23645" name="Line 127"/>
            <p:cNvSpPr>
              <a:spLocks noChangeShapeType="1"/>
            </p:cNvSpPr>
            <p:nvPr/>
          </p:nvSpPr>
          <p:spPr bwMode="auto">
            <a:xfrm>
              <a:off x="4440238" y="4854575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6" name="Freeform 128"/>
            <p:cNvSpPr>
              <a:spLocks/>
            </p:cNvSpPr>
            <p:nvPr/>
          </p:nvSpPr>
          <p:spPr bwMode="auto">
            <a:xfrm>
              <a:off x="4375150" y="4765675"/>
              <a:ext cx="131763" cy="71438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7" name="Rectangle 129"/>
            <p:cNvSpPr>
              <a:spLocks noChangeArrowheads="1"/>
            </p:cNvSpPr>
            <p:nvPr/>
          </p:nvSpPr>
          <p:spPr bwMode="auto">
            <a:xfrm>
              <a:off x="3440113" y="5394325"/>
              <a:ext cx="1123950" cy="2444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48" name="Rectangle 130"/>
            <p:cNvSpPr>
              <a:spLocks noChangeArrowheads="1"/>
            </p:cNvSpPr>
            <p:nvPr/>
          </p:nvSpPr>
          <p:spPr bwMode="auto">
            <a:xfrm>
              <a:off x="3814763" y="5387975"/>
              <a:ext cx="3238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IR</a:t>
              </a:r>
            </a:p>
          </p:txBody>
        </p:sp>
        <p:sp>
          <p:nvSpPr>
            <p:cNvPr id="23649" name="Arc 131"/>
            <p:cNvSpPr>
              <a:spLocks/>
            </p:cNvSpPr>
            <p:nvPr/>
          </p:nvSpPr>
          <p:spPr bwMode="auto">
            <a:xfrm>
              <a:off x="5807075" y="5473700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0" name="Line 132"/>
            <p:cNvSpPr>
              <a:spLocks noChangeShapeType="1"/>
            </p:cNvSpPr>
            <p:nvPr/>
          </p:nvSpPr>
          <p:spPr bwMode="auto">
            <a:xfrm>
              <a:off x="4556125" y="5527675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1" name="Line 133"/>
            <p:cNvSpPr>
              <a:spLocks noChangeShapeType="1"/>
            </p:cNvSpPr>
            <p:nvPr/>
          </p:nvSpPr>
          <p:spPr bwMode="auto">
            <a:xfrm>
              <a:off x="2889250" y="5853113"/>
              <a:ext cx="7461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2" name="Arc 134"/>
            <p:cNvSpPr>
              <a:spLocks/>
            </p:cNvSpPr>
            <p:nvPr/>
          </p:nvSpPr>
          <p:spPr bwMode="auto">
            <a:xfrm>
              <a:off x="3590925" y="5645150"/>
              <a:ext cx="90488" cy="109538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3" name="Line 135"/>
            <p:cNvSpPr>
              <a:spLocks noChangeShapeType="1"/>
            </p:cNvSpPr>
            <p:nvPr/>
          </p:nvSpPr>
          <p:spPr bwMode="auto">
            <a:xfrm flipV="1">
              <a:off x="3635375" y="5732463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4" name="Rectangle 136"/>
            <p:cNvSpPr>
              <a:spLocks noChangeArrowheads="1"/>
            </p:cNvSpPr>
            <p:nvPr/>
          </p:nvSpPr>
          <p:spPr bwMode="auto">
            <a:xfrm>
              <a:off x="3621088" y="5788025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55" name="Line 137"/>
            <p:cNvSpPr>
              <a:spLocks noChangeShapeType="1"/>
            </p:cNvSpPr>
            <p:nvPr/>
          </p:nvSpPr>
          <p:spPr bwMode="auto">
            <a:xfrm>
              <a:off x="4440238" y="5649913"/>
              <a:ext cx="0" cy="3254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" name="Freeform 138"/>
            <p:cNvSpPr>
              <a:spLocks/>
            </p:cNvSpPr>
            <p:nvPr/>
          </p:nvSpPr>
          <p:spPr bwMode="auto">
            <a:xfrm>
              <a:off x="4379913" y="5557838"/>
              <a:ext cx="131762" cy="714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7" name="Line 139"/>
            <p:cNvSpPr>
              <a:spLocks noChangeShapeType="1"/>
            </p:cNvSpPr>
            <p:nvPr/>
          </p:nvSpPr>
          <p:spPr bwMode="auto">
            <a:xfrm>
              <a:off x="4445000" y="4400550"/>
              <a:ext cx="538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8" name="Line 140"/>
            <p:cNvSpPr>
              <a:spLocks noChangeShapeType="1"/>
            </p:cNvSpPr>
            <p:nvPr/>
          </p:nvSpPr>
          <p:spPr bwMode="auto">
            <a:xfrm>
              <a:off x="4425950" y="5064125"/>
              <a:ext cx="53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9" name="Line 141"/>
            <p:cNvSpPr>
              <a:spLocks noChangeShapeType="1"/>
            </p:cNvSpPr>
            <p:nvPr/>
          </p:nvSpPr>
          <p:spPr bwMode="auto">
            <a:xfrm>
              <a:off x="4983163" y="4406900"/>
              <a:ext cx="0" cy="1557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0" name="Line 142"/>
            <p:cNvSpPr>
              <a:spLocks noChangeShapeType="1"/>
            </p:cNvSpPr>
            <p:nvPr/>
          </p:nvSpPr>
          <p:spPr bwMode="auto">
            <a:xfrm>
              <a:off x="4445000" y="5981700"/>
              <a:ext cx="650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1" name="Rectangle 143"/>
            <p:cNvSpPr>
              <a:spLocks noChangeArrowheads="1"/>
            </p:cNvSpPr>
            <p:nvPr/>
          </p:nvSpPr>
          <p:spPr bwMode="auto">
            <a:xfrm>
              <a:off x="5151438" y="5853113"/>
              <a:ext cx="56746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Clock</a:t>
              </a:r>
            </a:p>
          </p:txBody>
        </p:sp>
        <p:sp>
          <p:nvSpPr>
            <p:cNvPr id="23662" name="Rectangle 144"/>
            <p:cNvSpPr>
              <a:spLocks noChangeArrowheads="1"/>
            </p:cNvSpPr>
            <p:nvPr/>
          </p:nvSpPr>
          <p:spPr bwMode="auto">
            <a:xfrm>
              <a:off x="5842000" y="39624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63" name="Rectangle 145"/>
            <p:cNvSpPr>
              <a:spLocks noChangeArrowheads="1"/>
            </p:cNvSpPr>
            <p:nvPr/>
          </p:nvSpPr>
          <p:spPr bwMode="auto">
            <a:xfrm>
              <a:off x="5853113" y="46243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664" name="Rectangle 146"/>
            <p:cNvSpPr>
              <a:spLocks noChangeArrowheads="1"/>
            </p:cNvSpPr>
            <p:nvPr/>
          </p:nvSpPr>
          <p:spPr bwMode="auto">
            <a:xfrm>
              <a:off x="5861050" y="5414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3665" name="Line 147"/>
            <p:cNvSpPr>
              <a:spLocks noChangeShapeType="1"/>
            </p:cNvSpPr>
            <p:nvPr/>
          </p:nvSpPr>
          <p:spPr bwMode="auto">
            <a:xfrm flipH="1">
              <a:off x="2017713" y="6121400"/>
              <a:ext cx="39163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6" name="Rectangle 148"/>
            <p:cNvSpPr>
              <a:spLocks noChangeArrowheads="1"/>
            </p:cNvSpPr>
            <p:nvPr/>
          </p:nvSpPr>
          <p:spPr bwMode="auto">
            <a:xfrm>
              <a:off x="3484563" y="6061075"/>
              <a:ext cx="10852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Common bus</a:t>
              </a:r>
            </a:p>
          </p:txBody>
        </p:sp>
        <p:sp>
          <p:nvSpPr>
            <p:cNvPr id="23667" name="Line 149"/>
            <p:cNvSpPr>
              <a:spLocks noChangeShapeType="1"/>
            </p:cNvSpPr>
            <p:nvPr/>
          </p:nvSpPr>
          <p:spPr bwMode="auto">
            <a:xfrm flipH="1">
              <a:off x="1897063" y="6249988"/>
              <a:ext cx="4176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8" name="Line 150"/>
            <p:cNvSpPr>
              <a:spLocks noChangeShapeType="1"/>
            </p:cNvSpPr>
            <p:nvPr/>
          </p:nvSpPr>
          <p:spPr bwMode="auto">
            <a:xfrm>
              <a:off x="2027238" y="2897188"/>
              <a:ext cx="0" cy="3230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9" name="Line 151"/>
            <p:cNvSpPr>
              <a:spLocks noChangeShapeType="1"/>
            </p:cNvSpPr>
            <p:nvPr/>
          </p:nvSpPr>
          <p:spPr bwMode="auto">
            <a:xfrm>
              <a:off x="1895475" y="2897188"/>
              <a:ext cx="0" cy="3365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0" name="Oval 152"/>
            <p:cNvSpPr>
              <a:spLocks noChangeArrowheads="1"/>
            </p:cNvSpPr>
            <p:nvPr/>
          </p:nvSpPr>
          <p:spPr bwMode="auto">
            <a:xfrm>
              <a:off x="1901825" y="2854325"/>
              <a:ext cx="117475" cy="7143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1" name="Rectangle 153"/>
            <p:cNvSpPr>
              <a:spLocks noChangeArrowheads="1"/>
            </p:cNvSpPr>
            <p:nvPr/>
          </p:nvSpPr>
          <p:spPr bwMode="auto">
            <a:xfrm>
              <a:off x="2068513" y="1906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T1</a:t>
              </a:r>
            </a:p>
          </p:txBody>
        </p:sp>
        <p:sp>
          <p:nvSpPr>
            <p:cNvPr id="23672" name="Rectangle 154"/>
            <p:cNvSpPr>
              <a:spLocks noChangeArrowheads="1"/>
            </p:cNvSpPr>
            <p:nvPr/>
          </p:nvSpPr>
          <p:spPr bwMode="auto">
            <a:xfrm>
              <a:off x="2068513" y="2287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T0</a:t>
              </a:r>
            </a:p>
          </p:txBody>
        </p:sp>
        <p:sp>
          <p:nvSpPr>
            <p:cNvPr id="23673" name="Arc 155"/>
            <p:cNvSpPr>
              <a:spLocks/>
            </p:cNvSpPr>
            <p:nvPr/>
          </p:nvSpPr>
          <p:spPr bwMode="auto">
            <a:xfrm>
              <a:off x="3322638" y="5473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74" name="Line 156"/>
            <p:cNvSpPr>
              <a:spLocks noChangeShapeType="1"/>
            </p:cNvSpPr>
            <p:nvPr/>
          </p:nvSpPr>
          <p:spPr bwMode="auto">
            <a:xfrm>
              <a:off x="2032000" y="55276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5" name="Oval 157"/>
            <p:cNvSpPr>
              <a:spLocks noChangeArrowheads="1"/>
            </p:cNvSpPr>
            <p:nvPr/>
          </p:nvSpPr>
          <p:spPr bwMode="auto">
            <a:xfrm>
              <a:off x="4683125" y="2012950"/>
              <a:ext cx="46038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6" name="Oval 158"/>
            <p:cNvSpPr>
              <a:spLocks noChangeArrowheads="1"/>
            </p:cNvSpPr>
            <p:nvPr/>
          </p:nvSpPr>
          <p:spPr bwMode="auto">
            <a:xfrm>
              <a:off x="4683125" y="2349500"/>
              <a:ext cx="46038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7" name="Oval 159"/>
            <p:cNvSpPr>
              <a:spLocks noChangeArrowheads="1"/>
            </p:cNvSpPr>
            <p:nvPr/>
          </p:nvSpPr>
          <p:spPr bwMode="auto">
            <a:xfrm>
              <a:off x="2871788" y="3732213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8" name="Oval 160"/>
            <p:cNvSpPr>
              <a:spLocks noChangeArrowheads="1"/>
            </p:cNvSpPr>
            <p:nvPr/>
          </p:nvSpPr>
          <p:spPr bwMode="auto">
            <a:xfrm>
              <a:off x="2884488" y="5116513"/>
              <a:ext cx="46037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9" name="Oval 161"/>
            <p:cNvSpPr>
              <a:spLocks noChangeArrowheads="1"/>
            </p:cNvSpPr>
            <p:nvPr/>
          </p:nvSpPr>
          <p:spPr bwMode="auto">
            <a:xfrm>
              <a:off x="2878138" y="2012950"/>
              <a:ext cx="47625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0" name="Oval 162"/>
            <p:cNvSpPr>
              <a:spLocks noChangeArrowheads="1"/>
            </p:cNvSpPr>
            <p:nvPr/>
          </p:nvSpPr>
          <p:spPr bwMode="auto">
            <a:xfrm>
              <a:off x="2682875" y="2408238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1" name="Oval 163"/>
            <p:cNvSpPr>
              <a:spLocks noChangeArrowheads="1"/>
            </p:cNvSpPr>
            <p:nvPr/>
          </p:nvSpPr>
          <p:spPr bwMode="auto">
            <a:xfrm>
              <a:off x="5421313" y="4059238"/>
              <a:ext cx="47625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2" name="Oval 164"/>
            <p:cNvSpPr>
              <a:spLocks noChangeArrowheads="1"/>
            </p:cNvSpPr>
            <p:nvPr/>
          </p:nvSpPr>
          <p:spPr bwMode="auto">
            <a:xfrm>
              <a:off x="4953000" y="5054600"/>
              <a:ext cx="49213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3" name="Oval 165"/>
            <p:cNvSpPr>
              <a:spLocks noChangeArrowheads="1"/>
            </p:cNvSpPr>
            <p:nvPr/>
          </p:nvSpPr>
          <p:spPr bwMode="auto">
            <a:xfrm>
              <a:off x="4953000" y="5964238"/>
              <a:ext cx="49213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4" name="Rectangle 167"/>
            <p:cNvSpPr>
              <a:spLocks noChangeArrowheads="1"/>
            </p:cNvSpPr>
            <p:nvPr/>
          </p:nvSpPr>
          <p:spPr bwMode="auto">
            <a:xfrm>
              <a:off x="3011488" y="1089025"/>
              <a:ext cx="5327650" cy="6937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9AFC083-FFBA-92F4-E7D3-175788ACACE6}"/>
              </a:ext>
            </a:extLst>
          </p:cNvPr>
          <p:cNvSpPr txBox="1"/>
          <p:nvPr/>
        </p:nvSpPr>
        <p:spPr>
          <a:xfrm>
            <a:off x="359664" y="1440287"/>
            <a:ext cx="298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Common bus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Timing signals (T0, T1, T2)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Control signals (S2 S1 S0, LD, INR, Read)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9731A6C-EBE8-ECC5-6AC3-332B4D1B5EE8}"/>
              </a:ext>
            </a:extLst>
          </p:cNvPr>
          <p:cNvSpPr txBox="1"/>
          <p:nvPr/>
        </p:nvSpPr>
        <p:spPr>
          <a:xfrm>
            <a:off x="7752588" y="3875278"/>
            <a:ext cx="3904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 T2, CPU understands what instruction it is, where the operand is, and whether the address is direct or indirect.</a:t>
            </a:r>
          </a:p>
          <a:p>
            <a:pPr marL="342900" indent="-342900">
              <a:buAutoNum type="arabicPeriod"/>
            </a:pPr>
            <a:r>
              <a:rPr lang="en-US" dirty="0"/>
              <a:t>T0 and T1 (Fetch)</a:t>
            </a:r>
          </a:p>
          <a:p>
            <a:pPr marL="342900" indent="-342900">
              <a:buAutoNum type="arabicPeriod"/>
            </a:pPr>
            <a:r>
              <a:rPr lang="en-US" dirty="0"/>
              <a:t>T2 (Decode)</a:t>
            </a:r>
          </a:p>
          <a:p>
            <a:pPr marL="342900" indent="-342900">
              <a:buAutoNum type="arabicPeriod"/>
            </a:pPr>
            <a:r>
              <a:rPr lang="en-IN" dirty="0"/>
              <a:t>Fetch and decode remains same for all instructions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3322975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6888" y="304800"/>
            <a:ext cx="11768328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(Instruction Cycle)</a:t>
            </a:r>
          </a:p>
        </p:txBody>
      </p:sp>
      <p:grpSp>
        <p:nvGrpSpPr>
          <p:cNvPr id="24583" name="Group 131"/>
          <p:cNvGrpSpPr>
            <a:grpSpLocks/>
          </p:cNvGrpSpPr>
          <p:nvPr/>
        </p:nvGrpSpPr>
        <p:grpSpPr bwMode="auto">
          <a:xfrm>
            <a:off x="246888" y="1247775"/>
            <a:ext cx="6435681" cy="5229225"/>
            <a:chOff x="1389063" y="857250"/>
            <a:chExt cx="5953080" cy="4848225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1389063" y="5547989"/>
              <a:ext cx="35243" cy="1574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" name="Rectangle 98"/>
            <p:cNvSpPr>
              <a:spLocks noChangeArrowheads="1"/>
            </p:cNvSpPr>
            <p:nvPr/>
          </p:nvSpPr>
          <p:spPr bwMode="auto">
            <a:xfrm>
              <a:off x="6283426" y="3427074"/>
              <a:ext cx="105871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(direct)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687196" y="857250"/>
              <a:ext cx="762159" cy="29296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Start</a:t>
              </a:r>
            </a:p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SC &lt;-- 0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588810" y="869025"/>
              <a:ext cx="801777" cy="28995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488955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797331" y="143126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041094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53712" y="1444513"/>
              <a:ext cx="1020576" cy="2031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Arc 13"/>
            <p:cNvSpPr>
              <a:spLocks/>
            </p:cNvSpPr>
            <p:nvPr/>
          </p:nvSpPr>
          <p:spPr bwMode="auto">
            <a:xfrm>
              <a:off x="3954455" y="1335597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3999978" y="1153089"/>
              <a:ext cx="0" cy="1913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2" name="Arc 15"/>
            <p:cNvSpPr>
              <a:spLocks/>
            </p:cNvSpPr>
            <p:nvPr/>
          </p:nvSpPr>
          <p:spPr bwMode="auto">
            <a:xfrm>
              <a:off x="3537414" y="1335597"/>
              <a:ext cx="92513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3582936" y="1253174"/>
              <a:ext cx="0" cy="11185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4436109" y="132087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T0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293534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316883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341406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M[AR],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98088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423346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46107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+ 1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2961779" y="1899309"/>
              <a:ext cx="2201216" cy="2134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5"/>
            <p:cNvSpPr>
              <a:spLocks/>
            </p:cNvSpPr>
            <p:nvPr/>
          </p:nvSpPr>
          <p:spPr bwMode="auto">
            <a:xfrm>
              <a:off x="3954455" y="178892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3999978" y="1666759"/>
              <a:ext cx="0" cy="1324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5101320" y="171385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T1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935347" y="2514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3207011" y="2514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3414063" y="2514536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IR(0-11),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4176192" y="2514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4259894" y="250570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4461073" y="2514536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IR(15)</a:t>
              </a:r>
            </a:p>
          </p:txBody>
        </p:sp>
        <p:sp>
          <p:nvSpPr>
            <p:cNvPr id="41" name="Rectangle 34"/>
            <p:cNvSpPr>
              <a:spLocks noChangeArrowheads="1"/>
            </p:cNvSpPr>
            <p:nvPr/>
          </p:nvSpPr>
          <p:spPr bwMode="auto">
            <a:xfrm>
              <a:off x="2800249" y="2352635"/>
              <a:ext cx="2170815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 Opcode in IR(12-14),</a:t>
              </a:r>
            </a:p>
          </p:txBody>
        </p:sp>
        <p:sp>
          <p:nvSpPr>
            <p:cNvPr id="42" name="Rectangle 35"/>
            <p:cNvSpPr>
              <a:spLocks noChangeArrowheads="1"/>
            </p:cNvSpPr>
            <p:nvPr/>
          </p:nvSpPr>
          <p:spPr bwMode="auto">
            <a:xfrm>
              <a:off x="2753258" y="2355578"/>
              <a:ext cx="2556582" cy="3826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3954455" y="2245191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3999978" y="2133332"/>
              <a:ext cx="0" cy="1206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5234949" y="217159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T2</a:t>
              </a: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3967672" y="2932538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4013193" y="2750030"/>
              <a:ext cx="0" cy="2119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24620" name="Group 127"/>
            <p:cNvGrpSpPr>
              <a:grpSpLocks/>
            </p:cNvGrpSpPr>
            <p:nvPr/>
          </p:nvGrpSpPr>
          <p:grpSpPr bwMode="auto">
            <a:xfrm>
              <a:off x="3730625" y="3006725"/>
              <a:ext cx="515938" cy="420688"/>
              <a:chOff x="1696" y="3024"/>
              <a:chExt cx="376" cy="368"/>
            </a:xfrm>
          </p:grpSpPr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 flipH="1">
                <a:off x="1696" y="3021"/>
                <a:ext cx="208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0" name="Line 42"/>
              <p:cNvSpPr>
                <a:spLocks noChangeShapeType="1"/>
              </p:cNvSpPr>
              <p:nvPr/>
            </p:nvSpPr>
            <p:spPr bwMode="auto">
              <a:xfrm>
                <a:off x="1900" y="3021"/>
                <a:ext cx="180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1" name="Line 43"/>
              <p:cNvSpPr>
                <a:spLocks noChangeShapeType="1"/>
              </p:cNvSpPr>
              <p:nvPr/>
            </p:nvSpPr>
            <p:spPr bwMode="auto">
              <a:xfrm flipH="1" flipV="1">
                <a:off x="1696" y="3183"/>
                <a:ext cx="208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2" name="Line 44"/>
              <p:cNvSpPr>
                <a:spLocks noChangeShapeType="1"/>
              </p:cNvSpPr>
              <p:nvPr/>
            </p:nvSpPr>
            <p:spPr bwMode="auto">
              <a:xfrm flipV="1">
                <a:off x="1900" y="3183"/>
                <a:ext cx="180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3797331" y="3100327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D7</a:t>
              </a:r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 flipV="1">
              <a:off x="4252552" y="3204828"/>
              <a:ext cx="1745994" cy="44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3035202" y="3209243"/>
              <a:ext cx="701922" cy="4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4262831" y="2979636"/>
              <a:ext cx="180011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(Memory-reference)</a:t>
              </a: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2098327" y="2979636"/>
              <a:ext cx="172597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(Register or I/O) = 1</a:t>
              </a:r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 flipH="1">
              <a:off x="5729819" y="3446209"/>
              <a:ext cx="305439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6024978" y="3446209"/>
              <a:ext cx="26872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 flipH="1" flipV="1">
              <a:off x="5729819" y="3659624"/>
              <a:ext cx="305439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V="1">
              <a:off x="6024978" y="3659624"/>
              <a:ext cx="26872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5879601" y="3571314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 flipH="1">
              <a:off x="2726826" y="3446209"/>
              <a:ext cx="321592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3035202" y="3446209"/>
              <a:ext cx="25844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 flipH="1" flipV="1">
              <a:off x="2726826" y="3659624"/>
              <a:ext cx="321592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 flipV="1">
              <a:off x="3035202" y="3659624"/>
              <a:ext cx="25844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904510" y="35757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562378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3168832" y="4211563"/>
              <a:ext cx="150355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register-reference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3463991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3549161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3841384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4115985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038121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1878058" y="4211563"/>
              <a:ext cx="105871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input-output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1939734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023436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2303911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2578512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5333336" y="4071738"/>
              <a:ext cx="53973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5142436" y="4071738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4878114" y="407173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6199725" y="4062907"/>
              <a:ext cx="68801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Nothing</a:t>
              </a:r>
            </a:p>
          </p:txBody>
        </p:sp>
        <p:sp>
          <p:nvSpPr>
            <p:cNvPr id="84" name="Arc 76"/>
            <p:cNvSpPr>
              <a:spLocks/>
            </p:cNvSpPr>
            <p:nvPr/>
          </p:nvSpPr>
          <p:spPr bwMode="auto">
            <a:xfrm>
              <a:off x="2982337" y="3381448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V="1">
              <a:off x="3035202" y="3223961"/>
              <a:ext cx="0" cy="17220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Arc 78"/>
            <p:cNvSpPr>
              <a:spLocks/>
            </p:cNvSpPr>
            <p:nvPr/>
          </p:nvSpPr>
          <p:spPr bwMode="auto">
            <a:xfrm>
              <a:off x="5972114" y="3357898"/>
              <a:ext cx="93981" cy="94197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V="1">
              <a:off x="6011762" y="3198940"/>
              <a:ext cx="0" cy="1707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1916238" y="4073210"/>
              <a:ext cx="1020577" cy="68293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3170300" y="4073210"/>
              <a:ext cx="1512510" cy="6741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4916294" y="4073210"/>
              <a:ext cx="1020576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6171824" y="4073210"/>
              <a:ext cx="812057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Arc 84"/>
            <p:cNvSpPr>
              <a:spLocks/>
            </p:cNvSpPr>
            <p:nvPr/>
          </p:nvSpPr>
          <p:spPr bwMode="auto">
            <a:xfrm>
              <a:off x="2355307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V="1">
              <a:off x="2402298" y="3668455"/>
              <a:ext cx="0" cy="3238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86"/>
            <p:cNvSpPr>
              <a:spLocks/>
            </p:cNvSpPr>
            <p:nvPr/>
          </p:nvSpPr>
          <p:spPr bwMode="auto">
            <a:xfrm>
              <a:off x="3954455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V="1">
              <a:off x="3999978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Arc 88"/>
            <p:cNvSpPr>
              <a:spLocks/>
            </p:cNvSpPr>
            <p:nvPr/>
          </p:nvSpPr>
          <p:spPr bwMode="auto">
            <a:xfrm>
              <a:off x="5345083" y="3964294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V="1">
              <a:off x="5389137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Arc 90"/>
            <p:cNvSpPr>
              <a:spLocks/>
            </p:cNvSpPr>
            <p:nvPr/>
          </p:nvSpPr>
          <p:spPr bwMode="auto">
            <a:xfrm>
              <a:off x="6612360" y="3964294"/>
              <a:ext cx="91044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V="1">
              <a:off x="6656414" y="3659624"/>
              <a:ext cx="0" cy="33263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2408171" y="3672871"/>
              <a:ext cx="3377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3287776" y="3672871"/>
              <a:ext cx="7136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5397948" y="3672871"/>
              <a:ext cx="3318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6287832" y="3664040"/>
              <a:ext cx="3876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3289245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(register)</a:t>
              </a: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033715" y="3437377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(I/O) = 1</a:t>
              </a:r>
            </a:p>
          </p:txBody>
        </p:sp>
        <p:sp>
          <p:nvSpPr>
            <p:cNvPr id="106" name="Rectangle 99"/>
            <p:cNvSpPr>
              <a:spLocks noChangeArrowheads="1"/>
            </p:cNvSpPr>
            <p:nvPr/>
          </p:nvSpPr>
          <p:spPr bwMode="auto">
            <a:xfrm>
              <a:off x="4681341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(indirect) = 1</a:t>
              </a:r>
            </a:p>
          </p:txBody>
        </p:sp>
        <p:sp>
          <p:nvSpPr>
            <p:cNvPr id="107" name="Rectangle 100"/>
            <p:cNvSpPr>
              <a:spLocks noChangeArrowheads="1"/>
            </p:cNvSpPr>
            <p:nvPr/>
          </p:nvSpPr>
          <p:spPr bwMode="auto">
            <a:xfrm>
              <a:off x="2653403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8" name="Rectangle 101"/>
            <p:cNvSpPr>
              <a:spLocks noChangeArrowheads="1"/>
            </p:cNvSpPr>
            <p:nvPr/>
          </p:nvSpPr>
          <p:spPr bwMode="auto">
            <a:xfrm>
              <a:off x="4399398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9" name="Rectangle 102"/>
            <p:cNvSpPr>
              <a:spLocks noChangeArrowheads="1"/>
            </p:cNvSpPr>
            <p:nvPr/>
          </p:nvSpPr>
          <p:spPr bwMode="auto">
            <a:xfrm>
              <a:off x="5653459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0" name="Rectangle 103"/>
            <p:cNvSpPr>
              <a:spLocks noChangeArrowheads="1"/>
            </p:cNvSpPr>
            <p:nvPr/>
          </p:nvSpPr>
          <p:spPr bwMode="auto">
            <a:xfrm>
              <a:off x="6772422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1" name="Rectangle 104"/>
            <p:cNvSpPr>
              <a:spLocks noChangeArrowheads="1"/>
            </p:cNvSpPr>
            <p:nvPr/>
          </p:nvSpPr>
          <p:spPr bwMode="auto">
            <a:xfrm>
              <a:off x="5653459" y="4526536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2" name="Rectangle 105"/>
            <p:cNvSpPr>
              <a:spLocks noChangeArrowheads="1"/>
            </p:cNvSpPr>
            <p:nvPr/>
          </p:nvSpPr>
          <p:spPr bwMode="auto">
            <a:xfrm>
              <a:off x="5248165" y="4669303"/>
              <a:ext cx="135527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memory-reference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3" name="Rectangle 106"/>
            <p:cNvSpPr>
              <a:spLocks noChangeArrowheads="1"/>
            </p:cNvSpPr>
            <p:nvPr/>
          </p:nvSpPr>
          <p:spPr bwMode="auto">
            <a:xfrm>
              <a:off x="5555072" y="4809128"/>
              <a:ext cx="9845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</p:txBody>
        </p:sp>
        <p:sp>
          <p:nvSpPr>
            <p:cNvPr id="114" name="Rectangle 107"/>
            <p:cNvSpPr>
              <a:spLocks noChangeArrowheads="1"/>
            </p:cNvSpPr>
            <p:nvPr/>
          </p:nvSpPr>
          <p:spPr bwMode="auto">
            <a:xfrm>
              <a:off x="5640242" y="4971030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115" name="Rectangle 108"/>
            <p:cNvSpPr>
              <a:spLocks noChangeArrowheads="1"/>
            </p:cNvSpPr>
            <p:nvPr/>
          </p:nvSpPr>
          <p:spPr bwMode="auto">
            <a:xfrm>
              <a:off x="5960366" y="4971030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16" name="Rectangle 109"/>
            <p:cNvSpPr>
              <a:spLocks noChangeArrowheads="1"/>
            </p:cNvSpPr>
            <p:nvPr/>
          </p:nvSpPr>
          <p:spPr bwMode="auto">
            <a:xfrm>
              <a:off x="6207066" y="49710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7" name="Rectangle 110"/>
            <p:cNvSpPr>
              <a:spLocks noChangeArrowheads="1"/>
            </p:cNvSpPr>
            <p:nvPr/>
          </p:nvSpPr>
          <p:spPr bwMode="auto">
            <a:xfrm>
              <a:off x="5187958" y="4538310"/>
              <a:ext cx="1669635" cy="6637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Arc 111"/>
            <p:cNvSpPr>
              <a:spLocks/>
            </p:cNvSpPr>
            <p:nvPr/>
          </p:nvSpPr>
          <p:spPr bwMode="auto">
            <a:xfrm>
              <a:off x="5345083" y="4429394"/>
              <a:ext cx="92512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 flipV="1">
              <a:off x="5389137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Arc 113"/>
            <p:cNvSpPr>
              <a:spLocks/>
            </p:cNvSpPr>
            <p:nvPr/>
          </p:nvSpPr>
          <p:spPr bwMode="auto">
            <a:xfrm>
              <a:off x="6612360" y="4429394"/>
              <a:ext cx="91044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 flipV="1">
              <a:off x="6656414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2" name="Arc 115"/>
            <p:cNvSpPr>
              <a:spLocks/>
            </p:cNvSpPr>
            <p:nvPr/>
          </p:nvSpPr>
          <p:spPr bwMode="auto">
            <a:xfrm>
              <a:off x="5972114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 flipV="1">
              <a:off x="6017636" y="5212411"/>
              <a:ext cx="0" cy="10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4" name="Line 117"/>
            <p:cNvSpPr>
              <a:spLocks noChangeShapeType="1"/>
            </p:cNvSpPr>
            <p:nvPr/>
          </p:nvSpPr>
          <p:spPr bwMode="auto">
            <a:xfrm flipH="1">
              <a:off x="1682754" y="5393446"/>
              <a:ext cx="43422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Arc 118"/>
            <p:cNvSpPr>
              <a:spLocks/>
            </p:cNvSpPr>
            <p:nvPr/>
          </p:nvSpPr>
          <p:spPr bwMode="auto">
            <a:xfrm>
              <a:off x="2355307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Line 119"/>
            <p:cNvSpPr>
              <a:spLocks noChangeShapeType="1"/>
            </p:cNvSpPr>
            <p:nvPr/>
          </p:nvSpPr>
          <p:spPr bwMode="auto">
            <a:xfrm flipV="1">
              <a:off x="2402298" y="4764973"/>
              <a:ext cx="0" cy="551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Arc 120"/>
            <p:cNvSpPr>
              <a:spLocks/>
            </p:cNvSpPr>
            <p:nvPr/>
          </p:nvSpPr>
          <p:spPr bwMode="auto">
            <a:xfrm>
              <a:off x="3881032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Line 121"/>
            <p:cNvSpPr>
              <a:spLocks noChangeShapeType="1"/>
            </p:cNvSpPr>
            <p:nvPr/>
          </p:nvSpPr>
          <p:spPr bwMode="auto">
            <a:xfrm flipV="1">
              <a:off x="3928023" y="4747311"/>
              <a:ext cx="0" cy="569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122"/>
            <p:cNvSpPr>
              <a:spLocks noChangeShapeType="1"/>
            </p:cNvSpPr>
            <p:nvPr/>
          </p:nvSpPr>
          <p:spPr bwMode="auto">
            <a:xfrm>
              <a:off x="1700376" y="1273780"/>
              <a:ext cx="0" cy="41049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 flipH="1">
              <a:off x="1682754" y="1259061"/>
              <a:ext cx="1906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Rectangle 126"/>
            <p:cNvSpPr>
              <a:spLocks noChangeArrowheads="1"/>
            </p:cNvSpPr>
            <p:nvPr/>
          </p:nvSpPr>
          <p:spPr bwMode="auto">
            <a:xfrm>
              <a:off x="6884025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E681D52-E2F2-0740-F9A6-D7D0E370BF03}"/>
              </a:ext>
            </a:extLst>
          </p:cNvPr>
          <p:cNvSpPr txBox="1"/>
          <p:nvPr/>
        </p:nvSpPr>
        <p:spPr>
          <a:xfrm>
            <a:off x="5678424" y="1318244"/>
            <a:ext cx="59070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Every instruction starts with SC reset to zero</a:t>
            </a:r>
          </a:p>
          <a:p>
            <a:pPr marL="342900" indent="-342900">
              <a:buAutoNum type="arabicPeriod"/>
            </a:pPr>
            <a:r>
              <a:rPr lang="en-US" dirty="0"/>
              <a:t>Opcode is between 000 and 110 (Memory Reference)</a:t>
            </a:r>
          </a:p>
          <a:p>
            <a:pPr marL="342900" indent="-342900">
              <a:buAutoNum type="arabicPeriod"/>
            </a:pPr>
            <a:r>
              <a:rPr lang="en-US" dirty="0"/>
              <a:t>D7 is one of output of (3*8) decoder</a:t>
            </a:r>
          </a:p>
          <a:p>
            <a:pPr marL="342900" indent="-342900">
              <a:buAutoNum type="arabicPeriod"/>
            </a:pPr>
            <a:r>
              <a:rPr lang="en-US" dirty="0"/>
              <a:t>T0,TI (Fetch)</a:t>
            </a:r>
          </a:p>
          <a:p>
            <a:pPr marL="342900" indent="-342900">
              <a:buAutoNum type="arabicPeriod"/>
            </a:pPr>
            <a:r>
              <a:rPr lang="en-US" dirty="0"/>
              <a:t>T2 (Decode)</a:t>
            </a:r>
          </a:p>
          <a:p>
            <a:pPr marL="342900" indent="-342900">
              <a:buAutoNum type="arabicPeriod"/>
            </a:pPr>
            <a:r>
              <a:rPr lang="en-US" dirty="0"/>
              <a:t>T3,T4 (execute)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66555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456" y="304800"/>
            <a:ext cx="11759184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Determining Type of Instruction</a:t>
            </a:r>
          </a:p>
        </p:txBody>
      </p:sp>
      <p:sp>
        <p:nvSpPr>
          <p:cNvPr id="25607" name="Rectangle 124"/>
          <p:cNvSpPr>
            <a:spLocks noChangeArrowheads="1"/>
          </p:cNvSpPr>
          <p:nvPr/>
        </p:nvSpPr>
        <p:spPr bwMode="auto">
          <a:xfrm>
            <a:off x="393192" y="1230000"/>
            <a:ext cx="8010144" cy="21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D'7IT</a:t>
            </a:r>
            <a:r>
              <a:rPr lang="en-US" altLang="ko-KR" b="1" dirty="0">
                <a:latin typeface="Calibri" panose="020F0502020204030204" pitchFamily="34" charset="0"/>
              </a:rPr>
              <a:t>3</a:t>
            </a:r>
            <a:r>
              <a:rPr lang="en-US" altLang="ko-KR" sz="2400" b="1" dirty="0">
                <a:latin typeface="Calibri" panose="020F0502020204030204" pitchFamily="34" charset="0"/>
              </a:rPr>
              <a:t>:	AR </a:t>
            </a:r>
            <a:r>
              <a:rPr lang="en-US" altLang="ko-KR" sz="2400" b="1" dirty="0">
                <a:latin typeface="Symbol" panose="05050102010706020507" pitchFamily="18" charset="2"/>
              </a:rPr>
              <a:t></a:t>
            </a:r>
            <a:r>
              <a:rPr lang="en-US" altLang="ko-KR" sz="2400" b="1" dirty="0">
                <a:latin typeface="Calibri" panose="020F0502020204030204" pitchFamily="34" charset="0"/>
              </a:rPr>
              <a:t>M[AR]</a:t>
            </a:r>
          </a:p>
          <a:p>
            <a:pPr lvl="3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D'</a:t>
            </a:r>
            <a:r>
              <a:rPr lang="en-US" altLang="ko-KR" b="1" dirty="0">
                <a:latin typeface="Calibri" panose="020F0502020204030204" pitchFamily="34" charset="0"/>
              </a:rPr>
              <a:t>7</a:t>
            </a:r>
            <a:r>
              <a:rPr lang="en-US" altLang="ko-KR" sz="2400" b="1" dirty="0">
                <a:latin typeface="Calibri" panose="020F0502020204030204" pitchFamily="34" charset="0"/>
              </a:rPr>
              <a:t>I'T</a:t>
            </a:r>
            <a:r>
              <a:rPr lang="en-US" altLang="ko-KR" b="1" dirty="0">
                <a:latin typeface="Calibri" panose="020F0502020204030204" pitchFamily="34" charset="0"/>
              </a:rPr>
              <a:t>3</a:t>
            </a:r>
            <a:r>
              <a:rPr lang="en-US" altLang="ko-KR" sz="2400" b="1" dirty="0">
                <a:latin typeface="Calibri" panose="020F0502020204030204" pitchFamily="34" charset="0"/>
              </a:rPr>
              <a:t>:	Nothing (</a:t>
            </a:r>
            <a:r>
              <a:rPr lang="en-US" altLang="ko-KR" sz="2400" dirty="0">
                <a:latin typeface="Calibri" panose="020F0502020204030204" pitchFamily="34" charset="0"/>
              </a:rPr>
              <a:t>As </a:t>
            </a:r>
            <a:r>
              <a:rPr lang="en-US" sz="2000" dirty="0"/>
              <a:t>AR already contains the effective address</a:t>
            </a:r>
            <a:r>
              <a:rPr lang="en-US" altLang="ko-KR" sz="2400" b="1" dirty="0">
                <a:latin typeface="Calibri" panose="020F0502020204030204" pitchFamily="34" charset="0"/>
              </a:rPr>
              <a:t>)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D</a:t>
            </a:r>
            <a:r>
              <a:rPr lang="en-US" altLang="ko-KR" b="1" dirty="0">
                <a:latin typeface="Calibri" panose="020F0502020204030204" pitchFamily="34" charset="0"/>
              </a:rPr>
              <a:t>7</a:t>
            </a:r>
            <a:r>
              <a:rPr lang="en-US" altLang="ko-KR" sz="2400" b="1" dirty="0">
                <a:latin typeface="Calibri" panose="020F0502020204030204" pitchFamily="34" charset="0"/>
              </a:rPr>
              <a:t>I'T</a:t>
            </a:r>
            <a:r>
              <a:rPr lang="en-US" altLang="ko-KR" b="1" dirty="0">
                <a:latin typeface="Calibri" panose="020F0502020204030204" pitchFamily="34" charset="0"/>
              </a:rPr>
              <a:t>3</a:t>
            </a:r>
            <a:r>
              <a:rPr lang="en-US" altLang="ko-KR" sz="2400" b="1" dirty="0">
                <a:latin typeface="Calibri" panose="020F0502020204030204" pitchFamily="34" charset="0"/>
              </a:rPr>
              <a:t>:	Execute a register-reference instr.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D</a:t>
            </a:r>
            <a:r>
              <a:rPr lang="en-US" altLang="ko-KR" b="1" dirty="0">
                <a:latin typeface="Calibri" panose="020F0502020204030204" pitchFamily="34" charset="0"/>
              </a:rPr>
              <a:t>7</a:t>
            </a:r>
            <a:r>
              <a:rPr lang="en-US" altLang="ko-KR" sz="2400" b="1" dirty="0">
                <a:latin typeface="Calibri" panose="020F0502020204030204" pitchFamily="34" charset="0"/>
              </a:rPr>
              <a:t>IT</a:t>
            </a:r>
            <a:r>
              <a:rPr lang="en-US" altLang="ko-KR" b="1" dirty="0">
                <a:latin typeface="Calibri" panose="020F0502020204030204" pitchFamily="34" charset="0"/>
              </a:rPr>
              <a:t>3</a:t>
            </a:r>
            <a:r>
              <a:rPr lang="en-US" altLang="ko-KR" sz="2400" b="1" dirty="0">
                <a:latin typeface="Calibri" panose="020F0502020204030204" pitchFamily="34" charset="0"/>
              </a:rPr>
              <a:t>:	Execute an input-output instr.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1A64032C-F5E1-7DB3-1070-9DB7E0932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39165468"/>
              </p:ext>
            </p:extLst>
          </p:nvPr>
        </p:nvGraphicFramePr>
        <p:xfrm>
          <a:off x="582168" y="4144452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7515054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33139980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2683037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Opcode</a:t>
                      </a:r>
                      <a:r>
                        <a:rPr lang="en-IN" dirty="0"/>
                        <a:t>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Action at T3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0325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Memory-ref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AR ← M[AR]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57120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Memory-ref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4989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Reg-ref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 reg-ref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5724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 =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Execute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063137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68FFB38-04B3-78F5-BEFF-2C0C87C90F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lumMod val="10000"/>
                <a:lumOff val="9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09409" y="1115472"/>
            <a:ext cx="2863997" cy="7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6508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3093205" y="993204"/>
            <a:ext cx="7418699" cy="5864796"/>
            <a:chOff x="560388" y="808038"/>
            <a:chExt cx="7680414" cy="6263705"/>
          </a:xfrm>
        </p:grpSpPr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560388" y="1223431"/>
              <a:ext cx="7680414" cy="5848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AND        0xxx     8xxx       AND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ADD        1xxx     9xxx       Add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LDA         2xxx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Axxx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Load AC from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STA         3xxx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Bxxx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Store content of AC into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BUN        4xxx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Cxxx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 Branch unconditionally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BSA        5xxx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Dxxx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Branch and save return address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ISZ          6xxx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Exxx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Increment and skip if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CLA	   7800	          Clear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CLE	   7400	          Clear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CMA	   7200              Complement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CME	   7100	          Complement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CIR	   7080	          Circulate right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CIL	   7040	          Circulate left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INC	   7020	          Increment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SPA	   7010	          Skip next instr. if AC is positive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SNA	   7008	          Skip next instr. if AC is negative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SZA	   7004	          Skip next instr. if AC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SZE	   7002	          Skip next instr. if E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HLT	   7001	          Halt computer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INP	   F800	          Input character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OUT	   F400	          Output character from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SKI                F200	          Skip on input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SKO	   F100	          Skip on output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ION	   F080	          Interrupt on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IOF	   F040	          Interrupt off</a:t>
              </a:r>
            </a:p>
            <a:p>
              <a:pPr defTabSz="762000" latinLnBrk="1">
                <a:lnSpc>
                  <a:spcPct val="80000"/>
                </a:lnSpc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grpSp>
          <p:nvGrpSpPr>
            <p:cNvPr id="3" name="Group 97"/>
            <p:cNvGrpSpPr>
              <a:grpSpLocks/>
            </p:cNvGrpSpPr>
            <p:nvPr/>
          </p:nvGrpSpPr>
          <p:grpSpPr bwMode="auto">
            <a:xfrm>
              <a:off x="1043578" y="808038"/>
              <a:ext cx="6408712" cy="6022337"/>
              <a:chOff x="1046753" y="808038"/>
              <a:chExt cx="6408712" cy="6022337"/>
            </a:xfrm>
          </p:grpSpPr>
          <p:sp>
            <p:nvSpPr>
              <p:cNvPr id="89" name="Rectangle 3"/>
              <p:cNvSpPr>
                <a:spLocks noChangeArrowheads="1"/>
              </p:cNvSpPr>
              <p:nvPr/>
            </p:nvSpPr>
            <p:spPr bwMode="auto">
              <a:xfrm>
                <a:off x="1096058" y="808038"/>
                <a:ext cx="6359407" cy="5149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                    Hex Code</a:t>
                </a:r>
              </a:p>
              <a:p>
                <a:pPr defTabSz="762000">
                  <a:defRPr/>
                </a:pPr>
                <a:r>
                  <a:rPr lang="en-US" altLang="ko-KR" sz="1400" b="1" i="1" kern="0" dirty="0">
                    <a:solidFill>
                      <a:sysClr val="windowText" lastClr="000000"/>
                    </a:solidFill>
                    <a:cs typeface="Arial" pitchFamily="34" charset="0"/>
                  </a:rPr>
                  <a:t>Symbol    I = 0       I = 1                  Description</a:t>
                </a:r>
              </a:p>
            </p:txBody>
          </p:sp>
          <p:sp>
            <p:nvSpPr>
              <p:cNvPr id="90" name="Rectangle 4"/>
              <p:cNvSpPr>
                <a:spLocks noChangeArrowheads="1"/>
              </p:cNvSpPr>
              <p:nvPr/>
            </p:nvSpPr>
            <p:spPr bwMode="auto">
              <a:xfrm>
                <a:off x="1068119" y="914854"/>
                <a:ext cx="5412056" cy="591552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1906306" y="1019973"/>
                <a:ext cx="132137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1046753" y="1230212"/>
                <a:ext cx="540383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 flipH="1">
                <a:off x="1825774" y="847035"/>
                <a:ext cx="60810" cy="590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H="1">
                <a:off x="3166872" y="857207"/>
                <a:ext cx="52592" cy="5973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6" name="Line 15"/>
              <p:cNvSpPr>
                <a:spLocks noChangeShapeType="1"/>
              </p:cNvSpPr>
              <p:nvPr/>
            </p:nvSpPr>
            <p:spPr bwMode="auto">
              <a:xfrm>
                <a:off x="1056614" y="2667978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7" name="Line 16"/>
              <p:cNvSpPr>
                <a:spLocks noChangeShapeType="1"/>
              </p:cNvSpPr>
              <p:nvPr/>
            </p:nvSpPr>
            <p:spPr bwMode="auto">
              <a:xfrm>
                <a:off x="1066475" y="5446865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8566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6304" y="304800"/>
            <a:ext cx="10293096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Register Reference Instruction</a:t>
            </a: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3389726" y="2462974"/>
            <a:ext cx="5002973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r = D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7</a:t>
            </a:r>
            <a:r>
              <a:rPr lang="en-US" altLang="ko-KR" sz="1600" b="1" dirty="0">
                <a:cs typeface="Arial" panose="020B0604020202020204" pitchFamily="34" charset="0"/>
              </a:rPr>
              <a:t> I</a:t>
            </a:r>
            <a:r>
              <a:rPr lang="en-US" altLang="ko-KR" sz="1600" b="1" dirty="0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600" b="1" dirty="0">
                <a:cs typeface="Arial" panose="020B0604020202020204" pitchFamily="34" charset="0"/>
              </a:rPr>
              <a:t>T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3</a:t>
            </a:r>
            <a:r>
              <a:rPr lang="en-US" altLang="ko-KR" sz="1600" b="1" dirty="0">
                <a:cs typeface="Arial" panose="020B0604020202020204" pitchFamily="34" charset="0"/>
              </a:rPr>
              <a:t>   =&gt; Register Reference Instruction (r=1)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B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i</a:t>
            </a:r>
            <a:r>
              <a:rPr lang="en-US" altLang="ko-KR" sz="1600" b="1" dirty="0">
                <a:cs typeface="Arial" panose="020B0604020202020204" pitchFamily="34" charset="0"/>
              </a:rPr>
              <a:t> = IR(</a:t>
            </a:r>
            <a:r>
              <a:rPr lang="en-US" altLang="ko-KR" sz="1600" b="1" dirty="0" err="1">
                <a:cs typeface="Arial" panose="020B0604020202020204" pitchFamily="34" charset="0"/>
              </a:rPr>
              <a:t>i</a:t>
            </a:r>
            <a:r>
              <a:rPr lang="en-US" altLang="ko-KR" sz="1600" b="1" dirty="0">
                <a:cs typeface="Arial" panose="020B0604020202020204" pitchFamily="34" charset="0"/>
              </a:rPr>
              <a:t>) , </a:t>
            </a:r>
            <a:r>
              <a:rPr lang="en-US" altLang="ko-KR" sz="1600" b="1" dirty="0" err="1">
                <a:cs typeface="Arial" panose="020B0604020202020204" pitchFamily="34" charset="0"/>
              </a:rPr>
              <a:t>i</a:t>
            </a:r>
            <a:r>
              <a:rPr lang="en-US" altLang="ko-KR" sz="1600" b="1" dirty="0">
                <a:cs typeface="Arial" panose="020B0604020202020204" pitchFamily="34" charset="0"/>
              </a:rPr>
              <a:t>=0,1,2,...,11</a:t>
            </a:r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3646823" y="1467865"/>
            <a:ext cx="4822154" cy="78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sz="1600" b="1" dirty="0">
                <a:cs typeface="Arial" panose="020B0604020202020204" pitchFamily="34" charset="0"/>
              </a:rPr>
              <a:t>-  D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7</a:t>
            </a:r>
            <a:r>
              <a:rPr lang="en-US" altLang="ko-KR" sz="1600" b="1" dirty="0">
                <a:cs typeface="Arial" panose="020B0604020202020204" pitchFamily="34" charset="0"/>
              </a:rPr>
              <a:t> = 1,  I = 0, </a:t>
            </a:r>
            <a:r>
              <a:rPr lang="en-IN" sz="1600" dirty="0"/>
              <a:t>Opcode = </a:t>
            </a:r>
            <a:r>
              <a:rPr lang="en-IN" dirty="0"/>
              <a:t>111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-  Register Ref. Instr. is specified in b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0</a:t>
            </a:r>
            <a:r>
              <a:rPr lang="en-US" altLang="ko-KR" sz="1600" b="1" dirty="0">
                <a:cs typeface="Arial" panose="020B0604020202020204" pitchFamily="34" charset="0"/>
              </a:rPr>
              <a:t> ~ b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11</a:t>
            </a:r>
            <a:r>
              <a:rPr lang="en-US" altLang="ko-KR" sz="1600" b="1" dirty="0">
                <a:cs typeface="Arial" panose="020B0604020202020204" pitchFamily="34" charset="0"/>
              </a:rPr>
              <a:t> of IR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ko-KR" sz="1600" b="1" dirty="0">
                <a:cs typeface="Arial" panose="020B0604020202020204" pitchFamily="34" charset="0"/>
              </a:rPr>
              <a:t>-  Execution directly starts with timing signal T</a:t>
            </a:r>
            <a:r>
              <a:rPr lang="en-US" altLang="ko-KR" sz="1600" b="1" baseline="-25000" dirty="0">
                <a:cs typeface="Arial" panose="020B0604020202020204" pitchFamily="34" charset="0"/>
              </a:rPr>
              <a:t>3</a:t>
            </a:r>
            <a:endParaRPr lang="en-US" altLang="ko-KR" sz="1600" b="1" dirty="0">
              <a:cs typeface="Arial" panose="020B0604020202020204" pitchFamily="34" charset="0"/>
            </a:endParaRPr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500222" y="1003378"/>
            <a:ext cx="9181169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Register Reference Instructions are identified when (No address, no memory, executes in T3)</a:t>
            </a:r>
          </a:p>
        </p:txBody>
      </p:sp>
      <p:sp>
        <p:nvSpPr>
          <p:cNvPr id="26634" name="Text Box 73"/>
          <p:cNvSpPr txBox="1">
            <a:spLocks noChangeArrowheads="1"/>
          </p:cNvSpPr>
          <p:nvPr/>
        </p:nvSpPr>
        <p:spPr bwMode="auto">
          <a:xfrm>
            <a:off x="2510605" y="3171826"/>
            <a:ext cx="788707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	r:		SC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CLA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11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 (clear accumulator)</a:t>
            </a: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CLE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10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CMA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9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AC’ (</a:t>
            </a:r>
            <a:r>
              <a:rPr lang="en-US" altLang="ko-KR" sz="16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1’s complement accumulator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CME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8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E’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CIR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7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</a:t>
            </a:r>
            <a:r>
              <a:rPr lang="en-US" altLang="ko-KR" sz="1600" b="1" dirty="0" err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shr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AC, AC(15)  E, E  AC(0)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CIL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</a:t>
            </a:r>
            <a:r>
              <a:rPr lang="en-US" altLang="ko-KR" sz="1600" b="1" dirty="0" err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shl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AC, AC(0)  E, E  AC(15)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INC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 + 1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SPA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if (AC(15) = 0) then (PC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 (</a:t>
            </a:r>
            <a:r>
              <a:rPr lang="en-US" altLang="ko-KR" sz="16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AC positive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SNA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if (AC(15) = 1) then (PC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SZA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if (AC = 0) then (PC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SZE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if (E = 0) then (PC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HLT	rB</a:t>
            </a:r>
            <a:r>
              <a:rPr lang="en-US" altLang="ko-KR" sz="1600" b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</a:rPr>
              <a:t>:		S </a:t>
            </a:r>
            <a:r>
              <a: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  (S is a start-stop flip-flop)(</a:t>
            </a:r>
            <a:r>
              <a:rPr lang="en-US" altLang="ko-KR" sz="16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Execution stops/</a:t>
            </a:r>
            <a:r>
              <a:rPr lang="en-US" altLang="ko-KR" sz="1600" b="1" dirty="0" err="1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hault</a:t>
            </a:r>
            <a:r>
              <a:rPr lang="en-US" altLang="ko-KR" sz="16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6635" name="Rectangle 74"/>
          <p:cNvSpPr>
            <a:spLocks noChangeArrowheads="1"/>
          </p:cNvSpPr>
          <p:nvPr/>
        </p:nvSpPr>
        <p:spPr bwMode="auto">
          <a:xfrm>
            <a:off x="2468882" y="3082912"/>
            <a:ext cx="7970518" cy="341480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cs typeface="Arial" panose="020B0604020202020204" pitchFamily="34" charset="0"/>
            </a:endParaRPr>
          </a:p>
        </p:txBody>
      </p:sp>
      <p:sp>
        <p:nvSpPr>
          <p:cNvPr id="26636" name="Line 75"/>
          <p:cNvSpPr>
            <a:spLocks noChangeShapeType="1"/>
          </p:cNvSpPr>
          <p:nvPr/>
        </p:nvSpPr>
        <p:spPr bwMode="auto">
          <a:xfrm>
            <a:off x="3314700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76"/>
          <p:cNvSpPr>
            <a:spLocks noChangeShapeType="1"/>
          </p:cNvSpPr>
          <p:nvPr/>
        </p:nvSpPr>
        <p:spPr bwMode="auto">
          <a:xfrm>
            <a:off x="4181475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CF49FE5-C726-8155-0EC8-03B5A92B52FB}"/>
              </a:ext>
            </a:extLst>
          </p:cNvPr>
          <p:cNvSpPr txBox="1"/>
          <p:nvPr/>
        </p:nvSpPr>
        <p:spPr>
          <a:xfrm>
            <a:off x="109225" y="1383824"/>
            <a:ext cx="28594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Each bit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Bi</a:t>
            </a:r>
            <a:r>
              <a:rPr lang="en-US" dirty="0">
                <a:solidFill>
                  <a:srgbClr val="FF0000"/>
                </a:solidFill>
              </a:rPr>
              <a:t> corresponds to </a:t>
            </a:r>
            <a:r>
              <a:rPr lang="en-US" b="1" dirty="0">
                <a:solidFill>
                  <a:srgbClr val="FF0000"/>
                </a:solidFill>
              </a:rPr>
              <a:t>one register reference </a:t>
            </a:r>
            <a:r>
              <a:rPr lang="en-US" b="1" dirty="0" smtClean="0">
                <a:solidFill>
                  <a:srgbClr val="FF0000"/>
                </a:solidFill>
              </a:rPr>
              <a:t>instruction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Only </a:t>
            </a:r>
            <a:r>
              <a:rPr lang="en-US" b="1" dirty="0">
                <a:solidFill>
                  <a:srgbClr val="FF0000"/>
                </a:solidFill>
              </a:rPr>
              <a:t>one bit is set to 1 at a time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6439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456" y="304800"/>
            <a:ext cx="10219944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7655" name="Group 21"/>
          <p:cNvGrpSpPr>
            <a:grpSpLocks/>
          </p:cNvGrpSpPr>
          <p:nvPr/>
        </p:nvGrpSpPr>
        <p:grpSpPr bwMode="auto">
          <a:xfrm>
            <a:off x="1901826" y="1081089"/>
            <a:ext cx="8842375" cy="5091108"/>
            <a:chOff x="171450" y="862013"/>
            <a:chExt cx="8842375" cy="509205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738188" y="862013"/>
              <a:ext cx="34925" cy="157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71450" y="4595813"/>
              <a:ext cx="8229726" cy="1358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AND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 DR, SC  0			AND with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ADD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Read/Fetch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+ DR, E  C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, SC  0	Add to AC and store carry in E, Reset SC</a:t>
              </a:r>
            </a:p>
            <a:p>
              <a:pPr eaLnBrk="1" hangingPunct="1">
                <a:lnSpc>
                  <a:spcPct val="102000"/>
                </a:lnSpc>
              </a:pPr>
              <a:endPara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58" name="Rectangle 6"/>
            <p:cNvSpPr>
              <a:spLocks noChangeArrowheads="1"/>
            </p:cNvSpPr>
            <p:nvPr/>
          </p:nvSpPr>
          <p:spPr bwMode="auto">
            <a:xfrm>
              <a:off x="352425" y="3422650"/>
              <a:ext cx="8661400" cy="103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</a:t>
              </a:r>
              <a:r>
                <a:rPr lang="en-US" altLang="ko-KR" sz="16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The effective address of the instruction is in AR </a:t>
              </a:r>
              <a:r>
                <a:rPr lang="en-US" altLang="ko-KR" sz="1600" b="1" dirty="0">
                  <a:cs typeface="Arial" panose="020B0604020202020204" pitchFamily="34" charset="0"/>
                </a:rPr>
                <a:t>and was placed there during </a:t>
              </a: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	timing signal 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cs typeface="Arial" panose="020B0604020202020204" pitchFamily="34" charset="0"/>
                </a:rPr>
                <a:t> when I = 0, or during timing signal 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sz="1600" b="1" dirty="0">
                  <a:cs typeface="Arial" panose="020B0604020202020204" pitchFamily="34" charset="0"/>
                </a:rPr>
                <a:t> when I = 1</a:t>
              </a: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Memory cycle is assumed to be short enough to complete in a CPU cycle</a:t>
              </a: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execution of MR instruction starts with </a:t>
              </a:r>
              <a:r>
                <a:rPr lang="en-US" altLang="ko-KR" sz="16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solidFill>
                    <a:srgbClr val="FF0000"/>
                  </a:solidFill>
                  <a:cs typeface="Arial" panose="020B0604020202020204" pitchFamily="34" charset="0"/>
                </a:rPr>
                <a:t>4</a:t>
              </a:r>
              <a:endParaRPr lang="en-US" altLang="ko-KR" sz="1600" b="1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659" name="Rectangle 45"/>
            <p:cNvSpPr>
              <a:spLocks noChangeArrowheads="1"/>
            </p:cNvSpPr>
            <p:nvPr/>
          </p:nvSpPr>
          <p:spPr bwMode="auto">
            <a:xfrm>
              <a:off x="523875" y="1054100"/>
              <a:ext cx="684483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</a:t>
              </a:r>
            </a:p>
          </p:txBody>
        </p:sp>
        <p:sp>
          <p:nvSpPr>
            <p:cNvPr id="27660" name="Rectangle 46"/>
            <p:cNvSpPr>
              <a:spLocks noChangeArrowheads="1"/>
            </p:cNvSpPr>
            <p:nvPr/>
          </p:nvSpPr>
          <p:spPr bwMode="auto">
            <a:xfrm>
              <a:off x="1301750" y="965200"/>
              <a:ext cx="856004" cy="40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Operation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27661" name="Rectangle 47"/>
            <p:cNvSpPr>
              <a:spLocks noChangeArrowheads="1"/>
            </p:cNvSpPr>
            <p:nvPr/>
          </p:nvSpPr>
          <p:spPr bwMode="auto">
            <a:xfrm>
              <a:off x="2355850" y="1054100"/>
              <a:ext cx="170238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Symbolic Description</a:t>
              </a:r>
            </a:p>
          </p:txBody>
        </p:sp>
        <p:sp>
          <p:nvSpPr>
            <p:cNvPr id="27662" name="Line 48"/>
            <p:cNvSpPr>
              <a:spLocks noChangeShapeType="1"/>
            </p:cNvSpPr>
            <p:nvPr/>
          </p:nvSpPr>
          <p:spPr bwMode="auto">
            <a:xfrm>
              <a:off x="1225550" y="95250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50"/>
            <p:cNvSpPr>
              <a:spLocks noChangeArrowheads="1"/>
            </p:cNvSpPr>
            <p:nvPr/>
          </p:nvSpPr>
          <p:spPr bwMode="auto">
            <a:xfrm>
              <a:off x="428624" y="952500"/>
              <a:ext cx="8245471" cy="21875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64" name="Text Box 89"/>
            <p:cNvSpPr txBox="1">
              <a:spLocks noChangeArrowheads="1"/>
            </p:cNvSpPr>
            <p:nvPr/>
          </p:nvSpPr>
          <p:spPr bwMode="auto">
            <a:xfrm>
              <a:off x="469900" y="1322388"/>
              <a:ext cx="8239118" cy="1816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AND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 M[AR] (</a:t>
              </a:r>
              <a:r>
                <a:rPr lang="en-US" altLang="ko-KR" sz="1600" b="1" dirty="0">
                  <a:solidFill>
                    <a:srgbClr val="FF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Logical and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 with operand fetch from memory</a:t>
              </a:r>
            </a:p>
            <a:p>
              <a:pPr eaLnBrk="1" hangingPunct="1"/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ADD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+ M[AR], E  C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   </a:t>
              </a:r>
              <a:endPara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LDA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</a:t>
              </a:r>
            </a:p>
            <a:p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STA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(</a:t>
              </a:r>
              <a:r>
                <a:rPr lang="en-US" sz="1600" dirty="0"/>
                <a:t>Stores accumulator contents into memory)</a:t>
              </a:r>
              <a:endPara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BUN  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PC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AR (</a:t>
              </a:r>
              <a:r>
                <a:rPr lang="en-IN" sz="1600" dirty="0"/>
                <a:t>Changes program flow)</a:t>
              </a:r>
              <a:endParaRPr lang="en-US" altLang="ko-KR" sz="16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BSA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PC, PC  AR + 1</a:t>
              </a:r>
            </a:p>
            <a:p>
              <a:pPr eaLnBrk="1" hangingPunct="1"/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ISZ	  D</a:t>
              </a:r>
              <a:r>
                <a:rPr lang="en-US" altLang="ko-KR" sz="1600" b="1" baseline="-25000" dirty="0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 + 1, if M[AR] + 1 = 0 then PC  PC+1</a:t>
              </a:r>
            </a:p>
          </p:txBody>
        </p:sp>
        <p:sp>
          <p:nvSpPr>
            <p:cNvPr id="27665" name="Line 90"/>
            <p:cNvSpPr>
              <a:spLocks noChangeShapeType="1"/>
            </p:cNvSpPr>
            <p:nvPr/>
          </p:nvSpPr>
          <p:spPr bwMode="auto">
            <a:xfrm>
              <a:off x="2139950" y="97155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91"/>
            <p:cNvSpPr>
              <a:spLocks noChangeShapeType="1"/>
            </p:cNvSpPr>
            <p:nvPr/>
          </p:nvSpPr>
          <p:spPr bwMode="auto">
            <a:xfrm>
              <a:off x="428625" y="1352550"/>
              <a:ext cx="772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450481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" y="304800"/>
            <a:ext cx="1030224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8679" name="Group 65"/>
          <p:cNvGrpSpPr>
            <a:grpSpLocks/>
          </p:cNvGrpSpPr>
          <p:nvPr/>
        </p:nvGrpSpPr>
        <p:grpSpPr bwMode="auto">
          <a:xfrm>
            <a:off x="3072118" y="1041400"/>
            <a:ext cx="7367282" cy="5238750"/>
            <a:chOff x="363833" y="946127"/>
            <a:chExt cx="7367545" cy="5333820"/>
          </a:xfrm>
        </p:grpSpPr>
        <p:sp>
          <p:nvSpPr>
            <p:cNvPr id="28680" name="Rectangle 73"/>
            <p:cNvSpPr>
              <a:spLocks noChangeArrowheads="1"/>
            </p:cNvSpPr>
            <p:nvPr/>
          </p:nvSpPr>
          <p:spPr bwMode="auto">
            <a:xfrm>
              <a:off x="5059363" y="3340100"/>
              <a:ext cx="26720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  Memory, PC after execution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>
              <a:off x="6353175" y="4770438"/>
              <a:ext cx="29815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682" name="Rectangle 32"/>
            <p:cNvSpPr>
              <a:spLocks noChangeArrowheads="1"/>
            </p:cNvSpPr>
            <p:nvPr/>
          </p:nvSpPr>
          <p:spPr bwMode="auto">
            <a:xfrm>
              <a:off x="3152775" y="3629025"/>
              <a:ext cx="1504950" cy="2620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683" name="Rectangle 33"/>
            <p:cNvSpPr>
              <a:spLocks noChangeArrowheads="1"/>
            </p:cNvSpPr>
            <p:nvPr/>
          </p:nvSpPr>
          <p:spPr bwMode="auto">
            <a:xfrm>
              <a:off x="3132138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684" name="Rectangle 34"/>
            <p:cNvSpPr>
              <a:spLocks noChangeArrowheads="1"/>
            </p:cNvSpPr>
            <p:nvPr/>
          </p:nvSpPr>
          <p:spPr bwMode="auto">
            <a:xfrm>
              <a:off x="3424238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685" name="Rectangle 35"/>
            <p:cNvSpPr>
              <a:spLocks noChangeArrowheads="1"/>
            </p:cNvSpPr>
            <p:nvPr/>
          </p:nvSpPr>
          <p:spPr bwMode="auto">
            <a:xfrm>
              <a:off x="4205288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86" name="Rectangle 36"/>
            <p:cNvSpPr>
              <a:spLocks noChangeArrowheads="1"/>
            </p:cNvSpPr>
            <p:nvPr/>
          </p:nvSpPr>
          <p:spPr bwMode="auto">
            <a:xfrm>
              <a:off x="3132138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687" name="Rectangle 37"/>
            <p:cNvSpPr>
              <a:spLocks noChangeArrowheads="1"/>
            </p:cNvSpPr>
            <p:nvPr/>
          </p:nvSpPr>
          <p:spPr bwMode="auto">
            <a:xfrm>
              <a:off x="3424238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688" name="Line 38"/>
            <p:cNvSpPr>
              <a:spLocks noChangeShapeType="1"/>
            </p:cNvSpPr>
            <p:nvPr/>
          </p:nvSpPr>
          <p:spPr bwMode="auto">
            <a:xfrm>
              <a:off x="3152775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9"/>
            <p:cNvSpPr>
              <a:spLocks noChangeShapeType="1"/>
            </p:cNvSpPr>
            <p:nvPr/>
          </p:nvSpPr>
          <p:spPr bwMode="auto">
            <a:xfrm>
              <a:off x="3152775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Rectangle 40"/>
            <p:cNvSpPr>
              <a:spLocks noChangeArrowheads="1"/>
            </p:cNvSpPr>
            <p:nvPr/>
          </p:nvSpPr>
          <p:spPr bwMode="auto">
            <a:xfrm>
              <a:off x="2774950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691" name="Rectangle 41"/>
            <p:cNvSpPr>
              <a:spLocks noChangeArrowheads="1"/>
            </p:cNvSpPr>
            <p:nvPr/>
          </p:nvSpPr>
          <p:spPr bwMode="auto">
            <a:xfrm>
              <a:off x="2406650" y="3849688"/>
              <a:ext cx="74219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21</a:t>
              </a:r>
            </a:p>
          </p:txBody>
        </p:sp>
        <p:sp>
          <p:nvSpPr>
            <p:cNvPr id="28692" name="Line 42"/>
            <p:cNvSpPr>
              <a:spLocks noChangeShapeType="1"/>
            </p:cNvSpPr>
            <p:nvPr/>
          </p:nvSpPr>
          <p:spPr bwMode="auto">
            <a:xfrm>
              <a:off x="3152775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3" name="Line 43"/>
            <p:cNvSpPr>
              <a:spLocks noChangeShapeType="1"/>
            </p:cNvSpPr>
            <p:nvPr/>
          </p:nvSpPr>
          <p:spPr bwMode="auto">
            <a:xfrm>
              <a:off x="3152775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Rectangle 44"/>
            <p:cNvSpPr>
              <a:spLocks noChangeArrowheads="1"/>
            </p:cNvSpPr>
            <p:nvPr/>
          </p:nvSpPr>
          <p:spPr bwMode="auto">
            <a:xfrm>
              <a:off x="2316163" y="47513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AR = 135</a:t>
              </a:r>
            </a:p>
          </p:txBody>
        </p:sp>
        <p:sp>
          <p:nvSpPr>
            <p:cNvPr id="28695" name="Rectangle 45"/>
            <p:cNvSpPr>
              <a:spLocks noChangeArrowheads="1"/>
            </p:cNvSpPr>
            <p:nvPr/>
          </p:nvSpPr>
          <p:spPr bwMode="auto">
            <a:xfrm>
              <a:off x="2698750" y="50149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136</a:t>
              </a:r>
            </a:p>
          </p:txBody>
        </p:sp>
        <p:sp>
          <p:nvSpPr>
            <p:cNvPr id="28696" name="Rectangle 46"/>
            <p:cNvSpPr>
              <a:spLocks noChangeArrowheads="1"/>
            </p:cNvSpPr>
            <p:nvPr/>
          </p:nvSpPr>
          <p:spPr bwMode="auto">
            <a:xfrm>
              <a:off x="3132138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697" name="Rectangle 47"/>
            <p:cNvSpPr>
              <a:spLocks noChangeArrowheads="1"/>
            </p:cNvSpPr>
            <p:nvPr/>
          </p:nvSpPr>
          <p:spPr bwMode="auto">
            <a:xfrm>
              <a:off x="3424238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698" name="Rectangle 48"/>
            <p:cNvSpPr>
              <a:spLocks noChangeArrowheads="1"/>
            </p:cNvSpPr>
            <p:nvPr/>
          </p:nvSpPr>
          <p:spPr bwMode="auto">
            <a:xfrm>
              <a:off x="4186238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99" name="Line 49"/>
            <p:cNvSpPr>
              <a:spLocks noChangeShapeType="1"/>
            </p:cNvSpPr>
            <p:nvPr/>
          </p:nvSpPr>
          <p:spPr bwMode="auto">
            <a:xfrm>
              <a:off x="3152775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Arc 50"/>
            <p:cNvSpPr>
              <a:spLocks/>
            </p:cNvSpPr>
            <p:nvPr/>
          </p:nvSpPr>
          <p:spPr bwMode="auto">
            <a:xfrm>
              <a:off x="3832225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01" name="Line 51"/>
            <p:cNvSpPr>
              <a:spLocks noChangeShapeType="1"/>
            </p:cNvSpPr>
            <p:nvPr/>
          </p:nvSpPr>
          <p:spPr bwMode="auto">
            <a:xfrm>
              <a:off x="3879850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Rectangle 52"/>
            <p:cNvSpPr>
              <a:spLocks noChangeArrowheads="1"/>
            </p:cNvSpPr>
            <p:nvPr/>
          </p:nvSpPr>
          <p:spPr bwMode="auto">
            <a:xfrm>
              <a:off x="2481263" y="3311525"/>
              <a:ext cx="25124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Memory, PC, AR at time T4</a:t>
              </a:r>
            </a:p>
          </p:txBody>
        </p:sp>
        <p:sp>
          <p:nvSpPr>
            <p:cNvPr id="28703" name="Rectangle 53"/>
            <p:cNvSpPr>
              <a:spLocks noChangeArrowheads="1"/>
            </p:cNvSpPr>
            <p:nvPr/>
          </p:nvSpPr>
          <p:spPr bwMode="auto">
            <a:xfrm>
              <a:off x="5816600" y="3643313"/>
              <a:ext cx="1504950" cy="262096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704" name="Rectangle 54"/>
            <p:cNvSpPr>
              <a:spLocks noChangeArrowheads="1"/>
            </p:cNvSpPr>
            <p:nvPr/>
          </p:nvSpPr>
          <p:spPr bwMode="auto">
            <a:xfrm>
              <a:off x="5808663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705" name="Rectangle 55"/>
            <p:cNvSpPr>
              <a:spLocks noChangeArrowheads="1"/>
            </p:cNvSpPr>
            <p:nvPr/>
          </p:nvSpPr>
          <p:spPr bwMode="auto">
            <a:xfrm>
              <a:off x="6102350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706" name="Rectangle 56"/>
            <p:cNvSpPr>
              <a:spLocks noChangeArrowheads="1"/>
            </p:cNvSpPr>
            <p:nvPr/>
          </p:nvSpPr>
          <p:spPr bwMode="auto">
            <a:xfrm>
              <a:off x="6854825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07" name="Rectangle 57"/>
            <p:cNvSpPr>
              <a:spLocks noChangeArrowheads="1"/>
            </p:cNvSpPr>
            <p:nvPr/>
          </p:nvSpPr>
          <p:spPr bwMode="auto">
            <a:xfrm>
              <a:off x="5808663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708" name="Rectangle 58"/>
            <p:cNvSpPr>
              <a:spLocks noChangeArrowheads="1"/>
            </p:cNvSpPr>
            <p:nvPr/>
          </p:nvSpPr>
          <p:spPr bwMode="auto">
            <a:xfrm>
              <a:off x="6102350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709" name="Line 59"/>
            <p:cNvSpPr>
              <a:spLocks noChangeShapeType="1"/>
            </p:cNvSpPr>
            <p:nvPr/>
          </p:nvSpPr>
          <p:spPr bwMode="auto">
            <a:xfrm>
              <a:off x="5829300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0" name="Line 60"/>
            <p:cNvSpPr>
              <a:spLocks noChangeShapeType="1"/>
            </p:cNvSpPr>
            <p:nvPr/>
          </p:nvSpPr>
          <p:spPr bwMode="auto">
            <a:xfrm>
              <a:off x="5829300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61"/>
            <p:cNvSpPr>
              <a:spLocks noChangeArrowheads="1"/>
            </p:cNvSpPr>
            <p:nvPr/>
          </p:nvSpPr>
          <p:spPr bwMode="auto">
            <a:xfrm>
              <a:off x="5453063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712" name="Rectangle 62"/>
            <p:cNvSpPr>
              <a:spLocks noChangeArrowheads="1"/>
            </p:cNvSpPr>
            <p:nvPr/>
          </p:nvSpPr>
          <p:spPr bwMode="auto">
            <a:xfrm>
              <a:off x="5440363" y="3865563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713" name="Line 63"/>
            <p:cNvSpPr>
              <a:spLocks noChangeShapeType="1"/>
            </p:cNvSpPr>
            <p:nvPr/>
          </p:nvSpPr>
          <p:spPr bwMode="auto">
            <a:xfrm>
              <a:off x="5829300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64"/>
            <p:cNvSpPr>
              <a:spLocks noChangeShapeType="1"/>
            </p:cNvSpPr>
            <p:nvPr/>
          </p:nvSpPr>
          <p:spPr bwMode="auto">
            <a:xfrm>
              <a:off x="5829300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65"/>
            <p:cNvSpPr>
              <a:spLocks noChangeArrowheads="1"/>
            </p:cNvSpPr>
            <p:nvPr/>
          </p:nvSpPr>
          <p:spPr bwMode="auto">
            <a:xfrm>
              <a:off x="5375275" y="47672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16" name="Rectangle 66"/>
            <p:cNvSpPr>
              <a:spLocks noChangeArrowheads="1"/>
            </p:cNvSpPr>
            <p:nvPr/>
          </p:nvSpPr>
          <p:spPr bwMode="auto">
            <a:xfrm>
              <a:off x="4992688" y="50307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136</a:t>
              </a:r>
            </a:p>
          </p:txBody>
        </p:sp>
        <p:sp>
          <p:nvSpPr>
            <p:cNvPr id="28717" name="Rectangle 67"/>
            <p:cNvSpPr>
              <a:spLocks noChangeArrowheads="1"/>
            </p:cNvSpPr>
            <p:nvPr/>
          </p:nvSpPr>
          <p:spPr bwMode="auto">
            <a:xfrm>
              <a:off x="5808663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718" name="Rectangle 68"/>
            <p:cNvSpPr>
              <a:spLocks noChangeArrowheads="1"/>
            </p:cNvSpPr>
            <p:nvPr/>
          </p:nvSpPr>
          <p:spPr bwMode="auto">
            <a:xfrm>
              <a:off x="6102350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719" name="Rectangle 69"/>
            <p:cNvSpPr>
              <a:spLocks noChangeArrowheads="1"/>
            </p:cNvSpPr>
            <p:nvPr/>
          </p:nvSpPr>
          <p:spPr bwMode="auto">
            <a:xfrm>
              <a:off x="6911975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20" name="Line 70"/>
            <p:cNvSpPr>
              <a:spLocks noChangeShapeType="1"/>
            </p:cNvSpPr>
            <p:nvPr/>
          </p:nvSpPr>
          <p:spPr bwMode="auto">
            <a:xfrm>
              <a:off x="5829300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1" name="Arc 71"/>
            <p:cNvSpPr>
              <a:spLocks/>
            </p:cNvSpPr>
            <p:nvPr/>
          </p:nvSpPr>
          <p:spPr bwMode="auto">
            <a:xfrm>
              <a:off x="6508750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Line 72"/>
            <p:cNvSpPr>
              <a:spLocks noChangeShapeType="1"/>
            </p:cNvSpPr>
            <p:nvPr/>
          </p:nvSpPr>
          <p:spPr bwMode="auto">
            <a:xfrm>
              <a:off x="6556375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Rectangle 76"/>
            <p:cNvSpPr>
              <a:spLocks noChangeArrowheads="1"/>
            </p:cNvSpPr>
            <p:nvPr/>
          </p:nvSpPr>
          <p:spPr bwMode="auto">
            <a:xfrm>
              <a:off x="363833" y="946127"/>
              <a:ext cx="7302138" cy="2027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LDA: Load to AC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	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DR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 (Read memory)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5</a:t>
              </a:r>
              <a:r>
                <a:rPr lang="en-US" altLang="ko-KR" sz="1400" b="1" dirty="0">
                  <a:cs typeface="Arial" panose="020B0604020202020204" pitchFamily="34" charset="0"/>
                </a:rPr>
                <a:t>:	AC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DR,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STA: Store AC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AC, SC  0 (Write operation)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BUN: Branch Unconditionally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PC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AR, SC  0  (program </a:t>
              </a:r>
              <a:r>
                <a:rPr lang="en-US" altLang="ko-KR" sz="14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control jumps to AR)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BSA: Branch and Save Return Address</a:t>
              </a:r>
            </a:p>
            <a:p>
              <a:pPr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	</a:t>
              </a:r>
              <a:r>
                <a:rPr lang="en-US" altLang="ko-KR" sz="1400" b="1" dirty="0">
                  <a:cs typeface="Arial" panose="020B0604020202020204" pitchFamily="34" charset="0"/>
                </a:rPr>
                <a:t>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PC, PC  AR + 1 (</a:t>
              </a:r>
              <a:r>
                <a:rPr lang="en-IN" sz="1400" b="1" dirty="0"/>
                <a:t>Used for subroutine calls)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EF7AA55-F711-C0AC-F114-1F33BEE6B135}"/>
              </a:ext>
            </a:extLst>
          </p:cNvPr>
          <p:cNvSpPr txBox="1"/>
          <p:nvPr/>
        </p:nvSpPr>
        <p:spPr>
          <a:xfrm>
            <a:off x="398716" y="3361988"/>
            <a:ext cx="43462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M[135] ← </a:t>
            </a:r>
            <a:r>
              <a:rPr lang="en-IN" dirty="0">
                <a:solidFill>
                  <a:srgbClr val="FF0000"/>
                </a:solidFill>
              </a:rPr>
              <a:t>21</a:t>
            </a:r>
            <a:r>
              <a:rPr lang="en-IN" dirty="0"/>
              <a:t> Return address stored in memory </a:t>
            </a:r>
          </a:p>
          <a:p>
            <a:pPr marL="342900" indent="-342900">
              <a:buAutoNum type="arabicPeriod"/>
            </a:pPr>
            <a:r>
              <a:rPr lang="en-IN" dirty="0"/>
              <a:t>PC ← AR + 1 = 136, Control jumps to subroutine</a:t>
            </a:r>
          </a:p>
          <a:p>
            <a:pPr marL="342900" indent="-342900">
              <a:buAutoNum type="arabicPeriod"/>
            </a:pPr>
            <a:r>
              <a:rPr lang="en-IN" dirty="0"/>
              <a:t>Execution continues inside the subroutine.</a:t>
            </a:r>
          </a:p>
          <a:p>
            <a:pPr marL="342900" indent="-342900">
              <a:buAutoNum type="arabicPeriod"/>
            </a:pPr>
            <a:r>
              <a:rPr lang="en-US" dirty="0"/>
              <a:t>Address 135 contains the return address (21)</a:t>
            </a:r>
          </a:p>
          <a:p>
            <a:pPr marL="342900" indent="-342900">
              <a:buAutoNum type="arabicPeriod"/>
            </a:pPr>
            <a:r>
              <a:rPr lang="en-IN" dirty="0"/>
              <a:t>BUN 135 → PC ← M[135]</a:t>
            </a:r>
          </a:p>
          <a:p>
            <a:pPr marL="342900" indent="-342900">
              <a:buAutoNum type="arabicPeriod"/>
            </a:pPr>
            <a:r>
              <a:rPr lang="en-US" dirty="0"/>
              <a:t>Control returns to </a:t>
            </a:r>
            <a:r>
              <a:rPr lang="en-US" b="1" dirty="0"/>
              <a:t>next instruction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305980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19" y="304800"/>
            <a:ext cx="11590883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sp>
        <p:nvSpPr>
          <p:cNvPr id="29703" name="Rectangle 27"/>
          <p:cNvSpPr>
            <a:spLocks noChangeArrowheads="1"/>
          </p:cNvSpPr>
          <p:nvPr/>
        </p:nvSpPr>
        <p:spPr bwMode="auto">
          <a:xfrm>
            <a:off x="1039699" y="1339765"/>
            <a:ext cx="10036402" cy="3932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7000"/>
              </a:lnSpc>
            </a:pPr>
            <a:r>
              <a:rPr lang="en-US" altLang="ko-KR" sz="2000" b="1" dirty="0">
                <a:cs typeface="Arial" panose="020B0604020202020204" pitchFamily="34" charset="0"/>
              </a:rPr>
              <a:t>BSA: </a:t>
            </a:r>
          </a:p>
          <a:p>
            <a:pPr>
              <a:lnSpc>
                <a:spcPct val="97000"/>
              </a:lnSpc>
            </a:pPr>
            <a:r>
              <a:rPr lang="en-US" altLang="ko-KR" sz="2000" b="1" dirty="0">
                <a:cs typeface="Arial" panose="020B0604020202020204" pitchFamily="34" charset="0"/>
              </a:rPr>
              <a:t>	D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2000" b="1" dirty="0">
                <a:cs typeface="Arial" panose="020B0604020202020204" pitchFamily="34" charset="0"/>
              </a:rPr>
              <a:t>T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2000" b="1" dirty="0">
                <a:cs typeface="Arial" panose="020B0604020202020204" pitchFamily="34" charset="0"/>
              </a:rPr>
              <a:t>:	M[AR] </a:t>
            </a: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PC,  AR  AR + 1 </a:t>
            </a:r>
            <a:r>
              <a:rPr lang="en-US" altLang="ko-KR" sz="2000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sz="2000" dirty="0"/>
              <a:t>Store return address → jump to subroutine)</a:t>
            </a:r>
            <a:endParaRPr lang="en-US" altLang="ko-KR" sz="2000" dirty="0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7000"/>
              </a:lnSpc>
            </a:pP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 dirty="0">
                <a:cs typeface="Arial" panose="020B0604020202020204" pitchFamily="34" charset="0"/>
              </a:rPr>
              <a:t>D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2000" b="1" dirty="0">
                <a:cs typeface="Arial" panose="020B0604020202020204" pitchFamily="34" charset="0"/>
              </a:rPr>
              <a:t>T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2000" b="1" dirty="0">
                <a:cs typeface="Arial" panose="020B0604020202020204" pitchFamily="34" charset="0"/>
              </a:rPr>
              <a:t>:	PC </a:t>
            </a: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AR,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 dirty="0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97000"/>
              </a:lnSpc>
            </a:pP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ISZ: Increment and Skip-if-Zero (</a:t>
            </a:r>
            <a:r>
              <a:rPr lang="en-US" sz="2000" dirty="0"/>
              <a:t>Used in </a:t>
            </a:r>
            <a:r>
              <a:rPr lang="en-US" sz="2000" b="1" dirty="0"/>
              <a:t>loop control)</a:t>
            </a:r>
          </a:p>
          <a:p>
            <a:pPr>
              <a:lnSpc>
                <a:spcPct val="97000"/>
              </a:lnSpc>
            </a:pPr>
            <a:endParaRPr lang="en-US" sz="2000" dirty="0"/>
          </a:p>
          <a:p>
            <a:pPr>
              <a:lnSpc>
                <a:spcPct val="97000"/>
              </a:lnSpc>
            </a:pPr>
            <a:endParaRPr lang="en-US" sz="2000" dirty="0"/>
          </a:p>
          <a:p>
            <a:pPr>
              <a:lnSpc>
                <a:spcPct val="97000"/>
              </a:lnSpc>
            </a:pPr>
            <a:endParaRPr lang="en-US" sz="2000" dirty="0"/>
          </a:p>
          <a:p>
            <a:pPr>
              <a:lnSpc>
                <a:spcPct val="97000"/>
              </a:lnSpc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 dirty="0">
                <a:cs typeface="Arial" panose="020B0604020202020204" pitchFamily="34" charset="0"/>
              </a:rPr>
              <a:t>D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2000" b="1" dirty="0">
                <a:cs typeface="Arial" panose="020B0604020202020204" pitchFamily="34" charset="0"/>
              </a:rPr>
              <a:t>T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2000" b="1" dirty="0">
                <a:cs typeface="Arial" panose="020B0604020202020204" pitchFamily="34" charset="0"/>
              </a:rPr>
              <a:t>:	DR </a:t>
            </a: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M[AR]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 dirty="0">
                <a:cs typeface="Arial" panose="020B0604020202020204" pitchFamily="34" charset="0"/>
              </a:rPr>
              <a:t>	D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2000" b="1" dirty="0">
                <a:cs typeface="Arial" panose="020B0604020202020204" pitchFamily="34" charset="0"/>
              </a:rPr>
              <a:t>T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2000" b="1" dirty="0">
                <a:cs typeface="Arial" panose="020B0604020202020204" pitchFamily="34" charset="0"/>
              </a:rPr>
              <a:t>:	DR </a:t>
            </a: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 dirty="0">
                <a:cs typeface="Arial" panose="020B0604020202020204" pitchFamily="34" charset="0"/>
              </a:rPr>
              <a:t>	D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2000" b="1" dirty="0">
                <a:cs typeface="Arial" panose="020B0604020202020204" pitchFamily="34" charset="0"/>
              </a:rPr>
              <a:t>T</a:t>
            </a:r>
            <a:r>
              <a:rPr lang="en-US" altLang="ko-KR" sz="20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2000" b="1" dirty="0">
                <a:cs typeface="Arial" panose="020B0604020202020204" pitchFamily="34" charset="0"/>
              </a:rPr>
              <a:t>:	M[AR] </a:t>
            </a:r>
            <a:r>
              <a:rPr lang="en-US" altLang="ko-KR" sz="20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DR,  if (DR = 0) then (PC  PC + 1), 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 dirty="0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DF3366C-ABD7-8366-37A2-71FE5F99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lumMod val="25000"/>
                <a:lumOff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38546" y="2962251"/>
            <a:ext cx="3105310" cy="93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3763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176" y="304800"/>
            <a:ext cx="11722608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00B0F0"/>
                </a:solidFill>
                <a:latin typeface="Calibri" panose="020F0502020204030204" pitchFamily="34" charset="0"/>
              </a:rPr>
              <a:t>Flow Chart - Memory Reference Instructions</a:t>
            </a:r>
          </a:p>
        </p:txBody>
      </p:sp>
      <p:grpSp>
        <p:nvGrpSpPr>
          <p:cNvPr id="30727" name="Group 126"/>
          <p:cNvGrpSpPr>
            <a:grpSpLocks/>
          </p:cNvGrpSpPr>
          <p:nvPr/>
        </p:nvGrpSpPr>
        <p:grpSpPr bwMode="auto">
          <a:xfrm>
            <a:off x="381000" y="982663"/>
            <a:ext cx="5372100" cy="5494337"/>
            <a:chOff x="1090613" y="914400"/>
            <a:chExt cx="5371453" cy="5494035"/>
          </a:xfrm>
        </p:grpSpPr>
        <p:sp>
          <p:nvSpPr>
            <p:cNvPr id="30728" name="Rectangle 4"/>
            <p:cNvSpPr>
              <a:spLocks noChangeArrowheads="1"/>
            </p:cNvSpPr>
            <p:nvPr/>
          </p:nvSpPr>
          <p:spPr bwMode="auto">
            <a:xfrm>
              <a:off x="2438400" y="914400"/>
              <a:ext cx="3080973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cs typeface="Arial" panose="020B0604020202020204" pitchFamily="34" charset="0"/>
                </a:rPr>
                <a:t>Memory-reference instruction</a:t>
              </a:r>
            </a:p>
          </p:txBody>
        </p:sp>
        <p:sp>
          <p:nvSpPr>
            <p:cNvPr id="30729" name="Arc 5"/>
            <p:cNvSpPr>
              <a:spLocks/>
            </p:cNvSpPr>
            <p:nvPr/>
          </p:nvSpPr>
          <p:spPr bwMode="auto">
            <a:xfrm>
              <a:off x="3656013" y="14763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0" name="Line 6"/>
            <p:cNvSpPr>
              <a:spLocks noChangeShapeType="1"/>
            </p:cNvSpPr>
            <p:nvPr/>
          </p:nvSpPr>
          <p:spPr bwMode="auto">
            <a:xfrm>
              <a:off x="3705225" y="1147763"/>
              <a:ext cx="0" cy="339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7"/>
            <p:cNvSpPr>
              <a:spLocks noChangeShapeType="1"/>
            </p:cNvSpPr>
            <p:nvPr/>
          </p:nvSpPr>
          <p:spPr bwMode="auto">
            <a:xfrm>
              <a:off x="1728788" y="1600200"/>
              <a:ext cx="4679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Rectangle 8"/>
            <p:cNvSpPr>
              <a:spLocks noChangeArrowheads="1"/>
            </p:cNvSpPr>
            <p:nvPr/>
          </p:nvSpPr>
          <p:spPr bwMode="auto">
            <a:xfrm>
              <a:off x="1157288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3" name="Rectangle 9"/>
            <p:cNvSpPr>
              <a:spLocks noChangeArrowheads="1"/>
            </p:cNvSpPr>
            <p:nvPr/>
          </p:nvSpPr>
          <p:spPr bwMode="auto">
            <a:xfrm>
              <a:off x="2476500" y="2039938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4" name="Rectangle 10"/>
            <p:cNvSpPr>
              <a:spLocks noChangeArrowheads="1"/>
            </p:cNvSpPr>
            <p:nvPr/>
          </p:nvSpPr>
          <p:spPr bwMode="auto">
            <a:xfrm>
              <a:off x="3819525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5" name="Rectangle 11"/>
            <p:cNvSpPr>
              <a:spLocks noChangeArrowheads="1"/>
            </p:cNvSpPr>
            <p:nvPr/>
          </p:nvSpPr>
          <p:spPr bwMode="auto">
            <a:xfrm>
              <a:off x="5110163" y="1989138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36" name="Rectangle 12"/>
            <p:cNvSpPr>
              <a:spLocks noChangeArrowheads="1"/>
            </p:cNvSpPr>
            <p:nvPr/>
          </p:nvSpPr>
          <p:spPr bwMode="auto">
            <a:xfrm>
              <a:off x="5267325" y="21510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37" name="Rectangle 13"/>
            <p:cNvSpPr>
              <a:spLocks noChangeArrowheads="1"/>
            </p:cNvSpPr>
            <p:nvPr/>
          </p:nvSpPr>
          <p:spPr bwMode="auto">
            <a:xfrm>
              <a:off x="1144588" y="2003425"/>
              <a:ext cx="1141412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8" name="Rectangle 14"/>
            <p:cNvSpPr>
              <a:spLocks noChangeArrowheads="1"/>
            </p:cNvSpPr>
            <p:nvPr/>
          </p:nvSpPr>
          <p:spPr bwMode="auto">
            <a:xfrm>
              <a:off x="2466975" y="2003425"/>
              <a:ext cx="1141413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9" name="Rectangle 15"/>
            <p:cNvSpPr>
              <a:spLocks noChangeArrowheads="1"/>
            </p:cNvSpPr>
            <p:nvPr/>
          </p:nvSpPr>
          <p:spPr bwMode="auto">
            <a:xfrm>
              <a:off x="3790950" y="2003425"/>
              <a:ext cx="1139825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0" name="Rectangle 16"/>
            <p:cNvSpPr>
              <a:spLocks noChangeArrowheads="1"/>
            </p:cNvSpPr>
            <p:nvPr/>
          </p:nvSpPr>
          <p:spPr bwMode="auto">
            <a:xfrm>
              <a:off x="5113338" y="2003425"/>
              <a:ext cx="11541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1" name="Arc 17"/>
            <p:cNvSpPr>
              <a:spLocks/>
            </p:cNvSpPr>
            <p:nvPr/>
          </p:nvSpPr>
          <p:spPr bwMode="auto">
            <a:xfrm>
              <a:off x="1674813" y="1874838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2" name="Line 18"/>
            <p:cNvSpPr>
              <a:spLocks noChangeShapeType="1"/>
            </p:cNvSpPr>
            <p:nvPr/>
          </p:nvSpPr>
          <p:spPr bwMode="auto">
            <a:xfrm flipV="1">
              <a:off x="1722438" y="1587500"/>
              <a:ext cx="0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Arc 19"/>
            <p:cNvSpPr>
              <a:spLocks/>
            </p:cNvSpPr>
            <p:nvPr/>
          </p:nvSpPr>
          <p:spPr bwMode="auto">
            <a:xfrm>
              <a:off x="2995613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4" name="Line 20"/>
            <p:cNvSpPr>
              <a:spLocks noChangeShapeType="1"/>
            </p:cNvSpPr>
            <p:nvPr/>
          </p:nvSpPr>
          <p:spPr bwMode="auto">
            <a:xfrm flipV="1">
              <a:off x="3044825" y="1600200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5" name="Arc 21"/>
            <p:cNvSpPr>
              <a:spLocks/>
            </p:cNvSpPr>
            <p:nvPr/>
          </p:nvSpPr>
          <p:spPr bwMode="auto">
            <a:xfrm>
              <a:off x="4318000" y="1874838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6" name="Arc 23"/>
            <p:cNvSpPr>
              <a:spLocks/>
            </p:cNvSpPr>
            <p:nvPr/>
          </p:nvSpPr>
          <p:spPr bwMode="auto">
            <a:xfrm>
              <a:off x="5640388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7" name="Line 24"/>
            <p:cNvSpPr>
              <a:spLocks noChangeShapeType="1"/>
            </p:cNvSpPr>
            <p:nvPr/>
          </p:nvSpPr>
          <p:spPr bwMode="auto">
            <a:xfrm flipV="1">
              <a:off x="5689600" y="16033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Rectangle 25"/>
            <p:cNvSpPr>
              <a:spLocks noChangeArrowheads="1"/>
            </p:cNvSpPr>
            <p:nvPr/>
          </p:nvSpPr>
          <p:spPr bwMode="auto">
            <a:xfrm>
              <a:off x="14795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0749" name="Rectangle 26"/>
            <p:cNvSpPr>
              <a:spLocks noChangeArrowheads="1"/>
            </p:cNvSpPr>
            <p:nvPr/>
          </p:nvSpPr>
          <p:spPr bwMode="auto">
            <a:xfrm>
              <a:off x="26606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</a:t>
              </a:r>
            </a:p>
          </p:txBody>
        </p:sp>
        <p:sp>
          <p:nvSpPr>
            <p:cNvPr id="30750" name="Rectangle 27"/>
            <p:cNvSpPr>
              <a:spLocks noChangeArrowheads="1"/>
            </p:cNvSpPr>
            <p:nvPr/>
          </p:nvSpPr>
          <p:spPr bwMode="auto">
            <a:xfrm>
              <a:off x="4202113" y="1403350"/>
              <a:ext cx="4744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LDA</a:t>
              </a:r>
            </a:p>
          </p:txBody>
        </p:sp>
        <p:sp>
          <p:nvSpPr>
            <p:cNvPr id="30751" name="Rectangle 28"/>
            <p:cNvSpPr>
              <a:spLocks noChangeArrowheads="1"/>
            </p:cNvSpPr>
            <p:nvPr/>
          </p:nvSpPr>
          <p:spPr bwMode="auto">
            <a:xfrm>
              <a:off x="5448300" y="140335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STA</a:t>
              </a:r>
            </a:p>
          </p:txBody>
        </p:sp>
        <p:sp>
          <p:nvSpPr>
            <p:cNvPr id="30752" name="Rectangle 29"/>
            <p:cNvSpPr>
              <a:spLocks noChangeArrowheads="1"/>
            </p:cNvSpPr>
            <p:nvPr/>
          </p:nvSpPr>
          <p:spPr bwMode="auto">
            <a:xfrm>
              <a:off x="1090613" y="2717800"/>
              <a:ext cx="1173258" cy="428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 dirty="0">
                  <a:solidFill>
                    <a:srgbClr val="000000"/>
                  </a:solidFill>
                  <a:cs typeface="Arial" panose="020B0604020202020204" pitchFamily="34" charset="0"/>
                </a:rPr>
                <a:t> AC ∧ DR</a:t>
              </a:r>
            </a:p>
            <a:p>
              <a:pPr eaLnBrk="1" hangingPunct="1"/>
              <a:endParaRPr lang="en-US" altLang="ko-KR" sz="1100" b="1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3" name="Rectangle 30"/>
            <p:cNvSpPr>
              <a:spLocks noChangeArrowheads="1"/>
            </p:cNvSpPr>
            <p:nvPr/>
          </p:nvSpPr>
          <p:spPr bwMode="auto">
            <a:xfrm>
              <a:off x="1300163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54" name="Rectangle 31"/>
            <p:cNvSpPr>
              <a:spLocks noChangeArrowheads="1"/>
            </p:cNvSpPr>
            <p:nvPr/>
          </p:nvSpPr>
          <p:spPr bwMode="auto">
            <a:xfrm>
              <a:off x="1144588" y="2741613"/>
              <a:ext cx="11414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5" name="Rectangle 32"/>
            <p:cNvSpPr>
              <a:spLocks noChangeArrowheads="1"/>
            </p:cNvSpPr>
            <p:nvPr/>
          </p:nvSpPr>
          <p:spPr bwMode="auto">
            <a:xfrm>
              <a:off x="2427288" y="2735263"/>
              <a:ext cx="11733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+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6" name="Rectangle 33"/>
            <p:cNvSpPr>
              <a:spLocks noChangeArrowheads="1"/>
            </p:cNvSpPr>
            <p:nvPr/>
          </p:nvSpPr>
          <p:spPr bwMode="auto">
            <a:xfrm>
              <a:off x="2427288" y="2901950"/>
              <a:ext cx="81593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E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Cout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7" name="Rectangle 34"/>
            <p:cNvSpPr>
              <a:spLocks noChangeArrowheads="1"/>
            </p:cNvSpPr>
            <p:nvPr/>
          </p:nvSpPr>
          <p:spPr bwMode="auto">
            <a:xfrm>
              <a:off x="2427288" y="30654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58" name="Rectangle 35"/>
            <p:cNvSpPr>
              <a:spLocks noChangeArrowheads="1"/>
            </p:cNvSpPr>
            <p:nvPr/>
          </p:nvSpPr>
          <p:spPr bwMode="auto">
            <a:xfrm>
              <a:off x="2466975" y="2741613"/>
              <a:ext cx="1141413" cy="569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9" name="Rectangle 36"/>
            <p:cNvSpPr>
              <a:spLocks noChangeArrowheads="1"/>
            </p:cNvSpPr>
            <p:nvPr/>
          </p:nvSpPr>
          <p:spPr bwMode="auto">
            <a:xfrm>
              <a:off x="3970338" y="2727325"/>
              <a:ext cx="80951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60" name="Rectangle 37"/>
            <p:cNvSpPr>
              <a:spLocks noChangeArrowheads="1"/>
            </p:cNvSpPr>
            <p:nvPr/>
          </p:nvSpPr>
          <p:spPr bwMode="auto">
            <a:xfrm>
              <a:off x="4022725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61" name="Rectangle 38"/>
            <p:cNvSpPr>
              <a:spLocks noChangeArrowheads="1"/>
            </p:cNvSpPr>
            <p:nvPr/>
          </p:nvSpPr>
          <p:spPr bwMode="auto">
            <a:xfrm>
              <a:off x="3790950" y="2741613"/>
              <a:ext cx="1139825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62" name="Rectangle 39"/>
            <p:cNvSpPr>
              <a:spLocks noChangeArrowheads="1"/>
            </p:cNvSpPr>
            <p:nvPr/>
          </p:nvSpPr>
          <p:spPr bwMode="auto">
            <a:xfrm>
              <a:off x="1933575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3" name="Rectangle 40"/>
            <p:cNvSpPr>
              <a:spLocks noChangeArrowheads="1"/>
            </p:cNvSpPr>
            <p:nvPr/>
          </p:nvSpPr>
          <p:spPr bwMode="auto">
            <a:xfrm>
              <a:off x="2036763" y="182403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64" name="Rectangle 41"/>
            <p:cNvSpPr>
              <a:spLocks noChangeArrowheads="1"/>
            </p:cNvSpPr>
            <p:nvPr/>
          </p:nvSpPr>
          <p:spPr bwMode="auto">
            <a:xfrm>
              <a:off x="22320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5" name="Rectangle 42"/>
            <p:cNvSpPr>
              <a:spLocks noChangeArrowheads="1"/>
            </p:cNvSpPr>
            <p:nvPr/>
          </p:nvSpPr>
          <p:spPr bwMode="auto">
            <a:xfrm>
              <a:off x="3255963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6" name="Rectangle 43"/>
            <p:cNvSpPr>
              <a:spLocks noChangeArrowheads="1"/>
            </p:cNvSpPr>
            <p:nvPr/>
          </p:nvSpPr>
          <p:spPr bwMode="auto">
            <a:xfrm>
              <a:off x="335915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67" name="Rectangle 44"/>
            <p:cNvSpPr>
              <a:spLocks noChangeArrowheads="1"/>
            </p:cNvSpPr>
            <p:nvPr/>
          </p:nvSpPr>
          <p:spPr bwMode="auto">
            <a:xfrm>
              <a:off x="35544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8" name="Rectangle 45"/>
            <p:cNvSpPr>
              <a:spLocks noChangeArrowheads="1"/>
            </p:cNvSpPr>
            <p:nvPr/>
          </p:nvSpPr>
          <p:spPr bwMode="auto">
            <a:xfrm>
              <a:off x="45799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9" name="Rectangle 46"/>
            <p:cNvSpPr>
              <a:spLocks noChangeArrowheads="1"/>
            </p:cNvSpPr>
            <p:nvPr/>
          </p:nvSpPr>
          <p:spPr bwMode="auto">
            <a:xfrm>
              <a:off x="46831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70" name="Rectangle 47"/>
            <p:cNvSpPr>
              <a:spLocks noChangeArrowheads="1"/>
            </p:cNvSpPr>
            <p:nvPr/>
          </p:nvSpPr>
          <p:spPr bwMode="auto">
            <a:xfrm>
              <a:off x="48752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1" name="Rectangle 48"/>
            <p:cNvSpPr>
              <a:spLocks noChangeArrowheads="1"/>
            </p:cNvSpPr>
            <p:nvPr/>
          </p:nvSpPr>
          <p:spPr bwMode="auto">
            <a:xfrm>
              <a:off x="59007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2" name="Rectangle 49"/>
            <p:cNvSpPr>
              <a:spLocks noChangeArrowheads="1"/>
            </p:cNvSpPr>
            <p:nvPr/>
          </p:nvSpPr>
          <p:spPr bwMode="auto">
            <a:xfrm>
              <a:off x="601980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773" name="Rectangle 50"/>
            <p:cNvSpPr>
              <a:spLocks noChangeArrowheads="1"/>
            </p:cNvSpPr>
            <p:nvPr/>
          </p:nvSpPr>
          <p:spPr bwMode="auto">
            <a:xfrm>
              <a:off x="620077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4" name="Rectangle 51"/>
            <p:cNvSpPr>
              <a:spLocks noChangeArrowheads="1"/>
            </p:cNvSpPr>
            <p:nvPr/>
          </p:nvSpPr>
          <p:spPr bwMode="auto">
            <a:xfrm>
              <a:off x="1933575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5" name="Rectangle 52"/>
            <p:cNvSpPr>
              <a:spLocks noChangeArrowheads="1"/>
            </p:cNvSpPr>
            <p:nvPr/>
          </p:nvSpPr>
          <p:spPr bwMode="auto">
            <a:xfrm>
              <a:off x="203835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76" name="Rectangle 53"/>
            <p:cNvSpPr>
              <a:spLocks noChangeArrowheads="1"/>
            </p:cNvSpPr>
            <p:nvPr/>
          </p:nvSpPr>
          <p:spPr bwMode="auto">
            <a:xfrm>
              <a:off x="22320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77" name="Rectangle 54"/>
            <p:cNvSpPr>
              <a:spLocks noChangeArrowheads="1"/>
            </p:cNvSpPr>
            <p:nvPr/>
          </p:nvSpPr>
          <p:spPr bwMode="auto">
            <a:xfrm>
              <a:off x="3255963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8" name="Rectangle 55"/>
            <p:cNvSpPr>
              <a:spLocks noChangeArrowheads="1"/>
            </p:cNvSpPr>
            <p:nvPr/>
          </p:nvSpPr>
          <p:spPr bwMode="auto">
            <a:xfrm>
              <a:off x="3360738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79" name="Rectangle 56"/>
            <p:cNvSpPr>
              <a:spLocks noChangeArrowheads="1"/>
            </p:cNvSpPr>
            <p:nvPr/>
          </p:nvSpPr>
          <p:spPr bwMode="auto">
            <a:xfrm>
              <a:off x="3554413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0" name="Rectangle 57"/>
            <p:cNvSpPr>
              <a:spLocks noChangeArrowheads="1"/>
            </p:cNvSpPr>
            <p:nvPr/>
          </p:nvSpPr>
          <p:spPr bwMode="auto">
            <a:xfrm>
              <a:off x="4578350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81" name="Rectangle 58"/>
            <p:cNvSpPr>
              <a:spLocks noChangeArrowheads="1"/>
            </p:cNvSpPr>
            <p:nvPr/>
          </p:nvSpPr>
          <p:spPr bwMode="auto">
            <a:xfrm>
              <a:off x="46831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82" name="Rectangle 59"/>
            <p:cNvSpPr>
              <a:spLocks noChangeArrowheads="1"/>
            </p:cNvSpPr>
            <p:nvPr/>
          </p:nvSpPr>
          <p:spPr bwMode="auto">
            <a:xfrm>
              <a:off x="487680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3" name="Arc 60"/>
            <p:cNvSpPr>
              <a:spLocks/>
            </p:cNvSpPr>
            <p:nvPr/>
          </p:nvSpPr>
          <p:spPr bwMode="auto">
            <a:xfrm>
              <a:off x="1674813" y="2613025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4" name="Line 61"/>
            <p:cNvSpPr>
              <a:spLocks noChangeShapeType="1"/>
            </p:cNvSpPr>
            <p:nvPr/>
          </p:nvSpPr>
          <p:spPr bwMode="auto">
            <a:xfrm flipV="1">
              <a:off x="1722438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Arc 62"/>
            <p:cNvSpPr>
              <a:spLocks/>
            </p:cNvSpPr>
            <p:nvPr/>
          </p:nvSpPr>
          <p:spPr bwMode="auto">
            <a:xfrm>
              <a:off x="2995613" y="2613025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6" name="Line 63"/>
            <p:cNvSpPr>
              <a:spLocks noChangeShapeType="1"/>
            </p:cNvSpPr>
            <p:nvPr/>
          </p:nvSpPr>
          <p:spPr bwMode="auto">
            <a:xfrm flipV="1">
              <a:off x="3044825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Arc 64"/>
            <p:cNvSpPr>
              <a:spLocks/>
            </p:cNvSpPr>
            <p:nvPr/>
          </p:nvSpPr>
          <p:spPr bwMode="auto">
            <a:xfrm>
              <a:off x="4318000" y="2613025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8" name="Line 66"/>
            <p:cNvSpPr>
              <a:spLocks noChangeShapeType="1"/>
            </p:cNvSpPr>
            <p:nvPr/>
          </p:nvSpPr>
          <p:spPr bwMode="auto">
            <a:xfrm>
              <a:off x="6427788" y="1603375"/>
              <a:ext cx="0" cy="2055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9" name="Line 67"/>
            <p:cNvSpPr>
              <a:spLocks noChangeShapeType="1"/>
            </p:cNvSpPr>
            <p:nvPr/>
          </p:nvSpPr>
          <p:spPr bwMode="auto">
            <a:xfrm>
              <a:off x="1728788" y="3659188"/>
              <a:ext cx="4719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0" name="Rectangle 68"/>
            <p:cNvSpPr>
              <a:spLocks noChangeArrowheads="1"/>
            </p:cNvSpPr>
            <p:nvPr/>
          </p:nvSpPr>
          <p:spPr bwMode="auto">
            <a:xfrm>
              <a:off x="1289050" y="409257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1" name="Rectangle 69"/>
            <p:cNvSpPr>
              <a:spLocks noChangeArrowheads="1"/>
            </p:cNvSpPr>
            <p:nvPr/>
          </p:nvSpPr>
          <p:spPr bwMode="auto">
            <a:xfrm>
              <a:off x="1279525" y="4283075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92" name="Rectangle 70"/>
            <p:cNvSpPr>
              <a:spLocks noChangeArrowheads="1"/>
            </p:cNvSpPr>
            <p:nvPr/>
          </p:nvSpPr>
          <p:spPr bwMode="auto">
            <a:xfrm>
              <a:off x="2447925" y="4102100"/>
              <a:ext cx="101149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3" name="Rectangle 71"/>
            <p:cNvSpPr>
              <a:spLocks noChangeArrowheads="1"/>
            </p:cNvSpPr>
            <p:nvPr/>
          </p:nvSpPr>
          <p:spPr bwMode="auto">
            <a:xfrm>
              <a:off x="2438400" y="428307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 + 1</a:t>
              </a:r>
            </a:p>
          </p:txBody>
        </p:sp>
        <p:sp>
          <p:nvSpPr>
            <p:cNvPr id="30794" name="Rectangle 72"/>
            <p:cNvSpPr>
              <a:spLocks noChangeArrowheads="1"/>
            </p:cNvSpPr>
            <p:nvPr/>
          </p:nvSpPr>
          <p:spPr bwMode="auto">
            <a:xfrm>
              <a:off x="3771900" y="4102100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95" name="Rectangle 73"/>
            <p:cNvSpPr>
              <a:spLocks noChangeArrowheads="1"/>
            </p:cNvSpPr>
            <p:nvPr/>
          </p:nvSpPr>
          <p:spPr bwMode="auto">
            <a:xfrm>
              <a:off x="1144588" y="4064000"/>
              <a:ext cx="1141412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6" name="Rectangle 74"/>
            <p:cNvSpPr>
              <a:spLocks noChangeArrowheads="1"/>
            </p:cNvSpPr>
            <p:nvPr/>
          </p:nvSpPr>
          <p:spPr bwMode="auto">
            <a:xfrm>
              <a:off x="2466975" y="4064000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7" name="Rectangle 75"/>
            <p:cNvSpPr>
              <a:spLocks noChangeArrowheads="1"/>
            </p:cNvSpPr>
            <p:nvPr/>
          </p:nvSpPr>
          <p:spPr bwMode="auto">
            <a:xfrm>
              <a:off x="3790950" y="4064000"/>
              <a:ext cx="1139825" cy="3175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8" name="Arc 76"/>
            <p:cNvSpPr>
              <a:spLocks/>
            </p:cNvSpPr>
            <p:nvPr/>
          </p:nvSpPr>
          <p:spPr bwMode="auto">
            <a:xfrm>
              <a:off x="1674813" y="3937000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99" name="Line 77"/>
            <p:cNvSpPr>
              <a:spLocks noChangeShapeType="1"/>
            </p:cNvSpPr>
            <p:nvPr/>
          </p:nvSpPr>
          <p:spPr bwMode="auto">
            <a:xfrm flipV="1">
              <a:off x="1722438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0" name="Arc 78"/>
            <p:cNvSpPr>
              <a:spLocks/>
            </p:cNvSpPr>
            <p:nvPr/>
          </p:nvSpPr>
          <p:spPr bwMode="auto">
            <a:xfrm>
              <a:off x="2995613" y="3937000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1" name="Line 79"/>
            <p:cNvSpPr>
              <a:spLocks noChangeShapeType="1"/>
            </p:cNvSpPr>
            <p:nvPr/>
          </p:nvSpPr>
          <p:spPr bwMode="auto">
            <a:xfrm flipV="1">
              <a:off x="304482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2" name="Arc 80"/>
            <p:cNvSpPr>
              <a:spLocks/>
            </p:cNvSpPr>
            <p:nvPr/>
          </p:nvSpPr>
          <p:spPr bwMode="auto">
            <a:xfrm>
              <a:off x="4318000" y="3937000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3" name="Rectangle 82"/>
            <p:cNvSpPr>
              <a:spLocks noChangeArrowheads="1"/>
            </p:cNvSpPr>
            <p:nvPr/>
          </p:nvSpPr>
          <p:spPr bwMode="auto">
            <a:xfrm>
              <a:off x="1479550" y="3462338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30804" name="Rectangle 83"/>
            <p:cNvSpPr>
              <a:spLocks noChangeArrowheads="1"/>
            </p:cNvSpPr>
            <p:nvPr/>
          </p:nvSpPr>
          <p:spPr bwMode="auto">
            <a:xfrm>
              <a:off x="2660650" y="3462338"/>
              <a:ext cx="48250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30805" name="Rectangle 84"/>
            <p:cNvSpPr>
              <a:spLocks noChangeArrowheads="1"/>
            </p:cNvSpPr>
            <p:nvPr/>
          </p:nvSpPr>
          <p:spPr bwMode="auto">
            <a:xfrm>
              <a:off x="4203700" y="3462338"/>
              <a:ext cx="40235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ISZ</a:t>
              </a:r>
            </a:p>
          </p:txBody>
        </p:sp>
        <p:sp>
          <p:nvSpPr>
            <p:cNvPr id="30806" name="Rectangle 85"/>
            <p:cNvSpPr>
              <a:spLocks noChangeArrowheads="1"/>
            </p:cNvSpPr>
            <p:nvPr/>
          </p:nvSpPr>
          <p:spPr bwMode="auto">
            <a:xfrm>
              <a:off x="1933575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07" name="Rectangle 86"/>
            <p:cNvSpPr>
              <a:spLocks noChangeArrowheads="1"/>
            </p:cNvSpPr>
            <p:nvPr/>
          </p:nvSpPr>
          <p:spPr bwMode="auto">
            <a:xfrm>
              <a:off x="203835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8" name="Rectangle 87"/>
            <p:cNvSpPr>
              <a:spLocks noChangeArrowheads="1"/>
            </p:cNvSpPr>
            <p:nvPr/>
          </p:nvSpPr>
          <p:spPr bwMode="auto">
            <a:xfrm>
              <a:off x="22320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9" name="Rectangle 88"/>
            <p:cNvSpPr>
              <a:spLocks noChangeArrowheads="1"/>
            </p:cNvSpPr>
            <p:nvPr/>
          </p:nvSpPr>
          <p:spPr bwMode="auto">
            <a:xfrm>
              <a:off x="3255963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0" name="Rectangle 89"/>
            <p:cNvSpPr>
              <a:spLocks noChangeArrowheads="1"/>
            </p:cNvSpPr>
            <p:nvPr/>
          </p:nvSpPr>
          <p:spPr bwMode="auto">
            <a:xfrm>
              <a:off x="3360738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11" name="Rectangle 90"/>
            <p:cNvSpPr>
              <a:spLocks noChangeArrowheads="1"/>
            </p:cNvSpPr>
            <p:nvPr/>
          </p:nvSpPr>
          <p:spPr bwMode="auto">
            <a:xfrm>
              <a:off x="3554413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2" name="Rectangle 91"/>
            <p:cNvSpPr>
              <a:spLocks noChangeArrowheads="1"/>
            </p:cNvSpPr>
            <p:nvPr/>
          </p:nvSpPr>
          <p:spPr bwMode="auto">
            <a:xfrm>
              <a:off x="4578350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3" name="Rectangle 92"/>
            <p:cNvSpPr>
              <a:spLocks noChangeArrowheads="1"/>
            </p:cNvSpPr>
            <p:nvPr/>
          </p:nvSpPr>
          <p:spPr bwMode="auto">
            <a:xfrm>
              <a:off x="46831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14" name="Rectangle 93"/>
            <p:cNvSpPr>
              <a:spLocks noChangeArrowheads="1"/>
            </p:cNvSpPr>
            <p:nvPr/>
          </p:nvSpPr>
          <p:spPr bwMode="auto">
            <a:xfrm>
              <a:off x="487680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5" name="Arc 94"/>
            <p:cNvSpPr>
              <a:spLocks/>
            </p:cNvSpPr>
            <p:nvPr/>
          </p:nvSpPr>
          <p:spPr bwMode="auto">
            <a:xfrm>
              <a:off x="2995613" y="48037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16" name="Line 95"/>
            <p:cNvSpPr>
              <a:spLocks noChangeShapeType="1"/>
            </p:cNvSpPr>
            <p:nvPr/>
          </p:nvSpPr>
          <p:spPr bwMode="auto">
            <a:xfrm flipV="1">
              <a:off x="3044825" y="451008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7" name="Rectangle 96"/>
            <p:cNvSpPr>
              <a:spLocks noChangeArrowheads="1"/>
            </p:cNvSpPr>
            <p:nvPr/>
          </p:nvSpPr>
          <p:spPr bwMode="auto">
            <a:xfrm>
              <a:off x="3781425" y="494982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 + 1</a:t>
              </a:r>
            </a:p>
          </p:txBody>
        </p:sp>
        <p:sp>
          <p:nvSpPr>
            <p:cNvPr id="30818" name="Rectangle 97"/>
            <p:cNvSpPr>
              <a:spLocks noChangeArrowheads="1"/>
            </p:cNvSpPr>
            <p:nvPr/>
          </p:nvSpPr>
          <p:spPr bwMode="auto">
            <a:xfrm>
              <a:off x="2466975" y="4930775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19" name="Rectangle 98"/>
            <p:cNvSpPr>
              <a:spLocks noChangeArrowheads="1"/>
            </p:cNvSpPr>
            <p:nvPr/>
          </p:nvSpPr>
          <p:spPr bwMode="auto">
            <a:xfrm>
              <a:off x="3790950" y="4930775"/>
              <a:ext cx="1139825" cy="304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20" name="Rectangle 99"/>
            <p:cNvSpPr>
              <a:spLocks noChangeArrowheads="1"/>
            </p:cNvSpPr>
            <p:nvPr/>
          </p:nvSpPr>
          <p:spPr bwMode="auto">
            <a:xfrm>
              <a:off x="3255963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1" name="Rectangle 100"/>
            <p:cNvSpPr>
              <a:spLocks noChangeArrowheads="1"/>
            </p:cNvSpPr>
            <p:nvPr/>
          </p:nvSpPr>
          <p:spPr bwMode="auto">
            <a:xfrm>
              <a:off x="3360738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2" name="Rectangle 101"/>
            <p:cNvSpPr>
              <a:spLocks noChangeArrowheads="1"/>
            </p:cNvSpPr>
            <p:nvPr/>
          </p:nvSpPr>
          <p:spPr bwMode="auto">
            <a:xfrm>
              <a:off x="3554413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3" name="Rectangle 102"/>
            <p:cNvSpPr>
              <a:spLocks noChangeArrowheads="1"/>
            </p:cNvSpPr>
            <p:nvPr/>
          </p:nvSpPr>
          <p:spPr bwMode="auto">
            <a:xfrm>
              <a:off x="4578350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4" name="Rectangle 103"/>
            <p:cNvSpPr>
              <a:spLocks noChangeArrowheads="1"/>
            </p:cNvSpPr>
            <p:nvPr/>
          </p:nvSpPr>
          <p:spPr bwMode="auto">
            <a:xfrm>
              <a:off x="4683125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25" name="Rectangle 104"/>
            <p:cNvSpPr>
              <a:spLocks noChangeArrowheads="1"/>
            </p:cNvSpPr>
            <p:nvPr/>
          </p:nvSpPr>
          <p:spPr bwMode="auto">
            <a:xfrm>
              <a:off x="4876800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6" name="Arc 105"/>
            <p:cNvSpPr>
              <a:spLocks/>
            </p:cNvSpPr>
            <p:nvPr/>
          </p:nvSpPr>
          <p:spPr bwMode="auto">
            <a:xfrm>
              <a:off x="4318000" y="5529263"/>
              <a:ext cx="100013" cy="11271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27" name="Rectangle 107"/>
            <p:cNvSpPr>
              <a:spLocks noChangeArrowheads="1"/>
            </p:cNvSpPr>
            <p:nvPr/>
          </p:nvSpPr>
          <p:spPr bwMode="auto">
            <a:xfrm>
              <a:off x="2582863" y="498792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28" name="Rectangle 108"/>
            <p:cNvSpPr>
              <a:spLocks noChangeArrowheads="1"/>
            </p:cNvSpPr>
            <p:nvPr/>
          </p:nvSpPr>
          <p:spPr bwMode="auto">
            <a:xfrm>
              <a:off x="2582863" y="5151438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29" name="Arc 109"/>
            <p:cNvSpPr>
              <a:spLocks/>
            </p:cNvSpPr>
            <p:nvPr/>
          </p:nvSpPr>
          <p:spPr bwMode="auto">
            <a:xfrm>
              <a:off x="4318000" y="4803775"/>
              <a:ext cx="100013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0" name="Rectangle 111"/>
            <p:cNvSpPr>
              <a:spLocks noChangeArrowheads="1"/>
            </p:cNvSpPr>
            <p:nvPr/>
          </p:nvSpPr>
          <p:spPr bwMode="auto">
            <a:xfrm>
              <a:off x="3673475" y="5654675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1" name="Rectangle 112"/>
            <p:cNvSpPr>
              <a:spLocks noChangeArrowheads="1"/>
            </p:cNvSpPr>
            <p:nvPr/>
          </p:nvSpPr>
          <p:spPr bwMode="auto">
            <a:xfrm>
              <a:off x="3673475" y="5816600"/>
              <a:ext cx="8415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If (DR = 0)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2" name="Rectangle 113"/>
            <p:cNvSpPr>
              <a:spLocks noChangeArrowheads="1"/>
            </p:cNvSpPr>
            <p:nvPr/>
          </p:nvSpPr>
          <p:spPr bwMode="auto">
            <a:xfrm>
              <a:off x="3673475" y="5980113"/>
              <a:ext cx="14603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then (PC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 + 1)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3" name="Rectangle 114"/>
            <p:cNvSpPr>
              <a:spLocks noChangeArrowheads="1"/>
            </p:cNvSpPr>
            <p:nvPr/>
          </p:nvSpPr>
          <p:spPr bwMode="auto">
            <a:xfrm>
              <a:off x="3673475" y="614680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34" name="Rectangle 115"/>
            <p:cNvSpPr>
              <a:spLocks noChangeArrowheads="1"/>
            </p:cNvSpPr>
            <p:nvPr/>
          </p:nvSpPr>
          <p:spPr bwMode="auto">
            <a:xfrm>
              <a:off x="3711575" y="5657850"/>
              <a:ext cx="1517650" cy="712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35" name="Rectangle 116"/>
            <p:cNvSpPr>
              <a:spLocks noChangeArrowheads="1"/>
            </p:cNvSpPr>
            <p:nvPr/>
          </p:nvSpPr>
          <p:spPr bwMode="auto">
            <a:xfrm>
              <a:off x="4721225" y="540861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36" name="Rectangle 117"/>
            <p:cNvSpPr>
              <a:spLocks noChangeArrowheads="1"/>
            </p:cNvSpPr>
            <p:nvPr/>
          </p:nvSpPr>
          <p:spPr bwMode="auto">
            <a:xfrm>
              <a:off x="4826000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7" name="Rectangle 118"/>
            <p:cNvSpPr>
              <a:spLocks noChangeArrowheads="1"/>
            </p:cNvSpPr>
            <p:nvPr/>
          </p:nvSpPr>
          <p:spPr bwMode="auto">
            <a:xfrm>
              <a:off x="5019675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8" name="Rectangle 119"/>
            <p:cNvSpPr>
              <a:spLocks noChangeArrowheads="1"/>
            </p:cNvSpPr>
            <p:nvPr/>
          </p:nvSpPr>
          <p:spPr bwMode="auto">
            <a:xfrm>
              <a:off x="1773238" y="2698750"/>
              <a:ext cx="182786" cy="259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100" b="1" dirty="0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9" name="Line 121"/>
            <p:cNvSpPr>
              <a:spLocks noChangeShapeType="1"/>
            </p:cNvSpPr>
            <p:nvPr/>
          </p:nvSpPr>
          <p:spPr bwMode="auto">
            <a:xfrm flipV="1">
              <a:off x="4371975" y="15906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0" name="Line 122"/>
            <p:cNvSpPr>
              <a:spLocks noChangeShapeType="1"/>
            </p:cNvSpPr>
            <p:nvPr/>
          </p:nvSpPr>
          <p:spPr bwMode="auto">
            <a:xfrm flipV="1">
              <a:off x="4368800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1" name="Line 123"/>
            <p:cNvSpPr>
              <a:spLocks noChangeShapeType="1"/>
            </p:cNvSpPr>
            <p:nvPr/>
          </p:nvSpPr>
          <p:spPr bwMode="auto">
            <a:xfrm flipV="1">
              <a:off x="435927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2" name="Line 124"/>
            <p:cNvSpPr>
              <a:spLocks noChangeShapeType="1"/>
            </p:cNvSpPr>
            <p:nvPr/>
          </p:nvSpPr>
          <p:spPr bwMode="auto">
            <a:xfrm flipV="1">
              <a:off x="4359275" y="4383088"/>
              <a:ext cx="0" cy="44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3" name="Line 125"/>
            <p:cNvSpPr>
              <a:spLocks noChangeShapeType="1"/>
            </p:cNvSpPr>
            <p:nvPr/>
          </p:nvSpPr>
          <p:spPr bwMode="auto">
            <a:xfrm flipV="1">
              <a:off x="4359275" y="52530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0EA1D2B-318D-F25C-5A20-334C359EF1A8}"/>
              </a:ext>
            </a:extLst>
          </p:cNvPr>
          <p:cNvSpPr txBox="1"/>
          <p:nvPr/>
        </p:nvSpPr>
        <p:spPr>
          <a:xfrm>
            <a:off x="5801868" y="2203033"/>
            <a:ext cx="59298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All </a:t>
            </a:r>
            <a:r>
              <a:rPr lang="en-US" b="1" dirty="0"/>
              <a:t>memory-reference instructions</a:t>
            </a:r>
            <a:r>
              <a:rPr lang="en-US" dirty="0"/>
              <a:t> share the same beginning: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T0–T3</a:t>
            </a:r>
            <a:r>
              <a:rPr lang="en-US" dirty="0"/>
              <a:t> → Instruction Fetch + Decode + Effective Address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</a:t>
            </a:r>
            <a:r>
              <a:rPr lang="en-US" b="1" dirty="0"/>
              <a:t>T4 onward</a:t>
            </a:r>
            <a:r>
              <a:rPr lang="en-US" dirty="0"/>
              <a:t>, execution depends on opcode → </a:t>
            </a:r>
            <a:r>
              <a:rPr lang="en-US" b="1" dirty="0"/>
              <a:t>D0 to D6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 stores carry</a:t>
            </a:r>
            <a:r>
              <a:rPr lang="en-US" dirty="0"/>
              <a:t> → used for overflow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 is faster because it avoids extra </a:t>
            </a:r>
            <a:r>
              <a:rPr lang="en-US"/>
              <a:t>register movement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number of T-states depends on how many internal operations an instruction needs, not on its opcode length.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50540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7472" y="304800"/>
            <a:ext cx="11686032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Input/Output and Interrupt</a:t>
            </a:r>
          </a:p>
        </p:txBody>
      </p:sp>
      <p:grpSp>
        <p:nvGrpSpPr>
          <p:cNvPr id="31751" name="Group 110"/>
          <p:cNvGrpSpPr>
            <a:grpSpLocks/>
          </p:cNvGrpSpPr>
          <p:nvPr/>
        </p:nvGrpSpPr>
        <p:grpSpPr bwMode="auto">
          <a:xfrm>
            <a:off x="412532" y="1651000"/>
            <a:ext cx="7734772" cy="3525288"/>
            <a:chOff x="461963" y="1036636"/>
            <a:chExt cx="7980608" cy="3557582"/>
          </a:xfrm>
        </p:grpSpPr>
        <p:sp>
          <p:nvSpPr>
            <p:cNvPr id="31752" name="Rectangle 3"/>
            <p:cNvSpPr>
              <a:spLocks noChangeArrowheads="1"/>
            </p:cNvSpPr>
            <p:nvPr/>
          </p:nvSpPr>
          <p:spPr bwMode="auto">
            <a:xfrm>
              <a:off x="461963" y="1503360"/>
              <a:ext cx="2832507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 dirty="0">
                  <a:cs typeface="Arial" panose="020B0604020202020204" pitchFamily="34" charset="0"/>
                </a:rPr>
                <a:t> Input-Output Configuration</a:t>
              </a:r>
            </a:p>
          </p:txBody>
        </p:sp>
        <p:sp>
          <p:nvSpPr>
            <p:cNvPr id="31753" name="Rectangle 4"/>
            <p:cNvSpPr>
              <a:spLocks noChangeArrowheads="1"/>
            </p:cNvSpPr>
            <p:nvPr/>
          </p:nvSpPr>
          <p:spPr bwMode="auto">
            <a:xfrm>
              <a:off x="623888" y="3544882"/>
              <a:ext cx="3886200" cy="90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marL="609600" indent="-609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INPR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OUTR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FGI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FGO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IEN</a:t>
              </a:r>
              <a:r>
                <a:rPr lang="en-US" altLang="ko-KR" sz="1200" b="1" dirty="0">
                  <a:cs typeface="Arial" panose="020B0604020202020204" pitchFamily="34" charset="0"/>
                </a:rPr>
                <a:t>	Interrupt enable - 1 bit</a:t>
              </a:r>
            </a:p>
          </p:txBody>
        </p:sp>
        <p:sp>
          <p:nvSpPr>
            <p:cNvPr id="31755" name="Rectangle 6"/>
            <p:cNvSpPr>
              <a:spLocks noChangeArrowheads="1"/>
            </p:cNvSpPr>
            <p:nvPr/>
          </p:nvSpPr>
          <p:spPr bwMode="auto">
            <a:xfrm>
              <a:off x="1295400" y="1062036"/>
              <a:ext cx="4632616" cy="366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cs typeface="Arial" panose="020B0604020202020204" pitchFamily="34" charset="0"/>
                </a:rPr>
                <a:t>A Terminal with a keyboard and a Printer</a:t>
              </a:r>
            </a:p>
          </p:txBody>
        </p:sp>
        <p:sp>
          <p:nvSpPr>
            <p:cNvPr id="31756" name="Rectangle 7"/>
            <p:cNvSpPr>
              <a:spLocks noChangeArrowheads="1"/>
            </p:cNvSpPr>
            <p:nvPr/>
          </p:nvSpPr>
          <p:spPr bwMode="auto">
            <a:xfrm>
              <a:off x="1286412" y="1036636"/>
              <a:ext cx="4779963" cy="3397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7" name="Rectangle 47"/>
            <p:cNvSpPr>
              <a:spLocks noChangeArrowheads="1"/>
            </p:cNvSpPr>
            <p:nvPr/>
          </p:nvSpPr>
          <p:spPr bwMode="auto">
            <a:xfrm>
              <a:off x="552450" y="3538533"/>
              <a:ext cx="2851150" cy="105568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8" name="Rectangle 8"/>
            <p:cNvSpPr>
              <a:spLocks noChangeArrowheads="1"/>
            </p:cNvSpPr>
            <p:nvPr/>
          </p:nvSpPr>
          <p:spPr bwMode="auto">
            <a:xfrm>
              <a:off x="3798888" y="1798634"/>
              <a:ext cx="109324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Input-output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59" name="Rectangle 9"/>
            <p:cNvSpPr>
              <a:spLocks noChangeArrowheads="1"/>
            </p:cNvSpPr>
            <p:nvPr/>
          </p:nvSpPr>
          <p:spPr bwMode="auto">
            <a:xfrm>
              <a:off x="3952875" y="1924047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31760" name="Rectangle 10"/>
            <p:cNvSpPr>
              <a:spLocks noChangeArrowheads="1"/>
            </p:cNvSpPr>
            <p:nvPr/>
          </p:nvSpPr>
          <p:spPr bwMode="auto">
            <a:xfrm>
              <a:off x="5722938" y="1730372"/>
              <a:ext cx="601128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Serial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1" name="Rectangle 11"/>
            <p:cNvSpPr>
              <a:spLocks noChangeArrowheads="1"/>
            </p:cNvSpPr>
            <p:nvPr/>
          </p:nvSpPr>
          <p:spPr bwMode="auto">
            <a:xfrm>
              <a:off x="5351463" y="1857372"/>
              <a:ext cx="1320875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communication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2" name="Rectangle 12"/>
            <p:cNvSpPr>
              <a:spLocks noChangeArrowheads="1"/>
            </p:cNvSpPr>
            <p:nvPr/>
          </p:nvSpPr>
          <p:spPr bwMode="auto">
            <a:xfrm>
              <a:off x="5608638" y="1982784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6969125" y="1741485"/>
              <a:ext cx="1147751" cy="828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Computer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registers and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flip-flops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4" name="Rectangle 16"/>
            <p:cNvSpPr>
              <a:spLocks noChangeArrowheads="1"/>
            </p:cNvSpPr>
            <p:nvPr/>
          </p:nvSpPr>
          <p:spPr bwMode="auto">
            <a:xfrm>
              <a:off x="3933825" y="2335210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31765" name="Rectangle 17"/>
            <p:cNvSpPr>
              <a:spLocks noChangeArrowheads="1"/>
            </p:cNvSpPr>
            <p:nvPr/>
          </p:nvSpPr>
          <p:spPr bwMode="auto">
            <a:xfrm>
              <a:off x="3792538" y="3402007"/>
              <a:ext cx="8912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31766" name="Rectangle 18"/>
            <p:cNvSpPr>
              <a:spLocks noChangeArrowheads="1"/>
            </p:cNvSpPr>
            <p:nvPr/>
          </p:nvSpPr>
          <p:spPr bwMode="auto">
            <a:xfrm>
              <a:off x="5543550" y="2236784"/>
              <a:ext cx="82073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Receiver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7" name="Rectangle 19"/>
            <p:cNvSpPr>
              <a:spLocks noChangeArrowheads="1"/>
            </p:cNvSpPr>
            <p:nvPr/>
          </p:nvSpPr>
          <p:spPr bwMode="auto">
            <a:xfrm>
              <a:off x="5562600" y="2373310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8" name="Rectangle 20"/>
            <p:cNvSpPr>
              <a:spLocks noChangeArrowheads="1"/>
            </p:cNvSpPr>
            <p:nvPr/>
          </p:nvSpPr>
          <p:spPr bwMode="auto">
            <a:xfrm>
              <a:off x="5480050" y="3290884"/>
              <a:ext cx="1019063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Transmitter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9" name="Rectangle 21"/>
            <p:cNvSpPr>
              <a:spLocks noChangeArrowheads="1"/>
            </p:cNvSpPr>
            <p:nvPr/>
          </p:nvSpPr>
          <p:spPr bwMode="auto">
            <a:xfrm>
              <a:off x="5556250" y="3421058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70" name="Rectangle 22"/>
            <p:cNvSpPr>
              <a:spLocks noChangeArrowheads="1"/>
            </p:cNvSpPr>
            <p:nvPr/>
          </p:nvSpPr>
          <p:spPr bwMode="auto">
            <a:xfrm>
              <a:off x="7924800" y="2335210"/>
              <a:ext cx="5177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FGO</a:t>
              </a:r>
            </a:p>
          </p:txBody>
        </p:sp>
        <p:sp>
          <p:nvSpPr>
            <p:cNvPr id="31771" name="Rectangle 23"/>
            <p:cNvSpPr>
              <a:spLocks noChangeArrowheads="1"/>
            </p:cNvSpPr>
            <p:nvPr/>
          </p:nvSpPr>
          <p:spPr bwMode="auto">
            <a:xfrm>
              <a:off x="7185025" y="2335210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OUTR</a:t>
              </a:r>
            </a:p>
          </p:txBody>
        </p:sp>
        <p:sp>
          <p:nvSpPr>
            <p:cNvPr id="31772" name="Rectangle 24"/>
            <p:cNvSpPr>
              <a:spLocks noChangeArrowheads="1"/>
            </p:cNvSpPr>
            <p:nvPr/>
          </p:nvSpPr>
          <p:spPr bwMode="auto">
            <a:xfrm>
              <a:off x="7269163" y="2878133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31773" name="Rectangle 25"/>
            <p:cNvSpPr>
              <a:spLocks noChangeArrowheads="1"/>
            </p:cNvSpPr>
            <p:nvPr/>
          </p:nvSpPr>
          <p:spPr bwMode="auto">
            <a:xfrm>
              <a:off x="7242175" y="3402007"/>
              <a:ext cx="549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INPR</a:t>
              </a:r>
            </a:p>
          </p:txBody>
        </p:sp>
        <p:sp>
          <p:nvSpPr>
            <p:cNvPr id="31774" name="Rectangle 26"/>
            <p:cNvSpPr>
              <a:spLocks noChangeArrowheads="1"/>
            </p:cNvSpPr>
            <p:nvPr/>
          </p:nvSpPr>
          <p:spPr bwMode="auto">
            <a:xfrm>
              <a:off x="7950200" y="3402007"/>
              <a:ext cx="44082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FGI</a:t>
              </a:r>
            </a:p>
          </p:txBody>
        </p:sp>
        <p:sp>
          <p:nvSpPr>
            <p:cNvPr id="31775" name="Rectangle 27"/>
            <p:cNvSpPr>
              <a:spLocks noChangeArrowheads="1"/>
            </p:cNvSpPr>
            <p:nvPr/>
          </p:nvSpPr>
          <p:spPr bwMode="auto">
            <a:xfrm>
              <a:off x="8002588" y="2333623"/>
              <a:ext cx="360362" cy="207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6" name="Rectangle 28"/>
            <p:cNvSpPr>
              <a:spLocks noChangeArrowheads="1"/>
            </p:cNvSpPr>
            <p:nvPr/>
          </p:nvSpPr>
          <p:spPr bwMode="auto">
            <a:xfrm>
              <a:off x="7177088" y="2341559"/>
              <a:ext cx="644525" cy="19208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7" name="Rectangle 29"/>
            <p:cNvSpPr>
              <a:spLocks noChangeArrowheads="1"/>
            </p:cNvSpPr>
            <p:nvPr/>
          </p:nvSpPr>
          <p:spPr bwMode="auto">
            <a:xfrm>
              <a:off x="6958013" y="2886071"/>
              <a:ext cx="1082675" cy="1984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8" name="Rectangle 30"/>
            <p:cNvSpPr>
              <a:spLocks noChangeArrowheads="1"/>
            </p:cNvSpPr>
            <p:nvPr/>
          </p:nvSpPr>
          <p:spPr bwMode="auto">
            <a:xfrm>
              <a:off x="7177088" y="3398833"/>
              <a:ext cx="644525" cy="20002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9" name="Rectangle 31"/>
            <p:cNvSpPr>
              <a:spLocks noChangeArrowheads="1"/>
            </p:cNvSpPr>
            <p:nvPr/>
          </p:nvSpPr>
          <p:spPr bwMode="auto">
            <a:xfrm>
              <a:off x="7989888" y="3398833"/>
              <a:ext cx="347662" cy="1905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0" name="Arc 32"/>
            <p:cNvSpPr>
              <a:spLocks/>
            </p:cNvSpPr>
            <p:nvPr/>
          </p:nvSpPr>
          <p:spPr bwMode="auto">
            <a:xfrm>
              <a:off x="7435850" y="2525709"/>
              <a:ext cx="96838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1" name="Arc 33"/>
            <p:cNvSpPr>
              <a:spLocks/>
            </p:cNvSpPr>
            <p:nvPr/>
          </p:nvSpPr>
          <p:spPr bwMode="auto">
            <a:xfrm>
              <a:off x="7427913" y="3076569"/>
              <a:ext cx="98425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2" name="Line 34"/>
            <p:cNvSpPr>
              <a:spLocks noChangeShapeType="1"/>
            </p:cNvSpPr>
            <p:nvPr/>
          </p:nvSpPr>
          <p:spPr bwMode="auto">
            <a:xfrm>
              <a:off x="7480300" y="3146421"/>
              <a:ext cx="0" cy="249238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Arc 35"/>
            <p:cNvSpPr>
              <a:spLocks/>
            </p:cNvSpPr>
            <p:nvPr/>
          </p:nvSpPr>
          <p:spPr bwMode="auto">
            <a:xfrm>
              <a:off x="6519863" y="2403472"/>
              <a:ext cx="122237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4" name="Line 36"/>
            <p:cNvSpPr>
              <a:spLocks noChangeShapeType="1"/>
            </p:cNvSpPr>
            <p:nvPr/>
          </p:nvSpPr>
          <p:spPr bwMode="auto">
            <a:xfrm>
              <a:off x="6623050" y="2441572"/>
              <a:ext cx="541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Rectangle 37"/>
            <p:cNvSpPr>
              <a:spLocks noChangeArrowheads="1"/>
            </p:cNvSpPr>
            <p:nvPr/>
          </p:nvSpPr>
          <p:spPr bwMode="auto">
            <a:xfrm>
              <a:off x="5502275" y="2235196"/>
              <a:ext cx="1004888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6" name="Rectangle 38"/>
            <p:cNvSpPr>
              <a:spLocks noChangeArrowheads="1"/>
            </p:cNvSpPr>
            <p:nvPr/>
          </p:nvSpPr>
          <p:spPr bwMode="auto">
            <a:xfrm>
              <a:off x="5502275" y="3300407"/>
              <a:ext cx="1004888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7" name="Arc 39"/>
            <p:cNvSpPr>
              <a:spLocks/>
            </p:cNvSpPr>
            <p:nvPr/>
          </p:nvSpPr>
          <p:spPr bwMode="auto">
            <a:xfrm>
              <a:off x="70564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8" name="Line 40"/>
            <p:cNvSpPr>
              <a:spLocks noChangeShapeType="1"/>
            </p:cNvSpPr>
            <p:nvPr/>
          </p:nvSpPr>
          <p:spPr bwMode="auto">
            <a:xfrm>
              <a:off x="6519863" y="3508369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9" name="Arc 41"/>
            <p:cNvSpPr>
              <a:spLocks/>
            </p:cNvSpPr>
            <p:nvPr/>
          </p:nvSpPr>
          <p:spPr bwMode="auto">
            <a:xfrm>
              <a:off x="4838700" y="2403472"/>
              <a:ext cx="122238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0" name="Line 42"/>
            <p:cNvSpPr>
              <a:spLocks noChangeShapeType="1"/>
            </p:cNvSpPr>
            <p:nvPr/>
          </p:nvSpPr>
          <p:spPr bwMode="auto">
            <a:xfrm>
              <a:off x="4948238" y="2441572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Arc 43"/>
            <p:cNvSpPr>
              <a:spLocks/>
            </p:cNvSpPr>
            <p:nvPr/>
          </p:nvSpPr>
          <p:spPr bwMode="auto">
            <a:xfrm>
              <a:off x="53800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Line 44"/>
            <p:cNvSpPr>
              <a:spLocks noChangeShapeType="1"/>
            </p:cNvSpPr>
            <p:nvPr/>
          </p:nvSpPr>
          <p:spPr bwMode="auto">
            <a:xfrm>
              <a:off x="4845050" y="3508369"/>
              <a:ext cx="5397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3" name="Rectangle 45"/>
            <p:cNvSpPr>
              <a:spLocks noChangeArrowheads="1"/>
            </p:cNvSpPr>
            <p:nvPr/>
          </p:nvSpPr>
          <p:spPr bwMode="auto">
            <a:xfrm>
              <a:off x="3813175" y="2235198"/>
              <a:ext cx="1019175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4" name="Rectangle 46"/>
            <p:cNvSpPr>
              <a:spLocks noChangeArrowheads="1"/>
            </p:cNvSpPr>
            <p:nvPr/>
          </p:nvSpPr>
          <p:spPr bwMode="auto">
            <a:xfrm>
              <a:off x="3813175" y="3300409"/>
              <a:ext cx="1019175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5" name="Line 49"/>
            <p:cNvSpPr>
              <a:spLocks noChangeShapeType="1"/>
            </p:cNvSpPr>
            <p:nvPr/>
          </p:nvSpPr>
          <p:spPr bwMode="auto">
            <a:xfrm flipV="1">
              <a:off x="7486650" y="2592385"/>
              <a:ext cx="0" cy="2968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6" name="Arc 50"/>
            <p:cNvSpPr>
              <a:spLocks/>
            </p:cNvSpPr>
            <p:nvPr/>
          </p:nvSpPr>
          <p:spPr bwMode="auto">
            <a:xfrm>
              <a:off x="5883275" y="3836983"/>
              <a:ext cx="122238" cy="682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7" name="Line 51"/>
            <p:cNvSpPr>
              <a:spLocks noChangeShapeType="1"/>
            </p:cNvSpPr>
            <p:nvPr/>
          </p:nvSpPr>
          <p:spPr bwMode="auto">
            <a:xfrm>
              <a:off x="5553075" y="3878260"/>
              <a:ext cx="33496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rc 52"/>
            <p:cNvSpPr>
              <a:spLocks/>
            </p:cNvSpPr>
            <p:nvPr/>
          </p:nvSpPr>
          <p:spPr bwMode="auto">
            <a:xfrm>
              <a:off x="5883275" y="4025896"/>
              <a:ext cx="122238" cy="682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9" name="Line 53"/>
            <p:cNvSpPr>
              <a:spLocks noChangeShapeType="1"/>
            </p:cNvSpPr>
            <p:nvPr/>
          </p:nvSpPr>
          <p:spPr bwMode="auto">
            <a:xfrm flipH="1">
              <a:off x="5521325" y="4062409"/>
              <a:ext cx="373063" cy="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Rectangle 54"/>
            <p:cNvSpPr>
              <a:spLocks noChangeArrowheads="1"/>
            </p:cNvSpPr>
            <p:nvPr/>
          </p:nvSpPr>
          <p:spPr bwMode="auto">
            <a:xfrm>
              <a:off x="5967413" y="3727444"/>
              <a:ext cx="226985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Serial Communications Path</a:t>
              </a:r>
            </a:p>
          </p:txBody>
        </p:sp>
        <p:sp>
          <p:nvSpPr>
            <p:cNvPr id="31801" name="Rectangle 55"/>
            <p:cNvSpPr>
              <a:spLocks noChangeArrowheads="1"/>
            </p:cNvSpPr>
            <p:nvPr/>
          </p:nvSpPr>
          <p:spPr bwMode="auto">
            <a:xfrm>
              <a:off x="5969000" y="3935413"/>
              <a:ext cx="23980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Parallel Communications Path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EA9B44F-0B5A-6E75-F060-2F161EAC2BEB}"/>
              </a:ext>
            </a:extLst>
          </p:cNvPr>
          <p:cNvSpPr txBox="1"/>
          <p:nvPr/>
        </p:nvSpPr>
        <p:spPr>
          <a:xfrm>
            <a:off x="8148055" y="1751619"/>
            <a:ext cx="38638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Devices like keyboard/printer work </a:t>
            </a:r>
            <a:r>
              <a:rPr lang="en-US" b="1" dirty="0">
                <a:solidFill>
                  <a:srgbClr val="00B050"/>
                </a:solidFill>
              </a:rPr>
              <a:t>serially</a:t>
            </a:r>
            <a:r>
              <a:rPr lang="en-US" dirty="0">
                <a:solidFill>
                  <a:srgbClr val="00B050"/>
                </a:solidFill>
              </a:rPr>
              <a:t/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 2. CPU works </a:t>
            </a:r>
            <a:r>
              <a:rPr lang="en-US" b="1" dirty="0">
                <a:solidFill>
                  <a:srgbClr val="00B050"/>
                </a:solidFill>
              </a:rPr>
              <a:t>in parallel, </a:t>
            </a:r>
            <a:r>
              <a:rPr lang="en-US" dirty="0">
                <a:solidFill>
                  <a:srgbClr val="00B050"/>
                </a:solidFill>
              </a:rPr>
              <a:t>we need </a:t>
            </a:r>
            <a:r>
              <a:rPr lang="en-US" b="1" dirty="0">
                <a:solidFill>
                  <a:srgbClr val="00B050"/>
                </a:solidFill>
              </a:rPr>
              <a:t>interfaces</a:t>
            </a:r>
            <a:r>
              <a:rPr lang="en-US" dirty="0">
                <a:solidFill>
                  <a:srgbClr val="00B050"/>
                </a:solidFill>
              </a:rPr>
              <a:t> to convert between them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B050"/>
                </a:solidFill>
              </a:rPr>
              <a:t>Transmitter converts </a:t>
            </a:r>
            <a:r>
              <a:rPr lang="en-IN" b="1" dirty="0">
                <a:solidFill>
                  <a:srgbClr val="00B050"/>
                </a:solidFill>
              </a:rPr>
              <a:t>serial data → parallel data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Acts as a </a:t>
            </a:r>
            <a:r>
              <a:rPr lang="en-US" b="1" dirty="0">
                <a:solidFill>
                  <a:srgbClr val="00B050"/>
                </a:solidFill>
              </a:rPr>
              <a:t>buffer + converter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Usually, lower 8 bits of AC are used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Receiver Converts </a:t>
            </a:r>
            <a:r>
              <a:rPr lang="en-IN" b="1" dirty="0">
                <a:solidFill>
                  <a:srgbClr val="FF0000"/>
                </a:solidFill>
              </a:rPr>
              <a:t>parallel data → serial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Sends data to printer serially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IEN c</a:t>
            </a:r>
            <a:r>
              <a:rPr lang="en-US" dirty="0" err="1">
                <a:solidFill>
                  <a:srgbClr val="FF0000"/>
                </a:solidFill>
              </a:rPr>
              <a:t>ontrols</a:t>
            </a:r>
            <a:r>
              <a:rPr lang="en-US" dirty="0">
                <a:solidFill>
                  <a:srgbClr val="FF0000"/>
                </a:solidFill>
              </a:rPr>
              <a:t> whether CPU responds to I/O interrupts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4340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0185" y="1380472"/>
            <a:ext cx="8329967" cy="5300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8000"/>
              </a:lnSpc>
            </a:pPr>
            <a:r>
              <a:rPr lang="en-IN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Transmisson</a:t>
            </a:r>
            <a:r>
              <a:rPr lang="en-IN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-</a:t>
            </a:r>
          </a:p>
          <a:p>
            <a:pPr>
              <a:lnSpc>
                <a:spcPct val="88000"/>
              </a:lnSpc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terminal sends and receives serial information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from the keyboard is shifted into INPR 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for the printer is stored in the OUTR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INPR and OUTR communicate with the terminal serially and with the AC in parallel.</a:t>
            </a:r>
          </a:p>
          <a:p>
            <a:pPr marL="285750" indent="-285750">
              <a:lnSpc>
                <a:spcPct val="88000"/>
              </a:lnSpc>
              <a:buFontTx/>
              <a:buChar char="-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flags are needed to </a:t>
            </a:r>
            <a:r>
              <a:rPr lang="en-US" altLang="ko-KR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timing difference between  I/O device and the computer</a:t>
            </a:r>
          </a:p>
          <a:p>
            <a:r>
              <a:rPr lang="en-US" b="1" dirty="0"/>
              <a:t>Why synchronization is needed?</a:t>
            </a:r>
          </a:p>
          <a:p>
            <a:r>
              <a:rPr lang="en-US" dirty="0"/>
              <a:t>CPU speed → </a:t>
            </a:r>
            <a:r>
              <a:rPr lang="en-US" b="1" dirty="0"/>
              <a:t>GHz</a:t>
            </a:r>
            <a:endParaRPr lang="en-US" dirty="0"/>
          </a:p>
          <a:p>
            <a:r>
              <a:rPr lang="en-US" dirty="0"/>
              <a:t>Keyboard/printer → </a:t>
            </a:r>
            <a:r>
              <a:rPr lang="en-US" b="1" dirty="0"/>
              <a:t>very slow</a:t>
            </a:r>
            <a:endParaRPr lang="en-US" dirty="0"/>
          </a:p>
          <a:p>
            <a:r>
              <a:rPr lang="en-IN" b="1" dirty="0"/>
              <a:t>1. FGI (Input Flag)</a:t>
            </a:r>
          </a:p>
          <a:p>
            <a:r>
              <a:rPr lang="en-IN" dirty="0"/>
              <a:t>FGI = 1 → New input available</a:t>
            </a:r>
          </a:p>
          <a:p>
            <a:r>
              <a:rPr lang="en-IN" dirty="0"/>
              <a:t>FGI = 0 → No input</a:t>
            </a:r>
          </a:p>
          <a:p>
            <a:r>
              <a:rPr lang="en-IN" b="1" dirty="0"/>
              <a:t>2. FGO (Output Flag)</a:t>
            </a:r>
          </a:p>
          <a:p>
            <a:r>
              <a:rPr lang="en-IN" dirty="0"/>
              <a:t>FGO = 1 → Printer ready</a:t>
            </a:r>
          </a:p>
          <a:p>
            <a:r>
              <a:rPr lang="en-IN" dirty="0"/>
              <a:t>FGO = 0 → Printer busy</a:t>
            </a:r>
          </a:p>
          <a:p>
            <a:endParaRPr lang="en-IN" dirty="0"/>
          </a:p>
          <a:p>
            <a:pPr marL="285750" indent="-285750">
              <a:lnSpc>
                <a:spcPct val="88000"/>
              </a:lnSpc>
              <a:buFontTx/>
              <a:buChar char="-"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95972" y="1001664"/>
            <a:ext cx="7600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Terminal with a keyboard and a Printer (</a:t>
            </a:r>
            <a:r>
              <a:rPr lang="en-IN" dirty="0"/>
              <a:t>Program-controlled I/O (polling)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3257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Instructions</a:t>
            </a:r>
          </a:p>
        </p:txBody>
      </p:sp>
      <p:grpSp>
        <p:nvGrpSpPr>
          <p:cNvPr id="32775" name="Group 75"/>
          <p:cNvGrpSpPr>
            <a:grpSpLocks/>
          </p:cNvGrpSpPr>
          <p:nvPr/>
        </p:nvGrpSpPr>
        <p:grpSpPr bwMode="auto">
          <a:xfrm>
            <a:off x="2219326" y="1570797"/>
            <a:ext cx="7991475" cy="3058354"/>
            <a:chOff x="1000125" y="1570796"/>
            <a:chExt cx="7991475" cy="3058354"/>
          </a:xfrm>
        </p:grpSpPr>
        <p:sp>
          <p:nvSpPr>
            <p:cNvPr id="32776" name="Rectangle 42"/>
            <p:cNvSpPr>
              <a:spLocks noChangeArrowheads="1"/>
            </p:cNvSpPr>
            <p:nvPr/>
          </p:nvSpPr>
          <p:spPr bwMode="auto">
            <a:xfrm>
              <a:off x="1089399" y="1570796"/>
              <a:ext cx="7557069" cy="857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 dirty="0">
                <a:cs typeface="Arial" panose="020B0604020202020204" pitchFamily="34" charset="0"/>
              </a:endParaRPr>
            </a:p>
            <a:p>
              <a:pPr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D</a:t>
              </a:r>
              <a:r>
                <a:rPr lang="en-US" altLang="ko-KR" baseline="-25000" dirty="0">
                  <a:cs typeface="Arial" panose="020B0604020202020204" pitchFamily="34" charset="0"/>
                </a:rPr>
                <a:t>7</a:t>
              </a:r>
              <a:r>
                <a:rPr lang="en-US" altLang="ko-KR" dirty="0">
                  <a:cs typeface="Arial" panose="020B0604020202020204" pitchFamily="34" charset="0"/>
                </a:rPr>
                <a:t>IT</a:t>
              </a:r>
              <a:r>
                <a:rPr lang="en-US" altLang="ko-KR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dirty="0">
                  <a:cs typeface="Arial" panose="020B0604020202020204" pitchFamily="34" charset="0"/>
                </a:rPr>
                <a:t> = p (</a:t>
              </a:r>
              <a:r>
                <a:rPr lang="en-US" dirty="0"/>
                <a:t>Control function enabling I/O operations)</a:t>
              </a:r>
              <a:r>
                <a:rPr lang="en-US" altLang="ko-KR" dirty="0">
                  <a:cs typeface="Arial" panose="020B0604020202020204" pitchFamily="34" charset="0"/>
                </a:rPr>
                <a:t>	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</a:p>
            <a:p>
              <a:pPr>
                <a:lnSpc>
                  <a:spcPct val="97000"/>
                </a:lnSpc>
              </a:pP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IR(</a:t>
              </a:r>
              <a:r>
                <a:rPr lang="en-US" altLang="ko-KR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) = </a:t>
              </a:r>
              <a:r>
                <a:rPr lang="en-US" altLang="ko-KR" dirty="0">
                  <a:cs typeface="Arial" panose="020B0604020202020204" pitchFamily="34" charset="0"/>
                </a:rPr>
                <a:t>B</a:t>
              </a:r>
              <a:r>
                <a:rPr lang="en-US" altLang="ko-KR" baseline="-25000" dirty="0">
                  <a:cs typeface="Arial" panose="020B0604020202020204" pitchFamily="34" charset="0"/>
                </a:rPr>
                <a:t>i</a:t>
              </a:r>
              <a:r>
                <a:rPr lang="en-US" altLang="ko-KR" dirty="0">
                  <a:cs typeface="Arial" panose="020B0604020202020204" pitchFamily="34" charset="0"/>
                </a:rPr>
                <a:t>, </a:t>
              </a:r>
              <a:r>
                <a:rPr lang="en-US" altLang="ko-KR" dirty="0" err="1">
                  <a:cs typeface="Arial" panose="020B0604020202020204" pitchFamily="34" charset="0"/>
                </a:rPr>
                <a:t>i</a:t>
              </a:r>
              <a:r>
                <a:rPr lang="en-US" altLang="ko-KR" dirty="0">
                  <a:cs typeface="Arial" panose="020B0604020202020204" pitchFamily="34" charset="0"/>
                </a:rPr>
                <a:t> = 6 to 11 (</a:t>
              </a:r>
              <a:r>
                <a:rPr lang="en-US" dirty="0"/>
                <a:t>These bits </a:t>
              </a:r>
              <a:r>
                <a:rPr lang="en-US" b="1" dirty="0"/>
                <a:t>select which I/O instruction</a:t>
              </a:r>
              <a:r>
                <a:rPr lang="en-US" dirty="0"/>
                <a:t> to execute)</a:t>
              </a:r>
              <a:endParaRPr lang="en-US" altLang="ko-KR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2777" name="Rectangle 43"/>
            <p:cNvSpPr>
              <a:spLocks noChangeArrowheads="1"/>
            </p:cNvSpPr>
            <p:nvPr/>
          </p:nvSpPr>
          <p:spPr bwMode="auto">
            <a:xfrm>
              <a:off x="1028700" y="2619375"/>
              <a:ext cx="78486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	p:	SC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Clear SC</a:t>
              </a:r>
              <a:endParaRPr lang="en-US" altLang="ko-KR" sz="2800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INP	pB</a:t>
              </a:r>
              <a:r>
                <a:rPr lang="en-US" altLang="ko-KR" baseline="-25000" dirty="0">
                  <a:cs typeface="Arial" panose="020B0604020202020204" pitchFamily="34" charset="0"/>
                </a:rPr>
                <a:t>11</a:t>
              </a:r>
              <a:r>
                <a:rPr lang="en-US" altLang="ko-KR" dirty="0">
                  <a:cs typeface="Arial" panose="020B0604020202020204" pitchFamily="34" charset="0"/>
                </a:rPr>
                <a:t>:	AC(0-7)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INPR, FGI  0		Input character. to AC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OUT	pB</a:t>
              </a:r>
              <a:r>
                <a:rPr lang="en-US" altLang="ko-KR" baseline="-25000" dirty="0">
                  <a:cs typeface="Arial" panose="020B0604020202020204" pitchFamily="34" charset="0"/>
                </a:rPr>
                <a:t>10</a:t>
              </a:r>
              <a:r>
                <a:rPr lang="en-US" altLang="ko-KR" dirty="0">
                  <a:cs typeface="Arial" panose="020B0604020202020204" pitchFamily="34" charset="0"/>
                </a:rPr>
                <a:t>:	OUTR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AC(0-7), FGO  0		Output char. from AC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SKI	pB</a:t>
              </a:r>
              <a:r>
                <a:rPr lang="en-US" altLang="ko-KR" baseline="-25000" dirty="0">
                  <a:cs typeface="Arial" panose="020B0604020202020204" pitchFamily="34" charset="0"/>
                </a:rPr>
                <a:t>9</a:t>
              </a:r>
              <a:r>
                <a:rPr lang="en-US" altLang="ko-KR" dirty="0">
                  <a:cs typeface="Arial" panose="020B0604020202020204" pitchFamily="34" charset="0"/>
                </a:rPr>
                <a:t>:	if(FGI = 1) then (PC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	Skip if input flag=1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cs typeface="Arial" panose="020B0604020202020204" pitchFamily="34" charset="0"/>
                </a:rPr>
                <a:t>SKO	pB</a:t>
              </a:r>
              <a:r>
                <a:rPr lang="en-US" altLang="ko-KR" baseline="-25000" dirty="0">
                  <a:cs typeface="Arial" panose="020B0604020202020204" pitchFamily="34" charset="0"/>
                </a:rPr>
                <a:t>8</a:t>
              </a:r>
              <a:r>
                <a:rPr lang="en-US" altLang="ko-KR" dirty="0">
                  <a:cs typeface="Arial" panose="020B0604020202020204" pitchFamily="34" charset="0"/>
                </a:rPr>
                <a:t>:	if(FGO = 1) then (PC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Skip if output flag=1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ION	</a:t>
              </a:r>
              <a:r>
                <a:rPr lang="en-US" altLang="ko-KR" dirty="0">
                  <a:cs typeface="Arial" panose="020B0604020202020204" pitchFamily="34" charset="0"/>
                </a:rPr>
                <a:t>pB</a:t>
              </a:r>
              <a:r>
                <a:rPr lang="en-US" altLang="ko-KR" baseline="-25000" dirty="0">
                  <a:cs typeface="Arial" panose="020B0604020202020204" pitchFamily="34" charset="0"/>
                </a:rPr>
                <a:t>7</a:t>
              </a:r>
              <a:r>
                <a:rPr lang="en-US" altLang="ko-KR" dirty="0">
                  <a:cs typeface="Arial" panose="020B0604020202020204" pitchFamily="34" charset="0"/>
                </a:rPr>
                <a:t>:	IEN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1				Interrupt enable 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IOF	</a:t>
              </a:r>
              <a:r>
                <a:rPr lang="en-US" altLang="ko-KR" dirty="0">
                  <a:cs typeface="Arial" panose="020B0604020202020204" pitchFamily="34" charset="0"/>
                </a:rPr>
                <a:t>pB</a:t>
              </a:r>
              <a:r>
                <a:rPr lang="en-US" altLang="ko-KR" baseline="-25000" dirty="0">
                  <a:cs typeface="Arial" panose="020B0604020202020204" pitchFamily="34" charset="0"/>
                </a:rPr>
                <a:t>6</a:t>
              </a:r>
              <a:r>
                <a:rPr lang="en-US" altLang="ko-KR" dirty="0">
                  <a:cs typeface="Arial" panose="020B0604020202020204" pitchFamily="34" charset="0"/>
                </a:rPr>
                <a:t>:	IEN </a:t>
              </a:r>
              <a:r>
                <a:rPr lang="en-US" altLang="ko-KR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Interrupt enable off</a:t>
              </a:r>
              <a:r>
                <a:rPr lang="en-US" altLang="ko-KR" dirty="0"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2778" name="Rectangle 44"/>
            <p:cNvSpPr>
              <a:spLocks noChangeArrowheads="1"/>
            </p:cNvSpPr>
            <p:nvPr/>
          </p:nvSpPr>
          <p:spPr bwMode="auto">
            <a:xfrm>
              <a:off x="1000125" y="2590800"/>
              <a:ext cx="7991475" cy="203835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32779" name="Line 45"/>
            <p:cNvSpPr>
              <a:spLocks noChangeShapeType="1"/>
            </p:cNvSpPr>
            <p:nvPr/>
          </p:nvSpPr>
          <p:spPr bwMode="auto">
            <a:xfrm>
              <a:off x="1685925" y="2590800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46"/>
            <p:cNvSpPr>
              <a:spLocks noChangeShapeType="1"/>
            </p:cNvSpPr>
            <p:nvPr/>
          </p:nvSpPr>
          <p:spPr bwMode="auto">
            <a:xfrm>
              <a:off x="6191250" y="2600325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5F5CAB-7287-47CA-D548-B5900FF3D666}"/>
              </a:ext>
            </a:extLst>
          </p:cNvPr>
          <p:cNvSpPr txBox="1"/>
          <p:nvPr/>
        </p:nvSpPr>
        <p:spPr>
          <a:xfrm>
            <a:off x="6057900" y="70544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All I/O instructions execute at T3 only</a:t>
            </a:r>
          </a:p>
          <a:p>
            <a:r>
              <a:rPr lang="en-US" dirty="0"/>
              <a:t>No memory access, no T4, T5…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6DCE926-230D-0359-7855-F80E708E434E}"/>
              </a:ext>
            </a:extLst>
          </p:cNvPr>
          <p:cNvSpPr txBox="1"/>
          <p:nvPr/>
        </p:nvSpPr>
        <p:spPr>
          <a:xfrm>
            <a:off x="2055746" y="4798744"/>
            <a:ext cx="80043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SKI, If </a:t>
            </a:r>
            <a:r>
              <a:rPr lang="en-US" dirty="0">
                <a:solidFill>
                  <a:srgbClr val="FF0000"/>
                </a:solidFill>
              </a:rPr>
              <a:t>input is ready</a:t>
            </a:r>
            <a:r>
              <a:rPr lang="en-US" dirty="0"/>
              <a:t>, </a:t>
            </a:r>
            <a:r>
              <a:rPr lang="en-US" b="1" dirty="0"/>
              <a:t>skip next instruction</a:t>
            </a:r>
          </a:p>
          <a:p>
            <a:pPr marL="342900" indent="-342900">
              <a:buAutoNum type="arabicPeriod"/>
            </a:pPr>
            <a:r>
              <a:rPr lang="en-US" dirty="0"/>
              <a:t>SKO, Skip next instruction if printer is ready</a:t>
            </a:r>
          </a:p>
          <a:p>
            <a:pPr marL="342900" indent="-342900">
              <a:buAutoNum type="arabicPeriod"/>
            </a:pPr>
            <a:r>
              <a:rPr lang="en-US" dirty="0"/>
              <a:t>ION, CPU can respond when FGI or FGO becomes 1(Enable Interrupts)</a:t>
            </a:r>
          </a:p>
          <a:p>
            <a:pPr marL="342900" indent="-342900">
              <a:buAutoNum type="arabicPeriod"/>
            </a:pPr>
            <a:r>
              <a:rPr lang="en-IN" dirty="0"/>
              <a:t>IOF, CPU ignores device requests (Disable Interrupts)</a:t>
            </a:r>
          </a:p>
          <a:p>
            <a:pPr marL="342900" indent="-342900">
              <a:buAutoNum type="arabicPeriod"/>
            </a:pPr>
            <a:r>
              <a:rPr lang="en-IN" dirty="0"/>
              <a:t>SKI and SKO used in </a:t>
            </a:r>
            <a:r>
              <a:rPr lang="en-IN" b="1" dirty="0"/>
              <a:t>program-controlled I/O and affect Program Flow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322912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387143" cy="4525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1. Open communication only when some data has to be passed --&gt; </a:t>
            </a:r>
            <a:r>
              <a:rPr lang="en-US" altLang="ko-KR" b="1" i="1" dirty="0">
                <a:cs typeface="Arial" panose="020B0604020202020204" pitchFamily="34" charset="0"/>
              </a:rPr>
              <a:t>interrupt</a:t>
            </a:r>
            <a:r>
              <a:rPr lang="en-US" altLang="ko-KR" b="1" dirty="0"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2000"/>
              </a:lnSpc>
            </a:pPr>
            <a:r>
              <a:rPr lang="en-US" dirty="0"/>
              <a:t>CPU </a:t>
            </a:r>
            <a:r>
              <a:rPr lang="en-US" b="1" dirty="0"/>
              <a:t>does NOT continuously check</a:t>
            </a:r>
            <a:r>
              <a:rPr lang="en-US" dirty="0"/>
              <a:t> the device, No waste of CPU time</a:t>
            </a: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2. The I/O interface, instead of the CPU, monitors the I/O device. </a:t>
            </a:r>
          </a:p>
          <a:p>
            <a:r>
              <a:rPr lang="en-US" b="1" dirty="0"/>
              <a:t>Interface hardware</a:t>
            </a:r>
            <a:r>
              <a:rPr lang="en-US" dirty="0"/>
              <a:t> watches:</a:t>
            </a:r>
          </a:p>
          <a:p>
            <a:pPr lvl="1"/>
            <a:r>
              <a:rPr lang="en-US" dirty="0"/>
              <a:t>Keyboard status</a:t>
            </a:r>
          </a:p>
          <a:p>
            <a:pPr lvl="1"/>
            <a:r>
              <a:rPr lang="en-US" dirty="0"/>
              <a:t>Printer status</a:t>
            </a:r>
          </a:p>
          <a:p>
            <a:r>
              <a:rPr lang="en-US" dirty="0"/>
              <a:t>CPU is </a:t>
            </a:r>
            <a:r>
              <a:rPr lang="en-US" b="1" dirty="0"/>
              <a:t>free</a:t>
            </a:r>
            <a:endParaRPr lang="en-US" dirty="0"/>
          </a:p>
          <a:p>
            <a:r>
              <a:rPr lang="en-US" dirty="0"/>
              <a:t>Monitoring responsibility is </a:t>
            </a:r>
            <a:r>
              <a:rPr lang="en-US" b="1" dirty="0"/>
              <a:t>offloaded from CPU to interface</a:t>
            </a:r>
            <a:endParaRPr lang="en-US" dirty="0"/>
          </a:p>
          <a:p>
            <a:pPr marL="285750" indent="-285750" eaLnBrk="1" hangingPunct="1">
              <a:lnSpc>
                <a:spcPct val="102000"/>
              </a:lnSpc>
              <a:buFontTx/>
              <a:buChar char="-"/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3. When the interface founds that the I/O device is ready for data transfer,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generates an interrupt request to the CPU</a:t>
            </a:r>
          </a:p>
          <a:p>
            <a:pPr>
              <a:lnSpc>
                <a:spcPct val="102000"/>
              </a:lnSpc>
            </a:pPr>
            <a:endParaRPr lang="en-US" dirty="0"/>
          </a:p>
          <a:p>
            <a:pPr>
              <a:lnSpc>
                <a:spcPct val="102000"/>
              </a:lnSpc>
            </a:pPr>
            <a:r>
              <a:rPr lang="en-US" dirty="0"/>
              <a:t>4.  In interrupt-driven I/O, the I/O interface monitors the device and generates an interrupt request to the CPU only when data transfer is required, eliminating continuous polling by the processor.</a:t>
            </a: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86027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336" y="780288"/>
            <a:ext cx="11402568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47900" y="3008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752600" y="855299"/>
            <a:ext cx="8604250" cy="3988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Upon detecting an interrupt, the CPU stops momentarily the task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is doing, branches to the service routine to process the data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transfer, and then returns to the task it was performing.</a:t>
            </a:r>
          </a:p>
          <a:p>
            <a:pPr>
              <a:lnSpc>
                <a:spcPct val="102000"/>
              </a:lnSpc>
            </a:pPr>
            <a:r>
              <a:rPr lang="en-US" dirty="0"/>
              <a:t>1. CPU </a:t>
            </a:r>
            <a:r>
              <a:rPr lang="en-US" b="1" dirty="0"/>
              <a:t>finishes the current instruction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2. Detects interrupt request (R = 1)</a:t>
            </a:r>
            <a:br>
              <a:rPr lang="en-US" dirty="0"/>
            </a:br>
            <a:r>
              <a:rPr lang="en-US" dirty="0"/>
              <a:t>3. </a:t>
            </a:r>
            <a:r>
              <a:rPr lang="en-US" b="1" dirty="0"/>
              <a:t>Branches to Interrupt Service Routine (ISR)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4. Performs I/O data transfer</a:t>
            </a:r>
            <a:br>
              <a:rPr lang="en-US" dirty="0"/>
            </a:br>
            <a:r>
              <a:rPr lang="en-US" dirty="0"/>
              <a:t>5. </a:t>
            </a:r>
            <a:r>
              <a:rPr lang="en-US" b="1" dirty="0"/>
              <a:t>Returns to the interrupted program</a:t>
            </a: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FGI –  1 new info. Is available to input device……0 info accepted by computer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FGO – 1 info </a:t>
            </a:r>
            <a:r>
              <a:rPr lang="en-US" altLang="ko-KR" b="1" dirty="0" err="1">
                <a:cs typeface="Arial" panose="020B0604020202020204" pitchFamily="34" charset="0"/>
              </a:rPr>
              <a:t>tranffered</a:t>
            </a:r>
            <a:r>
              <a:rPr lang="en-US" altLang="ko-KR" b="1" dirty="0">
                <a:cs typeface="Arial" panose="020B0604020202020204" pitchFamily="34" charset="0"/>
              </a:rPr>
              <a:t> from AC to OUTR (device ready) ………0 don’t load new data (device busy)</a:t>
            </a:r>
          </a:p>
          <a:p>
            <a:pPr eaLnBrk="1" latin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402336" y="4645689"/>
            <a:ext cx="3590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IEN (Interrupt-enable flip-flop)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402336" y="5000861"/>
            <a:ext cx="11558016" cy="176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can be set and cleared by instructions like ION and IOF</a:t>
            </a: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altLang="ko-KR" b="1" dirty="0">
                <a:cs typeface="Arial" panose="020B0604020202020204" pitchFamily="34" charset="0"/>
              </a:rPr>
              <a:t>when cleared, the computer cannot be interrupted (</a:t>
            </a:r>
            <a:r>
              <a:rPr lang="en-IN" dirty="0">
                <a:solidFill>
                  <a:srgbClr val="FF0000"/>
                </a:solidFill>
              </a:rPr>
              <a:t>IEN = 0</a:t>
            </a:r>
            <a:r>
              <a:rPr lang="en-IN" dirty="0"/>
              <a:t>), CPU continues normal execution</a:t>
            </a:r>
            <a:endParaRPr lang="en-US" altLang="ko-KR" b="1" dirty="0">
              <a:cs typeface="Arial" panose="020B0604020202020204" pitchFamily="34" charset="0"/>
            </a:endParaRP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dirty="0"/>
              <a:t>Think of IEN as an </a:t>
            </a:r>
            <a:r>
              <a:rPr lang="en-US" b="1" dirty="0"/>
              <a:t>ON/OFF switch</a:t>
            </a:r>
            <a:r>
              <a:rPr lang="en-US" dirty="0"/>
              <a:t> for interrupts.</a:t>
            </a:r>
          </a:p>
          <a:p>
            <a:pPr marL="285750" indent="-285750">
              <a:lnSpc>
                <a:spcPct val="105000"/>
              </a:lnSpc>
              <a:buFontTx/>
              <a:buChar char="-"/>
            </a:pPr>
            <a:r>
              <a:rPr lang="en-US" dirty="0"/>
              <a:t>IEN enables or disables interrupt requests; when it is cleared, the CPU ignores all I/O interrupts regardless of device status.</a:t>
            </a: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9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3917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Flow Chart of Interrupt Cycle </a:t>
            </a:r>
          </a:p>
        </p:txBody>
      </p:sp>
      <p:grpSp>
        <p:nvGrpSpPr>
          <p:cNvPr id="34823" name="Group 147"/>
          <p:cNvGrpSpPr>
            <a:grpSpLocks/>
          </p:cNvGrpSpPr>
          <p:nvPr/>
        </p:nvGrpSpPr>
        <p:grpSpPr bwMode="auto">
          <a:xfrm>
            <a:off x="276678" y="965200"/>
            <a:ext cx="11470564" cy="5322758"/>
            <a:chOff x="450850" y="808038"/>
            <a:chExt cx="9259564" cy="5322356"/>
          </a:xfrm>
        </p:grpSpPr>
        <p:sp>
          <p:nvSpPr>
            <p:cNvPr id="34825" name="Rectangle 3"/>
            <p:cNvSpPr>
              <a:spLocks noChangeArrowheads="1"/>
            </p:cNvSpPr>
            <p:nvPr/>
          </p:nvSpPr>
          <p:spPr bwMode="auto">
            <a:xfrm>
              <a:off x="5246688" y="808038"/>
              <a:ext cx="1415452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cs typeface="Arial" panose="020B0604020202020204" pitchFamily="34" charset="0"/>
                </a:rPr>
                <a:t>R = Interrupt f/f</a:t>
              </a:r>
            </a:p>
          </p:txBody>
        </p:sp>
        <p:sp>
          <p:nvSpPr>
            <p:cNvPr id="34826" name="Rectangle 4"/>
            <p:cNvSpPr>
              <a:spLocks noChangeArrowheads="1"/>
            </p:cNvSpPr>
            <p:nvPr/>
          </p:nvSpPr>
          <p:spPr bwMode="auto">
            <a:xfrm>
              <a:off x="450850" y="4392613"/>
              <a:ext cx="9259564" cy="173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interrupt cycle is a </a:t>
              </a:r>
              <a:r>
                <a:rPr lang="en-US" altLang="ko-KR" sz="16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HW</a:t>
              </a:r>
              <a:r>
                <a:rPr lang="en-US" altLang="ko-KR" sz="1600" b="1" dirty="0">
                  <a:cs typeface="Arial" panose="020B0604020202020204" pitchFamily="34" charset="0"/>
                </a:rPr>
                <a:t> implementation of a branch and save return address operation.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the beginning of the next instruction cycle, the instruction that is read from memory is in address 1.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memory address 1, the programmer must store a branch instruction that sends the control to an interrupt service routine</a:t>
              </a:r>
            </a:p>
            <a:p>
              <a:pPr algn="just"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- The instruction that returns the control to the original program is  "indirect BUN   0"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348163" y="1646175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Store return address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34828" name="Group 11"/>
            <p:cNvGrpSpPr>
              <a:grpSpLocks/>
            </p:cNvGrpSpPr>
            <p:nvPr/>
          </p:nvGrpSpPr>
          <p:grpSpPr bwMode="auto">
            <a:xfrm>
              <a:off x="3416300" y="1173163"/>
              <a:ext cx="481013" cy="334962"/>
              <a:chOff x="2115" y="1631"/>
              <a:chExt cx="268" cy="236"/>
            </a:xfrm>
          </p:grpSpPr>
          <p:sp>
            <p:nvSpPr>
              <p:cNvPr id="64" name="Line 7"/>
              <p:cNvSpPr>
                <a:spLocks noChangeShapeType="1"/>
              </p:cNvSpPr>
              <p:nvPr/>
            </p:nvSpPr>
            <p:spPr bwMode="auto">
              <a:xfrm flipH="1">
                <a:off x="2115" y="1631"/>
                <a:ext cx="145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5" name="Line 8"/>
              <p:cNvSpPr>
                <a:spLocks noChangeShapeType="1"/>
              </p:cNvSpPr>
              <p:nvPr/>
            </p:nvSpPr>
            <p:spPr bwMode="auto">
              <a:xfrm flipH="1">
                <a:off x="2237" y="1754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253" y="1631"/>
                <a:ext cx="114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7" name="Line 10"/>
              <p:cNvSpPr>
                <a:spLocks noChangeShapeType="1"/>
              </p:cNvSpPr>
              <p:nvPr/>
            </p:nvSpPr>
            <p:spPr bwMode="auto">
              <a:xfrm>
                <a:off x="2131" y="1754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3516313" y="1223932"/>
              <a:ext cx="262893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3765550" y="1152500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3155950" y="1142976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 flipV="1">
              <a:off x="3862388" y="1342986"/>
              <a:ext cx="12700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H="1">
              <a:off x="2397125" y="1342986"/>
              <a:ext cx="1046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3" name="Rectangle 18"/>
            <p:cNvSpPr>
              <a:spLocks noChangeArrowheads="1"/>
            </p:cNvSpPr>
            <p:nvPr/>
          </p:nvSpPr>
          <p:spPr bwMode="auto">
            <a:xfrm>
              <a:off x="4538663" y="1765229"/>
              <a:ext cx="1224695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in location 0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19"/>
            <p:cNvSpPr>
              <a:spLocks noChangeArrowheads="1"/>
            </p:cNvSpPr>
            <p:nvPr/>
          </p:nvSpPr>
          <p:spPr bwMode="auto">
            <a:xfrm>
              <a:off x="4576763" y="1906505"/>
              <a:ext cx="9569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M[0]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PC</a:t>
              </a:r>
            </a:p>
          </p:txBody>
        </p:sp>
        <p:sp>
          <p:nvSpPr>
            <p:cNvPr id="75" name="Rectangle 20"/>
            <p:cNvSpPr>
              <a:spLocks noChangeArrowheads="1"/>
            </p:cNvSpPr>
            <p:nvPr/>
          </p:nvSpPr>
          <p:spPr bwMode="auto">
            <a:xfrm>
              <a:off x="4229100" y="2538283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Branch to location 1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4641850" y="2682735"/>
              <a:ext cx="71654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77" name="Rectangle 22"/>
            <p:cNvSpPr>
              <a:spLocks noChangeArrowheads="1"/>
            </p:cNvSpPr>
            <p:nvPr/>
          </p:nvSpPr>
          <p:spPr bwMode="auto">
            <a:xfrm>
              <a:off x="4602163" y="3243080"/>
              <a:ext cx="876844" cy="5744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  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8" name="Rectangle 23"/>
            <p:cNvSpPr>
              <a:spLocks noChangeArrowheads="1"/>
            </p:cNvSpPr>
            <p:nvPr/>
          </p:nvSpPr>
          <p:spPr bwMode="auto">
            <a:xfrm>
              <a:off x="4422775" y="1152500"/>
              <a:ext cx="13849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Interrupt cycle</a:t>
              </a:r>
            </a:p>
          </p:txBody>
        </p:sp>
        <p:sp>
          <p:nvSpPr>
            <p:cNvPr id="79" name="Rectangle 24"/>
            <p:cNvSpPr>
              <a:spLocks noChangeArrowheads="1"/>
            </p:cNvSpPr>
            <p:nvPr/>
          </p:nvSpPr>
          <p:spPr bwMode="auto">
            <a:xfrm>
              <a:off x="1793875" y="1152500"/>
              <a:ext cx="15452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cycle</a:t>
              </a:r>
            </a:p>
          </p:txBody>
        </p:sp>
        <p:sp>
          <p:nvSpPr>
            <p:cNvPr id="80" name="Rectangle 25"/>
            <p:cNvSpPr>
              <a:spLocks noChangeArrowheads="1"/>
            </p:cNvSpPr>
            <p:nvPr/>
          </p:nvSpPr>
          <p:spPr bwMode="auto">
            <a:xfrm>
              <a:off x="1677988" y="1673161"/>
              <a:ext cx="14651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Fetch and decode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1909763" y="1814437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82" name="Rectangle 27"/>
            <p:cNvSpPr>
              <a:spLocks noChangeArrowheads="1"/>
            </p:cNvSpPr>
            <p:nvPr/>
          </p:nvSpPr>
          <p:spPr bwMode="auto">
            <a:xfrm>
              <a:off x="1538288" y="1641413"/>
              <a:ext cx="1722437" cy="4381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34844" name="Group 32"/>
            <p:cNvGrpSpPr>
              <a:grpSpLocks/>
            </p:cNvGrpSpPr>
            <p:nvPr/>
          </p:nvGrpSpPr>
          <p:grpSpPr bwMode="auto">
            <a:xfrm>
              <a:off x="2681288" y="2274888"/>
              <a:ext cx="479425" cy="333375"/>
              <a:chOff x="1704" y="2409"/>
              <a:chExt cx="268" cy="236"/>
            </a:xfrm>
          </p:grpSpPr>
          <p:sp>
            <p:nvSpPr>
              <p:cNvPr id="84" name="Line 28"/>
              <p:cNvSpPr>
                <a:spLocks noChangeShapeType="1"/>
              </p:cNvSpPr>
              <p:nvPr/>
            </p:nvSpPr>
            <p:spPr bwMode="auto">
              <a:xfrm flipH="1">
                <a:off x="1704" y="2409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5" name="Line 29"/>
              <p:cNvSpPr>
                <a:spLocks noChangeShapeType="1"/>
              </p:cNvSpPr>
              <p:nvPr/>
            </p:nvSpPr>
            <p:spPr bwMode="auto">
              <a:xfrm flipH="1">
                <a:off x="1827" y="2531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6" name="Line 30"/>
              <p:cNvSpPr>
                <a:spLocks noChangeShapeType="1"/>
              </p:cNvSpPr>
              <p:nvPr/>
            </p:nvSpPr>
            <p:spPr bwMode="auto">
              <a:xfrm>
                <a:off x="1843" y="2409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7" name="Line 31"/>
              <p:cNvSpPr>
                <a:spLocks noChangeShapeType="1"/>
              </p:cNvSpPr>
              <p:nvPr/>
            </p:nvSpPr>
            <p:spPr bwMode="auto">
              <a:xfrm>
                <a:off x="1720" y="2531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88" name="Line 34"/>
            <p:cNvSpPr>
              <a:spLocks noChangeShapeType="1"/>
            </p:cNvSpPr>
            <p:nvPr/>
          </p:nvSpPr>
          <p:spPr bwMode="auto">
            <a:xfrm>
              <a:off x="2922588" y="2082705"/>
              <a:ext cx="0" cy="1984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35"/>
            <p:cNvSpPr>
              <a:spLocks noChangeArrowheads="1"/>
            </p:cNvSpPr>
            <p:nvPr/>
          </p:nvSpPr>
          <p:spPr bwMode="auto">
            <a:xfrm>
              <a:off x="2697163" y="2338273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</a:t>
              </a:r>
            </a:p>
          </p:txBody>
        </p:sp>
        <p:grpSp>
          <p:nvGrpSpPr>
            <p:cNvPr id="34847" name="Group 40"/>
            <p:cNvGrpSpPr>
              <a:grpSpLocks/>
            </p:cNvGrpSpPr>
            <p:nvPr/>
          </p:nvGrpSpPr>
          <p:grpSpPr bwMode="auto">
            <a:xfrm>
              <a:off x="2681288" y="2794000"/>
              <a:ext cx="479425" cy="333375"/>
              <a:chOff x="1704" y="2776"/>
              <a:chExt cx="268" cy="236"/>
            </a:xfrm>
          </p:grpSpPr>
          <p:sp>
            <p:nvSpPr>
              <p:cNvPr id="91" name="Line 36"/>
              <p:cNvSpPr>
                <a:spLocks noChangeShapeType="1"/>
              </p:cNvSpPr>
              <p:nvPr/>
            </p:nvSpPr>
            <p:spPr bwMode="auto">
              <a:xfrm flipH="1">
                <a:off x="1704" y="2776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2" name="Line 37"/>
              <p:cNvSpPr>
                <a:spLocks noChangeShapeType="1"/>
              </p:cNvSpPr>
              <p:nvPr/>
            </p:nvSpPr>
            <p:spPr bwMode="auto">
              <a:xfrm flipH="1">
                <a:off x="1827" y="2898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3" name="Line 38"/>
              <p:cNvSpPr>
                <a:spLocks noChangeShapeType="1"/>
              </p:cNvSpPr>
              <p:nvPr/>
            </p:nvSpPr>
            <p:spPr bwMode="auto">
              <a:xfrm>
                <a:off x="1843" y="2776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4" name="Line 39"/>
              <p:cNvSpPr>
                <a:spLocks noChangeShapeType="1"/>
              </p:cNvSpPr>
              <p:nvPr/>
            </p:nvSpPr>
            <p:spPr bwMode="auto">
              <a:xfrm>
                <a:off x="1720" y="2898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95" name="Line 42"/>
            <p:cNvSpPr>
              <a:spLocks noChangeShapeType="1"/>
            </p:cNvSpPr>
            <p:nvPr/>
          </p:nvSpPr>
          <p:spPr bwMode="auto">
            <a:xfrm>
              <a:off x="2916238" y="2609715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43"/>
            <p:cNvSpPr>
              <a:spLocks noChangeArrowheads="1"/>
            </p:cNvSpPr>
            <p:nvPr/>
          </p:nvSpPr>
          <p:spPr bwMode="auto">
            <a:xfrm>
              <a:off x="2716213" y="285099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FGI</a:t>
              </a:r>
            </a:p>
          </p:txBody>
        </p:sp>
        <p:grpSp>
          <p:nvGrpSpPr>
            <p:cNvPr id="34850" name="Group 48"/>
            <p:cNvGrpSpPr>
              <a:grpSpLocks/>
            </p:cNvGrpSpPr>
            <p:nvPr/>
          </p:nvGrpSpPr>
          <p:grpSpPr bwMode="auto">
            <a:xfrm>
              <a:off x="2681288" y="3314700"/>
              <a:ext cx="479425" cy="333375"/>
              <a:chOff x="1704" y="3143"/>
              <a:chExt cx="268" cy="236"/>
            </a:xfrm>
          </p:grpSpPr>
          <p:sp>
            <p:nvSpPr>
              <p:cNvPr id="98" name="Line 44"/>
              <p:cNvSpPr>
                <a:spLocks noChangeShapeType="1"/>
              </p:cNvSpPr>
              <p:nvPr/>
            </p:nvSpPr>
            <p:spPr bwMode="auto">
              <a:xfrm flipH="1">
                <a:off x="1704" y="3143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9" name="Line 45"/>
              <p:cNvSpPr>
                <a:spLocks noChangeShapeType="1"/>
              </p:cNvSpPr>
              <p:nvPr/>
            </p:nvSpPr>
            <p:spPr bwMode="auto">
              <a:xfrm flipH="1">
                <a:off x="1827" y="3265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0" name="Line 46"/>
              <p:cNvSpPr>
                <a:spLocks noChangeShapeType="1"/>
              </p:cNvSpPr>
              <p:nvPr/>
            </p:nvSpPr>
            <p:spPr bwMode="auto">
              <a:xfrm>
                <a:off x="1843" y="3143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1" name="Line 47"/>
              <p:cNvSpPr>
                <a:spLocks noChangeShapeType="1"/>
              </p:cNvSpPr>
              <p:nvPr/>
            </p:nvSpPr>
            <p:spPr bwMode="auto">
              <a:xfrm>
                <a:off x="1720" y="3265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>
              <a:off x="2916238" y="3139900"/>
              <a:ext cx="0" cy="1761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2670175" y="337800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FGO</a:t>
              </a: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 flipH="1">
              <a:off x="2540000" y="3481187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5" name="Arc 53"/>
            <p:cNvSpPr>
              <a:spLocks/>
            </p:cNvSpPr>
            <p:nvPr/>
          </p:nvSpPr>
          <p:spPr bwMode="auto">
            <a:xfrm>
              <a:off x="2493963" y="3662148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6" name="Line 54"/>
            <p:cNvSpPr>
              <a:spLocks noChangeShapeType="1"/>
            </p:cNvSpPr>
            <p:nvPr/>
          </p:nvSpPr>
          <p:spPr bwMode="auto">
            <a:xfrm>
              <a:off x="2547938" y="3487536"/>
              <a:ext cx="0" cy="1809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 flipH="1">
              <a:off x="2320925" y="2962114"/>
              <a:ext cx="387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8" name="Arc 56"/>
            <p:cNvSpPr>
              <a:spLocks/>
            </p:cNvSpPr>
            <p:nvPr/>
          </p:nvSpPr>
          <p:spPr bwMode="auto">
            <a:xfrm>
              <a:off x="2292350" y="3662148"/>
              <a:ext cx="95250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9" name="Line 57"/>
            <p:cNvSpPr>
              <a:spLocks noChangeShapeType="1"/>
            </p:cNvSpPr>
            <p:nvPr/>
          </p:nvSpPr>
          <p:spPr bwMode="auto">
            <a:xfrm>
              <a:off x="2335213" y="2966875"/>
              <a:ext cx="0" cy="7016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0" name="Rectangle 58"/>
            <p:cNvSpPr>
              <a:spLocks noChangeArrowheads="1"/>
            </p:cNvSpPr>
            <p:nvPr/>
          </p:nvSpPr>
          <p:spPr bwMode="auto">
            <a:xfrm>
              <a:off x="1614488" y="2316049"/>
              <a:ext cx="743794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1" name="Rectangle 59"/>
            <p:cNvSpPr>
              <a:spLocks noChangeArrowheads="1"/>
            </p:cNvSpPr>
            <p:nvPr/>
          </p:nvSpPr>
          <p:spPr bwMode="auto">
            <a:xfrm>
              <a:off x="1506538" y="2458914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1538288" y="2336686"/>
              <a:ext cx="922337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3" name="Arc 61"/>
            <p:cNvSpPr>
              <a:spLocks/>
            </p:cNvSpPr>
            <p:nvPr/>
          </p:nvSpPr>
          <p:spPr bwMode="auto">
            <a:xfrm>
              <a:off x="1993900" y="2233506"/>
              <a:ext cx="96838" cy="96831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2046288" y="2082705"/>
              <a:ext cx="0" cy="1698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Arc 63"/>
            <p:cNvSpPr>
              <a:spLocks/>
            </p:cNvSpPr>
            <p:nvPr/>
          </p:nvSpPr>
          <p:spPr bwMode="auto">
            <a:xfrm>
              <a:off x="1930400" y="4174872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Rectangle 65"/>
            <p:cNvSpPr>
              <a:spLocks noChangeArrowheads="1"/>
            </p:cNvSpPr>
            <p:nvPr/>
          </p:nvSpPr>
          <p:spPr bwMode="auto">
            <a:xfrm>
              <a:off x="2078038" y="3762153"/>
              <a:ext cx="6363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117" name="Rectangle 66"/>
            <p:cNvSpPr>
              <a:spLocks noChangeArrowheads="1"/>
            </p:cNvSpPr>
            <p:nvPr/>
          </p:nvSpPr>
          <p:spPr bwMode="auto">
            <a:xfrm>
              <a:off x="2130425" y="3771678"/>
              <a:ext cx="627063" cy="21112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Rectangle 67"/>
            <p:cNvSpPr>
              <a:spLocks noChangeArrowheads="1"/>
            </p:cNvSpPr>
            <p:nvPr/>
          </p:nvSpPr>
          <p:spPr bwMode="auto">
            <a:xfrm>
              <a:off x="2887663" y="253828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19" name="Rectangle 68"/>
            <p:cNvSpPr>
              <a:spLocks noChangeArrowheads="1"/>
            </p:cNvSpPr>
            <p:nvPr/>
          </p:nvSpPr>
          <p:spPr bwMode="auto">
            <a:xfrm>
              <a:off x="2393950" y="2774803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0" name="Rectangle 69"/>
            <p:cNvSpPr>
              <a:spLocks noChangeArrowheads="1"/>
            </p:cNvSpPr>
            <p:nvPr/>
          </p:nvSpPr>
          <p:spPr bwMode="auto">
            <a:xfrm>
              <a:off x="2451100" y="3293876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1" name="Rectangle 70"/>
            <p:cNvSpPr>
              <a:spLocks noChangeArrowheads="1"/>
            </p:cNvSpPr>
            <p:nvPr/>
          </p:nvSpPr>
          <p:spPr bwMode="auto">
            <a:xfrm>
              <a:off x="3087688" y="2266841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2" name="Rectangle 71"/>
            <p:cNvSpPr>
              <a:spLocks noChangeArrowheads="1"/>
            </p:cNvSpPr>
            <p:nvPr/>
          </p:nvSpPr>
          <p:spPr bwMode="auto">
            <a:xfrm>
              <a:off x="2887663" y="305894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3" name="Rectangle 72"/>
            <p:cNvSpPr>
              <a:spLocks noChangeArrowheads="1"/>
            </p:cNvSpPr>
            <p:nvPr/>
          </p:nvSpPr>
          <p:spPr bwMode="auto">
            <a:xfrm>
              <a:off x="2887663" y="3579604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4" name="Arc 73"/>
            <p:cNvSpPr>
              <a:spLocks/>
            </p:cNvSpPr>
            <p:nvPr/>
          </p:nvSpPr>
          <p:spPr bwMode="auto">
            <a:xfrm>
              <a:off x="28702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Line 74"/>
            <p:cNvSpPr>
              <a:spLocks noChangeShapeType="1"/>
            </p:cNvSpPr>
            <p:nvPr/>
          </p:nvSpPr>
          <p:spPr bwMode="auto">
            <a:xfrm>
              <a:off x="2916238" y="3655798"/>
              <a:ext cx="0" cy="5254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Arc 75"/>
            <p:cNvSpPr>
              <a:spLocks/>
            </p:cNvSpPr>
            <p:nvPr/>
          </p:nvSpPr>
          <p:spPr bwMode="auto">
            <a:xfrm>
              <a:off x="2354263" y="4181222"/>
              <a:ext cx="98425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Line 76"/>
            <p:cNvSpPr>
              <a:spLocks noChangeShapeType="1"/>
            </p:cNvSpPr>
            <p:nvPr/>
          </p:nvSpPr>
          <p:spPr bwMode="auto">
            <a:xfrm>
              <a:off x="2408238" y="3997086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Arc 77"/>
            <p:cNvSpPr>
              <a:spLocks/>
            </p:cNvSpPr>
            <p:nvPr/>
          </p:nvSpPr>
          <p:spPr bwMode="auto">
            <a:xfrm>
              <a:off x="2354263" y="1530297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78"/>
            <p:cNvSpPr>
              <a:spLocks noChangeShapeType="1"/>
            </p:cNvSpPr>
            <p:nvPr/>
          </p:nvSpPr>
          <p:spPr bwMode="auto">
            <a:xfrm>
              <a:off x="24082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Rectangle 79"/>
            <p:cNvSpPr>
              <a:spLocks noChangeArrowheads="1"/>
            </p:cNvSpPr>
            <p:nvPr/>
          </p:nvSpPr>
          <p:spPr bwMode="auto">
            <a:xfrm>
              <a:off x="4243388" y="1641413"/>
              <a:ext cx="1658937" cy="4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Arc 80"/>
            <p:cNvSpPr>
              <a:spLocks/>
            </p:cNvSpPr>
            <p:nvPr/>
          </p:nvSpPr>
          <p:spPr bwMode="auto">
            <a:xfrm>
              <a:off x="5070475" y="1530297"/>
              <a:ext cx="96838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2" name="Line 81"/>
            <p:cNvSpPr>
              <a:spLocks noChangeShapeType="1"/>
            </p:cNvSpPr>
            <p:nvPr/>
          </p:nvSpPr>
          <p:spPr bwMode="auto">
            <a:xfrm>
              <a:off x="51133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3" name="Rectangle 82"/>
            <p:cNvSpPr>
              <a:spLocks noChangeArrowheads="1"/>
            </p:cNvSpPr>
            <p:nvPr/>
          </p:nvSpPr>
          <p:spPr bwMode="auto">
            <a:xfrm>
              <a:off x="4243388" y="2508123"/>
              <a:ext cx="1658937" cy="37462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4" name="Rectangle 83"/>
            <p:cNvSpPr>
              <a:spLocks noChangeArrowheads="1"/>
            </p:cNvSpPr>
            <p:nvPr/>
          </p:nvSpPr>
          <p:spPr bwMode="auto">
            <a:xfrm>
              <a:off x="4462463" y="3252604"/>
              <a:ext cx="1143000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5" name="Arc 84"/>
            <p:cNvSpPr>
              <a:spLocks/>
            </p:cNvSpPr>
            <p:nvPr/>
          </p:nvSpPr>
          <p:spPr bwMode="auto">
            <a:xfrm>
              <a:off x="5067300" y="2414467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6" name="Line 85"/>
            <p:cNvSpPr>
              <a:spLocks noChangeShapeType="1"/>
            </p:cNvSpPr>
            <p:nvPr/>
          </p:nvSpPr>
          <p:spPr bwMode="auto">
            <a:xfrm>
              <a:off x="5113338" y="2136676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7" name="Arc 86"/>
            <p:cNvSpPr>
              <a:spLocks/>
            </p:cNvSpPr>
            <p:nvPr/>
          </p:nvSpPr>
          <p:spPr bwMode="auto">
            <a:xfrm>
              <a:off x="5067300" y="3152599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8" name="Line 87"/>
            <p:cNvSpPr>
              <a:spLocks noChangeShapeType="1"/>
            </p:cNvSpPr>
            <p:nvPr/>
          </p:nvSpPr>
          <p:spPr bwMode="auto">
            <a:xfrm>
              <a:off x="5113338" y="2881157"/>
              <a:ext cx="0" cy="2873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9" name="Arc 88"/>
            <p:cNvSpPr>
              <a:spLocks/>
            </p:cNvSpPr>
            <p:nvPr/>
          </p:nvSpPr>
          <p:spPr bwMode="auto">
            <a:xfrm>
              <a:off x="50673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0" name="Line 89"/>
            <p:cNvSpPr>
              <a:spLocks noChangeShapeType="1"/>
            </p:cNvSpPr>
            <p:nvPr/>
          </p:nvSpPr>
          <p:spPr bwMode="auto">
            <a:xfrm>
              <a:off x="5113338" y="3616114"/>
              <a:ext cx="0" cy="5714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1" name="Freeform 90"/>
            <p:cNvSpPr>
              <a:spLocks/>
            </p:cNvSpPr>
            <p:nvPr/>
          </p:nvSpPr>
          <p:spPr bwMode="auto">
            <a:xfrm>
              <a:off x="1163638" y="877883"/>
              <a:ext cx="3952875" cy="3412868"/>
            </a:xfrm>
            <a:custGeom>
              <a:avLst/>
              <a:gdLst/>
              <a:ahLst/>
              <a:cxnLst>
                <a:cxn ang="0">
                  <a:pos x="2203" y="2404"/>
                </a:cxn>
                <a:cxn ang="0">
                  <a:pos x="0" y="2404"/>
                </a:cxn>
                <a:cxn ang="0">
                  <a:pos x="0" y="0"/>
                </a:cxn>
              </a:cxnLst>
              <a:rect l="0" t="0" r="r" b="b"/>
              <a:pathLst>
                <a:path w="2204" h="2405">
                  <a:moveTo>
                    <a:pt x="2203" y="2404"/>
                  </a:moveTo>
                  <a:lnTo>
                    <a:pt x="0" y="2404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2" name="Line 92"/>
            <p:cNvSpPr>
              <a:spLocks noChangeShapeType="1"/>
            </p:cNvSpPr>
            <p:nvPr/>
          </p:nvSpPr>
          <p:spPr bwMode="auto">
            <a:xfrm flipH="1">
              <a:off x="3656013" y="879471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3" name="Line 93"/>
            <p:cNvSpPr>
              <a:spLocks noChangeShapeType="1"/>
            </p:cNvSpPr>
            <p:nvPr/>
          </p:nvSpPr>
          <p:spPr bwMode="auto">
            <a:xfrm flipH="1">
              <a:off x="1149350" y="873121"/>
              <a:ext cx="2511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4" name="Line 94"/>
            <p:cNvSpPr>
              <a:spLocks noChangeShapeType="1"/>
            </p:cNvSpPr>
            <p:nvPr/>
          </p:nvSpPr>
          <p:spPr bwMode="auto">
            <a:xfrm>
              <a:off x="3148013" y="2441453"/>
              <a:ext cx="314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5" name="Arc 95"/>
            <p:cNvSpPr>
              <a:spLocks/>
            </p:cNvSpPr>
            <p:nvPr/>
          </p:nvSpPr>
          <p:spPr bwMode="auto">
            <a:xfrm>
              <a:off x="3386138" y="4181222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6" name="Line 96"/>
            <p:cNvSpPr>
              <a:spLocks noChangeShapeType="1"/>
            </p:cNvSpPr>
            <p:nvPr/>
          </p:nvSpPr>
          <p:spPr bwMode="auto">
            <a:xfrm>
              <a:off x="3438525" y="2446215"/>
              <a:ext cx="0" cy="17413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7" name="Line 98"/>
            <p:cNvSpPr>
              <a:spLocks noChangeShapeType="1"/>
            </p:cNvSpPr>
            <p:nvPr/>
          </p:nvSpPr>
          <p:spPr bwMode="auto">
            <a:xfrm>
              <a:off x="1981200" y="2693846"/>
              <a:ext cx="0" cy="15413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  <p:sp>
        <p:nvSpPr>
          <p:cNvPr id="34824" name="Rectangle 4"/>
          <p:cNvSpPr>
            <a:spLocks noChangeArrowheads="1"/>
          </p:cNvSpPr>
          <p:nvPr/>
        </p:nvSpPr>
        <p:spPr bwMode="auto">
          <a:xfrm>
            <a:off x="8247160" y="1001234"/>
            <a:ext cx="2670175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INPR</a:t>
            </a:r>
            <a:r>
              <a:rPr lang="en-US" altLang="ko-KR" sz="1200" b="1" dirty="0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OUTR</a:t>
            </a:r>
            <a:r>
              <a:rPr lang="en-US" altLang="ko-KR" sz="1200" b="1" dirty="0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FGI</a:t>
            </a:r>
            <a:r>
              <a:rPr lang="en-US" altLang="ko-KR" sz="1200" b="1" dirty="0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FGO</a:t>
            </a:r>
            <a:r>
              <a:rPr lang="en-US" altLang="ko-KR" sz="1200" b="1" dirty="0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IEN</a:t>
            </a:r>
            <a:r>
              <a:rPr lang="en-US" altLang="ko-KR" sz="1200" b="1" dirty="0">
                <a:cs typeface="Arial" panose="020B0604020202020204" pitchFamily="34" charset="0"/>
              </a:rPr>
              <a:t>	Interrupt enable - 1 bit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C138A0-B9DC-F815-ABF7-419947CE2F35}"/>
              </a:ext>
            </a:extLst>
          </p:cNvPr>
          <p:cNvSpPr txBox="1"/>
          <p:nvPr/>
        </p:nvSpPr>
        <p:spPr>
          <a:xfrm>
            <a:off x="7147854" y="2024409"/>
            <a:ext cx="48967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IN" dirty="0">
                <a:solidFill>
                  <a:srgbClr val="00B050"/>
                </a:solidFill>
              </a:rPr>
              <a:t>IEN = 1 AND (FGI = 1 OR FGO = 1), R ← 1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Now the CPU </a:t>
            </a:r>
            <a:r>
              <a:rPr lang="en-US" b="1" dirty="0">
                <a:solidFill>
                  <a:srgbClr val="00B050"/>
                </a:solidFill>
              </a:rPr>
              <a:t>enters the interrupt cycle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The interrupt cycle takes </a:t>
            </a:r>
            <a:r>
              <a:rPr lang="en-US" b="1" dirty="0">
                <a:solidFill>
                  <a:srgbClr val="00B050"/>
                </a:solidFill>
              </a:rPr>
              <a:t>three clock cycles</a:t>
            </a:r>
            <a:endParaRPr lang="en-US" dirty="0">
              <a:solidFill>
                <a:srgbClr val="00B050"/>
              </a:solidFill>
            </a:endParaRP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Next instruction fetched will be from </a:t>
            </a:r>
            <a:r>
              <a:rPr lang="en-US" b="1" dirty="0">
                <a:solidFill>
                  <a:srgbClr val="00B050"/>
                </a:solidFill>
              </a:rPr>
              <a:t>memory location 1</a:t>
            </a:r>
          </a:p>
          <a:p>
            <a:pPr marL="342900" indent="-342900" algn="just">
              <a:buAutoNum type="arabicPeriod"/>
            </a:pPr>
            <a:r>
              <a:rPr lang="en-IN" dirty="0">
                <a:solidFill>
                  <a:srgbClr val="00B050"/>
                </a:solidFill>
              </a:rPr>
              <a:t>M[1] = BUN ISR</a:t>
            </a:r>
          </a:p>
          <a:p>
            <a:pPr marL="342900" indent="-342900" algn="just">
              <a:buAutoNum type="arabicPeriod"/>
            </a:pPr>
            <a:r>
              <a:rPr lang="en-IN" dirty="0">
                <a:solidFill>
                  <a:srgbClr val="00B050"/>
                </a:solidFill>
              </a:rPr>
              <a:t>BUN 0 I (</a:t>
            </a:r>
            <a:r>
              <a:rPr lang="en-US" dirty="0">
                <a:solidFill>
                  <a:srgbClr val="00B050"/>
                </a:solidFill>
              </a:rPr>
              <a:t>Indirect addressing loads PC ← M[0], </a:t>
            </a:r>
            <a:r>
              <a:rPr lang="en-IN" dirty="0">
                <a:solidFill>
                  <a:srgbClr val="00B050"/>
                </a:solidFill>
              </a:rPr>
              <a:t>Main program resumes correctly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92323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445771" y="6800514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Transfer Operations in Interrupt Cycle </a:t>
            </a:r>
          </a:p>
        </p:txBody>
      </p:sp>
      <p:grpSp>
        <p:nvGrpSpPr>
          <p:cNvPr id="35847" name="Group 59"/>
          <p:cNvGrpSpPr>
            <a:grpSpLocks/>
          </p:cNvGrpSpPr>
          <p:nvPr/>
        </p:nvGrpSpPr>
        <p:grpSpPr bwMode="auto">
          <a:xfrm>
            <a:off x="1645921" y="965200"/>
            <a:ext cx="8650224" cy="5689409"/>
            <a:chOff x="685800" y="822325"/>
            <a:chExt cx="11643432" cy="5690089"/>
          </a:xfrm>
        </p:grpSpPr>
        <p:sp>
          <p:nvSpPr>
            <p:cNvPr id="35848" name="Rectangle 3"/>
            <p:cNvSpPr>
              <a:spLocks noChangeArrowheads="1"/>
            </p:cNvSpPr>
            <p:nvPr/>
          </p:nvSpPr>
          <p:spPr bwMode="auto">
            <a:xfrm>
              <a:off x="811621" y="3421198"/>
              <a:ext cx="11517611" cy="3091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 Register Transfer Statements for Interrupt Cycle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	R =1     if IEN (FGI + FGO)T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 dirty="0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 dirty="0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cs typeface="Arial" panose="020B0604020202020204" pitchFamily="34" charset="0"/>
                  <a:sym typeface="Symbol" panose="05050102010706020507" pitchFamily="18" charset="2"/>
                </a:rPr>
                <a:t> (current execution finished)</a:t>
              </a:r>
              <a:endParaRPr lang="en-US" altLang="ko-KR" sz="1600" b="1" dirty="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	  		</a:t>
              </a:r>
              <a:r>
                <a:rPr lang="en-US" altLang="ko-KR" sz="1600" b="1" dirty="0">
                  <a:cs typeface="Arial" panose="020B0604020202020204" pitchFamily="34" charset="0"/>
                  <a:sym typeface="Symbol" panose="05050102010706020507" pitchFamily="18" charset="2"/>
                </a:rPr>
                <a:t></a:t>
              </a:r>
              <a:r>
                <a:rPr lang="en-US" altLang="ko-KR" sz="1600" b="1" dirty="0">
                  <a:cs typeface="Arial" panose="020B0604020202020204" pitchFamily="34" charset="0"/>
                </a:rPr>
                <a:t> 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solidFill>
                    <a:srgbClr val="00B050"/>
                  </a:solidFill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solidFill>
                    <a:srgbClr val="00B050"/>
                  </a:solidFill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 dirty="0">
                  <a:solidFill>
                    <a:srgbClr val="00B050"/>
                  </a:solidFill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 dirty="0">
                  <a:solidFill>
                    <a:srgbClr val="00B050"/>
                  </a:solidFill>
                  <a:cs typeface="Arial" panose="020B0604020202020204" pitchFamily="34" charset="0"/>
                </a:rPr>
                <a:t> (IEN)(FGI + FGO</a:t>
              </a:r>
              <a:r>
                <a:rPr lang="en-US" altLang="ko-KR" sz="1600" b="1" dirty="0">
                  <a:cs typeface="Arial" panose="020B0604020202020204" pitchFamily="34" charset="0"/>
                </a:rPr>
                <a:t>):   R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1 (set interrupt flip flop)</a:t>
              </a:r>
            </a:p>
            <a:p>
              <a:pPr eaLnBrk="1" hangingPunct="1">
                <a:lnSpc>
                  <a:spcPct val="96000"/>
                </a:lnSpc>
              </a:pPr>
              <a:endParaRPr lang="en-US" altLang="ko-KR" sz="1600" b="1" dirty="0">
                <a:cs typeface="Arial" panose="020B0604020202020204" pitchFamily="34" charset="0"/>
              </a:endParaRP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fetch and decode phases of the instruction cycle</a:t>
              </a: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   	must be modified </a:t>
              </a:r>
              <a:r>
                <a:rPr lang="en-US" altLang="ko-KR" sz="1600" b="1" dirty="0">
                  <a:cs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altLang="ko-KR" sz="1600" b="1" dirty="0">
                  <a:cs typeface="Arial" panose="020B0604020202020204" pitchFamily="34" charset="0"/>
                </a:rPr>
                <a:t>Replace 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cs typeface="Arial" panose="020B0604020202020204" pitchFamily="34" charset="0"/>
                </a:rPr>
                <a:t>  with  R'T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cs typeface="Arial" panose="020B0604020202020204" pitchFamily="34" charset="0"/>
                </a:rPr>
                <a:t>, R’T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2 </a:t>
              </a:r>
            </a:p>
            <a:p>
              <a:pPr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interrupt cycle :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 dirty="0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600" b="1" dirty="0">
                  <a:cs typeface="Arial" panose="020B0604020202020204" pitchFamily="34" charset="0"/>
                </a:rPr>
                <a:t>:	AR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0,  TR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 dirty="0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600" b="1" dirty="0">
                  <a:cs typeface="Arial" panose="020B0604020202020204" pitchFamily="34" charset="0"/>
                </a:rPr>
                <a:t>:	M[AR]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TR,  PC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0</a:t>
              </a:r>
            </a:p>
            <a:p>
              <a:pPr>
                <a:spcBef>
                  <a:spcPct val="20000"/>
                </a:spcBef>
              </a:pPr>
              <a:r>
                <a:rPr lang="en-US" altLang="ko-KR" sz="1600" b="1" dirty="0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600" b="1" dirty="0">
                  <a:cs typeface="Arial" panose="020B0604020202020204" pitchFamily="34" charset="0"/>
                </a:rPr>
                <a:t>:	PC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PC + 1,  IEN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0,  R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0, SC </a:t>
              </a:r>
              <a:r>
                <a:rPr lang="en-US" altLang="ko-KR" sz="16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 dirty="0">
                  <a:cs typeface="Arial" panose="020B0604020202020204" pitchFamily="34" charset="0"/>
                </a:rPr>
                <a:t> 0 </a:t>
              </a:r>
              <a:r>
                <a:rPr lang="en-US" altLang="ko-KR" sz="1600" dirty="0">
                  <a:cs typeface="Arial" panose="020B0604020202020204" pitchFamily="34" charset="0"/>
                </a:rPr>
                <a:t>(256 return address, </a:t>
              </a:r>
              <a:r>
                <a:rPr lang="en-IN" sz="1600" dirty="0"/>
                <a:t>PC becomes 1, Interrupt cycle ends, </a:t>
              </a:r>
              <a:r>
                <a:rPr lang="en-US" sz="1600" dirty="0"/>
                <a:t>Control returns to fetch cycle, </a:t>
              </a:r>
              <a:r>
                <a:rPr lang="en-IN" sz="1600" dirty="0"/>
                <a:t>CPU jumps to I/O program at 1120, </a:t>
              </a:r>
              <a:r>
                <a:rPr lang="en-US" sz="1600" dirty="0"/>
                <a:t>Main program resumes exactly where it stopped.</a:t>
              </a:r>
              <a:endParaRPr lang="en-US" altLang="ko-KR" sz="1600" dirty="0">
                <a:cs typeface="Arial" panose="020B0604020202020204" pitchFamily="34" charset="0"/>
              </a:endParaRP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85800" y="3956425"/>
              <a:ext cx="208404" cy="1886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778264" y="4145361"/>
              <a:ext cx="288560" cy="2064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6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 </a:t>
              </a:r>
            </a:p>
          </p:txBody>
        </p:sp>
        <p:sp>
          <p:nvSpPr>
            <p:cNvPr id="15" name="Rectangle 46"/>
            <p:cNvSpPr>
              <a:spLocks noChangeArrowheads="1"/>
            </p:cNvSpPr>
            <p:nvPr/>
          </p:nvSpPr>
          <p:spPr bwMode="auto">
            <a:xfrm>
              <a:off x="4434137" y="1089057"/>
              <a:ext cx="1946176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 After interrupt cycle</a:t>
              </a:r>
            </a:p>
          </p:txBody>
        </p:sp>
        <p:sp>
          <p:nvSpPr>
            <p:cNvPr id="17" name="Line 45"/>
            <p:cNvSpPr>
              <a:spLocks noChangeShapeType="1"/>
            </p:cNvSpPr>
            <p:nvPr/>
          </p:nvSpPr>
          <p:spPr bwMode="auto">
            <a:xfrm>
              <a:off x="4543681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1924132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924132" y="1370079"/>
              <a:ext cx="1428845" cy="194015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897143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2176562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2784614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1924132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 dirty="0">
                <a:cs typeface="Arial" pitchFamily="34" charset="0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1924132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1632013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9312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1924132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1133505" y="2152809"/>
              <a:ext cx="82400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256</a:t>
              </a: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1527231" y="2006742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1897143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176562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3041806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1947947" y="1057303"/>
              <a:ext cx="1545399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Before interrupt</a:t>
              </a: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395651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 latinLnBrk="1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274993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1412923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2529010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 latinLnBrk="1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2335322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543681" y="1370079"/>
              <a:ext cx="1428845" cy="19496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4507167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4784997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5391462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4543681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4543681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4238861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888001" y="1536785"/>
              <a:ext cx="663688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1</a:t>
              </a: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4543681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4068988" y="2171861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256</a:t>
              </a: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115028" y="2025794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4507167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784997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5648654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5888" name="Rectangle 47"/>
            <p:cNvSpPr>
              <a:spLocks noChangeArrowheads="1"/>
            </p:cNvSpPr>
            <p:nvPr/>
          </p:nvSpPr>
          <p:spPr bwMode="auto">
            <a:xfrm>
              <a:off x="3325957" y="822325"/>
              <a:ext cx="969818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004087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881841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034060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5137445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4943758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004087" y="133514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502711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04800"/>
            <a:ext cx="1193292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360488" y="6540500"/>
            <a:ext cx="91440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grpSp>
        <p:nvGrpSpPr>
          <p:cNvPr id="36871" name="Group 330"/>
          <p:cNvGrpSpPr>
            <a:grpSpLocks/>
          </p:cNvGrpSpPr>
          <p:nvPr/>
        </p:nvGrpSpPr>
        <p:grpSpPr bwMode="auto">
          <a:xfrm>
            <a:off x="566928" y="1143495"/>
            <a:ext cx="6236145" cy="5370017"/>
            <a:chOff x="692150" y="782638"/>
            <a:chExt cx="6415088" cy="5657850"/>
          </a:xfrm>
        </p:grpSpPr>
        <p:sp>
          <p:nvSpPr>
            <p:cNvPr id="36873" name="Rectangle 82"/>
            <p:cNvSpPr>
              <a:spLocks noChangeArrowheads="1"/>
            </p:cNvSpPr>
            <p:nvPr/>
          </p:nvSpPr>
          <p:spPr bwMode="auto">
            <a:xfrm>
              <a:off x="1293813" y="4097338"/>
              <a:ext cx="42158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 (I/O)       =0 (Register)                            =1(Indir)         =0(Dir)</a:t>
              </a:r>
            </a:p>
          </p:txBody>
        </p:sp>
        <p:sp>
          <p:nvSpPr>
            <p:cNvPr id="36874" name="Rectangle 4"/>
            <p:cNvSpPr>
              <a:spLocks noChangeArrowheads="1"/>
            </p:cNvSpPr>
            <p:nvPr/>
          </p:nvSpPr>
          <p:spPr bwMode="auto">
            <a:xfrm>
              <a:off x="2922588" y="835025"/>
              <a:ext cx="1833562" cy="3270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5" name="Rectangle 5"/>
            <p:cNvSpPr>
              <a:spLocks noChangeArrowheads="1"/>
            </p:cNvSpPr>
            <p:nvPr/>
          </p:nvSpPr>
          <p:spPr bwMode="auto">
            <a:xfrm>
              <a:off x="2903538" y="782638"/>
              <a:ext cx="175689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start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76" name="AutoShape 6"/>
            <p:cNvSpPr>
              <a:spLocks noChangeArrowheads="1"/>
            </p:cNvSpPr>
            <p:nvPr/>
          </p:nvSpPr>
          <p:spPr bwMode="auto">
            <a:xfrm>
              <a:off x="3605213" y="1366838"/>
              <a:ext cx="428625" cy="3397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7" name="Rectangle 7"/>
            <p:cNvSpPr>
              <a:spLocks noChangeArrowheads="1"/>
            </p:cNvSpPr>
            <p:nvPr/>
          </p:nvSpPr>
          <p:spPr bwMode="auto">
            <a:xfrm>
              <a:off x="3665538" y="1404938"/>
              <a:ext cx="28533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36878" name="Rectangle 8"/>
            <p:cNvSpPr>
              <a:spLocks noChangeArrowheads="1"/>
            </p:cNvSpPr>
            <p:nvPr/>
          </p:nvSpPr>
          <p:spPr bwMode="auto">
            <a:xfrm>
              <a:off x="1698625" y="1919288"/>
              <a:ext cx="1079500" cy="2174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9" name="Rectangle 9"/>
            <p:cNvSpPr>
              <a:spLocks noChangeArrowheads="1"/>
            </p:cNvSpPr>
            <p:nvPr/>
          </p:nvSpPr>
          <p:spPr bwMode="auto">
            <a:xfrm>
              <a:off x="1746250" y="1898650"/>
              <a:ext cx="80150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0" name="Rectangle 10"/>
            <p:cNvSpPr>
              <a:spLocks noChangeArrowheads="1"/>
            </p:cNvSpPr>
            <p:nvPr/>
          </p:nvSpPr>
          <p:spPr bwMode="auto">
            <a:xfrm>
              <a:off x="2409825" y="1693863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81" name="Rectangle 11"/>
            <p:cNvSpPr>
              <a:spLocks noChangeArrowheads="1"/>
            </p:cNvSpPr>
            <p:nvPr/>
          </p:nvSpPr>
          <p:spPr bwMode="auto">
            <a:xfrm>
              <a:off x="1081088" y="2239963"/>
              <a:ext cx="2249487" cy="244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2" name="Rectangle 12"/>
            <p:cNvSpPr>
              <a:spLocks noChangeArrowheads="1"/>
            </p:cNvSpPr>
            <p:nvPr/>
          </p:nvSpPr>
          <p:spPr bwMode="auto">
            <a:xfrm>
              <a:off x="1087438" y="2232025"/>
              <a:ext cx="18803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M[AR],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</a:t>
              </a:r>
            </a:p>
          </p:txBody>
        </p:sp>
        <p:sp>
          <p:nvSpPr>
            <p:cNvPr id="36883" name="Rectangle 13"/>
            <p:cNvSpPr>
              <a:spLocks noChangeArrowheads="1"/>
            </p:cNvSpPr>
            <p:nvPr/>
          </p:nvSpPr>
          <p:spPr bwMode="auto">
            <a:xfrm>
              <a:off x="2855913" y="2012950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84" name="Rectangle 14"/>
            <p:cNvSpPr>
              <a:spLocks noChangeArrowheads="1"/>
            </p:cNvSpPr>
            <p:nvPr/>
          </p:nvSpPr>
          <p:spPr bwMode="auto">
            <a:xfrm>
              <a:off x="989013" y="2674938"/>
              <a:ext cx="2540000" cy="4159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5" name="Rectangle 15"/>
            <p:cNvSpPr>
              <a:spLocks noChangeArrowheads="1"/>
            </p:cNvSpPr>
            <p:nvPr/>
          </p:nvSpPr>
          <p:spPr bwMode="auto">
            <a:xfrm>
              <a:off x="982663" y="2665413"/>
              <a:ext cx="20823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IR(0~11), I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IR(15)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100" b="1">
                  <a:cs typeface="Arial" panose="020B0604020202020204" pitchFamily="34" charset="0"/>
                </a:rPr>
                <a:t>...D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Decode IR(12 ~ 14)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143250" y="2459038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87" name="Rectangle 17"/>
            <p:cNvSpPr>
              <a:spLocks noChangeArrowheads="1"/>
            </p:cNvSpPr>
            <p:nvPr/>
          </p:nvSpPr>
          <p:spPr bwMode="auto">
            <a:xfrm>
              <a:off x="4725988" y="1919288"/>
              <a:ext cx="1604962" cy="196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4714875" y="1890713"/>
              <a:ext cx="13545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TR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9" name="Rectangle 19"/>
            <p:cNvSpPr>
              <a:spLocks noChangeArrowheads="1"/>
            </p:cNvSpPr>
            <p:nvPr/>
          </p:nvSpPr>
          <p:spPr bwMode="auto">
            <a:xfrm>
              <a:off x="5921375" y="1654175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90" name="Rectangle 20"/>
            <p:cNvSpPr>
              <a:spLocks noChangeArrowheads="1"/>
            </p:cNvSpPr>
            <p:nvPr/>
          </p:nvSpPr>
          <p:spPr bwMode="auto">
            <a:xfrm>
              <a:off x="4646613" y="2262188"/>
              <a:ext cx="2119312" cy="2428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1" name="Rectangle 21"/>
            <p:cNvSpPr>
              <a:spLocks noChangeArrowheads="1"/>
            </p:cNvSpPr>
            <p:nvPr/>
          </p:nvSpPr>
          <p:spPr bwMode="auto">
            <a:xfrm>
              <a:off x="4745038" y="2251075"/>
              <a:ext cx="15725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TR,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2" name="Rectangle 22"/>
            <p:cNvSpPr>
              <a:spLocks noChangeArrowheads="1"/>
            </p:cNvSpPr>
            <p:nvPr/>
          </p:nvSpPr>
          <p:spPr bwMode="auto">
            <a:xfrm>
              <a:off x="6407150" y="201453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93" name="Rectangle 23"/>
            <p:cNvSpPr>
              <a:spLocks noChangeArrowheads="1"/>
            </p:cNvSpPr>
            <p:nvPr/>
          </p:nvSpPr>
          <p:spPr bwMode="auto">
            <a:xfrm>
              <a:off x="4646613" y="2706688"/>
              <a:ext cx="2132012" cy="373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4" name="Rectangle 24"/>
            <p:cNvSpPr>
              <a:spLocks noChangeArrowheads="1"/>
            </p:cNvSpPr>
            <p:nvPr/>
          </p:nvSpPr>
          <p:spPr bwMode="auto">
            <a:xfrm>
              <a:off x="4699000" y="2676525"/>
              <a:ext cx="163827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5" name="Rectangle 25"/>
            <p:cNvSpPr>
              <a:spLocks noChangeArrowheads="1"/>
            </p:cNvSpPr>
            <p:nvPr/>
          </p:nvSpPr>
          <p:spPr bwMode="auto">
            <a:xfrm>
              <a:off x="6484938" y="24622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96" name="AutoShape 26"/>
            <p:cNvSpPr>
              <a:spLocks noChangeArrowheads="1"/>
            </p:cNvSpPr>
            <p:nvPr/>
          </p:nvSpPr>
          <p:spPr bwMode="auto">
            <a:xfrm>
              <a:off x="3619500" y="3462338"/>
              <a:ext cx="527050" cy="3524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7" name="Rectangle 27"/>
            <p:cNvSpPr>
              <a:spLocks noChangeArrowheads="1"/>
            </p:cNvSpPr>
            <p:nvPr/>
          </p:nvSpPr>
          <p:spPr bwMode="auto">
            <a:xfrm>
              <a:off x="3713163" y="349726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6898" name="AutoShape 28"/>
            <p:cNvSpPr>
              <a:spLocks noChangeArrowheads="1"/>
            </p:cNvSpPr>
            <p:nvPr/>
          </p:nvSpPr>
          <p:spPr bwMode="auto">
            <a:xfrm>
              <a:off x="1963738" y="4219575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9" name="Rectangle 29"/>
            <p:cNvSpPr>
              <a:spLocks noChangeArrowheads="1"/>
            </p:cNvSpPr>
            <p:nvPr/>
          </p:nvSpPr>
          <p:spPr bwMode="auto">
            <a:xfrm>
              <a:off x="2006600" y="4222750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0" name="AutoShape 30"/>
            <p:cNvSpPr>
              <a:spLocks noChangeArrowheads="1"/>
            </p:cNvSpPr>
            <p:nvPr/>
          </p:nvSpPr>
          <p:spPr bwMode="auto">
            <a:xfrm>
              <a:off x="5500688" y="4230688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1" name="Rectangle 31"/>
            <p:cNvSpPr>
              <a:spLocks noChangeArrowheads="1"/>
            </p:cNvSpPr>
            <p:nvPr/>
          </p:nvSpPr>
          <p:spPr bwMode="auto">
            <a:xfrm>
              <a:off x="5551488" y="4233863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2" name="Rectangle 32"/>
            <p:cNvSpPr>
              <a:spLocks noChangeArrowheads="1"/>
            </p:cNvSpPr>
            <p:nvPr/>
          </p:nvSpPr>
          <p:spPr bwMode="auto">
            <a:xfrm>
              <a:off x="804863" y="5068888"/>
              <a:ext cx="1000125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3" name="Rectangle 33"/>
            <p:cNvSpPr>
              <a:spLocks noChangeArrowheads="1"/>
            </p:cNvSpPr>
            <p:nvPr/>
          </p:nvSpPr>
          <p:spPr bwMode="auto">
            <a:xfrm>
              <a:off x="768350" y="5060950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4" name="Rectangle 34"/>
            <p:cNvSpPr>
              <a:spLocks noChangeArrowheads="1"/>
            </p:cNvSpPr>
            <p:nvPr/>
          </p:nvSpPr>
          <p:spPr bwMode="auto">
            <a:xfrm>
              <a:off x="2370138" y="5068888"/>
              <a:ext cx="1039812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5" name="Rectangle 35"/>
            <p:cNvSpPr>
              <a:spLocks noChangeArrowheads="1"/>
            </p:cNvSpPr>
            <p:nvPr/>
          </p:nvSpPr>
          <p:spPr bwMode="auto">
            <a:xfrm>
              <a:off x="2333625" y="5049838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6" name="Rectangle 36"/>
            <p:cNvSpPr>
              <a:spLocks noChangeArrowheads="1"/>
            </p:cNvSpPr>
            <p:nvPr/>
          </p:nvSpPr>
          <p:spPr bwMode="auto">
            <a:xfrm>
              <a:off x="4502150" y="5080000"/>
              <a:ext cx="1117600" cy="2159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7" name="Rectangle 37"/>
            <p:cNvSpPr>
              <a:spLocks noChangeArrowheads="1"/>
            </p:cNvSpPr>
            <p:nvPr/>
          </p:nvSpPr>
          <p:spPr bwMode="auto">
            <a:xfrm>
              <a:off x="4454525" y="5041900"/>
              <a:ext cx="10082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&lt;- M[AR]</a:t>
              </a:r>
            </a:p>
          </p:txBody>
        </p:sp>
        <p:sp>
          <p:nvSpPr>
            <p:cNvPr id="36908" name="Rectangle 38"/>
            <p:cNvSpPr>
              <a:spLocks noChangeArrowheads="1"/>
            </p:cNvSpPr>
            <p:nvPr/>
          </p:nvSpPr>
          <p:spPr bwMode="auto">
            <a:xfrm>
              <a:off x="5726113" y="5091113"/>
              <a:ext cx="1052512" cy="195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9" name="Rectangle 39"/>
            <p:cNvSpPr>
              <a:spLocks noChangeArrowheads="1"/>
            </p:cNvSpPr>
            <p:nvPr/>
          </p:nvSpPr>
          <p:spPr bwMode="auto">
            <a:xfrm>
              <a:off x="6007100" y="50530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Idle</a:t>
              </a:r>
            </a:p>
          </p:txBody>
        </p:sp>
        <p:sp>
          <p:nvSpPr>
            <p:cNvPr id="36910" name="Rectangle 40"/>
            <p:cNvSpPr>
              <a:spLocks noChangeArrowheads="1"/>
            </p:cNvSpPr>
            <p:nvPr/>
          </p:nvSpPr>
          <p:spPr bwMode="auto">
            <a:xfrm>
              <a:off x="788988" y="4832350"/>
              <a:ext cx="213840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11" name="Rectangle 41"/>
            <p:cNvSpPr>
              <a:spLocks noChangeArrowheads="1"/>
            </p:cNvSpPr>
            <p:nvPr/>
          </p:nvSpPr>
          <p:spPr bwMode="auto">
            <a:xfrm>
              <a:off x="4354513" y="4841875"/>
              <a:ext cx="206146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’IT3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’I’T3</a:t>
              </a:r>
            </a:p>
          </p:txBody>
        </p:sp>
        <p:sp>
          <p:nvSpPr>
            <p:cNvPr id="36912" name="Rectangle 42"/>
            <p:cNvSpPr>
              <a:spLocks noChangeArrowheads="1"/>
            </p:cNvSpPr>
            <p:nvPr/>
          </p:nvSpPr>
          <p:spPr bwMode="auto">
            <a:xfrm>
              <a:off x="4949825" y="5638800"/>
              <a:ext cx="1577975" cy="4857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13" name="Rectangle 43"/>
            <p:cNvSpPr>
              <a:spLocks noChangeArrowheads="1"/>
            </p:cNvSpPr>
            <p:nvPr/>
          </p:nvSpPr>
          <p:spPr bwMode="auto">
            <a:xfrm>
              <a:off x="5097463" y="5648325"/>
              <a:ext cx="102111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  MR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14" name="Line 44"/>
            <p:cNvSpPr>
              <a:spLocks noChangeShapeType="1"/>
            </p:cNvSpPr>
            <p:nvPr/>
          </p:nvSpPr>
          <p:spPr bwMode="auto">
            <a:xfrm>
              <a:off x="3817938" y="1173163"/>
              <a:ext cx="0" cy="196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45"/>
            <p:cNvSpPr>
              <a:spLocks noChangeShapeType="1"/>
            </p:cNvSpPr>
            <p:nvPr/>
          </p:nvSpPr>
          <p:spPr bwMode="auto">
            <a:xfrm flipH="1">
              <a:off x="2265363" y="1536700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46"/>
            <p:cNvSpPr>
              <a:spLocks noChangeShapeType="1"/>
            </p:cNvSpPr>
            <p:nvPr/>
          </p:nvSpPr>
          <p:spPr bwMode="auto">
            <a:xfrm>
              <a:off x="2279650" y="1544638"/>
              <a:ext cx="0" cy="3540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47"/>
            <p:cNvSpPr>
              <a:spLocks noChangeShapeType="1"/>
            </p:cNvSpPr>
            <p:nvPr/>
          </p:nvSpPr>
          <p:spPr bwMode="auto">
            <a:xfrm>
              <a:off x="4035425" y="1536700"/>
              <a:ext cx="1493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48"/>
            <p:cNvSpPr>
              <a:spLocks noChangeShapeType="1"/>
            </p:cNvSpPr>
            <p:nvPr/>
          </p:nvSpPr>
          <p:spPr bwMode="auto">
            <a:xfrm>
              <a:off x="5514975" y="1524000"/>
              <a:ext cx="0" cy="395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49"/>
            <p:cNvSpPr>
              <a:spLocks noChangeShapeType="1"/>
            </p:cNvSpPr>
            <p:nvPr/>
          </p:nvSpPr>
          <p:spPr bwMode="auto">
            <a:xfrm>
              <a:off x="2265363" y="2147888"/>
              <a:ext cx="0" cy="71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50"/>
            <p:cNvSpPr>
              <a:spLocks noChangeShapeType="1"/>
            </p:cNvSpPr>
            <p:nvPr/>
          </p:nvSpPr>
          <p:spPr bwMode="auto">
            <a:xfrm>
              <a:off x="2265363" y="2487613"/>
              <a:ext cx="0" cy="17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51"/>
            <p:cNvSpPr>
              <a:spLocks noChangeShapeType="1"/>
            </p:cNvSpPr>
            <p:nvPr/>
          </p:nvSpPr>
          <p:spPr bwMode="auto">
            <a:xfrm>
              <a:off x="5514975" y="2127250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52"/>
            <p:cNvSpPr>
              <a:spLocks noChangeShapeType="1"/>
            </p:cNvSpPr>
            <p:nvPr/>
          </p:nvSpPr>
          <p:spPr bwMode="auto">
            <a:xfrm>
              <a:off x="5508625" y="2508250"/>
              <a:ext cx="0" cy="18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Line 53"/>
            <p:cNvSpPr>
              <a:spLocks noChangeShapeType="1"/>
            </p:cNvSpPr>
            <p:nvPr/>
          </p:nvSpPr>
          <p:spPr bwMode="auto">
            <a:xfrm>
              <a:off x="2265363" y="3094038"/>
              <a:ext cx="0" cy="88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4" name="Line 54"/>
            <p:cNvSpPr>
              <a:spLocks noChangeShapeType="1"/>
            </p:cNvSpPr>
            <p:nvPr/>
          </p:nvSpPr>
          <p:spPr bwMode="auto">
            <a:xfrm>
              <a:off x="2259013" y="3182938"/>
              <a:ext cx="1638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55"/>
            <p:cNvSpPr>
              <a:spLocks noChangeShapeType="1"/>
            </p:cNvSpPr>
            <p:nvPr/>
          </p:nvSpPr>
          <p:spPr bwMode="auto">
            <a:xfrm>
              <a:off x="3897313" y="3194050"/>
              <a:ext cx="0" cy="279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Line 56"/>
            <p:cNvSpPr>
              <a:spLocks noChangeShapeType="1"/>
            </p:cNvSpPr>
            <p:nvPr/>
          </p:nvSpPr>
          <p:spPr bwMode="auto">
            <a:xfrm>
              <a:off x="5495925" y="3079750"/>
              <a:ext cx="0" cy="2079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7" name="Line 57"/>
            <p:cNvSpPr>
              <a:spLocks noChangeShapeType="1"/>
            </p:cNvSpPr>
            <p:nvPr/>
          </p:nvSpPr>
          <p:spPr bwMode="auto">
            <a:xfrm>
              <a:off x="5508625" y="3276600"/>
              <a:ext cx="1573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58"/>
            <p:cNvSpPr>
              <a:spLocks noChangeShapeType="1"/>
            </p:cNvSpPr>
            <p:nvPr/>
          </p:nvSpPr>
          <p:spPr bwMode="auto">
            <a:xfrm flipV="1">
              <a:off x="7094538" y="1287463"/>
              <a:ext cx="0" cy="200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Line 59"/>
            <p:cNvSpPr>
              <a:spLocks noChangeShapeType="1"/>
            </p:cNvSpPr>
            <p:nvPr/>
          </p:nvSpPr>
          <p:spPr bwMode="auto">
            <a:xfrm flipH="1">
              <a:off x="3790950" y="1296988"/>
              <a:ext cx="3316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0" name="Line 60"/>
            <p:cNvSpPr>
              <a:spLocks noChangeShapeType="1"/>
            </p:cNvSpPr>
            <p:nvPr/>
          </p:nvSpPr>
          <p:spPr bwMode="auto">
            <a:xfrm>
              <a:off x="4160838" y="3644900"/>
              <a:ext cx="1519237" cy="4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61"/>
            <p:cNvSpPr>
              <a:spLocks noChangeShapeType="1"/>
            </p:cNvSpPr>
            <p:nvPr/>
          </p:nvSpPr>
          <p:spPr bwMode="auto">
            <a:xfrm>
              <a:off x="5665788" y="3643313"/>
              <a:ext cx="0" cy="581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Line 62"/>
            <p:cNvSpPr>
              <a:spLocks noChangeShapeType="1"/>
            </p:cNvSpPr>
            <p:nvPr/>
          </p:nvSpPr>
          <p:spPr bwMode="auto">
            <a:xfrm flipH="1">
              <a:off x="2133600" y="3649663"/>
              <a:ext cx="1500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3" name="Line 63"/>
            <p:cNvSpPr>
              <a:spLocks noChangeShapeType="1"/>
            </p:cNvSpPr>
            <p:nvPr/>
          </p:nvSpPr>
          <p:spPr bwMode="auto">
            <a:xfrm>
              <a:off x="2127250" y="3659188"/>
              <a:ext cx="0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Line 64"/>
            <p:cNvSpPr>
              <a:spLocks noChangeShapeType="1"/>
            </p:cNvSpPr>
            <p:nvPr/>
          </p:nvSpPr>
          <p:spPr bwMode="auto">
            <a:xfrm>
              <a:off x="2276475" y="4343400"/>
              <a:ext cx="573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5" name="Line 65"/>
            <p:cNvSpPr>
              <a:spLocks noChangeShapeType="1"/>
            </p:cNvSpPr>
            <p:nvPr/>
          </p:nvSpPr>
          <p:spPr bwMode="auto">
            <a:xfrm>
              <a:off x="2844800" y="4352925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6" name="Line 66"/>
            <p:cNvSpPr>
              <a:spLocks noChangeShapeType="1"/>
            </p:cNvSpPr>
            <p:nvPr/>
          </p:nvSpPr>
          <p:spPr bwMode="auto">
            <a:xfrm flipH="1">
              <a:off x="1409700" y="4343400"/>
              <a:ext cx="5794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7" name="Line 68"/>
            <p:cNvSpPr>
              <a:spLocks noChangeShapeType="1"/>
            </p:cNvSpPr>
            <p:nvPr/>
          </p:nvSpPr>
          <p:spPr bwMode="auto">
            <a:xfrm flipH="1">
              <a:off x="5029200" y="4352925"/>
              <a:ext cx="485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8" name="Line 69"/>
            <p:cNvSpPr>
              <a:spLocks noChangeShapeType="1"/>
            </p:cNvSpPr>
            <p:nvPr/>
          </p:nvSpPr>
          <p:spPr bwMode="auto">
            <a:xfrm>
              <a:off x="5041900" y="4364038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9" name="Line 70"/>
            <p:cNvSpPr>
              <a:spLocks noChangeShapeType="1"/>
            </p:cNvSpPr>
            <p:nvPr/>
          </p:nvSpPr>
          <p:spPr bwMode="auto">
            <a:xfrm>
              <a:off x="5843588" y="4364038"/>
              <a:ext cx="341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0" name="Line 71"/>
            <p:cNvSpPr>
              <a:spLocks noChangeShapeType="1"/>
            </p:cNvSpPr>
            <p:nvPr/>
          </p:nvSpPr>
          <p:spPr bwMode="auto">
            <a:xfrm>
              <a:off x="6199188" y="4373563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1" name="Line 72"/>
            <p:cNvSpPr>
              <a:spLocks noChangeShapeType="1"/>
            </p:cNvSpPr>
            <p:nvPr/>
          </p:nvSpPr>
          <p:spPr bwMode="auto">
            <a:xfrm>
              <a:off x="5054600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2" name="Line 73"/>
            <p:cNvSpPr>
              <a:spLocks noChangeShapeType="1"/>
            </p:cNvSpPr>
            <p:nvPr/>
          </p:nvSpPr>
          <p:spPr bwMode="auto">
            <a:xfrm>
              <a:off x="6199188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3" name="Line 74"/>
            <p:cNvSpPr>
              <a:spLocks noChangeShapeType="1"/>
            </p:cNvSpPr>
            <p:nvPr/>
          </p:nvSpPr>
          <p:spPr bwMode="auto">
            <a:xfrm>
              <a:off x="5732463" y="6130925"/>
              <a:ext cx="0" cy="282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4" name="Line 75"/>
            <p:cNvSpPr>
              <a:spLocks noChangeShapeType="1"/>
            </p:cNvSpPr>
            <p:nvPr/>
          </p:nvSpPr>
          <p:spPr bwMode="auto">
            <a:xfrm flipH="1">
              <a:off x="692150" y="6423025"/>
              <a:ext cx="5065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5" name="Line 76"/>
            <p:cNvSpPr>
              <a:spLocks noChangeShapeType="1"/>
            </p:cNvSpPr>
            <p:nvPr/>
          </p:nvSpPr>
          <p:spPr bwMode="auto">
            <a:xfrm>
              <a:off x="1436688" y="56959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6" name="Line 77"/>
            <p:cNvSpPr>
              <a:spLocks noChangeShapeType="1"/>
            </p:cNvSpPr>
            <p:nvPr/>
          </p:nvSpPr>
          <p:spPr bwMode="auto">
            <a:xfrm>
              <a:off x="2857500" y="5695950"/>
              <a:ext cx="0" cy="708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7" name="Line 79"/>
            <p:cNvSpPr>
              <a:spLocks noChangeShapeType="1"/>
            </p:cNvSpPr>
            <p:nvPr/>
          </p:nvSpPr>
          <p:spPr bwMode="auto">
            <a:xfrm flipH="1">
              <a:off x="704850" y="1296988"/>
              <a:ext cx="3125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8" name="Rectangle 80"/>
            <p:cNvSpPr>
              <a:spLocks noChangeArrowheads="1"/>
            </p:cNvSpPr>
            <p:nvPr/>
          </p:nvSpPr>
          <p:spPr bwMode="auto">
            <a:xfrm>
              <a:off x="2262188" y="1312863"/>
              <a:ext cx="368141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=0(Instruction              		=1(Interrupt 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    Cycle)                           	      Cycle)</a:t>
              </a:r>
            </a:p>
          </p:txBody>
        </p:sp>
        <p:sp>
          <p:nvSpPr>
            <p:cNvPr id="36949" name="Rectangle 81"/>
            <p:cNvSpPr>
              <a:spLocks noChangeArrowheads="1"/>
            </p:cNvSpPr>
            <p:nvPr/>
          </p:nvSpPr>
          <p:spPr bwMode="auto">
            <a:xfrm>
              <a:off x="1868488" y="3424238"/>
              <a:ext cx="43585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=1(Register or I/O)             		 =0(Memory Ref)</a:t>
              </a:r>
            </a:p>
          </p:txBody>
        </p:sp>
        <p:sp>
          <p:nvSpPr>
            <p:cNvPr id="36950" name="Rectangle 83"/>
            <p:cNvSpPr>
              <a:spLocks noChangeArrowheads="1"/>
            </p:cNvSpPr>
            <p:nvPr/>
          </p:nvSpPr>
          <p:spPr bwMode="auto">
            <a:xfrm>
              <a:off x="6426200" y="5619750"/>
              <a:ext cx="58028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’T4</a:t>
              </a:r>
            </a:p>
          </p:txBody>
        </p:sp>
        <p:sp>
          <p:nvSpPr>
            <p:cNvPr id="36951" name="Line 85"/>
            <p:cNvSpPr>
              <a:spLocks noChangeShapeType="1"/>
            </p:cNvSpPr>
            <p:nvPr/>
          </p:nvSpPr>
          <p:spPr bwMode="auto">
            <a:xfrm>
              <a:off x="1406525" y="43624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2" name="Line 86"/>
            <p:cNvSpPr>
              <a:spLocks noChangeShapeType="1"/>
            </p:cNvSpPr>
            <p:nvPr/>
          </p:nvSpPr>
          <p:spPr bwMode="auto">
            <a:xfrm flipV="1">
              <a:off x="693738" y="1287463"/>
              <a:ext cx="0" cy="5153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8069074" y="1147659"/>
            <a:ext cx="2435415" cy="90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INPR</a:t>
            </a:r>
            <a:r>
              <a:rPr lang="en-US" altLang="ko-KR" sz="1200" b="1" dirty="0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OUTR</a:t>
            </a:r>
            <a:r>
              <a:rPr lang="en-US" altLang="ko-KR" sz="1200" b="1" dirty="0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FGI</a:t>
            </a:r>
            <a:r>
              <a:rPr lang="en-US" altLang="ko-KR" sz="1200" b="1" dirty="0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FGO</a:t>
            </a:r>
            <a:r>
              <a:rPr lang="en-US" altLang="ko-KR" sz="1200" b="1" dirty="0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 dirty="0">
                <a:cs typeface="Arial" panose="020B0604020202020204" pitchFamily="34" charset="0"/>
              </a:rPr>
              <a:t>IEN</a:t>
            </a:r>
            <a:r>
              <a:rPr lang="en-US" altLang="ko-KR" sz="1200" b="1" dirty="0">
                <a:cs typeface="Arial" panose="020B0604020202020204" pitchFamily="34" charset="0"/>
              </a:rPr>
              <a:t>	Interrupt enable - 1 bit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17CE202-53E3-65C0-92E5-34DF1490747A}"/>
              </a:ext>
            </a:extLst>
          </p:cNvPr>
          <p:cNvSpPr txBox="1"/>
          <p:nvPr/>
        </p:nvSpPr>
        <p:spPr>
          <a:xfrm>
            <a:off x="6876225" y="2212994"/>
            <a:ext cx="51298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R = Interrupt flip-flop</a:t>
            </a:r>
          </a:p>
          <a:p>
            <a:pPr marL="342900" indent="-342900">
              <a:buAutoNum type="arabicPeriod"/>
            </a:pPr>
            <a:r>
              <a:rPr lang="en-US" dirty="0"/>
              <a:t>Interrupt is recognized </a:t>
            </a:r>
            <a:r>
              <a:rPr lang="en-US" b="1" dirty="0"/>
              <a:t>only after completing the current instruction</a:t>
            </a:r>
          </a:p>
          <a:p>
            <a:pPr marL="342900" indent="-342900">
              <a:buAutoNum type="arabicPeriod"/>
            </a:pPr>
            <a:r>
              <a:rPr lang="en-US" dirty="0"/>
              <a:t>Return address safely held in TR</a:t>
            </a:r>
          </a:p>
          <a:p>
            <a:pPr marL="342900" indent="-342900">
              <a:buAutoNum type="arabicPeriod"/>
            </a:pPr>
            <a:r>
              <a:rPr lang="en-IN" dirty="0"/>
              <a:t>Memory address prepared</a:t>
            </a:r>
          </a:p>
          <a:p>
            <a:pPr marL="342900" indent="-342900">
              <a:buAutoNum type="arabicPeriod"/>
            </a:pPr>
            <a:r>
              <a:rPr lang="en-US" dirty="0"/>
              <a:t>Contents of PC are stored in </a:t>
            </a:r>
            <a:r>
              <a:rPr lang="en-US" b="1" dirty="0"/>
              <a:t>M[0]</a:t>
            </a:r>
          </a:p>
          <a:p>
            <a:pPr marL="342900" indent="-342900">
              <a:buAutoNum type="arabicPeriod"/>
            </a:pPr>
            <a:r>
              <a:rPr lang="en-IN" dirty="0"/>
              <a:t>PC is cleared</a:t>
            </a:r>
          </a:p>
          <a:p>
            <a:pPr marL="342900" indent="-342900">
              <a:buAutoNum type="arabicPeriod"/>
            </a:pPr>
            <a:r>
              <a:rPr lang="en-IN" dirty="0"/>
              <a:t>PC becomes </a:t>
            </a:r>
            <a:r>
              <a:rPr lang="en-IN" b="1" dirty="0"/>
              <a:t>1, </a:t>
            </a:r>
            <a:r>
              <a:rPr lang="en-IN" dirty="0"/>
              <a:t>Disable further interrupts , </a:t>
            </a:r>
            <a:r>
              <a:rPr lang="en-US" dirty="0"/>
              <a:t>Next instruction fetched will be from </a:t>
            </a:r>
            <a:r>
              <a:rPr lang="en-US" b="1" dirty="0"/>
              <a:t>memory address 1</a:t>
            </a:r>
          </a:p>
          <a:p>
            <a:pPr marL="342900" indent="-342900">
              <a:buAutoNum type="arabicPeriod"/>
            </a:pPr>
            <a:r>
              <a:rPr lang="en-US" b="1" dirty="0"/>
              <a:t>Memory 0 has old/return address</a:t>
            </a:r>
          </a:p>
          <a:p>
            <a:pPr marL="342900" indent="-342900">
              <a:buAutoNum type="arabicPeriod"/>
            </a:pPr>
            <a:r>
              <a:rPr lang="en-US" b="1" dirty="0"/>
              <a:t>Memory address 1 has interrupt routine.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04144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7895" name="Rectangle 4"/>
          <p:cNvSpPr>
            <a:spLocks noChangeArrowheads="1"/>
          </p:cNvSpPr>
          <p:nvPr/>
        </p:nvSpPr>
        <p:spPr bwMode="auto">
          <a:xfrm>
            <a:off x="2743200" y="1433514"/>
            <a:ext cx="1563688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Fetch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Decode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Indirect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Interrupt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                          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Memory-Reference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AND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ADD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LDA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STA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BUN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BSA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    ISZ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latinLnBrk="1" hangingPunct="1"/>
            <a:endParaRPr lang="en-US" altLang="ko-KR" sz="1200" b="1" dirty="0">
              <a:cs typeface="Arial" panose="020B0604020202020204" pitchFamily="34" charset="0"/>
            </a:endParaRP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4281489" y="1433513"/>
            <a:ext cx="11842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R</a:t>
            </a:r>
            <a:r>
              <a:rPr lang="en-US" altLang="ko-KR" sz="1200" b="1" dirty="0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0</a:t>
            </a:r>
            <a:r>
              <a:rPr lang="en-US" altLang="ko-KR" sz="1200" b="1" dirty="0">
                <a:cs typeface="Arial" panose="020B0604020202020204" pitchFamily="34" charset="0"/>
              </a:rPr>
              <a:t>:      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R</a:t>
            </a:r>
            <a:r>
              <a:rPr lang="en-US" altLang="ko-KR" sz="1200" b="1" dirty="0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1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R</a:t>
            </a:r>
            <a:r>
              <a:rPr lang="en-US" altLang="ko-KR" sz="1200" b="1" dirty="0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2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7</a:t>
            </a:r>
            <a:r>
              <a:rPr lang="en-US" altLang="ko-KR" sz="1200" b="1" dirty="0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 dirty="0">
                <a:cs typeface="Arial" panose="020B0604020202020204" pitchFamily="34" charset="0"/>
              </a:rPr>
              <a:t>IT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3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RT</a:t>
            </a:r>
            <a:r>
              <a:rPr lang="en-US" altLang="ko-KR" sz="12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0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RT</a:t>
            </a:r>
            <a:r>
              <a:rPr lang="en-US" altLang="ko-KR" sz="12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1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RT</a:t>
            </a:r>
            <a:r>
              <a:rPr lang="en-US" altLang="ko-KR" sz="1200" b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0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0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1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1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2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2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3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4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5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1200" b="1" dirty="0">
                <a:cs typeface="Arial" panose="020B0604020202020204" pitchFamily="34" charset="0"/>
              </a:rPr>
              <a:t>T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6</a:t>
            </a:r>
            <a:r>
              <a:rPr lang="en-US" altLang="ko-KR" sz="1200" b="1" dirty="0">
                <a:cs typeface="Arial" panose="020B0604020202020204" pitchFamily="34" charset="0"/>
              </a:rPr>
              <a:t>:</a:t>
            </a:r>
          </a:p>
        </p:txBody>
      </p:sp>
      <p:sp>
        <p:nvSpPr>
          <p:cNvPr id="37897" name="Rectangle 6"/>
          <p:cNvSpPr>
            <a:spLocks noChangeArrowheads="1"/>
          </p:cNvSpPr>
          <p:nvPr/>
        </p:nvSpPr>
        <p:spPr bwMode="auto">
          <a:xfrm>
            <a:off x="5608638" y="1433514"/>
            <a:ext cx="3597140" cy="4706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AR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PC                                    </a:t>
            </a:r>
            <a:r>
              <a:rPr lang="en-US" altLang="ko-KR" sz="1200" b="1" dirty="0">
                <a:solidFill>
                  <a:srgbClr val="00B050"/>
                </a:solidFill>
                <a:cs typeface="Arial" panose="020B0604020202020204" pitchFamily="34" charset="0"/>
              </a:rPr>
              <a:t>(No interrupt)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IR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M[AR], PC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PC + 1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D0, ..., D7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Decode IR(12 ~ 14), 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	AR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IR(0 ~ 11), I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IR(15)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AR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R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1                                          (Interrupt cycle)</a:t>
            </a: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AR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0, TR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M[AR]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TR, PC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PC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PC + 1, IEN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0, R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0, SC 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solidFill>
                  <a:srgbClr val="FF0000"/>
                </a:solidFill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AC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AC </a:t>
            </a:r>
            <a:r>
              <a:rPr lang="en-US" altLang="ko-KR" sz="1200" b="1" dirty="0"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ko-KR" sz="1200" b="1" dirty="0">
                <a:cs typeface="Arial" panose="020B0604020202020204" pitchFamily="34" charset="0"/>
              </a:rPr>
              <a:t> DR,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AC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AC + DR, E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C</a:t>
            </a:r>
            <a:r>
              <a:rPr lang="en-US" altLang="ko-KR" sz="1200" b="1" baseline="-25000" dirty="0">
                <a:cs typeface="Arial" panose="020B0604020202020204" pitchFamily="34" charset="0"/>
              </a:rPr>
              <a:t>out</a:t>
            </a:r>
            <a:r>
              <a:rPr lang="en-US" altLang="ko-KR" sz="1200" b="1" dirty="0">
                <a:cs typeface="Arial" panose="020B0604020202020204" pitchFamily="34" charset="0"/>
              </a:rPr>
              <a:t>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AC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DR,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M[AR]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AC,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PC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AR,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M[AR]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PC, AR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AR + 1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PC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AR, 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DR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DR + 1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M[AR]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DR,  if(DR=0) then (PC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PC + 1), </a:t>
            </a:r>
          </a:p>
          <a:p>
            <a:pPr eaLnBrk="1" hangingPunct="1"/>
            <a:r>
              <a:rPr lang="en-US" altLang="ko-KR" sz="1200" b="1" dirty="0">
                <a:cs typeface="Arial" panose="020B0604020202020204" pitchFamily="34" charset="0"/>
              </a:rPr>
              <a:t>SC </a:t>
            </a:r>
            <a:r>
              <a: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 dirty="0">
                <a:cs typeface="Arial" panose="020B0604020202020204" pitchFamily="34" charset="0"/>
              </a:rPr>
              <a:t> 0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2628901" y="1238250"/>
            <a:ext cx="7038975" cy="5010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12439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2463800" y="1250950"/>
            <a:ext cx="1589088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Register-Reference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CIL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SPA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SNA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HLT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Input-Output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INP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OUT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SKI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SKO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IOF</a:t>
            </a:r>
          </a:p>
        </p:txBody>
      </p:sp>
      <p:sp>
        <p:nvSpPr>
          <p:cNvPr id="38920" name="Rectangle 4"/>
          <p:cNvSpPr>
            <a:spLocks noChangeArrowheads="1"/>
          </p:cNvSpPr>
          <p:nvPr/>
        </p:nvSpPr>
        <p:spPr bwMode="auto">
          <a:xfrm>
            <a:off x="3930650" y="1250950"/>
            <a:ext cx="118745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p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8921" name="Rectangle 5"/>
          <p:cNvSpPr>
            <a:spLocks noChangeArrowheads="1"/>
          </p:cNvSpPr>
          <p:nvPr/>
        </p:nvSpPr>
        <p:spPr bwMode="auto">
          <a:xfrm>
            <a:off x="5075239" y="1250950"/>
            <a:ext cx="3235325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register-reference instr)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0,1,2, ..., 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shr AC, AC(15)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shl AC, AC(0)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=0)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=1)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 = 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If(E=0)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input-output instructions)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6,7,8,9,10,11)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AC(0-7)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INPR, FGI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OUTR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AC(0-7), FGO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If(FGI=1)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If(FGO=1)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8922" name="Rectangle 13"/>
          <p:cNvSpPr>
            <a:spLocks noChangeArrowheads="1"/>
          </p:cNvSpPr>
          <p:nvPr/>
        </p:nvSpPr>
        <p:spPr bwMode="auto">
          <a:xfrm>
            <a:off x="2428875" y="1209676"/>
            <a:ext cx="6553200" cy="519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88362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262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dirty="0">
                <a:latin typeface="Calibri" panose="020F0502020204030204" pitchFamily="34" charset="0"/>
              </a:rPr>
              <a:t>Design of a Basic Computer</a:t>
            </a:r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1898651" y="1200150"/>
            <a:ext cx="4278415" cy="26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 dirty="0">
                <a:cs typeface="Arial" panose="020B0604020202020204" pitchFamily="34" charset="0"/>
              </a:rPr>
              <a:t>Hardware Components of Basic computer 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2586038" y="1481138"/>
            <a:ext cx="7864332" cy="254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A memory unit:     4096 x 16.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Registers:  </a:t>
            </a:r>
          </a:p>
          <a:p>
            <a:r>
              <a:rPr lang="en-US" altLang="ko-KR" sz="1600" b="1" dirty="0">
                <a:cs typeface="Arial" panose="020B0604020202020204" pitchFamily="34" charset="0"/>
              </a:rPr>
              <a:t>           AR, PC, DR, AC, IR, TR, OUTR, INPR, and SC (</a:t>
            </a:r>
            <a:r>
              <a:rPr lang="en-IN" sz="1600" dirty="0"/>
              <a:t>Generates T₀, T₁, T₂…)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Flip-Flops(Status): (1 bit memory elements) 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           I, S, E, R, IEN, FGI, and FGO</a:t>
            </a:r>
          </a:p>
          <a:p>
            <a:r>
              <a:rPr lang="en-US" altLang="ko-KR" sz="1600" b="1" dirty="0">
                <a:cs typeface="Arial" panose="020B0604020202020204" pitchFamily="34" charset="0"/>
              </a:rPr>
              <a:t>Decoders:         a 3x8 Opcode decoder (</a:t>
            </a:r>
            <a:r>
              <a:rPr lang="en-IN" sz="1600" dirty="0"/>
              <a:t>Decodes </a:t>
            </a:r>
            <a:r>
              <a:rPr lang="en-IN" sz="1600" b="1" dirty="0"/>
              <a:t>IR(12–14), </a:t>
            </a:r>
            <a:r>
              <a:rPr lang="en-IN" sz="1600" dirty="0"/>
              <a:t>Generates </a:t>
            </a:r>
            <a:r>
              <a:rPr lang="en-IN" sz="1600" b="1" dirty="0"/>
              <a:t>D₀ to D₇)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r>
              <a:rPr lang="en-US" altLang="ko-KR" sz="1600" b="1" dirty="0">
                <a:cs typeface="Arial" panose="020B0604020202020204" pitchFamily="34" charset="0"/>
              </a:rPr>
              <a:t>                           a 4x16 timing decoder (</a:t>
            </a:r>
            <a:r>
              <a:rPr lang="en-IN" sz="1600" dirty="0"/>
              <a:t>Driven by </a:t>
            </a:r>
            <a:r>
              <a:rPr lang="en-IN" sz="1600" b="1" dirty="0"/>
              <a:t>SC, </a:t>
            </a:r>
            <a:r>
              <a:rPr lang="en-IN" sz="1600" dirty="0"/>
              <a:t>Generates </a:t>
            </a:r>
            <a:r>
              <a:rPr lang="en-IN" sz="1600" b="1" dirty="0"/>
              <a:t>T₀ to T₁₅ )</a:t>
            </a:r>
            <a:endParaRPr lang="en-US" altLang="ko-KR" sz="1600" b="1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Common bus:   16 bits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Control logic gates:</a:t>
            </a:r>
          </a:p>
          <a:p>
            <a:pPr eaLnBrk="1" hangingPunct="1"/>
            <a:r>
              <a:rPr lang="en-US" altLang="ko-KR" sz="1600" b="1" dirty="0">
                <a:cs typeface="Arial" panose="020B0604020202020204" pitchFamily="34" charset="0"/>
              </a:rPr>
              <a:t>Adder and Logic circuit:   Connected to AC</a:t>
            </a:r>
          </a:p>
        </p:txBody>
      </p:sp>
      <p:sp>
        <p:nvSpPr>
          <p:cNvPr id="39945" name="Rectangle 5"/>
          <p:cNvSpPr>
            <a:spLocks noChangeArrowheads="1"/>
          </p:cNvSpPr>
          <p:nvPr/>
        </p:nvSpPr>
        <p:spPr bwMode="auto">
          <a:xfrm>
            <a:off x="1889125" y="4356100"/>
            <a:ext cx="20907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Control Logic Gates</a:t>
            </a:r>
          </a:p>
        </p:txBody>
      </p:sp>
      <p:sp>
        <p:nvSpPr>
          <p:cNvPr id="39946" name="Rectangle 7"/>
          <p:cNvSpPr>
            <a:spLocks noChangeArrowheads="1"/>
          </p:cNvSpPr>
          <p:nvPr/>
        </p:nvSpPr>
        <p:spPr bwMode="auto">
          <a:xfrm>
            <a:off x="2251075" y="4695826"/>
            <a:ext cx="5888038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Input Controls of the nine registers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Read and Write Controls of memory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Set, Clear, or Complement Controls of the flip-flops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</a:t>
            </a:r>
            <a:r>
              <a:rPr lang="en-US" altLang="ko-KR" sz="1600" b="1" baseline="-25000">
                <a:cs typeface="Arial" panose="020B0604020202020204" pitchFamily="34" charset="0"/>
              </a:rPr>
              <a:t>2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1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 Controls to select a register for the bus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AC, and Adder and Logic circuit</a:t>
            </a:r>
          </a:p>
          <a:p>
            <a:pPr eaLnBrk="1" hangingPunct="1"/>
            <a:endParaRPr lang="en-US" altLang="ko-KR" sz="16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36378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2184</TotalTime>
  <Words>5246</Words>
  <Application>Microsoft Office PowerPoint</Application>
  <PresentationFormat>Custom</PresentationFormat>
  <Paragraphs>1442</Paragraphs>
  <Slides>52</Slides>
  <Notes>46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1_Office Theme</vt:lpstr>
      <vt:lpstr>Computer Organization</vt:lpstr>
      <vt:lpstr>Basic Organization of a Computer</vt:lpstr>
      <vt:lpstr>Slide 3</vt:lpstr>
      <vt:lpstr>Example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DK</cp:lastModifiedBy>
  <cp:revision>49</cp:revision>
  <dcterms:created xsi:type="dcterms:W3CDTF">2024-12-19T08:47:23Z</dcterms:created>
  <dcterms:modified xsi:type="dcterms:W3CDTF">2026-02-06T04:19:21Z</dcterms:modified>
</cp:coreProperties>
</file>