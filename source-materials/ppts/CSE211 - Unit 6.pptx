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4032" r:id="rId2"/>
    <p:sldId id="4033" r:id="rId3"/>
    <p:sldId id="4034" r:id="rId4"/>
    <p:sldId id="4089" r:id="rId5"/>
    <p:sldId id="4090" r:id="rId6"/>
    <p:sldId id="4091" r:id="rId7"/>
    <p:sldId id="4092" r:id="rId8"/>
    <p:sldId id="4093" r:id="rId9"/>
    <p:sldId id="4094" r:id="rId10"/>
    <p:sldId id="4095" r:id="rId11"/>
    <p:sldId id="4035" r:id="rId12"/>
    <p:sldId id="4036" r:id="rId13"/>
    <p:sldId id="4037" r:id="rId14"/>
    <p:sldId id="4038" r:id="rId15"/>
    <p:sldId id="4039" r:id="rId16"/>
    <p:sldId id="404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t>06-Apr-26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2133600" y="2462838"/>
            <a:ext cx="7924800" cy="6868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 marR="5080" algn="ctr">
              <a:lnSpc>
                <a:spcPct val="97200"/>
              </a:lnSpc>
              <a:spcBef>
                <a:spcPts val="190"/>
              </a:spcBef>
            </a:pPr>
            <a:r>
              <a:rPr lang="en-US" sz="4000" b="1" dirty="0"/>
              <a:t>Introduction to GPU Architecture</a:t>
            </a:r>
            <a:endParaRPr lang="en-US" sz="4000" b="1" spc="28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4817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043A-C721-FFF4-3D17-450E84F6CE10}"/>
              </a:ext>
            </a:extLst>
          </p:cNvPr>
          <p:cNvSpPr txBox="1">
            <a:spLocks/>
          </p:cNvSpPr>
          <p:nvPr/>
        </p:nvSpPr>
        <p:spPr>
          <a:xfrm>
            <a:off x="1981200" y="731838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NVIDIA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BBE6C-7F80-382F-CD15-2A3EAD43F5D2}"/>
              </a:ext>
            </a:extLst>
          </p:cNvPr>
          <p:cNvSpPr txBox="1">
            <a:spLocks/>
          </p:cNvSpPr>
          <p:nvPr/>
        </p:nvSpPr>
        <p:spPr>
          <a:xfrm>
            <a:off x="1126066" y="1811866"/>
            <a:ext cx="9999134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NVIDIA is a leading company in GPU and AI computing.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Founded in 1993.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Known for GeForce GPUs, CUDA platform, and AI accelerators.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GPUs enable parallel processing for graphics, AI, and scientific computing.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Used in gaming, autonomous vehicles, deep learning, and data centers.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15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340F6C-8A66-5B82-E3B6-362FC8A2E47B}"/>
              </a:ext>
            </a:extLst>
          </p:cNvPr>
          <p:cNvSpPr txBox="1"/>
          <p:nvPr/>
        </p:nvSpPr>
        <p:spPr>
          <a:xfrm>
            <a:off x="2345267" y="831333"/>
            <a:ext cx="7730067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latin typeface="+mj-lt"/>
                <a:ea typeface="+mj-ea"/>
                <a:cs typeface="+mj-cs"/>
              </a:rPr>
              <a:t>Introduction to Supercomputers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6812AB-10FA-6A7E-47E6-88E4B4AFB4D9}"/>
              </a:ext>
            </a:extLst>
          </p:cNvPr>
          <p:cNvSpPr txBox="1">
            <a:spLocks/>
          </p:cNvSpPr>
          <p:nvPr/>
        </p:nvSpPr>
        <p:spPr>
          <a:xfrm>
            <a:off x="863599" y="1947334"/>
            <a:ext cx="10049933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Supercomputers are the most powerful computers designed for high‑performance computing.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Used for complex simulations and large scientific problems.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Perform trillions of calculations per second (petaflops or exaflops).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Applications: climate modeling, weather forecasting, medical research, and space exploration.</a:t>
            </a:r>
          </a:p>
        </p:txBody>
      </p:sp>
    </p:spTree>
    <p:extLst>
      <p:ext uri="{BB962C8B-B14F-4D97-AF65-F5344CB8AC3E}">
        <p14:creationId xmlns:p14="http://schemas.microsoft.com/office/powerpoint/2010/main" val="219592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10" dirty="0">
                <a:latin typeface="Calibri"/>
                <a:cs typeface="Calibri"/>
              </a:rPr>
              <a:t>Graphics</a:t>
            </a:r>
            <a:r>
              <a:rPr lang="en-US" sz="3200" spc="-13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Processing</a:t>
            </a:r>
            <a:r>
              <a:rPr lang="en-US" sz="3200" spc="-25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Unit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63893" y="1651493"/>
            <a:ext cx="11234057" cy="38487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Like a motherboard, a graphics card is a printed circuit board that houses a processor and RAM.</a:t>
            </a:r>
          </a:p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It also has an input/output system (BIOS) chip, which stores the card's settings and performs diagnostics on the memory, input and output at startup.</a:t>
            </a:r>
          </a:p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A graphics card's processor, called a graphics processing unit (GPU), is similar to a Computer's CPU. </a:t>
            </a:r>
          </a:p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A GPU, however, is designed specifically for performing the complex  mathematical  and  geometric  calculations  that  are  necessary  for graphics rendering. </a:t>
            </a:r>
          </a:p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405765" marR="64135" indent="-342900" algn="just">
              <a:lnSpc>
                <a:spcPct val="991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Some of the fastest GPUs have more transistors than the average CPU. A GPU produces a lot of heat, so it is usually located under a heat sink or a fan.</a:t>
            </a:r>
          </a:p>
        </p:txBody>
      </p:sp>
    </p:spTree>
    <p:extLst>
      <p:ext uri="{BB962C8B-B14F-4D97-AF65-F5344CB8AC3E}">
        <p14:creationId xmlns:p14="http://schemas.microsoft.com/office/powerpoint/2010/main" val="416789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10" dirty="0">
                <a:latin typeface="Calibri"/>
                <a:cs typeface="Calibri"/>
              </a:rPr>
              <a:t>Graphics</a:t>
            </a:r>
            <a:r>
              <a:rPr lang="en-US" sz="3200" spc="-13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Processing</a:t>
            </a:r>
            <a:r>
              <a:rPr lang="en-US" sz="3200" spc="-25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Unit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63893" y="1651493"/>
            <a:ext cx="11234057" cy="31675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405765" marR="64135" indent="-342900" algn="just">
              <a:lnSpc>
                <a:spcPts val="2630"/>
              </a:lnSpc>
              <a:spcBef>
                <a:spcPts val="185"/>
              </a:spcBef>
              <a:buFont typeface="Arial" panose="020B0604020202020204" pitchFamily="34" charset="0"/>
              <a:buChar char="•"/>
            </a:pPr>
            <a:r>
              <a:rPr lang="en-US" sz="2000" spc="-100" dirty="0">
                <a:latin typeface="Calibri"/>
                <a:cs typeface="Calibri"/>
              </a:rPr>
              <a:t>A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GPU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however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dedicated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function.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takes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same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function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a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processing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completes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once.</a:t>
            </a:r>
          </a:p>
          <a:p>
            <a:pPr marL="172085" marR="64135" indent="-109220" algn="just">
              <a:lnSpc>
                <a:spcPts val="2630"/>
              </a:lnSpc>
              <a:spcBef>
                <a:spcPts val="185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405765" marR="71120" indent="-342900" algn="just">
              <a:lnSpc>
                <a:spcPts val="2630"/>
              </a:lnSpc>
              <a:spcBef>
                <a:spcPts val="140"/>
              </a:spcBef>
              <a:buFont typeface="Arial" panose="020B0604020202020204" pitchFamily="34" charset="0"/>
              <a:buChar char="•"/>
            </a:pPr>
            <a:r>
              <a:rPr lang="en-US" sz="2000" spc="-45" dirty="0">
                <a:latin typeface="Calibri"/>
                <a:cs typeface="Calibri"/>
              </a:rPr>
              <a:t>The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specified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function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requested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31313"/>
                </a:solidFill>
                <a:latin typeface="Calibri"/>
                <a:cs typeface="Calibri"/>
              </a:rPr>
              <a:t>a</a:t>
            </a:r>
            <a:r>
              <a:rPr lang="en-US" sz="2000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GPU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enters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GPU's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hundred's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cores,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processes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single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point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time,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where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handles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parallel</a:t>
            </a:r>
            <a:r>
              <a:rPr lang="en-US" sz="2000" dirty="0">
                <a:latin typeface="Calibri"/>
                <a:cs typeface="Calibri"/>
              </a:rPr>
              <a:t> to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next.</a:t>
            </a:r>
          </a:p>
          <a:p>
            <a:pPr marL="171450" algn="just">
              <a:lnSpc>
                <a:spcPts val="2625"/>
              </a:lnSpc>
              <a:spcBef>
                <a:spcPts val="5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405765" indent="-342900" algn="just">
              <a:lnSpc>
                <a:spcPts val="2685"/>
              </a:lnSpc>
              <a:buFont typeface="Arial" panose="020B0604020202020204" pitchFamily="34" charset="0"/>
              <a:buChar char="•"/>
            </a:pPr>
            <a:r>
              <a:rPr lang="en-US" sz="2000" spc="-70" dirty="0">
                <a:latin typeface="Calibri"/>
                <a:cs typeface="Calibri"/>
              </a:rPr>
              <a:t>The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GPU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become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most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powerful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processing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unit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of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especially </a:t>
            </a:r>
            <a:r>
              <a:rPr lang="en-US" sz="2000" dirty="0">
                <a:latin typeface="Calibri"/>
                <a:cs typeface="Calibri"/>
              </a:rPr>
              <a:t>since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organizations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beginning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rely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processing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power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GPU </a:t>
            </a:r>
            <a:r>
              <a:rPr lang="en-US" sz="2000" dirty="0">
                <a:latin typeface="Calibri"/>
                <a:cs typeface="Calibri"/>
              </a:rPr>
              <a:t>rather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than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single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fact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single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point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in </a:t>
            </a:r>
            <a:r>
              <a:rPr lang="en-US" sz="2000" spc="-10" dirty="0">
                <a:latin typeface="Calibri"/>
                <a:cs typeface="Calibri"/>
              </a:rPr>
              <a:t>time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faster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CPU.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8680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latin typeface="Calibri"/>
                <a:cs typeface="Calibri"/>
              </a:rPr>
              <a:t>There</a:t>
            </a:r>
            <a:r>
              <a:rPr lang="en-US" sz="3200" spc="-8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are</a:t>
            </a:r>
            <a:r>
              <a:rPr lang="en-US" sz="3200" spc="-7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two</a:t>
            </a:r>
            <a:r>
              <a:rPr lang="en-US" sz="3200" spc="-11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different</a:t>
            </a:r>
            <a:r>
              <a:rPr lang="en-US" sz="3200" spc="-5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types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-10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GPUs:</a:t>
            </a:r>
            <a:endParaRPr lang="en-US" sz="3200" dirty="0">
              <a:latin typeface="Calibri"/>
              <a:cs typeface="Calibri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63893" y="1651493"/>
            <a:ext cx="11234057" cy="13465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Integrated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GPUs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located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PC's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 and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share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CPU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000" spc="-10" dirty="0">
                <a:latin typeface="Calibri"/>
                <a:cs typeface="Calibri"/>
              </a:rPr>
              <a:t>Discrete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GPUs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live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55" dirty="0">
                <a:latin typeface="Calibri"/>
                <a:cs typeface="Calibri"/>
              </a:rPr>
              <a:t>on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their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own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card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their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own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video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 (VRAM),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so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PC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doesn't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RAM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graphics.</a:t>
            </a:r>
            <a:endParaRPr lang="en-US" sz="2000" dirty="0">
              <a:latin typeface="Calibri"/>
              <a:cs typeface="Calibri"/>
            </a:endParaRPr>
          </a:p>
          <a:p>
            <a:pPr marL="121920">
              <a:lnSpc>
                <a:spcPct val="100000"/>
              </a:lnSpc>
              <a:spcBef>
                <a:spcPts val="85"/>
              </a:spcBef>
            </a:pPr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138" y="2998015"/>
            <a:ext cx="5151566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35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30" dirty="0">
                <a:latin typeface="Calibri"/>
                <a:cs typeface="Calibri"/>
              </a:rPr>
              <a:t>Processors</a:t>
            </a:r>
            <a:r>
              <a:rPr lang="en-US" sz="3200" spc="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on</a:t>
            </a:r>
            <a:r>
              <a:rPr lang="en-US" sz="3200" spc="-155" dirty="0">
                <a:latin typeface="Calibri"/>
                <a:cs typeface="Calibri"/>
              </a:rPr>
              <a:t> </a:t>
            </a:r>
            <a:r>
              <a:rPr lang="en-US" sz="3200" spc="-25" dirty="0">
                <a:latin typeface="Calibri"/>
                <a:cs typeface="Calibri"/>
              </a:rPr>
              <a:t>Handheld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devices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63893" y="1651493"/>
            <a:ext cx="11234057" cy="3157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1285">
              <a:lnSpc>
                <a:spcPct val="100000"/>
              </a:lnSpc>
              <a:spcBef>
                <a:spcPts val="130"/>
              </a:spcBef>
            </a:pPr>
            <a:r>
              <a:rPr lang="en-US" dirty="0">
                <a:latin typeface="Calibri"/>
                <a:cs typeface="Calibri"/>
              </a:rPr>
              <a:t>ARM</a:t>
            </a:r>
            <a:r>
              <a:rPr lang="en-US" spc="16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processor</a:t>
            </a:r>
            <a:endParaRPr lang="en-US" dirty="0">
              <a:latin typeface="Calibri"/>
              <a:cs typeface="Calibri"/>
            </a:endParaRPr>
          </a:p>
          <a:p>
            <a:pPr marL="354964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577850" algn="l"/>
                <a:tab pos="1275080" algn="l"/>
                <a:tab pos="2554605" algn="l"/>
                <a:tab pos="2865755" algn="l"/>
                <a:tab pos="3446779" algn="l"/>
                <a:tab pos="3817620" algn="l"/>
                <a:tab pos="4102100" algn="l"/>
                <a:tab pos="4942205" algn="l"/>
                <a:tab pos="5321935" algn="l"/>
                <a:tab pos="6047105" algn="l"/>
                <a:tab pos="6885305" algn="l"/>
                <a:tab pos="7321550" algn="l"/>
                <a:tab pos="7844790" algn="l"/>
                <a:tab pos="8488680" algn="l"/>
              </a:tabLst>
            </a:pPr>
            <a:r>
              <a:rPr lang="en-US" sz="2000" spc="-25" dirty="0">
                <a:latin typeface="Calibri"/>
                <a:cs typeface="Calibri"/>
              </a:rPr>
              <a:t>An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ARM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processor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is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one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50" dirty="0">
                <a:latin typeface="Calibri"/>
                <a:cs typeface="Calibri"/>
              </a:rPr>
              <a:t>a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family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0" dirty="0">
                <a:latin typeface="Calibri"/>
                <a:cs typeface="Calibri"/>
              </a:rPr>
              <a:t>CPUs 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based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on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the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0" dirty="0">
                <a:latin typeface="Calibri"/>
                <a:cs typeface="Calibri"/>
              </a:rPr>
              <a:t>RISC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(reduced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instruction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set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computer)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architecture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developed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3200" baseline="5050" dirty="0">
                <a:latin typeface="Calibri"/>
                <a:cs typeface="Calibri"/>
              </a:rPr>
              <a:t>b</a:t>
            </a:r>
            <a:r>
              <a:rPr lang="en-US" sz="3200" baseline="-5050" dirty="0">
                <a:latin typeface="Calibri"/>
                <a:cs typeface="Calibri"/>
              </a:rPr>
              <a:t>y</a:t>
            </a:r>
            <a:r>
              <a:rPr lang="en-US" sz="3200" spc="562" baseline="-50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Advanced</a:t>
            </a:r>
            <a:r>
              <a:rPr lang="en-US" sz="2000" spc="5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RISC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Machines (ARM).</a:t>
            </a:r>
            <a:endParaRPr lang="en-US" sz="2000" dirty="0">
              <a:latin typeface="Calibri"/>
              <a:cs typeface="Calibri"/>
            </a:endParaRPr>
          </a:p>
          <a:p>
            <a:pPr marL="354964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577850" algn="l"/>
                <a:tab pos="1275080" algn="l"/>
                <a:tab pos="2554605" algn="l"/>
                <a:tab pos="2865755" algn="l"/>
                <a:tab pos="3446779" algn="l"/>
                <a:tab pos="3817620" algn="l"/>
                <a:tab pos="4102100" algn="l"/>
                <a:tab pos="4942205" algn="l"/>
                <a:tab pos="5321935" algn="l"/>
                <a:tab pos="6047105" algn="l"/>
                <a:tab pos="6885305" algn="l"/>
                <a:tab pos="7321550" algn="l"/>
                <a:tab pos="7844790" algn="l"/>
                <a:tab pos="8488680" algn="l"/>
              </a:tabLst>
            </a:pPr>
            <a:r>
              <a:rPr lang="en-US" sz="2000" dirty="0">
                <a:latin typeface="Calibri"/>
                <a:cs typeface="Calibri"/>
              </a:rPr>
              <a:t>ARM</a:t>
            </a:r>
            <a:r>
              <a:rPr lang="en-US" sz="2000" spc="5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makes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32-</a:t>
            </a:r>
            <a:r>
              <a:rPr lang="en-US" sz="2000" dirty="0">
                <a:latin typeface="Calibri"/>
                <a:cs typeface="Calibri"/>
              </a:rPr>
              <a:t>bit</a:t>
            </a:r>
            <a:r>
              <a:rPr lang="en-US" sz="2000" spc="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64-bit</a:t>
            </a:r>
            <a:r>
              <a:rPr lang="en-US" sz="2000" spc="4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RISC</a:t>
            </a:r>
            <a:r>
              <a:rPr lang="en-US" sz="2000" spc="4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multi-</a:t>
            </a:r>
            <a:r>
              <a:rPr lang="en-US" sz="2000" dirty="0">
                <a:latin typeface="Calibri"/>
                <a:cs typeface="Calibri"/>
              </a:rPr>
              <a:t>core</a:t>
            </a:r>
            <a:r>
              <a:rPr lang="en-US" sz="2000" spc="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processors.</a:t>
            </a:r>
            <a:r>
              <a:rPr lang="en-US" sz="2000" spc="5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RISC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3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are </a:t>
            </a:r>
            <a:r>
              <a:rPr lang="en-US" sz="2000" spc="-20" dirty="0">
                <a:latin typeface="Calibri"/>
                <a:cs typeface="Calibri"/>
              </a:rPr>
              <a:t>designed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perform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smaller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number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types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computer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instructions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so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that </a:t>
            </a:r>
            <a:r>
              <a:rPr lang="en-US" sz="2000" dirty="0">
                <a:latin typeface="Calibri"/>
                <a:cs typeface="Calibri"/>
              </a:rPr>
              <a:t>they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operate</a:t>
            </a:r>
            <a:r>
              <a:rPr lang="en-US" sz="2000" spc="2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higher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speed,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performing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2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millions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instructions</a:t>
            </a:r>
            <a:r>
              <a:rPr lang="en-US" sz="2000" spc="1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per </a:t>
            </a:r>
            <a:r>
              <a:rPr lang="en-US" sz="2000" dirty="0">
                <a:latin typeface="Calibri"/>
                <a:cs typeface="Calibri"/>
              </a:rPr>
              <a:t>second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(MIPS).</a:t>
            </a:r>
            <a:endParaRPr lang="en-US" sz="2000" dirty="0">
              <a:latin typeface="Calibri"/>
              <a:cs typeface="Calibri"/>
            </a:endParaRPr>
          </a:p>
          <a:p>
            <a:pPr marL="354964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577850" algn="l"/>
                <a:tab pos="1275080" algn="l"/>
                <a:tab pos="2554605" algn="l"/>
                <a:tab pos="2865755" algn="l"/>
                <a:tab pos="3446779" algn="l"/>
                <a:tab pos="3817620" algn="l"/>
                <a:tab pos="4102100" algn="l"/>
                <a:tab pos="4942205" algn="l"/>
                <a:tab pos="5321935" algn="l"/>
                <a:tab pos="6047105" algn="l"/>
                <a:tab pos="6885305" algn="l"/>
                <a:tab pos="7321550" algn="l"/>
                <a:tab pos="7844790" algn="l"/>
                <a:tab pos="8488680" algn="l"/>
              </a:tabLst>
            </a:pP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42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stripping</a:t>
            </a:r>
            <a:r>
              <a:rPr lang="en-US" sz="2000" spc="4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out</a:t>
            </a:r>
            <a:r>
              <a:rPr lang="en-US" sz="2000" spc="40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unneeded</a:t>
            </a:r>
            <a:r>
              <a:rPr lang="en-US" sz="2000" spc="45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instructions</a:t>
            </a:r>
            <a:r>
              <a:rPr lang="en-US" sz="2000" spc="48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34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optimizing</a:t>
            </a:r>
            <a:r>
              <a:rPr lang="en-US" sz="2000" spc="48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pathways,</a:t>
            </a:r>
            <a:r>
              <a:rPr lang="en-US" sz="2000" spc="440" dirty="0">
                <a:latin typeface="Calibri"/>
                <a:cs typeface="Calibri"/>
              </a:rPr>
              <a:t>  </a:t>
            </a:r>
            <a:r>
              <a:rPr lang="en-US" sz="2000" spc="-20" dirty="0">
                <a:latin typeface="Calibri"/>
                <a:cs typeface="Calibri"/>
              </a:rPr>
              <a:t>RISC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2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provide</a:t>
            </a:r>
            <a:r>
              <a:rPr lang="en-US" sz="2000" spc="2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outstanding</a:t>
            </a:r>
            <a:r>
              <a:rPr lang="en-US" sz="2000" spc="3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performance</a:t>
            </a:r>
            <a:r>
              <a:rPr lang="en-US" sz="2000" spc="3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fraction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power</a:t>
            </a:r>
            <a:r>
              <a:rPr lang="en-US" sz="2000" spc="2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demand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CISC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(complex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instruction</a:t>
            </a:r>
            <a:r>
              <a:rPr lang="en-US" sz="2000" spc="1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set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computing)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devices.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845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30" dirty="0">
                <a:latin typeface="Calibri"/>
                <a:cs typeface="Calibri"/>
              </a:rPr>
              <a:t>Processors</a:t>
            </a:r>
            <a:r>
              <a:rPr lang="en-US" sz="3200" spc="2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on</a:t>
            </a:r>
            <a:r>
              <a:rPr lang="en-US" sz="3200" spc="-155" dirty="0">
                <a:latin typeface="Calibri"/>
                <a:cs typeface="Calibri"/>
              </a:rPr>
              <a:t> </a:t>
            </a:r>
            <a:r>
              <a:rPr lang="en-US" sz="3200" spc="-25" dirty="0">
                <a:latin typeface="Calibri"/>
                <a:cs typeface="Calibri"/>
              </a:rPr>
              <a:t>Handheld</a:t>
            </a:r>
            <a:r>
              <a:rPr lang="en-US" sz="3200" spc="-75" dirty="0">
                <a:latin typeface="Calibri"/>
                <a:cs typeface="Calibri"/>
              </a:rPr>
              <a:t> </a:t>
            </a:r>
            <a:r>
              <a:rPr lang="en-US" sz="3200" spc="-20" dirty="0">
                <a:latin typeface="Calibri"/>
                <a:cs typeface="Calibri"/>
              </a:rPr>
              <a:t>devices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63893" y="1651493"/>
            <a:ext cx="11234057" cy="2879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354964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577850" algn="l"/>
                <a:tab pos="1275080" algn="l"/>
                <a:tab pos="2554605" algn="l"/>
                <a:tab pos="2865755" algn="l"/>
                <a:tab pos="3446779" algn="l"/>
                <a:tab pos="3817620" algn="l"/>
                <a:tab pos="4102100" algn="l"/>
                <a:tab pos="4942205" algn="l"/>
                <a:tab pos="5321935" algn="l"/>
                <a:tab pos="6047105" algn="l"/>
                <a:tab pos="6885305" algn="l"/>
                <a:tab pos="7321550" algn="l"/>
                <a:tab pos="7844790" algn="l"/>
                <a:tab pos="8488680" algn="l"/>
              </a:tabLst>
            </a:pPr>
            <a:r>
              <a:rPr lang="en-US" sz="2000" spc="-60" dirty="0">
                <a:latin typeface="Calibri"/>
                <a:cs typeface="Calibri"/>
              </a:rPr>
              <a:t>ARM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processors</a:t>
            </a:r>
            <a:r>
              <a:rPr lang="en-US" sz="2000" spc="3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extensively</a:t>
            </a:r>
            <a:r>
              <a:rPr lang="en-US" sz="2000" spc="2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used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consumer</a:t>
            </a:r>
            <a:r>
              <a:rPr lang="en-US" sz="2000" spc="39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electronic</a:t>
            </a:r>
            <a:r>
              <a:rPr lang="en-US" sz="2000" spc="3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devices</a:t>
            </a:r>
            <a:r>
              <a:rPr lang="en-US" sz="2000" spc="2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such</a:t>
            </a:r>
            <a:r>
              <a:rPr lang="en-US" sz="2000" spc="29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as</a:t>
            </a:r>
            <a:r>
              <a:rPr lang="en-US" sz="2000" dirty="0">
                <a:latin typeface="Calibri"/>
                <a:cs typeface="Calibri"/>
              </a:rPr>
              <a:t> smartphones,</a:t>
            </a:r>
            <a:r>
              <a:rPr lang="en-US" sz="2000" spc="1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tablets,</a:t>
            </a:r>
            <a:r>
              <a:rPr lang="en-US" sz="2000" spc="12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multimedia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players</a:t>
            </a:r>
            <a:r>
              <a:rPr lang="en-US" sz="2000" spc="5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5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7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mobile</a:t>
            </a:r>
            <a:r>
              <a:rPr lang="en-US" sz="2000" spc="9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devices,</a:t>
            </a:r>
            <a:r>
              <a:rPr lang="en-US" sz="2000" spc="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such</a:t>
            </a:r>
            <a:r>
              <a:rPr lang="en-US" sz="2000" spc="65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as </a:t>
            </a:r>
            <a:r>
              <a:rPr lang="en-US" sz="2000" dirty="0">
                <a:latin typeface="Calibri"/>
                <a:cs typeface="Calibri"/>
              </a:rPr>
              <a:t>wearables.</a:t>
            </a:r>
            <a:r>
              <a:rPr lang="en-US" sz="2000" spc="26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Because</a:t>
            </a:r>
            <a:r>
              <a:rPr lang="en-US" sz="2000" spc="23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7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their</a:t>
            </a:r>
            <a:r>
              <a:rPr lang="en-US" sz="2000" spc="1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reduced</a:t>
            </a:r>
            <a:r>
              <a:rPr lang="en-US" sz="2000" spc="2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instruction</a:t>
            </a:r>
            <a:r>
              <a:rPr lang="en-US" sz="2000" spc="2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set,</a:t>
            </a:r>
            <a:r>
              <a:rPr lang="en-US" sz="2000" spc="1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they</a:t>
            </a:r>
            <a:r>
              <a:rPr lang="en-US" sz="2000" spc="1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require</a:t>
            </a:r>
            <a:r>
              <a:rPr lang="en-US" sz="2000" spc="229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fewer </a:t>
            </a:r>
            <a:r>
              <a:rPr lang="en-US" sz="2000" spc="-25" dirty="0">
                <a:latin typeface="Calibri"/>
                <a:cs typeface="Calibri"/>
              </a:rPr>
              <a:t>transistors,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which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enables</a:t>
            </a:r>
            <a:r>
              <a:rPr lang="en-US" sz="2000" dirty="0">
                <a:latin typeface="Calibri"/>
                <a:cs typeface="Calibri"/>
              </a:rPr>
              <a:t> 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smaller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die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size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the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integrated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circuitry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(IC).</a:t>
            </a:r>
          </a:p>
          <a:p>
            <a:pPr marL="354964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577850" algn="l"/>
                <a:tab pos="1275080" algn="l"/>
                <a:tab pos="2554605" algn="l"/>
                <a:tab pos="2865755" algn="l"/>
                <a:tab pos="3446779" algn="l"/>
                <a:tab pos="3817620" algn="l"/>
                <a:tab pos="4102100" algn="l"/>
                <a:tab pos="4942205" algn="l"/>
                <a:tab pos="5321935" algn="l"/>
                <a:tab pos="6047105" algn="l"/>
                <a:tab pos="6885305" algn="l"/>
                <a:tab pos="7321550" algn="l"/>
                <a:tab pos="7844790" algn="l"/>
                <a:tab pos="8488680" algn="l"/>
              </a:tabLst>
            </a:pPr>
            <a:endParaRPr lang="en-US" sz="2000" spc="-20" dirty="0">
              <a:latin typeface="Calibri"/>
              <a:cs typeface="Calibri"/>
            </a:endParaRPr>
          </a:p>
          <a:p>
            <a:pPr marL="354964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577850" algn="l"/>
                <a:tab pos="1275080" algn="l"/>
                <a:tab pos="2554605" algn="l"/>
                <a:tab pos="2865755" algn="l"/>
                <a:tab pos="3446779" algn="l"/>
                <a:tab pos="3817620" algn="l"/>
                <a:tab pos="4102100" algn="l"/>
                <a:tab pos="4942205" algn="l"/>
                <a:tab pos="5321935" algn="l"/>
                <a:tab pos="6047105" algn="l"/>
                <a:tab pos="6885305" algn="l"/>
                <a:tab pos="7321550" algn="l"/>
                <a:tab pos="7844790" algn="l"/>
                <a:tab pos="8488680" algn="l"/>
              </a:tabLst>
            </a:pPr>
            <a:r>
              <a:rPr lang="en-US" sz="2000" spc="-20" dirty="0">
                <a:latin typeface="Calibri"/>
                <a:cs typeface="Calibri"/>
              </a:rPr>
              <a:t>The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ARM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processor's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smaller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size,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reduced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complexity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and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lower power</a:t>
            </a:r>
            <a:r>
              <a:rPr lang="en-US" sz="2000" dirty="0">
                <a:latin typeface="Calibri"/>
                <a:cs typeface="Calibri"/>
              </a:rPr>
              <a:t> consumption</a:t>
            </a:r>
            <a:r>
              <a:rPr lang="en-US" sz="2000" spc="1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makes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them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suitable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increasingly</a:t>
            </a:r>
            <a:r>
              <a:rPr lang="en-US" sz="2000" spc="2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miniaturized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devices.</a:t>
            </a:r>
            <a:endParaRPr lang="en-US" sz="2000" dirty="0">
              <a:latin typeface="Calibri"/>
              <a:cs typeface="Calibri"/>
            </a:endParaRPr>
          </a:p>
          <a:p>
            <a:pPr marL="121285" marR="6350" indent="2540" algn="just">
              <a:lnSpc>
                <a:spcPct val="993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121285" marR="6350" indent="2540" algn="just">
              <a:lnSpc>
                <a:spcPct val="993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0471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3200" spc="-30" dirty="0">
                <a:latin typeface="Calibri"/>
                <a:cs typeface="Calibri"/>
              </a:rPr>
              <a:t>System on Chip (</a:t>
            </a:r>
            <a:r>
              <a:rPr lang="en-US" sz="3200" spc="-30" dirty="0" err="1">
                <a:latin typeface="Calibri"/>
                <a:cs typeface="Calibri"/>
              </a:rPr>
              <a:t>SoC</a:t>
            </a:r>
            <a:r>
              <a:rPr lang="en-US" sz="3200" spc="-30" dirty="0">
                <a:latin typeface="Calibri"/>
                <a:cs typeface="Calibri"/>
              </a:rPr>
              <a:t>) based architectures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81" y="1058575"/>
            <a:ext cx="9091038" cy="563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56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53009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lang="en-US" sz="3200" spc="-30" dirty="0">
                <a:latin typeface="Calibri"/>
                <a:cs typeface="Calibri"/>
              </a:rPr>
              <a:t>Basic Smartphone architecture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876" y="1161814"/>
            <a:ext cx="7468247" cy="5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79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0255-AC2D-926D-1AB9-3D117DE0DD88}"/>
              </a:ext>
            </a:extLst>
          </p:cNvPr>
          <p:cNvSpPr txBox="1">
            <a:spLocks/>
          </p:cNvSpPr>
          <p:nvPr/>
        </p:nvSpPr>
        <p:spPr>
          <a:xfrm>
            <a:off x="499532" y="2332037"/>
            <a:ext cx="10447867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Quantum computing uses principles of quantum mechanics.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Basic unit of quantum information is the Qubit.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Unlike classical bits (0 or 1), qubits can exist in superposition.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Quantum computers can solve certain problems much faster than classical computers.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Used in cryptography, optimization, and drug discovery.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5C9D7F-5975-9368-F67B-9FDAC941309F}"/>
              </a:ext>
            </a:extLst>
          </p:cNvPr>
          <p:cNvSpPr txBox="1">
            <a:spLocks/>
          </p:cNvSpPr>
          <p:nvPr/>
        </p:nvSpPr>
        <p:spPr>
          <a:xfrm>
            <a:off x="660400" y="630238"/>
            <a:ext cx="10701867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Introduction to Qubits and Quantum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037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E999C20-5B42-36F1-F6A1-3F0618117688}"/>
              </a:ext>
            </a:extLst>
          </p:cNvPr>
          <p:cNvSpPr txBox="1">
            <a:spLocks/>
          </p:cNvSpPr>
          <p:nvPr/>
        </p:nvSpPr>
        <p:spPr>
          <a:xfrm>
            <a:off x="1845733" y="638704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Latest Technology Trends in Computer Architecture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662749-CADB-07BE-3CE9-A943F28525D1}"/>
              </a:ext>
            </a:extLst>
          </p:cNvPr>
          <p:cNvSpPr txBox="1">
            <a:spLocks/>
          </p:cNvSpPr>
          <p:nvPr/>
        </p:nvSpPr>
        <p:spPr>
          <a:xfrm>
            <a:off x="965200" y="2332037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Artificial Intelligence accelerators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Cloud computing and edge computing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Heterogeneous computing (CPU + GPU + AI chips)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Energy‑efficient processor design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Quantum and neuromorphic computing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10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7AF781-55FC-F8C9-8CA9-A4E3076C7F2F}"/>
              </a:ext>
            </a:extLst>
          </p:cNvPr>
          <p:cNvSpPr txBox="1"/>
          <p:nvPr/>
        </p:nvSpPr>
        <p:spPr>
          <a:xfrm>
            <a:off x="2751667" y="568867"/>
            <a:ext cx="6096000" cy="131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latin typeface="+mj-lt"/>
                <a:ea typeface="+mj-ea"/>
                <a:cs typeface="+mj-cs"/>
              </a:rPr>
              <a:t>Next Generation Processor Architecture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3F51B0-EEAB-2FA3-203C-B4E79FAFC77B}"/>
              </a:ext>
            </a:extLst>
          </p:cNvPr>
          <p:cNvSpPr txBox="1">
            <a:spLocks/>
          </p:cNvSpPr>
          <p:nvPr/>
        </p:nvSpPr>
        <p:spPr>
          <a:xfrm>
            <a:off x="465666" y="2332037"/>
            <a:ext cx="10024533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Focus on high performance and low power consumption.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Use of multi‑core and many‑core processors.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Integration of AI and machine learning accelerators.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Advanced semiconductor technologies (5nm, 3nm).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• Improved memory hierarchy and cache systems.</a:t>
            </a:r>
          </a:p>
        </p:txBody>
      </p:sp>
    </p:spTree>
    <p:extLst>
      <p:ext uri="{BB962C8B-B14F-4D97-AF65-F5344CB8AC3E}">
        <p14:creationId xmlns:p14="http://schemas.microsoft.com/office/powerpoint/2010/main" val="745994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B6E5BA-C2C0-538C-9216-4722445CECA9}"/>
              </a:ext>
            </a:extLst>
          </p:cNvPr>
          <p:cNvSpPr txBox="1"/>
          <p:nvPr/>
        </p:nvSpPr>
        <p:spPr>
          <a:xfrm>
            <a:off x="2853266" y="73820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+mj-lt"/>
                <a:ea typeface="+mj-ea"/>
                <a:cs typeface="+mj-cs"/>
              </a:rPr>
              <a:t>Microarchitecture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4ED0D60-3260-E006-0A35-B8929149B27F}"/>
              </a:ext>
            </a:extLst>
          </p:cNvPr>
          <p:cNvSpPr txBox="1">
            <a:spLocks/>
          </p:cNvSpPr>
          <p:nvPr/>
        </p:nvSpPr>
        <p:spPr>
          <a:xfrm>
            <a:off x="618066" y="2032000"/>
            <a:ext cx="10143067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Microarchitecture defines how a processor is internally implemented.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Includes ALU, registers, control unit, and cache memory.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Determines how instructions are executed inside the CPU.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Techniques include pipelining, superscalar execution, and branch prediction.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611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ADED817-A3A0-6690-C658-D0CC65C718CB}"/>
              </a:ext>
            </a:extLst>
          </p:cNvPr>
          <p:cNvSpPr txBox="1">
            <a:spLocks/>
          </p:cNvSpPr>
          <p:nvPr/>
        </p:nvSpPr>
        <p:spPr>
          <a:xfrm>
            <a:off x="1109133" y="858838"/>
            <a:ext cx="9897534" cy="1143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Latest Processors for Smartphones and Tablets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219573-F49A-EFAF-DF2A-FE21FA732FDC}"/>
              </a:ext>
            </a:extLst>
          </p:cNvPr>
          <p:cNvSpPr txBox="1">
            <a:spLocks/>
          </p:cNvSpPr>
          <p:nvPr/>
        </p:nvSpPr>
        <p:spPr>
          <a:xfrm>
            <a:off x="499532" y="2001838"/>
            <a:ext cx="11032067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Apple A‑series processors (A17, etc.)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Qualcomm Snapdragon processors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Samsung Exynos processors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MediaTek Dimensity processors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• Designed for high performance with low power consumption.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890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E09333-65B3-1418-D578-84D5C57CEA21}"/>
              </a:ext>
            </a:extLst>
          </p:cNvPr>
          <p:cNvSpPr txBox="1">
            <a:spLocks/>
          </p:cNvSpPr>
          <p:nvPr/>
        </p:nvSpPr>
        <p:spPr>
          <a:xfrm>
            <a:off x="2844800" y="731838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Latest Desktop Processors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6FBA9C-DAAF-C5BE-36E4-B87334DA13C5}"/>
              </a:ext>
            </a:extLst>
          </p:cNvPr>
          <p:cNvSpPr txBox="1">
            <a:spLocks/>
          </p:cNvSpPr>
          <p:nvPr/>
        </p:nvSpPr>
        <p:spPr>
          <a:xfrm>
            <a:off x="618068" y="1981200"/>
            <a:ext cx="10684932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• Intel Core series (Core i5, i7, i9 – latest generations)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• AMD Ryzen processors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• High‑performance CPUs used for gaming, development, and professional workloads.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• Features include multiple cores, high clock speeds, and advanced caching.</a:t>
            </a:r>
          </a:p>
        </p:txBody>
      </p:sp>
    </p:spTree>
    <p:extLst>
      <p:ext uri="{BB962C8B-B14F-4D97-AF65-F5344CB8AC3E}">
        <p14:creationId xmlns:p14="http://schemas.microsoft.com/office/powerpoint/2010/main" val="21181303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5426</TotalTime>
  <Words>931</Words>
  <Application>Microsoft Office PowerPoint</Application>
  <PresentationFormat>Widescreen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Aarti Shar</cp:lastModifiedBy>
  <cp:revision>144</cp:revision>
  <dcterms:created xsi:type="dcterms:W3CDTF">2024-12-19T08:47:23Z</dcterms:created>
  <dcterms:modified xsi:type="dcterms:W3CDTF">2026-04-06T03:42:51Z</dcterms:modified>
</cp:coreProperties>
</file>