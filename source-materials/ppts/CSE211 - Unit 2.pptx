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4028" r:id="rId2"/>
    <p:sldId id="4030" r:id="rId3"/>
    <p:sldId id="4031" r:id="rId4"/>
    <p:sldId id="4032" r:id="rId5"/>
    <p:sldId id="4033" r:id="rId6"/>
    <p:sldId id="4034" r:id="rId7"/>
    <p:sldId id="4035" r:id="rId8"/>
    <p:sldId id="4036" r:id="rId9"/>
    <p:sldId id="4037" r:id="rId10"/>
    <p:sldId id="4038" r:id="rId11"/>
    <p:sldId id="4039" r:id="rId12"/>
    <p:sldId id="4040" r:id="rId13"/>
    <p:sldId id="4041" r:id="rId14"/>
    <p:sldId id="4068" r:id="rId15"/>
    <p:sldId id="4042" r:id="rId16"/>
    <p:sldId id="4043" r:id="rId17"/>
    <p:sldId id="4044" r:id="rId18"/>
    <p:sldId id="4081" r:id="rId19"/>
    <p:sldId id="4045" r:id="rId20"/>
    <p:sldId id="4069" r:id="rId21"/>
    <p:sldId id="4046" r:id="rId22"/>
    <p:sldId id="4070" r:id="rId23"/>
    <p:sldId id="4047" r:id="rId24"/>
    <p:sldId id="4071" r:id="rId25"/>
    <p:sldId id="4048" r:id="rId26"/>
    <p:sldId id="4072" r:id="rId27"/>
    <p:sldId id="4049" r:id="rId28"/>
    <p:sldId id="4050" r:id="rId29"/>
    <p:sldId id="4051" r:id="rId30"/>
    <p:sldId id="4052" r:id="rId31"/>
    <p:sldId id="4053" r:id="rId32"/>
    <p:sldId id="4054" r:id="rId33"/>
    <p:sldId id="4055" r:id="rId34"/>
    <p:sldId id="4056" r:id="rId35"/>
    <p:sldId id="4057" r:id="rId36"/>
    <p:sldId id="4058" r:id="rId37"/>
    <p:sldId id="4059" r:id="rId38"/>
    <p:sldId id="4073" r:id="rId39"/>
    <p:sldId id="4074" r:id="rId40"/>
    <p:sldId id="4060" r:id="rId41"/>
    <p:sldId id="4061" r:id="rId42"/>
    <p:sldId id="4075" r:id="rId43"/>
    <p:sldId id="4080" r:id="rId44"/>
    <p:sldId id="4062" r:id="rId45"/>
    <p:sldId id="4063" r:id="rId46"/>
    <p:sldId id="4064" r:id="rId47"/>
    <p:sldId id="4076" r:id="rId48"/>
    <p:sldId id="4065" r:id="rId49"/>
    <p:sldId id="4077" r:id="rId50"/>
    <p:sldId id="4066" r:id="rId51"/>
    <p:sldId id="4078" r:id="rId52"/>
    <p:sldId id="4067" r:id="rId53"/>
    <p:sldId id="4079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-69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F1DA5F-EAEB-4CD7-BF9D-48FBBC006CBE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452230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28A3A3-E646-4CB9-B77A-16AECFCA01DF}" type="slidenum">
              <a:rPr lang="en-US" altLang="en-US">
                <a:latin typeface="Calibri" panose="020F0502020204030204" pitchFamily="34" charset="0"/>
              </a:rPr>
              <a:pPr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68643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05E6A3-47D7-4977-A7DB-C47D5D5B82FB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270470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=""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=""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58891486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pPr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838200" y="5990253"/>
            <a:ext cx="10515600" cy="863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Components of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6322" name="Picture 2" descr="What is CPU in Computer: Parts, Functions - Scientech Eas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808" y="1353997"/>
            <a:ext cx="6954384" cy="46362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4281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A126462B-7513-4214-9813-BF171B0512BC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30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Overview</a:t>
            </a:r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3432175" y="1295400"/>
            <a:ext cx="5487988" cy="485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General Register Organization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Stack Organization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Instruction Formats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Addressing Modes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Data Transfer and Manipulation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Program Control and Program Interrupt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Reduced Instruction Set Computer</a:t>
            </a:r>
          </a:p>
        </p:txBody>
      </p:sp>
    </p:spTree>
    <p:extLst>
      <p:ext uri="{BB962C8B-B14F-4D97-AF65-F5344CB8AC3E}">
        <p14:creationId xmlns="" xmlns:p14="http://schemas.microsoft.com/office/powerpoint/2010/main" val="299028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0D6C0CFE-465D-49DF-B116-E8D95C86772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4100" name="TextBox 5"/>
          <p:cNvSpPr txBox="1">
            <a:spLocks noChangeArrowheads="1"/>
          </p:cNvSpPr>
          <p:nvPr/>
        </p:nvSpPr>
        <p:spPr bwMode="auto">
          <a:xfrm>
            <a:off x="1524000" y="6529389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Major Components of CPU</a:t>
            </a:r>
          </a:p>
        </p:txBody>
      </p:sp>
      <p:sp>
        <p:nvSpPr>
          <p:cNvPr id="4103" name="Rectangle 4"/>
          <p:cNvSpPr>
            <a:spLocks noChangeArrowheads="1"/>
          </p:cNvSpPr>
          <p:nvPr/>
        </p:nvSpPr>
        <p:spPr bwMode="auto">
          <a:xfrm>
            <a:off x="1947864" y="1554164"/>
            <a:ext cx="8224837" cy="377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Storage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Registers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Flags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Execution (Processing)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Arithmetic Logic Unit(ALU)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        Arithmetic calculations, Logical computations, Shifts/Rotates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Transfer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Bus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Control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Control Unit</a:t>
            </a:r>
          </a:p>
        </p:txBody>
      </p:sp>
    </p:spTree>
    <p:extLst>
      <p:ext uri="{BB962C8B-B14F-4D97-AF65-F5344CB8AC3E}">
        <p14:creationId xmlns="" xmlns:p14="http://schemas.microsoft.com/office/powerpoint/2010/main" val="120656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7A70E260-2B0C-4A87-A5D5-5B19A4B62834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Register</a:t>
            </a:r>
          </a:p>
        </p:txBody>
      </p:sp>
      <p:sp>
        <p:nvSpPr>
          <p:cNvPr id="6151" name="Rectangle 141"/>
          <p:cNvSpPr>
            <a:spLocks noChangeArrowheads="1"/>
          </p:cNvSpPr>
          <p:nvPr/>
        </p:nvSpPr>
        <p:spPr bwMode="auto">
          <a:xfrm>
            <a:off x="2133600" y="1444625"/>
            <a:ext cx="8001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In Basic Computer, there is only one general purpose register, the Accumulator (AC)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In modern CPUs, there are many general purpose registers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It is advantageous to have many registers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000" b="1"/>
              <a:t>Transfer between registers within the processor are relatively fast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000" b="1"/>
              <a:t>Going “off the processor” to access memory is much slower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endParaRPr lang="en-US" altLang="ko-KR" sz="2000" b="1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Important: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	How many registers will be the best ?</a:t>
            </a:r>
          </a:p>
        </p:txBody>
      </p:sp>
    </p:spTree>
    <p:extLst>
      <p:ext uri="{BB962C8B-B14F-4D97-AF65-F5344CB8AC3E}">
        <p14:creationId xmlns="" xmlns:p14="http://schemas.microsoft.com/office/powerpoint/2010/main" val="222961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274C467-D3D5-4383-A512-0DB498E8554F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71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General Register Organization</a:t>
            </a:r>
          </a:p>
        </p:txBody>
      </p:sp>
      <p:grpSp>
        <p:nvGrpSpPr>
          <p:cNvPr id="7175" name="Group 145"/>
          <p:cNvGrpSpPr>
            <a:grpSpLocks/>
          </p:cNvGrpSpPr>
          <p:nvPr/>
        </p:nvGrpSpPr>
        <p:grpSpPr bwMode="auto">
          <a:xfrm>
            <a:off x="3170238" y="1408114"/>
            <a:ext cx="6088062" cy="4714875"/>
            <a:chOff x="1037" y="887"/>
            <a:chExt cx="3835" cy="2970"/>
          </a:xfrm>
        </p:grpSpPr>
        <p:sp>
          <p:nvSpPr>
            <p:cNvPr id="7176" name="Arc 4"/>
            <p:cNvSpPr>
              <a:spLocks/>
            </p:cNvSpPr>
            <p:nvPr/>
          </p:nvSpPr>
          <p:spPr bwMode="auto">
            <a:xfrm>
              <a:off x="2264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Line 5"/>
            <p:cNvSpPr>
              <a:spLocks noChangeShapeType="1"/>
            </p:cNvSpPr>
            <p:nvPr/>
          </p:nvSpPr>
          <p:spPr bwMode="auto">
            <a:xfrm>
              <a:off x="2298" y="2056"/>
              <a:ext cx="0" cy="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Arc 6"/>
            <p:cNvSpPr>
              <a:spLocks/>
            </p:cNvSpPr>
            <p:nvPr/>
          </p:nvSpPr>
          <p:spPr bwMode="auto">
            <a:xfrm>
              <a:off x="2365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" name="Line 7"/>
            <p:cNvSpPr>
              <a:spLocks noChangeShapeType="1"/>
            </p:cNvSpPr>
            <p:nvPr/>
          </p:nvSpPr>
          <p:spPr bwMode="auto">
            <a:xfrm>
              <a:off x="2399" y="1927"/>
              <a:ext cx="0" cy="2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Arc 8"/>
            <p:cNvSpPr>
              <a:spLocks/>
            </p:cNvSpPr>
            <p:nvPr/>
          </p:nvSpPr>
          <p:spPr bwMode="auto">
            <a:xfrm>
              <a:off x="2475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1" name="Line 9"/>
            <p:cNvSpPr>
              <a:spLocks noChangeShapeType="1"/>
            </p:cNvSpPr>
            <p:nvPr/>
          </p:nvSpPr>
          <p:spPr bwMode="auto">
            <a:xfrm>
              <a:off x="2509" y="1799"/>
              <a:ext cx="0" cy="3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2" name="Arc 10"/>
            <p:cNvSpPr>
              <a:spLocks/>
            </p:cNvSpPr>
            <p:nvPr/>
          </p:nvSpPr>
          <p:spPr bwMode="auto">
            <a:xfrm>
              <a:off x="2576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Line 11"/>
            <p:cNvSpPr>
              <a:spLocks noChangeShapeType="1"/>
            </p:cNvSpPr>
            <p:nvPr/>
          </p:nvSpPr>
          <p:spPr bwMode="auto">
            <a:xfrm>
              <a:off x="2610" y="1669"/>
              <a:ext cx="0" cy="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4" name="Arc 12"/>
            <p:cNvSpPr>
              <a:spLocks/>
            </p:cNvSpPr>
            <p:nvPr/>
          </p:nvSpPr>
          <p:spPr bwMode="auto">
            <a:xfrm>
              <a:off x="2677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13"/>
            <p:cNvSpPr>
              <a:spLocks noChangeShapeType="1"/>
            </p:cNvSpPr>
            <p:nvPr/>
          </p:nvSpPr>
          <p:spPr bwMode="auto">
            <a:xfrm>
              <a:off x="2711" y="1540"/>
              <a:ext cx="0" cy="6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Arc 14"/>
            <p:cNvSpPr>
              <a:spLocks/>
            </p:cNvSpPr>
            <p:nvPr/>
          </p:nvSpPr>
          <p:spPr bwMode="auto">
            <a:xfrm>
              <a:off x="2787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7" name="Line 15"/>
            <p:cNvSpPr>
              <a:spLocks noChangeShapeType="1"/>
            </p:cNvSpPr>
            <p:nvPr/>
          </p:nvSpPr>
          <p:spPr bwMode="auto">
            <a:xfrm>
              <a:off x="2821" y="1411"/>
              <a:ext cx="0" cy="7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Arc 16"/>
            <p:cNvSpPr>
              <a:spLocks/>
            </p:cNvSpPr>
            <p:nvPr/>
          </p:nvSpPr>
          <p:spPr bwMode="auto">
            <a:xfrm>
              <a:off x="2887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9" name="Line 17"/>
            <p:cNvSpPr>
              <a:spLocks noChangeShapeType="1"/>
            </p:cNvSpPr>
            <p:nvPr/>
          </p:nvSpPr>
          <p:spPr bwMode="auto">
            <a:xfrm>
              <a:off x="2922" y="1283"/>
              <a:ext cx="0" cy="8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Arc 18"/>
            <p:cNvSpPr>
              <a:spLocks/>
            </p:cNvSpPr>
            <p:nvPr/>
          </p:nvSpPr>
          <p:spPr bwMode="auto">
            <a:xfrm>
              <a:off x="2988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1" name="Line 19"/>
            <p:cNvSpPr>
              <a:spLocks noChangeShapeType="1"/>
            </p:cNvSpPr>
            <p:nvPr/>
          </p:nvSpPr>
          <p:spPr bwMode="auto">
            <a:xfrm>
              <a:off x="3023" y="1154"/>
              <a:ext cx="0" cy="10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Rectangle 20"/>
            <p:cNvSpPr>
              <a:spLocks noChangeArrowheads="1"/>
            </p:cNvSpPr>
            <p:nvPr/>
          </p:nvSpPr>
          <p:spPr bwMode="auto">
            <a:xfrm>
              <a:off x="2202" y="2230"/>
              <a:ext cx="917" cy="32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193" name="Rectangle 21"/>
            <p:cNvSpPr>
              <a:spLocks noChangeArrowheads="1"/>
            </p:cNvSpPr>
            <p:nvPr/>
          </p:nvSpPr>
          <p:spPr bwMode="auto">
            <a:xfrm>
              <a:off x="2438" y="2297"/>
              <a:ext cx="4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>
                  <a:solidFill>
                    <a:srgbClr val="000000"/>
                  </a:solidFill>
                </a:rPr>
                <a:t>MUX</a:t>
              </a:r>
            </a:p>
          </p:txBody>
        </p:sp>
        <p:sp>
          <p:nvSpPr>
            <p:cNvPr id="7194" name="Arc 22"/>
            <p:cNvSpPr>
              <a:spLocks/>
            </p:cNvSpPr>
            <p:nvPr/>
          </p:nvSpPr>
          <p:spPr bwMode="auto">
            <a:xfrm>
              <a:off x="2111" y="2278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5" name="Line 23"/>
            <p:cNvSpPr>
              <a:spLocks noChangeShapeType="1"/>
            </p:cNvSpPr>
            <p:nvPr/>
          </p:nvSpPr>
          <p:spPr bwMode="auto">
            <a:xfrm flipH="1">
              <a:off x="2028" y="2309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Arc 24"/>
            <p:cNvSpPr>
              <a:spLocks/>
            </p:cNvSpPr>
            <p:nvPr/>
          </p:nvSpPr>
          <p:spPr bwMode="auto">
            <a:xfrm>
              <a:off x="2111" y="2366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Line 25"/>
            <p:cNvSpPr>
              <a:spLocks noChangeShapeType="1"/>
            </p:cNvSpPr>
            <p:nvPr/>
          </p:nvSpPr>
          <p:spPr bwMode="auto">
            <a:xfrm flipH="1">
              <a:off x="2028" y="2393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8" name="Arc 26"/>
            <p:cNvSpPr>
              <a:spLocks/>
            </p:cNvSpPr>
            <p:nvPr/>
          </p:nvSpPr>
          <p:spPr bwMode="auto">
            <a:xfrm>
              <a:off x="2111" y="2452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27"/>
            <p:cNvSpPr>
              <a:spLocks noChangeShapeType="1"/>
            </p:cNvSpPr>
            <p:nvPr/>
          </p:nvSpPr>
          <p:spPr bwMode="auto">
            <a:xfrm flipH="1">
              <a:off x="2028" y="2485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Rectangle 28"/>
            <p:cNvSpPr>
              <a:spLocks noChangeArrowheads="1"/>
            </p:cNvSpPr>
            <p:nvPr/>
          </p:nvSpPr>
          <p:spPr bwMode="auto">
            <a:xfrm>
              <a:off x="1590" y="2311"/>
              <a:ext cx="30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SELA</a:t>
              </a:r>
            </a:p>
          </p:txBody>
        </p:sp>
        <p:sp>
          <p:nvSpPr>
            <p:cNvPr id="7201" name="Rectangle 29"/>
            <p:cNvSpPr>
              <a:spLocks noChangeArrowheads="1"/>
            </p:cNvSpPr>
            <p:nvPr/>
          </p:nvSpPr>
          <p:spPr bwMode="auto">
            <a:xfrm>
              <a:off x="1860" y="2252"/>
              <a:ext cx="18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000000"/>
                  </a:solidFill>
                </a:rPr>
                <a:t>{</a:t>
              </a:r>
            </a:p>
          </p:txBody>
        </p:sp>
        <p:sp>
          <p:nvSpPr>
            <p:cNvPr id="7202" name="Arc 30"/>
            <p:cNvSpPr>
              <a:spLocks/>
            </p:cNvSpPr>
            <p:nvPr/>
          </p:nvSpPr>
          <p:spPr bwMode="auto">
            <a:xfrm>
              <a:off x="3456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3" name="Line 31"/>
            <p:cNvSpPr>
              <a:spLocks noChangeShapeType="1"/>
            </p:cNvSpPr>
            <p:nvPr/>
          </p:nvSpPr>
          <p:spPr bwMode="auto">
            <a:xfrm>
              <a:off x="3491" y="2056"/>
              <a:ext cx="0" cy="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4" name="Arc 32"/>
            <p:cNvSpPr>
              <a:spLocks/>
            </p:cNvSpPr>
            <p:nvPr/>
          </p:nvSpPr>
          <p:spPr bwMode="auto">
            <a:xfrm>
              <a:off x="3566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5" name="Line 33"/>
            <p:cNvSpPr>
              <a:spLocks noChangeShapeType="1"/>
            </p:cNvSpPr>
            <p:nvPr/>
          </p:nvSpPr>
          <p:spPr bwMode="auto">
            <a:xfrm>
              <a:off x="3601" y="1927"/>
              <a:ext cx="0" cy="2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6" name="Arc 34"/>
            <p:cNvSpPr>
              <a:spLocks/>
            </p:cNvSpPr>
            <p:nvPr/>
          </p:nvSpPr>
          <p:spPr bwMode="auto">
            <a:xfrm>
              <a:off x="3667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7" name="Line 35"/>
            <p:cNvSpPr>
              <a:spLocks noChangeShapeType="1"/>
            </p:cNvSpPr>
            <p:nvPr/>
          </p:nvSpPr>
          <p:spPr bwMode="auto">
            <a:xfrm>
              <a:off x="3701" y="1799"/>
              <a:ext cx="0" cy="3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8" name="Arc 36"/>
            <p:cNvSpPr>
              <a:spLocks/>
            </p:cNvSpPr>
            <p:nvPr/>
          </p:nvSpPr>
          <p:spPr bwMode="auto">
            <a:xfrm>
              <a:off x="3769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9" name="Line 37"/>
            <p:cNvSpPr>
              <a:spLocks noChangeShapeType="1"/>
            </p:cNvSpPr>
            <p:nvPr/>
          </p:nvSpPr>
          <p:spPr bwMode="auto">
            <a:xfrm>
              <a:off x="3802" y="1669"/>
              <a:ext cx="0" cy="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0" name="Arc 38"/>
            <p:cNvSpPr>
              <a:spLocks/>
            </p:cNvSpPr>
            <p:nvPr/>
          </p:nvSpPr>
          <p:spPr bwMode="auto">
            <a:xfrm>
              <a:off x="3879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1" name="Line 39"/>
            <p:cNvSpPr>
              <a:spLocks noChangeShapeType="1"/>
            </p:cNvSpPr>
            <p:nvPr/>
          </p:nvSpPr>
          <p:spPr bwMode="auto">
            <a:xfrm>
              <a:off x="3913" y="1540"/>
              <a:ext cx="0" cy="6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2" name="Arc 40"/>
            <p:cNvSpPr>
              <a:spLocks/>
            </p:cNvSpPr>
            <p:nvPr/>
          </p:nvSpPr>
          <p:spPr bwMode="auto">
            <a:xfrm>
              <a:off x="3980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3" name="Line 41"/>
            <p:cNvSpPr>
              <a:spLocks noChangeShapeType="1"/>
            </p:cNvSpPr>
            <p:nvPr/>
          </p:nvSpPr>
          <p:spPr bwMode="auto">
            <a:xfrm>
              <a:off x="4014" y="1411"/>
              <a:ext cx="0" cy="7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4" name="Arc 42"/>
            <p:cNvSpPr>
              <a:spLocks/>
            </p:cNvSpPr>
            <p:nvPr/>
          </p:nvSpPr>
          <p:spPr bwMode="auto">
            <a:xfrm>
              <a:off x="4080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5" name="Line 43"/>
            <p:cNvSpPr>
              <a:spLocks noChangeShapeType="1"/>
            </p:cNvSpPr>
            <p:nvPr/>
          </p:nvSpPr>
          <p:spPr bwMode="auto">
            <a:xfrm>
              <a:off x="4115" y="1283"/>
              <a:ext cx="0" cy="8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6" name="Arc 44"/>
            <p:cNvSpPr>
              <a:spLocks/>
            </p:cNvSpPr>
            <p:nvPr/>
          </p:nvSpPr>
          <p:spPr bwMode="auto">
            <a:xfrm>
              <a:off x="4190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7" name="Line 45"/>
            <p:cNvSpPr>
              <a:spLocks noChangeShapeType="1"/>
            </p:cNvSpPr>
            <p:nvPr/>
          </p:nvSpPr>
          <p:spPr bwMode="auto">
            <a:xfrm>
              <a:off x="4225" y="1070"/>
              <a:ext cx="0" cy="10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8" name="Rectangle 46"/>
            <p:cNvSpPr>
              <a:spLocks noChangeArrowheads="1"/>
            </p:cNvSpPr>
            <p:nvPr/>
          </p:nvSpPr>
          <p:spPr bwMode="auto">
            <a:xfrm>
              <a:off x="3394" y="2230"/>
              <a:ext cx="918" cy="32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219" name="Rectangle 47"/>
            <p:cNvSpPr>
              <a:spLocks noChangeArrowheads="1"/>
            </p:cNvSpPr>
            <p:nvPr/>
          </p:nvSpPr>
          <p:spPr bwMode="auto">
            <a:xfrm>
              <a:off x="3631" y="2297"/>
              <a:ext cx="4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>
                  <a:solidFill>
                    <a:srgbClr val="000000"/>
                  </a:solidFill>
                </a:rPr>
                <a:t>MUX</a:t>
              </a:r>
            </a:p>
          </p:txBody>
        </p:sp>
        <p:sp>
          <p:nvSpPr>
            <p:cNvPr id="7220" name="Arc 48"/>
            <p:cNvSpPr>
              <a:spLocks/>
            </p:cNvSpPr>
            <p:nvPr/>
          </p:nvSpPr>
          <p:spPr bwMode="auto">
            <a:xfrm>
              <a:off x="4326" y="2278"/>
              <a:ext cx="87" cy="57"/>
            </a:xfrm>
            <a:custGeom>
              <a:avLst/>
              <a:gdLst>
                <a:gd name="T0" fmla="*/ 0 w 21600"/>
                <a:gd name="T1" fmla="*/ 0 h 17464"/>
                <a:gd name="T2" fmla="*/ 0 w 21600"/>
                <a:gd name="T3" fmla="*/ 0 h 17464"/>
                <a:gd name="T4" fmla="*/ 0 w 21600"/>
                <a:gd name="T5" fmla="*/ 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1" name="Line 49"/>
            <p:cNvSpPr>
              <a:spLocks noChangeShapeType="1"/>
            </p:cNvSpPr>
            <p:nvPr/>
          </p:nvSpPr>
          <p:spPr bwMode="auto">
            <a:xfrm flipH="1">
              <a:off x="4386" y="2309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2" name="Arc 50"/>
            <p:cNvSpPr>
              <a:spLocks/>
            </p:cNvSpPr>
            <p:nvPr/>
          </p:nvSpPr>
          <p:spPr bwMode="auto">
            <a:xfrm>
              <a:off x="4326" y="2361"/>
              <a:ext cx="87" cy="58"/>
            </a:xfrm>
            <a:custGeom>
              <a:avLst/>
              <a:gdLst>
                <a:gd name="T0" fmla="*/ 0 w 21600"/>
                <a:gd name="T1" fmla="*/ 0 h 17464"/>
                <a:gd name="T2" fmla="*/ 0 w 21600"/>
                <a:gd name="T3" fmla="*/ 0 h 17464"/>
                <a:gd name="T4" fmla="*/ 0 w 21600"/>
                <a:gd name="T5" fmla="*/ 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3" name="Line 51"/>
            <p:cNvSpPr>
              <a:spLocks noChangeShapeType="1"/>
            </p:cNvSpPr>
            <p:nvPr/>
          </p:nvSpPr>
          <p:spPr bwMode="auto">
            <a:xfrm flipH="1">
              <a:off x="4386" y="2393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4" name="Arc 52"/>
            <p:cNvSpPr>
              <a:spLocks/>
            </p:cNvSpPr>
            <p:nvPr/>
          </p:nvSpPr>
          <p:spPr bwMode="auto">
            <a:xfrm>
              <a:off x="4326" y="2452"/>
              <a:ext cx="87" cy="59"/>
            </a:xfrm>
            <a:custGeom>
              <a:avLst/>
              <a:gdLst>
                <a:gd name="T0" fmla="*/ 0 w 21600"/>
                <a:gd name="T1" fmla="*/ 0 h 17464"/>
                <a:gd name="T2" fmla="*/ 0 w 21600"/>
                <a:gd name="T3" fmla="*/ 0 h 17464"/>
                <a:gd name="T4" fmla="*/ 0 w 21600"/>
                <a:gd name="T5" fmla="*/ 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5" name="Line 53"/>
            <p:cNvSpPr>
              <a:spLocks noChangeShapeType="1"/>
            </p:cNvSpPr>
            <p:nvPr/>
          </p:nvSpPr>
          <p:spPr bwMode="auto">
            <a:xfrm flipH="1">
              <a:off x="4386" y="2485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Rectangle 54"/>
            <p:cNvSpPr>
              <a:spLocks noChangeArrowheads="1"/>
            </p:cNvSpPr>
            <p:nvPr/>
          </p:nvSpPr>
          <p:spPr bwMode="auto">
            <a:xfrm>
              <a:off x="4467" y="2243"/>
              <a:ext cx="18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000000"/>
                  </a:solidFill>
                </a:rPr>
                <a:t>}</a:t>
              </a:r>
            </a:p>
          </p:txBody>
        </p:sp>
        <p:sp>
          <p:nvSpPr>
            <p:cNvPr id="7227" name="Rectangle 55"/>
            <p:cNvSpPr>
              <a:spLocks noChangeArrowheads="1"/>
            </p:cNvSpPr>
            <p:nvPr/>
          </p:nvSpPr>
          <p:spPr bwMode="auto">
            <a:xfrm>
              <a:off x="4568" y="2305"/>
              <a:ext cx="3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SELB</a:t>
              </a:r>
            </a:p>
          </p:txBody>
        </p:sp>
        <p:sp>
          <p:nvSpPr>
            <p:cNvPr id="7228" name="Arc 56"/>
            <p:cNvSpPr>
              <a:spLocks/>
            </p:cNvSpPr>
            <p:nvPr/>
          </p:nvSpPr>
          <p:spPr bwMode="auto">
            <a:xfrm>
              <a:off x="2631" y="2876"/>
              <a:ext cx="70" cy="71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9" name="Line 57"/>
            <p:cNvSpPr>
              <a:spLocks noChangeShapeType="1"/>
            </p:cNvSpPr>
            <p:nvPr/>
          </p:nvSpPr>
          <p:spPr bwMode="auto">
            <a:xfrm>
              <a:off x="2665" y="2553"/>
              <a:ext cx="0" cy="33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0" name="Arc 58"/>
            <p:cNvSpPr>
              <a:spLocks/>
            </p:cNvSpPr>
            <p:nvPr/>
          </p:nvSpPr>
          <p:spPr bwMode="auto">
            <a:xfrm>
              <a:off x="3823" y="2876"/>
              <a:ext cx="71" cy="71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1" name="Line 59"/>
            <p:cNvSpPr>
              <a:spLocks noChangeShapeType="1"/>
            </p:cNvSpPr>
            <p:nvPr/>
          </p:nvSpPr>
          <p:spPr bwMode="auto">
            <a:xfrm>
              <a:off x="3858" y="2553"/>
              <a:ext cx="0" cy="33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2" name="Rectangle 60"/>
            <p:cNvSpPr>
              <a:spLocks noChangeArrowheads="1"/>
            </p:cNvSpPr>
            <p:nvPr/>
          </p:nvSpPr>
          <p:spPr bwMode="auto">
            <a:xfrm>
              <a:off x="2404" y="2958"/>
              <a:ext cx="1853" cy="54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233" name="Rectangle 61"/>
            <p:cNvSpPr>
              <a:spLocks noChangeArrowheads="1"/>
            </p:cNvSpPr>
            <p:nvPr/>
          </p:nvSpPr>
          <p:spPr bwMode="auto">
            <a:xfrm>
              <a:off x="3055" y="3116"/>
              <a:ext cx="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>
                  <a:solidFill>
                    <a:srgbClr val="000000"/>
                  </a:solidFill>
                </a:rPr>
                <a:t>ALU</a:t>
              </a:r>
            </a:p>
          </p:txBody>
        </p:sp>
        <p:sp>
          <p:nvSpPr>
            <p:cNvPr id="7234" name="Arc 62"/>
            <p:cNvSpPr>
              <a:spLocks/>
            </p:cNvSpPr>
            <p:nvPr/>
          </p:nvSpPr>
          <p:spPr bwMode="auto">
            <a:xfrm>
              <a:off x="2313" y="3047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5" name="Line 63"/>
            <p:cNvSpPr>
              <a:spLocks noChangeShapeType="1"/>
            </p:cNvSpPr>
            <p:nvPr/>
          </p:nvSpPr>
          <p:spPr bwMode="auto">
            <a:xfrm flipH="1">
              <a:off x="2224" y="3077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6" name="Arc 64"/>
            <p:cNvSpPr>
              <a:spLocks/>
            </p:cNvSpPr>
            <p:nvPr/>
          </p:nvSpPr>
          <p:spPr bwMode="auto">
            <a:xfrm>
              <a:off x="2313" y="3131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7" name="Line 65"/>
            <p:cNvSpPr>
              <a:spLocks noChangeShapeType="1"/>
            </p:cNvSpPr>
            <p:nvPr/>
          </p:nvSpPr>
          <p:spPr bwMode="auto">
            <a:xfrm flipH="1">
              <a:off x="2230" y="3160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8" name="Arc 66"/>
            <p:cNvSpPr>
              <a:spLocks/>
            </p:cNvSpPr>
            <p:nvPr/>
          </p:nvSpPr>
          <p:spPr bwMode="auto">
            <a:xfrm>
              <a:off x="2313" y="3221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9" name="Line 67"/>
            <p:cNvSpPr>
              <a:spLocks noChangeShapeType="1"/>
            </p:cNvSpPr>
            <p:nvPr/>
          </p:nvSpPr>
          <p:spPr bwMode="auto">
            <a:xfrm flipH="1">
              <a:off x="2230" y="3252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0" name="Arc 68"/>
            <p:cNvSpPr>
              <a:spLocks/>
            </p:cNvSpPr>
            <p:nvPr/>
          </p:nvSpPr>
          <p:spPr bwMode="auto">
            <a:xfrm>
              <a:off x="2313" y="3305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1" name="Line 69"/>
            <p:cNvSpPr>
              <a:spLocks noChangeShapeType="1"/>
            </p:cNvSpPr>
            <p:nvPr/>
          </p:nvSpPr>
          <p:spPr bwMode="auto">
            <a:xfrm flipH="1">
              <a:off x="2230" y="3330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2" name="Arc 70"/>
            <p:cNvSpPr>
              <a:spLocks/>
            </p:cNvSpPr>
            <p:nvPr/>
          </p:nvSpPr>
          <p:spPr bwMode="auto">
            <a:xfrm>
              <a:off x="2313" y="3396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3" name="Line 71"/>
            <p:cNvSpPr>
              <a:spLocks noChangeShapeType="1"/>
            </p:cNvSpPr>
            <p:nvPr/>
          </p:nvSpPr>
          <p:spPr bwMode="auto">
            <a:xfrm flipH="1">
              <a:off x="2230" y="3426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4" name="Rectangle 72"/>
            <p:cNvSpPr>
              <a:spLocks noChangeArrowheads="1"/>
            </p:cNvSpPr>
            <p:nvPr/>
          </p:nvSpPr>
          <p:spPr bwMode="auto">
            <a:xfrm>
              <a:off x="1806" y="3161"/>
              <a:ext cx="2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OPR</a:t>
              </a:r>
            </a:p>
          </p:txBody>
        </p:sp>
        <p:sp>
          <p:nvSpPr>
            <p:cNvPr id="7245" name="Arc 73"/>
            <p:cNvSpPr>
              <a:spLocks/>
            </p:cNvSpPr>
            <p:nvPr/>
          </p:nvSpPr>
          <p:spPr bwMode="auto">
            <a:xfrm>
              <a:off x="2148" y="3088"/>
              <a:ext cx="41" cy="167"/>
            </a:xfrm>
            <a:custGeom>
              <a:avLst/>
              <a:gdLst>
                <a:gd name="T0" fmla="*/ 0 w 21600"/>
                <a:gd name="T1" fmla="*/ 0 h 21592"/>
                <a:gd name="T2" fmla="*/ 0 w 21600"/>
                <a:gd name="T3" fmla="*/ 0 h 21592"/>
                <a:gd name="T4" fmla="*/ 0 w 21600"/>
                <a:gd name="T5" fmla="*/ 0 h 215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2"/>
                <a:gd name="T11" fmla="*/ 21600 w 21600"/>
                <a:gd name="T12" fmla="*/ 21592 h 21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2" fill="none" extrusionOk="0">
                  <a:moveTo>
                    <a:pt x="0" y="21592"/>
                  </a:moveTo>
                  <a:cubicBezTo>
                    <a:pt x="0" y="9896"/>
                    <a:pt x="9308" y="325"/>
                    <a:pt x="21000" y="0"/>
                  </a:cubicBezTo>
                </a:path>
                <a:path w="21600" h="21592" stroke="0" extrusionOk="0">
                  <a:moveTo>
                    <a:pt x="0" y="21592"/>
                  </a:moveTo>
                  <a:cubicBezTo>
                    <a:pt x="0" y="9896"/>
                    <a:pt x="9308" y="325"/>
                    <a:pt x="21000" y="0"/>
                  </a:cubicBezTo>
                  <a:lnTo>
                    <a:pt x="21600" y="21592"/>
                  </a:lnTo>
                  <a:lnTo>
                    <a:pt x="0" y="21592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6" name="Arc 74"/>
            <p:cNvSpPr>
              <a:spLocks/>
            </p:cNvSpPr>
            <p:nvPr/>
          </p:nvSpPr>
          <p:spPr bwMode="auto">
            <a:xfrm>
              <a:off x="2148" y="3254"/>
              <a:ext cx="41" cy="16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7" name="Rectangle 75"/>
            <p:cNvSpPr>
              <a:spLocks noChangeArrowheads="1"/>
            </p:cNvSpPr>
            <p:nvPr/>
          </p:nvSpPr>
          <p:spPr bwMode="auto">
            <a:xfrm>
              <a:off x="1449" y="1228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R1</a:t>
              </a:r>
            </a:p>
          </p:txBody>
        </p:sp>
        <p:sp>
          <p:nvSpPr>
            <p:cNvPr id="7248" name="Line 77"/>
            <p:cNvSpPr>
              <a:spLocks noChangeShapeType="1"/>
            </p:cNvSpPr>
            <p:nvPr/>
          </p:nvSpPr>
          <p:spPr bwMode="auto">
            <a:xfrm>
              <a:off x="1890" y="1279"/>
              <a:ext cx="222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9" name="Line 78"/>
            <p:cNvSpPr>
              <a:spLocks noChangeShapeType="1"/>
            </p:cNvSpPr>
            <p:nvPr/>
          </p:nvSpPr>
          <p:spPr bwMode="auto">
            <a:xfrm>
              <a:off x="1890" y="1407"/>
              <a:ext cx="21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0" name="Line 79"/>
            <p:cNvSpPr>
              <a:spLocks noChangeShapeType="1"/>
            </p:cNvSpPr>
            <p:nvPr/>
          </p:nvSpPr>
          <p:spPr bwMode="auto">
            <a:xfrm>
              <a:off x="1890" y="1537"/>
              <a:ext cx="20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1" name="Line 80"/>
            <p:cNvSpPr>
              <a:spLocks noChangeShapeType="1"/>
            </p:cNvSpPr>
            <p:nvPr/>
          </p:nvSpPr>
          <p:spPr bwMode="auto">
            <a:xfrm>
              <a:off x="1890" y="1666"/>
              <a:ext cx="1903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2" name="Line 81"/>
            <p:cNvSpPr>
              <a:spLocks noChangeShapeType="1"/>
            </p:cNvSpPr>
            <p:nvPr/>
          </p:nvSpPr>
          <p:spPr bwMode="auto">
            <a:xfrm>
              <a:off x="1890" y="1795"/>
              <a:ext cx="180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3" name="Line 82"/>
            <p:cNvSpPr>
              <a:spLocks noChangeShapeType="1"/>
            </p:cNvSpPr>
            <p:nvPr/>
          </p:nvSpPr>
          <p:spPr bwMode="auto">
            <a:xfrm>
              <a:off x="1890" y="1923"/>
              <a:ext cx="172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4" name="Line 83"/>
            <p:cNvSpPr>
              <a:spLocks noChangeShapeType="1"/>
            </p:cNvSpPr>
            <p:nvPr/>
          </p:nvSpPr>
          <p:spPr bwMode="auto">
            <a:xfrm>
              <a:off x="1890" y="2052"/>
              <a:ext cx="15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5" name="Rectangle 84"/>
            <p:cNvSpPr>
              <a:spLocks noChangeArrowheads="1"/>
            </p:cNvSpPr>
            <p:nvPr/>
          </p:nvSpPr>
          <p:spPr bwMode="auto">
            <a:xfrm>
              <a:off x="1449" y="1357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R2</a:t>
              </a:r>
            </a:p>
          </p:txBody>
        </p:sp>
        <p:sp>
          <p:nvSpPr>
            <p:cNvPr id="7256" name="Rectangle 86"/>
            <p:cNvSpPr>
              <a:spLocks noChangeArrowheads="1"/>
            </p:cNvSpPr>
            <p:nvPr/>
          </p:nvSpPr>
          <p:spPr bwMode="auto">
            <a:xfrm>
              <a:off x="1449" y="1485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R3</a:t>
              </a:r>
            </a:p>
          </p:txBody>
        </p:sp>
        <p:sp>
          <p:nvSpPr>
            <p:cNvPr id="7257" name="Rectangle 88"/>
            <p:cNvSpPr>
              <a:spLocks noChangeArrowheads="1"/>
            </p:cNvSpPr>
            <p:nvPr/>
          </p:nvSpPr>
          <p:spPr bwMode="auto">
            <a:xfrm>
              <a:off x="1449" y="1614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R4</a:t>
              </a:r>
            </a:p>
          </p:txBody>
        </p:sp>
        <p:sp>
          <p:nvSpPr>
            <p:cNvPr id="7258" name="Rectangle 90"/>
            <p:cNvSpPr>
              <a:spLocks noChangeArrowheads="1"/>
            </p:cNvSpPr>
            <p:nvPr/>
          </p:nvSpPr>
          <p:spPr bwMode="auto">
            <a:xfrm>
              <a:off x="1449" y="1743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R5</a:t>
              </a:r>
            </a:p>
          </p:txBody>
        </p:sp>
        <p:sp>
          <p:nvSpPr>
            <p:cNvPr id="7259" name="Rectangle 92"/>
            <p:cNvSpPr>
              <a:spLocks noChangeArrowheads="1"/>
            </p:cNvSpPr>
            <p:nvPr/>
          </p:nvSpPr>
          <p:spPr bwMode="auto">
            <a:xfrm>
              <a:off x="1449" y="1873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R6</a:t>
              </a:r>
            </a:p>
          </p:txBody>
        </p:sp>
        <p:sp>
          <p:nvSpPr>
            <p:cNvPr id="7260" name="Rectangle 94"/>
            <p:cNvSpPr>
              <a:spLocks noChangeArrowheads="1"/>
            </p:cNvSpPr>
            <p:nvPr/>
          </p:nvSpPr>
          <p:spPr bwMode="auto">
            <a:xfrm>
              <a:off x="1449" y="2001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R7</a:t>
              </a:r>
            </a:p>
          </p:txBody>
        </p:sp>
        <p:sp>
          <p:nvSpPr>
            <p:cNvPr id="7261" name="Line 96"/>
            <p:cNvSpPr>
              <a:spLocks noChangeShapeType="1"/>
            </p:cNvSpPr>
            <p:nvPr/>
          </p:nvSpPr>
          <p:spPr bwMode="auto">
            <a:xfrm>
              <a:off x="3027" y="1150"/>
              <a:ext cx="119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2" name="Rectangle 97"/>
            <p:cNvSpPr>
              <a:spLocks noChangeArrowheads="1"/>
            </p:cNvSpPr>
            <p:nvPr/>
          </p:nvSpPr>
          <p:spPr bwMode="auto">
            <a:xfrm>
              <a:off x="4055" y="887"/>
              <a:ext cx="3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Input</a:t>
              </a:r>
            </a:p>
          </p:txBody>
        </p:sp>
        <p:sp>
          <p:nvSpPr>
            <p:cNvPr id="7263" name="Line 98"/>
            <p:cNvSpPr>
              <a:spLocks noChangeShapeType="1"/>
            </p:cNvSpPr>
            <p:nvPr/>
          </p:nvSpPr>
          <p:spPr bwMode="auto">
            <a:xfrm>
              <a:off x="1574" y="2140"/>
              <a:ext cx="0" cy="4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4" name="Rectangle 99"/>
            <p:cNvSpPr>
              <a:spLocks noChangeArrowheads="1"/>
            </p:cNvSpPr>
            <p:nvPr/>
          </p:nvSpPr>
          <p:spPr bwMode="auto">
            <a:xfrm>
              <a:off x="1393" y="2608"/>
              <a:ext cx="303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 x 8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7265" name="Rectangle 100"/>
            <p:cNvSpPr>
              <a:spLocks noChangeArrowheads="1"/>
            </p:cNvSpPr>
            <p:nvPr/>
          </p:nvSpPr>
          <p:spPr bwMode="auto">
            <a:xfrm>
              <a:off x="1313" y="2713"/>
              <a:ext cx="4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decoder</a:t>
              </a:r>
            </a:p>
          </p:txBody>
        </p:sp>
        <p:sp>
          <p:nvSpPr>
            <p:cNvPr id="7266" name="Rectangle 101"/>
            <p:cNvSpPr>
              <a:spLocks noChangeArrowheads="1"/>
            </p:cNvSpPr>
            <p:nvPr/>
          </p:nvSpPr>
          <p:spPr bwMode="auto">
            <a:xfrm>
              <a:off x="1266" y="2617"/>
              <a:ext cx="606" cy="24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267" name="Arc 102"/>
            <p:cNvSpPr>
              <a:spLocks/>
            </p:cNvSpPr>
            <p:nvPr/>
          </p:nvSpPr>
          <p:spPr bwMode="auto">
            <a:xfrm>
              <a:off x="1429" y="2864"/>
              <a:ext cx="70" cy="71"/>
            </a:xfrm>
            <a:custGeom>
              <a:avLst/>
              <a:gdLst>
                <a:gd name="T0" fmla="*/ 0 w 17464"/>
                <a:gd name="T1" fmla="*/ 0 h 21600"/>
                <a:gd name="T2" fmla="*/ 0 w 17464"/>
                <a:gd name="T3" fmla="*/ 0 h 21600"/>
                <a:gd name="T4" fmla="*/ 0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8" name="Line 103"/>
            <p:cNvSpPr>
              <a:spLocks noChangeShapeType="1"/>
            </p:cNvSpPr>
            <p:nvPr/>
          </p:nvSpPr>
          <p:spPr bwMode="auto">
            <a:xfrm>
              <a:off x="1464" y="2928"/>
              <a:ext cx="0" cy="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9" name="Arc 104"/>
            <p:cNvSpPr>
              <a:spLocks/>
            </p:cNvSpPr>
            <p:nvPr/>
          </p:nvSpPr>
          <p:spPr bwMode="auto">
            <a:xfrm>
              <a:off x="1539" y="2864"/>
              <a:ext cx="70" cy="71"/>
            </a:xfrm>
            <a:custGeom>
              <a:avLst/>
              <a:gdLst>
                <a:gd name="T0" fmla="*/ 0 w 17464"/>
                <a:gd name="T1" fmla="*/ 0 h 21600"/>
                <a:gd name="T2" fmla="*/ 0 w 17464"/>
                <a:gd name="T3" fmla="*/ 0 h 21600"/>
                <a:gd name="T4" fmla="*/ 0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" name="Line 105"/>
            <p:cNvSpPr>
              <a:spLocks noChangeShapeType="1"/>
            </p:cNvSpPr>
            <p:nvPr/>
          </p:nvSpPr>
          <p:spPr bwMode="auto">
            <a:xfrm>
              <a:off x="1574" y="2924"/>
              <a:ext cx="0" cy="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1" name="Arc 106"/>
            <p:cNvSpPr>
              <a:spLocks/>
            </p:cNvSpPr>
            <p:nvPr/>
          </p:nvSpPr>
          <p:spPr bwMode="auto">
            <a:xfrm>
              <a:off x="1640" y="2864"/>
              <a:ext cx="70" cy="71"/>
            </a:xfrm>
            <a:custGeom>
              <a:avLst/>
              <a:gdLst>
                <a:gd name="T0" fmla="*/ 0 w 17464"/>
                <a:gd name="T1" fmla="*/ 0 h 21600"/>
                <a:gd name="T2" fmla="*/ 0 w 17464"/>
                <a:gd name="T3" fmla="*/ 0 h 21600"/>
                <a:gd name="T4" fmla="*/ 0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2" name="Line 107"/>
            <p:cNvSpPr>
              <a:spLocks noChangeShapeType="1"/>
            </p:cNvSpPr>
            <p:nvPr/>
          </p:nvSpPr>
          <p:spPr bwMode="auto">
            <a:xfrm>
              <a:off x="1674" y="2920"/>
              <a:ext cx="0" cy="6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" name="Rectangle 108"/>
            <p:cNvSpPr>
              <a:spLocks noChangeArrowheads="1"/>
            </p:cNvSpPr>
            <p:nvPr/>
          </p:nvSpPr>
          <p:spPr bwMode="auto">
            <a:xfrm>
              <a:off x="1395" y="3047"/>
              <a:ext cx="31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SELD</a:t>
              </a:r>
            </a:p>
          </p:txBody>
        </p:sp>
        <p:pic>
          <p:nvPicPr>
            <p:cNvPr id="7274" name="Picture 109"/>
            <p:cNvPicPr>
              <a:picLocks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9" y="2994"/>
              <a:ext cx="233" cy="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5" name="Rectangle 110"/>
            <p:cNvSpPr>
              <a:spLocks noChangeArrowheads="1"/>
            </p:cNvSpPr>
            <p:nvPr/>
          </p:nvSpPr>
          <p:spPr bwMode="auto">
            <a:xfrm>
              <a:off x="1136" y="2149"/>
              <a:ext cx="30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Load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7276" name="Rectangle 111"/>
            <p:cNvSpPr>
              <a:spLocks noChangeArrowheads="1"/>
            </p:cNvSpPr>
            <p:nvPr/>
          </p:nvSpPr>
          <p:spPr bwMode="auto">
            <a:xfrm>
              <a:off x="1063" y="2230"/>
              <a:ext cx="4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(7 lines)</a:t>
              </a:r>
            </a:p>
          </p:txBody>
        </p:sp>
        <p:sp>
          <p:nvSpPr>
            <p:cNvPr id="7277" name="Arc 112"/>
            <p:cNvSpPr>
              <a:spLocks/>
            </p:cNvSpPr>
            <p:nvPr/>
          </p:nvSpPr>
          <p:spPr bwMode="auto">
            <a:xfrm>
              <a:off x="1175" y="1250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8" name="Line 113"/>
            <p:cNvSpPr>
              <a:spLocks noChangeShapeType="1"/>
            </p:cNvSpPr>
            <p:nvPr/>
          </p:nvSpPr>
          <p:spPr bwMode="auto">
            <a:xfrm flipH="1">
              <a:off x="1037" y="1279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9" name="Arc 114"/>
            <p:cNvSpPr>
              <a:spLocks/>
            </p:cNvSpPr>
            <p:nvPr/>
          </p:nvSpPr>
          <p:spPr bwMode="auto">
            <a:xfrm>
              <a:off x="1175" y="1380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0" name="Line 115"/>
            <p:cNvSpPr>
              <a:spLocks noChangeShapeType="1"/>
            </p:cNvSpPr>
            <p:nvPr/>
          </p:nvSpPr>
          <p:spPr bwMode="auto">
            <a:xfrm flipH="1">
              <a:off x="1037" y="1407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1" name="Arc 116"/>
            <p:cNvSpPr>
              <a:spLocks/>
            </p:cNvSpPr>
            <p:nvPr/>
          </p:nvSpPr>
          <p:spPr bwMode="auto">
            <a:xfrm>
              <a:off x="1175" y="1509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2" name="Line 117"/>
            <p:cNvSpPr>
              <a:spLocks noChangeShapeType="1"/>
            </p:cNvSpPr>
            <p:nvPr/>
          </p:nvSpPr>
          <p:spPr bwMode="auto">
            <a:xfrm flipH="1">
              <a:off x="1037" y="1537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3" name="Arc 118"/>
            <p:cNvSpPr>
              <a:spLocks/>
            </p:cNvSpPr>
            <p:nvPr/>
          </p:nvSpPr>
          <p:spPr bwMode="auto">
            <a:xfrm>
              <a:off x="1175" y="1633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4" name="Line 119"/>
            <p:cNvSpPr>
              <a:spLocks noChangeShapeType="1"/>
            </p:cNvSpPr>
            <p:nvPr/>
          </p:nvSpPr>
          <p:spPr bwMode="auto">
            <a:xfrm flipH="1">
              <a:off x="1037" y="1666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5" name="Arc 120"/>
            <p:cNvSpPr>
              <a:spLocks/>
            </p:cNvSpPr>
            <p:nvPr/>
          </p:nvSpPr>
          <p:spPr bwMode="auto">
            <a:xfrm>
              <a:off x="1175" y="1766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6" name="Line 121"/>
            <p:cNvSpPr>
              <a:spLocks noChangeShapeType="1"/>
            </p:cNvSpPr>
            <p:nvPr/>
          </p:nvSpPr>
          <p:spPr bwMode="auto">
            <a:xfrm flipH="1">
              <a:off x="1037" y="1795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7" name="Arc 122"/>
            <p:cNvSpPr>
              <a:spLocks/>
            </p:cNvSpPr>
            <p:nvPr/>
          </p:nvSpPr>
          <p:spPr bwMode="auto">
            <a:xfrm>
              <a:off x="1175" y="1895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8" name="Line 123"/>
            <p:cNvSpPr>
              <a:spLocks noChangeShapeType="1"/>
            </p:cNvSpPr>
            <p:nvPr/>
          </p:nvSpPr>
          <p:spPr bwMode="auto">
            <a:xfrm flipH="1">
              <a:off x="1037" y="1923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9" name="Arc 124"/>
            <p:cNvSpPr>
              <a:spLocks/>
            </p:cNvSpPr>
            <p:nvPr/>
          </p:nvSpPr>
          <p:spPr bwMode="auto">
            <a:xfrm>
              <a:off x="1175" y="2023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0" name="Line 125"/>
            <p:cNvSpPr>
              <a:spLocks noChangeShapeType="1"/>
            </p:cNvSpPr>
            <p:nvPr/>
          </p:nvSpPr>
          <p:spPr bwMode="auto">
            <a:xfrm flipH="1">
              <a:off x="1037" y="2052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1" name="Line 126"/>
            <p:cNvSpPr>
              <a:spLocks noChangeShapeType="1"/>
            </p:cNvSpPr>
            <p:nvPr/>
          </p:nvSpPr>
          <p:spPr bwMode="auto">
            <a:xfrm>
              <a:off x="1046" y="1279"/>
              <a:ext cx="0" cy="23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2" name="Arc 127"/>
            <p:cNvSpPr>
              <a:spLocks/>
            </p:cNvSpPr>
            <p:nvPr/>
          </p:nvSpPr>
          <p:spPr bwMode="auto">
            <a:xfrm>
              <a:off x="3254" y="3740"/>
              <a:ext cx="71" cy="73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3" name="Line 128"/>
            <p:cNvSpPr>
              <a:spLocks noChangeShapeType="1"/>
            </p:cNvSpPr>
            <p:nvPr/>
          </p:nvSpPr>
          <p:spPr bwMode="auto">
            <a:xfrm>
              <a:off x="3289" y="3504"/>
              <a:ext cx="0" cy="24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4" name="Line 129"/>
            <p:cNvSpPr>
              <a:spLocks noChangeShapeType="1"/>
            </p:cNvSpPr>
            <p:nvPr/>
          </p:nvSpPr>
          <p:spPr bwMode="auto">
            <a:xfrm flipH="1">
              <a:off x="1037" y="3644"/>
              <a:ext cx="225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5" name="Rectangle 130"/>
            <p:cNvSpPr>
              <a:spLocks noChangeArrowheads="1"/>
            </p:cNvSpPr>
            <p:nvPr/>
          </p:nvSpPr>
          <p:spPr bwMode="auto">
            <a:xfrm>
              <a:off x="3321" y="3684"/>
              <a:ext cx="40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Output</a:t>
              </a:r>
            </a:p>
          </p:txBody>
        </p:sp>
        <p:sp>
          <p:nvSpPr>
            <p:cNvPr id="7296" name="Rectangle 131"/>
            <p:cNvSpPr>
              <a:spLocks noChangeArrowheads="1"/>
            </p:cNvSpPr>
            <p:nvPr/>
          </p:nvSpPr>
          <p:spPr bwMode="auto">
            <a:xfrm>
              <a:off x="2640" y="2653"/>
              <a:ext cx="33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A bus</a:t>
              </a:r>
            </a:p>
          </p:txBody>
        </p:sp>
        <p:sp>
          <p:nvSpPr>
            <p:cNvPr id="7297" name="Rectangle 132"/>
            <p:cNvSpPr>
              <a:spLocks noChangeArrowheads="1"/>
            </p:cNvSpPr>
            <p:nvPr/>
          </p:nvSpPr>
          <p:spPr bwMode="auto">
            <a:xfrm>
              <a:off x="3843" y="2653"/>
              <a:ext cx="3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B bus</a:t>
              </a:r>
            </a:p>
          </p:txBody>
        </p:sp>
        <p:sp>
          <p:nvSpPr>
            <p:cNvPr id="7298" name="Arc 133"/>
            <p:cNvSpPr>
              <a:spLocks/>
            </p:cNvSpPr>
            <p:nvPr/>
          </p:nvSpPr>
          <p:spPr bwMode="auto">
            <a:xfrm>
              <a:off x="1741" y="1155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9" name="Line 134"/>
            <p:cNvSpPr>
              <a:spLocks noChangeShapeType="1"/>
            </p:cNvSpPr>
            <p:nvPr/>
          </p:nvSpPr>
          <p:spPr bwMode="auto">
            <a:xfrm flipV="1">
              <a:off x="1775" y="1055"/>
              <a:ext cx="0" cy="12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0" name="Rectangle 135"/>
            <p:cNvSpPr>
              <a:spLocks noChangeArrowheads="1"/>
            </p:cNvSpPr>
            <p:nvPr/>
          </p:nvSpPr>
          <p:spPr bwMode="auto">
            <a:xfrm>
              <a:off x="1605" y="932"/>
              <a:ext cx="33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Clock</a:t>
              </a:r>
            </a:p>
          </p:txBody>
        </p:sp>
        <p:sp>
          <p:nvSpPr>
            <p:cNvPr id="7301" name="Rectangle 137"/>
            <p:cNvSpPr>
              <a:spLocks noChangeArrowheads="1"/>
            </p:cNvSpPr>
            <p:nvPr/>
          </p:nvSpPr>
          <p:spPr bwMode="auto">
            <a:xfrm>
              <a:off x="1261" y="1228"/>
              <a:ext cx="633" cy="91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302" name="Line 138"/>
            <p:cNvSpPr>
              <a:spLocks noChangeShapeType="1"/>
            </p:cNvSpPr>
            <p:nvPr/>
          </p:nvSpPr>
          <p:spPr bwMode="auto">
            <a:xfrm>
              <a:off x="1266" y="1347"/>
              <a:ext cx="628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3" name="Line 139"/>
            <p:cNvSpPr>
              <a:spLocks noChangeShapeType="1"/>
            </p:cNvSpPr>
            <p:nvPr/>
          </p:nvSpPr>
          <p:spPr bwMode="auto">
            <a:xfrm>
              <a:off x="1256" y="1485"/>
              <a:ext cx="6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4" name="Line 140"/>
            <p:cNvSpPr>
              <a:spLocks noChangeShapeType="1"/>
            </p:cNvSpPr>
            <p:nvPr/>
          </p:nvSpPr>
          <p:spPr bwMode="auto">
            <a:xfrm>
              <a:off x="1261" y="1618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5" name="Line 141"/>
            <p:cNvSpPr>
              <a:spLocks noChangeShapeType="1"/>
            </p:cNvSpPr>
            <p:nvPr/>
          </p:nvSpPr>
          <p:spPr bwMode="auto">
            <a:xfrm>
              <a:off x="1261" y="1751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6" name="Line 142"/>
            <p:cNvSpPr>
              <a:spLocks noChangeShapeType="1"/>
            </p:cNvSpPr>
            <p:nvPr/>
          </p:nvSpPr>
          <p:spPr bwMode="auto">
            <a:xfrm>
              <a:off x="1261" y="1884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7" name="Line 143"/>
            <p:cNvSpPr>
              <a:spLocks noChangeShapeType="1"/>
            </p:cNvSpPr>
            <p:nvPr/>
          </p:nvSpPr>
          <p:spPr bwMode="auto">
            <a:xfrm>
              <a:off x="1261" y="2016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07398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A7046EE-15A5-432B-8DD9-43A51DC8D14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Operation of ControlUnit</a:t>
            </a:r>
          </a:p>
        </p:txBody>
      </p:sp>
      <p:sp>
        <p:nvSpPr>
          <p:cNvPr id="8199" name="Rectangle 3"/>
          <p:cNvSpPr>
            <a:spLocks noChangeArrowheads="1"/>
          </p:cNvSpPr>
          <p:nvPr/>
        </p:nvSpPr>
        <p:spPr bwMode="auto">
          <a:xfrm>
            <a:off x="1874838" y="1154114"/>
            <a:ext cx="596265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The control unit </a:t>
            </a:r>
          </a:p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Directs the information flow through ALU by </a:t>
            </a:r>
          </a:p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- Selecting various </a:t>
            </a:r>
            <a:r>
              <a:rPr lang="en-US" altLang="ko-KR" sz="1800" b="1" i="1">
                <a:latin typeface="Arial" panose="020B0604020202020204" pitchFamily="34" charset="0"/>
                <a:cs typeface="Arial" panose="020B0604020202020204" pitchFamily="34" charset="0"/>
              </a:rPr>
              <a:t>Components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in the system</a:t>
            </a:r>
          </a:p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- Selecting the </a:t>
            </a:r>
            <a:r>
              <a:rPr lang="en-US" altLang="ko-KR" sz="1800" b="1" i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of ALU</a:t>
            </a:r>
          </a:p>
        </p:txBody>
      </p:sp>
      <p:sp>
        <p:nvSpPr>
          <p:cNvPr id="8200" name="Rectangle 4"/>
          <p:cNvSpPr>
            <a:spLocks noChangeArrowheads="1"/>
          </p:cNvSpPr>
          <p:nvPr/>
        </p:nvSpPr>
        <p:spPr bwMode="auto">
          <a:xfrm>
            <a:off x="1874838" y="2432050"/>
            <a:ext cx="2786062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Example:  R1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R2 + R3</a:t>
            </a:r>
          </a:p>
        </p:txBody>
      </p:sp>
      <p:sp>
        <p:nvSpPr>
          <p:cNvPr id="8201" name="Rectangle 5"/>
          <p:cNvSpPr>
            <a:spLocks noChangeArrowheads="1"/>
          </p:cNvSpPr>
          <p:nvPr/>
        </p:nvSpPr>
        <p:spPr bwMode="auto">
          <a:xfrm>
            <a:off x="2376489" y="2697163"/>
            <a:ext cx="658812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165100" indent="-1651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[1] MUX A selector (SELA):  BUS A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R2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[2] MUX B selector (SELB):  BUS B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R3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[3] ALU operation selector (OPR): ALU to ADD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[4] Decoder destination selector (SELD): R1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Out Bus</a:t>
            </a:r>
          </a:p>
        </p:txBody>
      </p:sp>
      <p:sp>
        <p:nvSpPr>
          <p:cNvPr id="8202" name="Rectangle 6"/>
          <p:cNvSpPr>
            <a:spLocks noChangeArrowheads="1"/>
          </p:cNvSpPr>
          <p:nvPr/>
        </p:nvSpPr>
        <p:spPr bwMode="auto">
          <a:xfrm>
            <a:off x="1874838" y="4117975"/>
            <a:ext cx="1598612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Control Word</a:t>
            </a:r>
          </a:p>
        </p:txBody>
      </p:sp>
      <p:sp>
        <p:nvSpPr>
          <p:cNvPr id="8203" name="Rectangle 7"/>
          <p:cNvSpPr>
            <a:spLocks noChangeArrowheads="1"/>
          </p:cNvSpPr>
          <p:nvPr/>
        </p:nvSpPr>
        <p:spPr bwMode="auto">
          <a:xfrm>
            <a:off x="1874839" y="4618038"/>
            <a:ext cx="4103687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Encoding of register selection fields</a:t>
            </a:r>
          </a:p>
        </p:txBody>
      </p:sp>
      <p:sp>
        <p:nvSpPr>
          <p:cNvPr id="8204" name="Rectangle 8"/>
          <p:cNvSpPr>
            <a:spLocks noChangeArrowheads="1"/>
          </p:cNvSpPr>
          <p:nvPr/>
        </p:nvSpPr>
        <p:spPr bwMode="auto">
          <a:xfrm>
            <a:off x="6019801" y="4572000"/>
            <a:ext cx="3548063" cy="193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205" name="Group 30"/>
          <p:cNvGrpSpPr>
            <a:grpSpLocks/>
          </p:cNvGrpSpPr>
          <p:nvPr/>
        </p:nvGrpSpPr>
        <p:grpSpPr bwMode="auto">
          <a:xfrm>
            <a:off x="6096000" y="3990295"/>
            <a:ext cx="3605212" cy="496887"/>
            <a:chOff x="1539" y="2385"/>
            <a:chExt cx="2271" cy="313"/>
          </a:xfrm>
        </p:grpSpPr>
        <p:sp>
          <p:nvSpPr>
            <p:cNvPr id="8208" name="Rectangle 12"/>
            <p:cNvSpPr>
              <a:spLocks noChangeArrowheads="1"/>
            </p:cNvSpPr>
            <p:nvPr/>
          </p:nvSpPr>
          <p:spPr bwMode="auto">
            <a:xfrm>
              <a:off x="1539" y="2525"/>
              <a:ext cx="3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SELA</a:t>
              </a:r>
            </a:p>
          </p:txBody>
        </p:sp>
        <p:sp>
          <p:nvSpPr>
            <p:cNvPr id="8209" name="Rectangle 14"/>
            <p:cNvSpPr>
              <a:spLocks noChangeArrowheads="1"/>
            </p:cNvSpPr>
            <p:nvPr/>
          </p:nvSpPr>
          <p:spPr bwMode="auto">
            <a:xfrm>
              <a:off x="2087" y="2525"/>
              <a:ext cx="3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SELB</a:t>
              </a:r>
            </a:p>
          </p:txBody>
        </p:sp>
        <p:sp>
          <p:nvSpPr>
            <p:cNvPr id="8210" name="Rectangle 16"/>
            <p:cNvSpPr>
              <a:spLocks noChangeArrowheads="1"/>
            </p:cNvSpPr>
            <p:nvPr/>
          </p:nvSpPr>
          <p:spPr bwMode="auto">
            <a:xfrm>
              <a:off x="2625" y="2525"/>
              <a:ext cx="3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SELD</a:t>
              </a:r>
            </a:p>
          </p:txBody>
        </p:sp>
        <p:sp>
          <p:nvSpPr>
            <p:cNvPr id="8211" name="Rectangle 18"/>
            <p:cNvSpPr>
              <a:spLocks noChangeArrowheads="1"/>
            </p:cNvSpPr>
            <p:nvPr/>
          </p:nvSpPr>
          <p:spPr bwMode="auto">
            <a:xfrm>
              <a:off x="3289" y="2525"/>
              <a:ext cx="32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OPR</a:t>
              </a:r>
            </a:p>
          </p:txBody>
        </p:sp>
        <p:sp>
          <p:nvSpPr>
            <p:cNvPr id="8212" name="Rectangle 19"/>
            <p:cNvSpPr>
              <a:spLocks noChangeArrowheads="1"/>
            </p:cNvSpPr>
            <p:nvPr/>
          </p:nvSpPr>
          <p:spPr bwMode="auto">
            <a:xfrm>
              <a:off x="1702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213" name="Rectangle 20"/>
            <p:cNvSpPr>
              <a:spLocks noChangeArrowheads="1"/>
            </p:cNvSpPr>
            <p:nvPr/>
          </p:nvSpPr>
          <p:spPr bwMode="auto">
            <a:xfrm>
              <a:off x="2250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214" name="Rectangle 21"/>
            <p:cNvSpPr>
              <a:spLocks noChangeArrowheads="1"/>
            </p:cNvSpPr>
            <p:nvPr/>
          </p:nvSpPr>
          <p:spPr bwMode="auto">
            <a:xfrm>
              <a:off x="2798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215" name="Rectangle 22"/>
            <p:cNvSpPr>
              <a:spLocks noChangeArrowheads="1"/>
            </p:cNvSpPr>
            <p:nvPr/>
          </p:nvSpPr>
          <p:spPr bwMode="auto">
            <a:xfrm>
              <a:off x="3395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8216" name="Rectangle 26"/>
            <p:cNvSpPr>
              <a:spLocks noChangeArrowheads="1"/>
            </p:cNvSpPr>
            <p:nvPr/>
          </p:nvSpPr>
          <p:spPr bwMode="auto">
            <a:xfrm>
              <a:off x="1542" y="2520"/>
              <a:ext cx="2268" cy="15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7" name="Line 27"/>
            <p:cNvSpPr>
              <a:spLocks noChangeShapeType="1"/>
            </p:cNvSpPr>
            <p:nvPr/>
          </p:nvSpPr>
          <p:spPr bwMode="auto">
            <a:xfrm>
              <a:off x="2004" y="252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8" name="Line 28"/>
            <p:cNvSpPr>
              <a:spLocks noChangeShapeType="1"/>
            </p:cNvSpPr>
            <p:nvPr/>
          </p:nvSpPr>
          <p:spPr bwMode="auto">
            <a:xfrm>
              <a:off x="2532" y="2526"/>
              <a:ext cx="0" cy="1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9" name="Line 29"/>
            <p:cNvSpPr>
              <a:spLocks noChangeShapeType="1"/>
            </p:cNvSpPr>
            <p:nvPr/>
          </p:nvSpPr>
          <p:spPr bwMode="auto">
            <a:xfrm>
              <a:off x="3138" y="253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06" name="Rectangle 23"/>
          <p:cNvSpPr>
            <a:spLocks noChangeArrowheads="1"/>
          </p:cNvSpPr>
          <p:nvPr/>
        </p:nvSpPr>
        <p:spPr bwMode="auto">
          <a:xfrm>
            <a:off x="5668964" y="4575176"/>
            <a:ext cx="3660775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Binary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Code	SELA	SELB	SELD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000	Input	Input	None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001	  R1	  R1	  R1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010	  R2	  R2	  R2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011	  R3	  R3	  R3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100	  R4	  R4	  R4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101	  R5	  R5	  R5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110	  R6	  R6	  R6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111	  R7	  R7	  R7</a:t>
            </a:r>
          </a:p>
        </p:txBody>
      </p:sp>
      <p:cxnSp>
        <p:nvCxnSpPr>
          <p:cNvPr id="165" name="Straight Connector 164"/>
          <p:cNvCxnSpPr/>
          <p:nvPr/>
        </p:nvCxnSpPr>
        <p:spPr>
          <a:xfrm>
            <a:off x="6019800" y="4951414"/>
            <a:ext cx="35814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2944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36CBFE5-9431-4774-AECD-2637F4C4456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ALU Control</a:t>
            </a:r>
          </a:p>
        </p:txBody>
      </p:sp>
      <p:sp>
        <p:nvSpPr>
          <p:cNvPr id="9223" name="Rectangle 3"/>
          <p:cNvSpPr>
            <a:spLocks noChangeArrowheads="1"/>
          </p:cNvSpPr>
          <p:nvPr/>
        </p:nvSpPr>
        <p:spPr bwMode="auto">
          <a:xfrm>
            <a:off x="2025650" y="995363"/>
            <a:ext cx="2757488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Encoding of ALU operations</a:t>
            </a:r>
          </a:p>
        </p:txBody>
      </p:sp>
      <p:sp>
        <p:nvSpPr>
          <p:cNvPr id="9224" name="Rectangle 4"/>
          <p:cNvSpPr>
            <a:spLocks noChangeArrowheads="1"/>
          </p:cNvSpPr>
          <p:nvPr/>
        </p:nvSpPr>
        <p:spPr bwMode="auto">
          <a:xfrm>
            <a:off x="5772150" y="1069976"/>
            <a:ext cx="4343400" cy="260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74700" algn="l"/>
                <a:tab pos="22860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74700" algn="l"/>
                <a:tab pos="22860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74700" algn="l"/>
                <a:tab pos="2286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 OPR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Select	Operation	Symbol	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00000	Transfer A	TSFA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00001	Increment A	INCA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00010	ADD A + B	ADD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00101	Subtract A - B	SUB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00110	Decrement A	DECA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01000	AND A and B	AND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01010	OR A and B	OR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01100	XOR A and B	XOR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01110	Complement A	COMA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10000	Shift right A	SHRA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11000	Shift left A	SHLA</a:t>
            </a:r>
          </a:p>
        </p:txBody>
      </p:sp>
      <p:sp>
        <p:nvSpPr>
          <p:cNvPr id="9225" name="Rectangle 5"/>
          <p:cNvSpPr>
            <a:spLocks noChangeArrowheads="1"/>
          </p:cNvSpPr>
          <p:nvPr/>
        </p:nvSpPr>
        <p:spPr bwMode="auto">
          <a:xfrm>
            <a:off x="5762625" y="1003301"/>
            <a:ext cx="3086100" cy="26193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sp>
        <p:nvSpPr>
          <p:cNvPr id="9226" name="Line 6"/>
          <p:cNvSpPr>
            <a:spLocks noChangeShapeType="1"/>
          </p:cNvSpPr>
          <p:nvPr/>
        </p:nvSpPr>
        <p:spPr bwMode="auto">
          <a:xfrm>
            <a:off x="5762626" y="1454150"/>
            <a:ext cx="30956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Rectangle 7"/>
          <p:cNvSpPr>
            <a:spLocks noChangeArrowheads="1"/>
          </p:cNvSpPr>
          <p:nvPr/>
        </p:nvSpPr>
        <p:spPr bwMode="auto">
          <a:xfrm>
            <a:off x="2025651" y="3795714"/>
            <a:ext cx="33496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Examples of ALU Microoperations</a:t>
            </a:r>
          </a:p>
        </p:txBody>
      </p:sp>
      <p:sp>
        <p:nvSpPr>
          <p:cNvPr id="9228" name="Rectangle 8"/>
          <p:cNvSpPr>
            <a:spLocks noChangeArrowheads="1"/>
          </p:cNvSpPr>
          <p:nvPr/>
        </p:nvSpPr>
        <p:spPr bwMode="auto">
          <a:xfrm>
            <a:off x="4659314" y="4186238"/>
            <a:ext cx="5824537" cy="501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6000"/>
              </a:lnSpc>
              <a:spcBef>
                <a:spcPct val="32000"/>
              </a:spcBef>
              <a:buFontTx/>
              <a:buNone/>
            </a:pPr>
            <a:r>
              <a:rPr lang="en-US" altLang="ko-KR" sz="1200" b="1"/>
              <a:t>	   Symbolic Designation</a:t>
            </a:r>
          </a:p>
          <a:p>
            <a:pPr eaLnBrk="1" hangingPunct="1">
              <a:lnSpc>
                <a:spcPct val="106000"/>
              </a:lnSpc>
              <a:spcBef>
                <a:spcPct val="32000"/>
              </a:spcBef>
              <a:buFontTx/>
              <a:buNone/>
            </a:pPr>
            <a:r>
              <a:rPr lang="en-US" altLang="ko-KR" sz="1200" b="1"/>
              <a:t>Microoperation	SELA	SELB	SELD	OPR	   Control Word</a:t>
            </a:r>
          </a:p>
        </p:txBody>
      </p:sp>
      <p:sp>
        <p:nvSpPr>
          <p:cNvPr id="9229" name="Rectangle 9"/>
          <p:cNvSpPr>
            <a:spLocks noChangeArrowheads="1"/>
          </p:cNvSpPr>
          <p:nvPr/>
        </p:nvSpPr>
        <p:spPr bwMode="auto">
          <a:xfrm>
            <a:off x="4454526" y="4213225"/>
            <a:ext cx="5554663" cy="2317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sp>
        <p:nvSpPr>
          <p:cNvPr id="9230" name="Line 11"/>
          <p:cNvSpPr>
            <a:spLocks noChangeShapeType="1"/>
          </p:cNvSpPr>
          <p:nvPr/>
        </p:nvSpPr>
        <p:spPr bwMode="auto">
          <a:xfrm>
            <a:off x="5984876" y="4438650"/>
            <a:ext cx="2105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Rectangle 13"/>
          <p:cNvSpPr>
            <a:spLocks noChangeArrowheads="1"/>
          </p:cNvSpPr>
          <p:nvPr/>
        </p:nvSpPr>
        <p:spPr bwMode="auto">
          <a:xfrm>
            <a:off x="4079875" y="4651376"/>
            <a:ext cx="5562600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R1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R2 </a:t>
            </a:r>
            <a:r>
              <a:rPr lang="en-US" altLang="ko-KR" sz="1200" b="1">
                <a:sym typeface="Symbol" panose="05050102010706020507" pitchFamily="18" charset="2"/>
              </a:rPr>
              <a:t></a:t>
            </a:r>
            <a:r>
              <a:rPr lang="en-US" altLang="ko-KR" sz="1200" b="1"/>
              <a:t> R3             R2            R3	 R1       SUB       010  011  001  00101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R4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R4 </a:t>
            </a:r>
            <a:r>
              <a:rPr lang="en-US" altLang="ko-KR" sz="1200" b="1">
                <a:latin typeface="Symbol" panose="05050102010706020507" pitchFamily="18" charset="2"/>
              </a:rPr>
              <a:t></a:t>
            </a:r>
            <a:r>
              <a:rPr lang="en-US" altLang="ko-KR" sz="1200" b="1"/>
              <a:t> R5             R4            R5	 R4        OR        100  101  100  01010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R6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R6 + 1	           R6	      -               R6       INCA      110  000  110  00001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R7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R1	           R1	      -	 R7       TSFA      001  000  111  00000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Output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R2              R2	      -             None    TSFA      010  000  000  00000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Output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Input       Input	      -             None    TSFA      000  000  000  00000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R4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shl R4	           R4	      -               R4      SHLA      100  000  100  11000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R5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0	           R5	      R5	 R5       XOR       101  101  101  01100</a:t>
            </a:r>
          </a:p>
        </p:txBody>
      </p:sp>
      <p:sp>
        <p:nvSpPr>
          <p:cNvPr id="9232" name="Line 10"/>
          <p:cNvSpPr>
            <a:spLocks noChangeShapeType="1"/>
          </p:cNvSpPr>
          <p:nvPr/>
        </p:nvSpPr>
        <p:spPr bwMode="auto">
          <a:xfrm>
            <a:off x="4462463" y="4648200"/>
            <a:ext cx="55737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7278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4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2187732-F3D9-480F-AC69-42FCE719248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02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Stack Organization</a:t>
            </a:r>
          </a:p>
        </p:txBody>
      </p:sp>
      <p:sp>
        <p:nvSpPr>
          <p:cNvPr id="10247" name="Rectangle 10"/>
          <p:cNvSpPr>
            <a:spLocks noChangeArrowheads="1"/>
          </p:cNvSpPr>
          <p:nvPr/>
        </p:nvSpPr>
        <p:spPr bwMode="auto">
          <a:xfrm>
            <a:off x="1905000" y="1320801"/>
            <a:ext cx="8286750" cy="199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Stack</a:t>
            </a:r>
            <a:endParaRPr lang="en-US" altLang="ko-KR" sz="1800" b="1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/>
              <a:t> </a:t>
            </a:r>
            <a:r>
              <a:rPr lang="en-US" altLang="ko-KR" sz="2000" b="1"/>
              <a:t>Very useful feature for nested subroutines, nested interrupt services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Also efficient for arithmetic expression evaluation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Storage which can be accessed in LIFO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Pointer:  SP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Only PUSH and POP operations are applicable</a:t>
            </a:r>
          </a:p>
        </p:txBody>
      </p:sp>
      <p:sp>
        <p:nvSpPr>
          <p:cNvPr id="10248" name="Rectangle 11"/>
          <p:cNvSpPr>
            <a:spLocks noChangeArrowheads="1"/>
          </p:cNvSpPr>
          <p:nvPr/>
        </p:nvSpPr>
        <p:spPr bwMode="auto">
          <a:xfrm>
            <a:off x="3962401" y="3657600"/>
            <a:ext cx="380047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</a:rPr>
              <a:t>Stack Organization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1">
                <a:solidFill>
                  <a:srgbClr val="000000"/>
                </a:solidFill>
              </a:rPr>
              <a:t>Register Stack Organization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1">
                <a:solidFill>
                  <a:srgbClr val="000000"/>
                </a:solidFill>
              </a:rPr>
              <a:t>Memory Stack Organization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="" xmlns:p14="http://schemas.microsoft.com/office/powerpoint/2010/main" val="222253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		               </a:t>
            </a:r>
            <a:fld id="{F1535D7D-E29F-49F9-BC39-AE7336CC74B7}" type="slidenum"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Lecture 23</a:t>
            </a:r>
          </a:p>
        </p:txBody>
      </p:sp>
      <p:sp>
        <p:nvSpPr>
          <p:cNvPr id="1126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Register Stack Organization</a:t>
            </a:r>
          </a:p>
        </p:txBody>
      </p:sp>
      <p:grpSp>
        <p:nvGrpSpPr>
          <p:cNvPr id="11271" name="Group 79"/>
          <p:cNvGrpSpPr>
            <a:grpSpLocks/>
          </p:cNvGrpSpPr>
          <p:nvPr/>
        </p:nvGrpSpPr>
        <p:grpSpPr bwMode="auto">
          <a:xfrm>
            <a:off x="2198688" y="1697038"/>
            <a:ext cx="7577137" cy="2906395"/>
            <a:chOff x="674688" y="2533650"/>
            <a:chExt cx="7577137" cy="2906422"/>
          </a:xfrm>
        </p:grpSpPr>
        <p:sp>
          <p:nvSpPr>
            <p:cNvPr id="46" name="Rectangle 4"/>
            <p:cNvSpPr>
              <a:spLocks noChangeArrowheads="1"/>
            </p:cNvSpPr>
            <p:nvPr/>
          </p:nvSpPr>
          <p:spPr bwMode="auto">
            <a:xfrm>
              <a:off x="674688" y="4254516"/>
              <a:ext cx="2212144" cy="328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Push, Pop operations</a:t>
              </a:r>
            </a:p>
          </p:txBody>
        </p:sp>
        <p:sp>
          <p:nvSpPr>
            <p:cNvPr id="47" name="Rectangle 5"/>
            <p:cNvSpPr>
              <a:spLocks noChangeArrowheads="1"/>
            </p:cNvSpPr>
            <p:nvPr/>
          </p:nvSpPr>
          <p:spPr bwMode="auto">
            <a:xfrm>
              <a:off x="1298575" y="4791096"/>
              <a:ext cx="3646832" cy="26674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/*  Initially, SP = 0, EMPTY = 1, FULL = 0  */</a:t>
              </a:r>
            </a:p>
          </p:txBody>
        </p:sp>
        <p:sp>
          <p:nvSpPr>
            <p:cNvPr id="48" name="Rectangle 6"/>
            <p:cNvSpPr>
              <a:spLocks noChangeArrowheads="1"/>
            </p:cNvSpPr>
            <p:nvPr/>
          </p:nvSpPr>
          <p:spPr bwMode="auto">
            <a:xfrm>
              <a:off x="1393825" y="5111774"/>
              <a:ext cx="743793" cy="328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b="1" u="sng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PUSH</a:t>
              </a:r>
            </a:p>
          </p:txBody>
        </p:sp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3989388" y="5111774"/>
              <a:ext cx="589905" cy="328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b="1" u="sng" kern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POP</a:t>
              </a:r>
            </a:p>
          </p:txBody>
        </p:sp>
        <p:sp>
          <p:nvSpPr>
            <p:cNvPr id="51" name="Rectangle 11"/>
            <p:cNvSpPr>
              <a:spLocks noChangeArrowheads="1"/>
            </p:cNvSpPr>
            <p:nvPr/>
          </p:nvSpPr>
          <p:spPr bwMode="auto">
            <a:xfrm>
              <a:off x="6486525" y="2536825"/>
              <a:ext cx="1290638" cy="192883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Line 12"/>
            <p:cNvSpPr>
              <a:spLocks noChangeShapeType="1"/>
            </p:cNvSpPr>
            <p:nvPr/>
          </p:nvSpPr>
          <p:spPr bwMode="auto">
            <a:xfrm>
              <a:off x="6486525" y="4292616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Line 13"/>
            <p:cNvSpPr>
              <a:spLocks noChangeShapeType="1"/>
            </p:cNvSpPr>
            <p:nvPr/>
          </p:nvSpPr>
          <p:spPr bwMode="auto">
            <a:xfrm>
              <a:off x="6486525" y="4105289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>
              <a:off x="6486525" y="3916375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Line 15"/>
            <p:cNvSpPr>
              <a:spLocks noChangeShapeType="1"/>
            </p:cNvSpPr>
            <p:nvPr/>
          </p:nvSpPr>
          <p:spPr bwMode="auto">
            <a:xfrm>
              <a:off x="6486525" y="3725873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Line 16"/>
            <p:cNvSpPr>
              <a:spLocks noChangeShapeType="1"/>
            </p:cNvSpPr>
            <p:nvPr/>
          </p:nvSpPr>
          <p:spPr bwMode="auto">
            <a:xfrm>
              <a:off x="6486525" y="3538546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6486525" y="2717802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18"/>
            <p:cNvSpPr>
              <a:spLocks noChangeArrowheads="1"/>
            </p:cNvSpPr>
            <p:nvPr/>
          </p:nvSpPr>
          <p:spPr bwMode="auto">
            <a:xfrm>
              <a:off x="6958013" y="4098939"/>
              <a:ext cx="293351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9" name="Rectangle 19"/>
            <p:cNvSpPr>
              <a:spLocks noChangeArrowheads="1"/>
            </p:cNvSpPr>
            <p:nvPr/>
          </p:nvSpPr>
          <p:spPr bwMode="auto">
            <a:xfrm>
              <a:off x="6958013" y="3902087"/>
              <a:ext cx="285336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0" name="Rectangle 20"/>
            <p:cNvSpPr>
              <a:spLocks noChangeArrowheads="1"/>
            </p:cNvSpPr>
            <p:nvPr/>
          </p:nvSpPr>
          <p:spPr bwMode="auto">
            <a:xfrm>
              <a:off x="6958013" y="3716348"/>
              <a:ext cx="293351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1" name="Rectangle 21"/>
            <p:cNvSpPr>
              <a:spLocks noChangeArrowheads="1"/>
            </p:cNvSpPr>
            <p:nvPr/>
          </p:nvSpPr>
          <p:spPr bwMode="auto">
            <a:xfrm>
              <a:off x="7748588" y="4284678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2" name="Rectangle 22"/>
            <p:cNvSpPr>
              <a:spLocks noChangeArrowheads="1"/>
            </p:cNvSpPr>
            <p:nvPr/>
          </p:nvSpPr>
          <p:spPr bwMode="auto">
            <a:xfrm>
              <a:off x="7748588" y="4098939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3" name="Rectangle 23"/>
            <p:cNvSpPr>
              <a:spLocks noChangeArrowheads="1"/>
            </p:cNvSpPr>
            <p:nvPr/>
          </p:nvSpPr>
          <p:spPr bwMode="auto">
            <a:xfrm>
              <a:off x="7748588" y="3902087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4" name="Rectangle 24"/>
            <p:cNvSpPr>
              <a:spLocks noChangeArrowheads="1"/>
            </p:cNvSpPr>
            <p:nvPr/>
          </p:nvSpPr>
          <p:spPr bwMode="auto">
            <a:xfrm>
              <a:off x="7748588" y="3716348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7748588" y="3530609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7775575" y="2533650"/>
              <a:ext cx="336632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</a:p>
          </p:txBody>
        </p:sp>
        <p:sp>
          <p:nvSpPr>
            <p:cNvPr id="67" name="Rectangle 28"/>
            <p:cNvSpPr>
              <a:spLocks noChangeArrowheads="1"/>
            </p:cNvSpPr>
            <p:nvPr/>
          </p:nvSpPr>
          <p:spPr bwMode="auto">
            <a:xfrm>
              <a:off x="4614863" y="2865440"/>
              <a:ext cx="593112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FULL</a:t>
              </a:r>
            </a:p>
          </p:txBody>
        </p:sp>
        <p:sp>
          <p:nvSpPr>
            <p:cNvPr id="68" name="Rectangle 29"/>
            <p:cNvSpPr>
              <a:spLocks noChangeArrowheads="1"/>
            </p:cNvSpPr>
            <p:nvPr/>
          </p:nvSpPr>
          <p:spPr bwMode="auto">
            <a:xfrm>
              <a:off x="5362575" y="2865440"/>
              <a:ext cx="738986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</a:p>
          </p:txBody>
        </p:sp>
        <p:sp>
          <p:nvSpPr>
            <p:cNvPr id="69" name="Rectangle 30"/>
            <p:cNvSpPr>
              <a:spLocks noChangeArrowheads="1"/>
            </p:cNvSpPr>
            <p:nvPr/>
          </p:nvSpPr>
          <p:spPr bwMode="auto">
            <a:xfrm>
              <a:off x="5054600" y="3676660"/>
              <a:ext cx="368692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70" name="Rectangle 31"/>
            <p:cNvSpPr>
              <a:spLocks noChangeArrowheads="1"/>
            </p:cNvSpPr>
            <p:nvPr/>
          </p:nvSpPr>
          <p:spPr bwMode="auto">
            <a:xfrm>
              <a:off x="4887913" y="3667135"/>
              <a:ext cx="773112" cy="23177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35"/>
            <p:cNvSpPr>
              <a:spLocks noChangeArrowheads="1"/>
            </p:cNvSpPr>
            <p:nvPr/>
          </p:nvSpPr>
          <p:spPr bwMode="auto">
            <a:xfrm>
              <a:off x="5400675" y="2876553"/>
              <a:ext cx="631825" cy="22066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36"/>
            <p:cNvSpPr>
              <a:spLocks noChangeArrowheads="1"/>
            </p:cNvSpPr>
            <p:nvPr/>
          </p:nvSpPr>
          <p:spPr bwMode="auto">
            <a:xfrm>
              <a:off x="6486525" y="4597419"/>
              <a:ext cx="1290638" cy="16510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37"/>
            <p:cNvSpPr>
              <a:spLocks noChangeArrowheads="1"/>
            </p:cNvSpPr>
            <p:nvPr/>
          </p:nvSpPr>
          <p:spPr bwMode="auto">
            <a:xfrm>
              <a:off x="6897688" y="4564081"/>
              <a:ext cx="403958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</a:t>
              </a:r>
            </a:p>
          </p:txBody>
        </p:sp>
        <p:sp>
          <p:nvSpPr>
            <p:cNvPr id="74" name="Rectangle 38"/>
            <p:cNvSpPr>
              <a:spLocks noChangeArrowheads="1"/>
            </p:cNvSpPr>
            <p:nvPr/>
          </p:nvSpPr>
          <p:spPr bwMode="auto">
            <a:xfrm>
              <a:off x="4960938" y="2593976"/>
              <a:ext cx="591510" cy="30521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Flags</a:t>
              </a:r>
            </a:p>
          </p:txBody>
        </p:sp>
        <p:sp>
          <p:nvSpPr>
            <p:cNvPr id="75" name="Rectangle 39"/>
            <p:cNvSpPr>
              <a:spLocks noChangeArrowheads="1"/>
            </p:cNvSpPr>
            <p:nvPr/>
          </p:nvSpPr>
          <p:spPr bwMode="auto">
            <a:xfrm>
              <a:off x="4614863" y="3424245"/>
              <a:ext cx="1213475" cy="30521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Stack pointer</a:t>
              </a:r>
            </a:p>
          </p:txBody>
        </p:sp>
        <p:sp>
          <p:nvSpPr>
            <p:cNvPr id="76" name="Line 41"/>
            <p:cNvSpPr>
              <a:spLocks noChangeShapeType="1"/>
            </p:cNvSpPr>
            <p:nvPr/>
          </p:nvSpPr>
          <p:spPr bwMode="auto">
            <a:xfrm flipV="1">
              <a:off x="8251825" y="3654435"/>
              <a:ext cx="0" cy="7762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44"/>
            <p:cNvSpPr>
              <a:spLocks noChangeArrowheads="1"/>
            </p:cNvSpPr>
            <p:nvPr/>
          </p:nvSpPr>
          <p:spPr bwMode="auto">
            <a:xfrm>
              <a:off x="4581525" y="2876553"/>
              <a:ext cx="631825" cy="22066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Line 48"/>
            <p:cNvSpPr>
              <a:spLocks noChangeShapeType="1"/>
            </p:cNvSpPr>
            <p:nvPr/>
          </p:nvSpPr>
          <p:spPr bwMode="auto">
            <a:xfrm>
              <a:off x="5667375" y="3771911"/>
              <a:ext cx="800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 Box 49"/>
            <p:cNvSpPr txBox="1">
              <a:spLocks noChangeArrowheads="1"/>
            </p:cNvSpPr>
            <p:nvPr/>
          </p:nvSpPr>
          <p:spPr bwMode="auto">
            <a:xfrm>
              <a:off x="4946650" y="3886212"/>
              <a:ext cx="598241" cy="3077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 bits</a:t>
              </a:r>
            </a:p>
          </p:txBody>
        </p:sp>
      </p:grpSp>
      <p:sp>
        <p:nvSpPr>
          <p:cNvPr id="80" name="Rectangle 9"/>
          <p:cNvSpPr>
            <a:spLocks noChangeArrowheads="1"/>
          </p:cNvSpPr>
          <p:nvPr/>
        </p:nvSpPr>
        <p:spPr bwMode="auto">
          <a:xfrm>
            <a:off x="2119312" y="4732760"/>
            <a:ext cx="5775621" cy="110017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 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+ 1	                   DR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M[SP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M[SP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	                   SP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SP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(SP = 0) then (FULL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	    If (SP = 0) then (EMPTY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</a:p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FULL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="" xmlns:p14="http://schemas.microsoft.com/office/powerpoint/2010/main" val="160525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0A96E03-F6B5-4059-9434-96A5342376F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1514475" y="65405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Memory Stack Organization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10800000">
            <a:off x="46482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10800000">
            <a:off x="35052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10800000">
            <a:off x="75438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10800000">
            <a:off x="60198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99" name="Group 124"/>
          <p:cNvGrpSpPr>
            <a:grpSpLocks/>
          </p:cNvGrpSpPr>
          <p:nvPr/>
        </p:nvGrpSpPr>
        <p:grpSpPr bwMode="auto">
          <a:xfrm>
            <a:off x="1809750" y="1143000"/>
            <a:ext cx="8553450" cy="5640388"/>
            <a:chOff x="152400" y="906463"/>
            <a:chExt cx="8553450" cy="5639792"/>
          </a:xfrm>
        </p:grpSpPr>
        <p:sp>
          <p:nvSpPr>
            <p:cNvPr id="12300" name="Rectangle 3"/>
            <p:cNvSpPr>
              <a:spLocks noChangeArrowheads="1"/>
            </p:cNvSpPr>
            <p:nvPr/>
          </p:nvSpPr>
          <p:spPr bwMode="auto">
            <a:xfrm>
              <a:off x="1354138" y="4976813"/>
              <a:ext cx="34925" cy="131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01" name="Rectangle 5"/>
            <p:cNvSpPr>
              <a:spLocks noChangeArrowheads="1"/>
            </p:cNvSpPr>
            <p:nvPr/>
          </p:nvSpPr>
          <p:spPr bwMode="auto">
            <a:xfrm>
              <a:off x="152400" y="3708400"/>
              <a:ext cx="5794375" cy="2460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- A portion of memory is used as a stack with a </a:t>
              </a:r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  	processor register as a stack pointer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- PUSH:	SP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SP - 1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        M[SP]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DR</a:t>
              </a:r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- POP:	DR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M[SP]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        SP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SP + 1 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</a:t>
              </a:r>
            </a:p>
          </p:txBody>
        </p:sp>
        <p:sp>
          <p:nvSpPr>
            <p:cNvPr id="12302" name="Rectangle 6"/>
            <p:cNvSpPr>
              <a:spLocks noChangeArrowheads="1"/>
            </p:cNvSpPr>
            <p:nvPr/>
          </p:nvSpPr>
          <p:spPr bwMode="auto">
            <a:xfrm>
              <a:off x="544513" y="1133475"/>
              <a:ext cx="3026471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Memory with Program, Data,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	and Stack Segments</a:t>
              </a:r>
            </a:p>
          </p:txBody>
        </p:sp>
        <p:sp>
          <p:nvSpPr>
            <p:cNvPr id="12303" name="Rectangle 9"/>
            <p:cNvSpPr>
              <a:spLocks noChangeArrowheads="1"/>
            </p:cNvSpPr>
            <p:nvPr/>
          </p:nvSpPr>
          <p:spPr bwMode="auto">
            <a:xfrm>
              <a:off x="6519863" y="909638"/>
              <a:ext cx="1157287" cy="2863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04" name="Line 10"/>
            <p:cNvSpPr>
              <a:spLocks noChangeShapeType="1"/>
            </p:cNvSpPr>
            <p:nvPr/>
          </p:nvSpPr>
          <p:spPr bwMode="auto">
            <a:xfrm>
              <a:off x="6526213" y="3565525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Rectangle 11"/>
            <p:cNvSpPr>
              <a:spLocks noChangeArrowheads="1"/>
            </p:cNvSpPr>
            <p:nvPr/>
          </p:nvSpPr>
          <p:spPr bwMode="auto">
            <a:xfrm>
              <a:off x="7664450" y="3557588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4001</a:t>
              </a:r>
            </a:p>
          </p:txBody>
        </p:sp>
        <p:sp>
          <p:nvSpPr>
            <p:cNvPr id="12306" name="Line 12"/>
            <p:cNvSpPr>
              <a:spLocks noChangeShapeType="1"/>
            </p:cNvSpPr>
            <p:nvPr/>
          </p:nvSpPr>
          <p:spPr bwMode="auto">
            <a:xfrm>
              <a:off x="6526213" y="3392488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Line 13"/>
            <p:cNvSpPr>
              <a:spLocks noChangeShapeType="1"/>
            </p:cNvSpPr>
            <p:nvPr/>
          </p:nvSpPr>
          <p:spPr bwMode="auto">
            <a:xfrm>
              <a:off x="6526213" y="3221038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Line 14"/>
            <p:cNvSpPr>
              <a:spLocks noChangeShapeType="1"/>
            </p:cNvSpPr>
            <p:nvPr/>
          </p:nvSpPr>
          <p:spPr bwMode="auto">
            <a:xfrm>
              <a:off x="6526213" y="3048000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Line 15"/>
            <p:cNvSpPr>
              <a:spLocks noChangeShapeType="1"/>
            </p:cNvSpPr>
            <p:nvPr/>
          </p:nvSpPr>
          <p:spPr bwMode="auto">
            <a:xfrm>
              <a:off x="6526213" y="2873375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0" name="Line 16"/>
            <p:cNvSpPr>
              <a:spLocks noChangeShapeType="1"/>
            </p:cNvSpPr>
            <p:nvPr/>
          </p:nvSpPr>
          <p:spPr bwMode="auto">
            <a:xfrm>
              <a:off x="6526213" y="2641600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1" name="Line 17"/>
            <p:cNvSpPr>
              <a:spLocks noChangeShapeType="1"/>
            </p:cNvSpPr>
            <p:nvPr/>
          </p:nvSpPr>
          <p:spPr bwMode="auto">
            <a:xfrm>
              <a:off x="6519863" y="1625600"/>
              <a:ext cx="1146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2" name="Rectangle 18"/>
            <p:cNvSpPr>
              <a:spLocks noChangeArrowheads="1"/>
            </p:cNvSpPr>
            <p:nvPr/>
          </p:nvSpPr>
          <p:spPr bwMode="auto">
            <a:xfrm>
              <a:off x="7664450" y="3384550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4000</a:t>
              </a:r>
            </a:p>
          </p:txBody>
        </p:sp>
        <p:sp>
          <p:nvSpPr>
            <p:cNvPr id="12313" name="Rectangle 19"/>
            <p:cNvSpPr>
              <a:spLocks noChangeArrowheads="1"/>
            </p:cNvSpPr>
            <p:nvPr/>
          </p:nvSpPr>
          <p:spPr bwMode="auto">
            <a:xfrm>
              <a:off x="7664450" y="3194050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3999</a:t>
              </a:r>
            </a:p>
          </p:txBody>
        </p:sp>
        <p:sp>
          <p:nvSpPr>
            <p:cNvPr id="12314" name="Rectangle 20"/>
            <p:cNvSpPr>
              <a:spLocks noChangeArrowheads="1"/>
            </p:cNvSpPr>
            <p:nvPr/>
          </p:nvSpPr>
          <p:spPr bwMode="auto">
            <a:xfrm>
              <a:off x="7664450" y="3019425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3998</a:t>
              </a:r>
            </a:p>
          </p:txBody>
        </p:sp>
        <p:sp>
          <p:nvSpPr>
            <p:cNvPr id="12315" name="Rectangle 21"/>
            <p:cNvSpPr>
              <a:spLocks noChangeArrowheads="1"/>
            </p:cNvSpPr>
            <p:nvPr/>
          </p:nvSpPr>
          <p:spPr bwMode="auto">
            <a:xfrm>
              <a:off x="7664450" y="2847975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3997</a:t>
              </a:r>
            </a:p>
          </p:txBody>
        </p:sp>
        <p:sp>
          <p:nvSpPr>
            <p:cNvPr id="12316" name="Rectangle 22"/>
            <p:cNvSpPr>
              <a:spLocks noChangeArrowheads="1"/>
            </p:cNvSpPr>
            <p:nvPr/>
          </p:nvSpPr>
          <p:spPr bwMode="auto">
            <a:xfrm>
              <a:off x="7664450" y="2266950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3000</a:t>
              </a:r>
            </a:p>
          </p:txBody>
        </p:sp>
        <p:sp>
          <p:nvSpPr>
            <p:cNvPr id="12317" name="Rectangle 23"/>
            <p:cNvSpPr>
              <a:spLocks noChangeArrowheads="1"/>
            </p:cNvSpPr>
            <p:nvPr/>
          </p:nvSpPr>
          <p:spPr bwMode="auto">
            <a:xfrm>
              <a:off x="6838950" y="1801813"/>
              <a:ext cx="48122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Data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12318" name="Rectangle 24"/>
            <p:cNvSpPr>
              <a:spLocks noChangeArrowheads="1"/>
            </p:cNvSpPr>
            <p:nvPr/>
          </p:nvSpPr>
          <p:spPr bwMode="auto">
            <a:xfrm>
              <a:off x="6645275" y="1952625"/>
              <a:ext cx="8766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(operands)</a:t>
              </a:r>
            </a:p>
          </p:txBody>
        </p:sp>
        <p:sp>
          <p:nvSpPr>
            <p:cNvPr id="12319" name="Rectangle 25"/>
            <p:cNvSpPr>
              <a:spLocks noChangeArrowheads="1"/>
            </p:cNvSpPr>
            <p:nvPr/>
          </p:nvSpPr>
          <p:spPr bwMode="auto">
            <a:xfrm>
              <a:off x="6680200" y="1128713"/>
              <a:ext cx="725712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Program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12320" name="Rectangle 26"/>
            <p:cNvSpPr>
              <a:spLocks noChangeArrowheads="1"/>
            </p:cNvSpPr>
            <p:nvPr/>
          </p:nvSpPr>
          <p:spPr bwMode="auto">
            <a:xfrm>
              <a:off x="6508750" y="1273175"/>
              <a:ext cx="103381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(instructions)</a:t>
              </a:r>
            </a:p>
          </p:txBody>
        </p:sp>
        <p:sp>
          <p:nvSpPr>
            <p:cNvPr id="12321" name="Line 28"/>
            <p:cNvSpPr>
              <a:spLocks noChangeShapeType="1"/>
            </p:cNvSpPr>
            <p:nvPr/>
          </p:nvSpPr>
          <p:spPr bwMode="auto">
            <a:xfrm>
              <a:off x="5622925" y="1311275"/>
              <a:ext cx="88582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2" name="Rectangle 29"/>
            <p:cNvSpPr>
              <a:spLocks noChangeArrowheads="1"/>
            </p:cNvSpPr>
            <p:nvPr/>
          </p:nvSpPr>
          <p:spPr bwMode="auto">
            <a:xfrm>
              <a:off x="4913313" y="1212850"/>
              <a:ext cx="711200" cy="2238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23" name="Line 31"/>
            <p:cNvSpPr>
              <a:spLocks noChangeShapeType="1"/>
            </p:cNvSpPr>
            <p:nvPr/>
          </p:nvSpPr>
          <p:spPr bwMode="auto">
            <a:xfrm>
              <a:off x="5622925" y="2011363"/>
              <a:ext cx="8969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4" name="Line 34"/>
            <p:cNvSpPr>
              <a:spLocks noChangeShapeType="1"/>
            </p:cNvSpPr>
            <p:nvPr/>
          </p:nvSpPr>
          <p:spPr bwMode="auto">
            <a:xfrm>
              <a:off x="5618163" y="2417763"/>
              <a:ext cx="89852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5" name="Rectangle 36"/>
            <p:cNvSpPr>
              <a:spLocks noChangeArrowheads="1"/>
            </p:cNvSpPr>
            <p:nvPr/>
          </p:nvSpPr>
          <p:spPr bwMode="auto">
            <a:xfrm>
              <a:off x="7673975" y="906463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1000</a:t>
              </a:r>
            </a:p>
          </p:txBody>
        </p:sp>
        <p:sp>
          <p:nvSpPr>
            <p:cNvPr id="12326" name="Rectangle 37"/>
            <p:cNvSpPr>
              <a:spLocks noChangeArrowheads="1"/>
            </p:cNvSpPr>
            <p:nvPr/>
          </p:nvSpPr>
          <p:spPr bwMode="auto">
            <a:xfrm>
              <a:off x="5157788" y="1254125"/>
              <a:ext cx="263525" cy="133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27" name="Rectangle 38"/>
            <p:cNvSpPr>
              <a:spLocks noChangeArrowheads="1"/>
            </p:cNvSpPr>
            <p:nvPr/>
          </p:nvSpPr>
          <p:spPr bwMode="auto">
            <a:xfrm>
              <a:off x="5075238" y="1222375"/>
              <a:ext cx="34625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PC</a:t>
              </a:r>
            </a:p>
          </p:txBody>
        </p:sp>
        <p:sp>
          <p:nvSpPr>
            <p:cNvPr id="12328" name="Rectangle 39"/>
            <p:cNvSpPr>
              <a:spLocks noChangeArrowheads="1"/>
            </p:cNvSpPr>
            <p:nvPr/>
          </p:nvSpPr>
          <p:spPr bwMode="auto">
            <a:xfrm>
              <a:off x="5146675" y="1946275"/>
              <a:ext cx="252413" cy="131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29" name="Rectangle 40"/>
            <p:cNvSpPr>
              <a:spLocks noChangeArrowheads="1"/>
            </p:cNvSpPr>
            <p:nvPr/>
          </p:nvSpPr>
          <p:spPr bwMode="auto">
            <a:xfrm>
              <a:off x="5053013" y="1881188"/>
              <a:ext cx="36228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AR</a:t>
              </a:r>
            </a:p>
          </p:txBody>
        </p:sp>
        <p:sp>
          <p:nvSpPr>
            <p:cNvPr id="12330" name="Rectangle 41"/>
            <p:cNvSpPr>
              <a:spLocks noChangeArrowheads="1"/>
            </p:cNvSpPr>
            <p:nvPr/>
          </p:nvSpPr>
          <p:spPr bwMode="auto">
            <a:xfrm>
              <a:off x="5053013" y="2338388"/>
              <a:ext cx="3366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SP</a:t>
              </a:r>
            </a:p>
          </p:txBody>
        </p:sp>
        <p:sp>
          <p:nvSpPr>
            <p:cNvPr id="12331" name="Rectangle 42" descr="10%"/>
            <p:cNvSpPr>
              <a:spLocks noChangeArrowheads="1"/>
            </p:cNvSpPr>
            <p:nvPr/>
          </p:nvSpPr>
          <p:spPr bwMode="auto">
            <a:xfrm>
              <a:off x="6529388" y="2270125"/>
              <a:ext cx="1147762" cy="59848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32" name="Rectangle 43"/>
            <p:cNvSpPr>
              <a:spLocks noChangeArrowheads="1"/>
            </p:cNvSpPr>
            <p:nvPr/>
          </p:nvSpPr>
          <p:spPr bwMode="auto">
            <a:xfrm>
              <a:off x="6807200" y="2473325"/>
              <a:ext cx="563745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stack</a:t>
              </a:r>
            </a:p>
          </p:txBody>
        </p:sp>
        <p:sp>
          <p:nvSpPr>
            <p:cNvPr id="12333" name="Rectangle 45"/>
            <p:cNvSpPr>
              <a:spLocks noChangeArrowheads="1"/>
            </p:cNvSpPr>
            <p:nvPr/>
          </p:nvSpPr>
          <p:spPr bwMode="auto">
            <a:xfrm>
              <a:off x="4913313" y="1879600"/>
              <a:ext cx="711200" cy="2238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34" name="Rectangle 46"/>
            <p:cNvSpPr>
              <a:spLocks noChangeArrowheads="1"/>
            </p:cNvSpPr>
            <p:nvPr/>
          </p:nvSpPr>
          <p:spPr bwMode="auto">
            <a:xfrm>
              <a:off x="4913313" y="2336800"/>
              <a:ext cx="711200" cy="2238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35" name="Line 47"/>
            <p:cNvSpPr>
              <a:spLocks noChangeShapeType="1"/>
            </p:cNvSpPr>
            <p:nvPr/>
          </p:nvSpPr>
          <p:spPr bwMode="auto">
            <a:xfrm flipV="1">
              <a:off x="8334375" y="2590800"/>
              <a:ext cx="0" cy="1181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6" name="Text Box 51"/>
            <p:cNvSpPr txBox="1">
              <a:spLocks noChangeArrowheads="1"/>
            </p:cNvSpPr>
            <p:nvPr/>
          </p:nvSpPr>
          <p:spPr bwMode="auto">
            <a:xfrm>
              <a:off x="603250" y="5622925"/>
              <a:ext cx="8102600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- Most computers do not provide hardware to check stack overflow (full      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stack) or underflow (empty stack)  </a:t>
              </a:r>
              <a:r>
                <a:rPr lang="en-US" altLang="ko-KR" sz="1800" b="1">
                  <a:sym typeface="Wingdings" panose="05000000000000000000" pitchFamily="2" charset="2"/>
                </a:rPr>
                <a:t> </a:t>
              </a:r>
              <a:r>
                <a:rPr lang="en-US" altLang="ko-KR" sz="1800" b="1" u="sng">
                  <a:sym typeface="Wingdings" panose="05000000000000000000" pitchFamily="2" charset="2"/>
                </a:rPr>
                <a:t>must be done in software</a:t>
              </a:r>
              <a:endParaRPr lang="en-US" altLang="ko-KR" sz="1800" b="1" u="sng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</p:txBody>
        </p:sp>
      </p:grpSp>
    </p:spTree>
    <p:extLst>
      <p:ext uri="{BB962C8B-B14F-4D97-AF65-F5344CB8AC3E}">
        <p14:creationId xmlns="" xmlns:p14="http://schemas.microsoft.com/office/powerpoint/2010/main" val="356654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1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8E1F2FA-05E3-4C8E-902F-456BBC72F98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33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Reverse Polish Notation 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10800000">
            <a:off x="46482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10800000">
            <a:off x="35052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10800000">
            <a:off x="75438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10800000">
            <a:off x="60198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3" name="Rectangle 4"/>
          <p:cNvSpPr>
            <a:spLocks noChangeArrowheads="1"/>
          </p:cNvSpPr>
          <p:nvPr/>
        </p:nvSpPr>
        <p:spPr bwMode="auto">
          <a:xfrm>
            <a:off x="3352800" y="1676401"/>
            <a:ext cx="6929438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9017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9017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9017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 + B	Infix notation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+ A B	Prefix or Polish notation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 B +	Postfix or reverse Polish notation</a:t>
            </a:r>
          </a:p>
        </p:txBody>
      </p:sp>
      <p:sp>
        <p:nvSpPr>
          <p:cNvPr id="13324" name="Rectangle 5"/>
          <p:cNvSpPr>
            <a:spLocks noChangeArrowheads="1"/>
          </p:cNvSpPr>
          <p:nvPr/>
        </p:nvSpPr>
        <p:spPr bwMode="auto">
          <a:xfrm>
            <a:off x="3505200" y="2651126"/>
            <a:ext cx="6858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4000"/>
              </a:lnSpc>
              <a:spcBef>
                <a:spcPct val="47000"/>
              </a:spcBef>
              <a:buFontTx/>
              <a:buNone/>
            </a:pPr>
            <a:r>
              <a:rPr lang="en-US" altLang="ko-KR" sz="1400" b="1"/>
              <a:t>     </a:t>
            </a:r>
            <a:r>
              <a:rPr lang="en-US" altLang="ko-KR" sz="1800" b="1"/>
              <a:t>- The reverse Polish notation is very suitable for stack 	manipulation</a:t>
            </a:r>
          </a:p>
          <a:p>
            <a:pPr eaLnBrk="1" latinLnBrk="1" hangingPunct="1">
              <a:lnSpc>
                <a:spcPct val="94000"/>
              </a:lnSpc>
              <a:spcBef>
                <a:spcPct val="47000"/>
              </a:spcBef>
              <a:buFontTx/>
              <a:buNone/>
            </a:pPr>
            <a:endParaRPr lang="en-US" altLang="ko-KR" sz="1800" b="1"/>
          </a:p>
        </p:txBody>
      </p:sp>
      <p:sp>
        <p:nvSpPr>
          <p:cNvPr id="13325" name="Rectangle 7"/>
          <p:cNvSpPr>
            <a:spLocks noChangeArrowheads="1"/>
          </p:cNvSpPr>
          <p:nvPr/>
        </p:nvSpPr>
        <p:spPr bwMode="auto">
          <a:xfrm>
            <a:off x="2057400" y="3113088"/>
            <a:ext cx="4197350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Evaluation of Arithmetic Expressions</a:t>
            </a:r>
          </a:p>
        </p:txBody>
      </p:sp>
      <p:sp>
        <p:nvSpPr>
          <p:cNvPr id="13326" name="Rectangle 8"/>
          <p:cNvSpPr>
            <a:spLocks noChangeArrowheads="1"/>
          </p:cNvSpPr>
          <p:nvPr/>
        </p:nvSpPr>
        <p:spPr bwMode="auto">
          <a:xfrm>
            <a:off x="2362200" y="3509964"/>
            <a:ext cx="7848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 Any arithmetic expression can be expressed in parenthesis-free Polish notation, including reverse Polish notation</a:t>
            </a:r>
          </a:p>
        </p:txBody>
      </p:sp>
      <p:sp>
        <p:nvSpPr>
          <p:cNvPr id="13327" name="Rectangle 9"/>
          <p:cNvSpPr>
            <a:spLocks noChangeArrowheads="1"/>
          </p:cNvSpPr>
          <p:nvPr/>
        </p:nvSpPr>
        <p:spPr bwMode="auto">
          <a:xfrm>
            <a:off x="3576639" y="4483100"/>
            <a:ext cx="3436937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(3 * 4) + (5 * 6)    </a:t>
            </a:r>
            <a:r>
              <a:rPr lang="en-US" altLang="ko-KR" sz="1800" b="1">
                <a:sym typeface="Symbol" panose="05050102010706020507" pitchFamily="18" charset="2"/>
              </a:rPr>
              <a:t></a:t>
            </a:r>
            <a:r>
              <a:rPr lang="en-US" altLang="ko-KR" sz="1800" b="1"/>
              <a:t>      3 4 * 5 6 * +</a:t>
            </a:r>
          </a:p>
        </p:txBody>
      </p:sp>
      <p:sp>
        <p:nvSpPr>
          <p:cNvPr id="13328" name="Rectangle 11"/>
          <p:cNvSpPr>
            <a:spLocks noChangeArrowheads="1"/>
          </p:cNvSpPr>
          <p:nvPr/>
        </p:nvSpPr>
        <p:spPr bwMode="auto">
          <a:xfrm>
            <a:off x="2093914" y="1203326"/>
            <a:ext cx="3532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Arithmetic Expressions:  A + B</a:t>
            </a:r>
          </a:p>
        </p:txBody>
      </p:sp>
      <p:grpSp>
        <p:nvGrpSpPr>
          <p:cNvPr id="13329" name="Group 149"/>
          <p:cNvGrpSpPr>
            <a:grpSpLocks/>
          </p:cNvGrpSpPr>
          <p:nvPr/>
        </p:nvGrpSpPr>
        <p:grpSpPr bwMode="auto">
          <a:xfrm>
            <a:off x="3362326" y="5172076"/>
            <a:ext cx="4867275" cy="1152525"/>
            <a:chOff x="1554163" y="4867275"/>
            <a:chExt cx="4867275" cy="1152322"/>
          </a:xfrm>
        </p:grpSpPr>
        <p:sp>
          <p:nvSpPr>
            <p:cNvPr id="13330" name="Rectangle 13"/>
            <p:cNvSpPr>
              <a:spLocks noChangeArrowheads="1"/>
            </p:cNvSpPr>
            <p:nvPr/>
          </p:nvSpPr>
          <p:spPr bwMode="auto">
            <a:xfrm>
              <a:off x="1770063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31" name="Line 14"/>
            <p:cNvSpPr>
              <a:spLocks noChangeShapeType="1"/>
            </p:cNvSpPr>
            <p:nvPr/>
          </p:nvSpPr>
          <p:spPr bwMode="auto">
            <a:xfrm>
              <a:off x="1770063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Line 15"/>
            <p:cNvSpPr>
              <a:spLocks noChangeShapeType="1"/>
            </p:cNvSpPr>
            <p:nvPr/>
          </p:nvSpPr>
          <p:spPr bwMode="auto">
            <a:xfrm>
              <a:off x="1770063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3" name="Line 16"/>
            <p:cNvSpPr>
              <a:spLocks noChangeShapeType="1"/>
            </p:cNvSpPr>
            <p:nvPr/>
          </p:nvSpPr>
          <p:spPr bwMode="auto">
            <a:xfrm>
              <a:off x="1770063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4" name="Rectangle 17"/>
            <p:cNvSpPr>
              <a:spLocks noChangeArrowheads="1"/>
            </p:cNvSpPr>
            <p:nvPr/>
          </p:nvSpPr>
          <p:spPr bwMode="auto">
            <a:xfrm>
              <a:off x="1793875" y="54673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335" name="Line 19"/>
            <p:cNvSpPr>
              <a:spLocks noChangeShapeType="1"/>
            </p:cNvSpPr>
            <p:nvPr/>
          </p:nvSpPr>
          <p:spPr bwMode="auto">
            <a:xfrm>
              <a:off x="1554163" y="5584825"/>
              <a:ext cx="196850" cy="79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6" name="Rectangle 20"/>
            <p:cNvSpPr>
              <a:spLocks noChangeArrowheads="1"/>
            </p:cNvSpPr>
            <p:nvPr/>
          </p:nvSpPr>
          <p:spPr bwMode="auto">
            <a:xfrm>
              <a:off x="2492375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37" name="Line 21"/>
            <p:cNvSpPr>
              <a:spLocks noChangeShapeType="1"/>
            </p:cNvSpPr>
            <p:nvPr/>
          </p:nvSpPr>
          <p:spPr bwMode="auto">
            <a:xfrm>
              <a:off x="2492375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8" name="Line 22"/>
            <p:cNvSpPr>
              <a:spLocks noChangeShapeType="1"/>
            </p:cNvSpPr>
            <p:nvPr/>
          </p:nvSpPr>
          <p:spPr bwMode="auto">
            <a:xfrm>
              <a:off x="2492375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9" name="Line 23"/>
            <p:cNvSpPr>
              <a:spLocks noChangeShapeType="1"/>
            </p:cNvSpPr>
            <p:nvPr/>
          </p:nvSpPr>
          <p:spPr bwMode="auto">
            <a:xfrm>
              <a:off x="2492375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0" name="Rectangle 24"/>
            <p:cNvSpPr>
              <a:spLocks noChangeArrowheads="1"/>
            </p:cNvSpPr>
            <p:nvPr/>
          </p:nvSpPr>
          <p:spPr bwMode="auto">
            <a:xfrm>
              <a:off x="2503488" y="54673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341" name="Line 26"/>
            <p:cNvSpPr>
              <a:spLocks noChangeShapeType="1"/>
            </p:cNvSpPr>
            <p:nvPr/>
          </p:nvSpPr>
          <p:spPr bwMode="auto">
            <a:xfrm>
              <a:off x="2289175" y="5367338"/>
              <a:ext cx="1905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2" name="Rectangle 27"/>
            <p:cNvSpPr>
              <a:spLocks noChangeArrowheads="1"/>
            </p:cNvSpPr>
            <p:nvPr/>
          </p:nvSpPr>
          <p:spPr bwMode="auto">
            <a:xfrm>
              <a:off x="3201988" y="4867275"/>
              <a:ext cx="341312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43" name="Line 28"/>
            <p:cNvSpPr>
              <a:spLocks noChangeShapeType="1"/>
            </p:cNvSpPr>
            <p:nvPr/>
          </p:nvSpPr>
          <p:spPr bwMode="auto">
            <a:xfrm>
              <a:off x="3201988" y="5067300"/>
              <a:ext cx="3413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4" name="Line 29"/>
            <p:cNvSpPr>
              <a:spLocks noChangeShapeType="1"/>
            </p:cNvSpPr>
            <p:nvPr/>
          </p:nvSpPr>
          <p:spPr bwMode="auto">
            <a:xfrm>
              <a:off x="3201988" y="5272088"/>
              <a:ext cx="3413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5" name="Line 30"/>
            <p:cNvSpPr>
              <a:spLocks noChangeShapeType="1"/>
            </p:cNvSpPr>
            <p:nvPr/>
          </p:nvSpPr>
          <p:spPr bwMode="auto">
            <a:xfrm>
              <a:off x="3201988" y="5476875"/>
              <a:ext cx="3413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6" name="Rectangle 31"/>
            <p:cNvSpPr>
              <a:spLocks noChangeArrowheads="1"/>
            </p:cNvSpPr>
            <p:nvPr/>
          </p:nvSpPr>
          <p:spPr bwMode="auto">
            <a:xfrm>
              <a:off x="3186113" y="546100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47" name="Line 33"/>
            <p:cNvSpPr>
              <a:spLocks noChangeShapeType="1"/>
            </p:cNvSpPr>
            <p:nvPr/>
          </p:nvSpPr>
          <p:spPr bwMode="auto">
            <a:xfrm>
              <a:off x="2986088" y="5584825"/>
              <a:ext cx="1968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8" name="Rectangle 34"/>
            <p:cNvSpPr>
              <a:spLocks noChangeArrowheads="1"/>
            </p:cNvSpPr>
            <p:nvPr/>
          </p:nvSpPr>
          <p:spPr bwMode="auto">
            <a:xfrm>
              <a:off x="3924300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49" name="Line 35"/>
            <p:cNvSpPr>
              <a:spLocks noChangeShapeType="1"/>
            </p:cNvSpPr>
            <p:nvPr/>
          </p:nvSpPr>
          <p:spPr bwMode="auto">
            <a:xfrm>
              <a:off x="3924300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0" name="Line 36"/>
            <p:cNvSpPr>
              <a:spLocks noChangeShapeType="1"/>
            </p:cNvSpPr>
            <p:nvPr/>
          </p:nvSpPr>
          <p:spPr bwMode="auto">
            <a:xfrm>
              <a:off x="3924300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1" name="Line 37"/>
            <p:cNvSpPr>
              <a:spLocks noChangeShapeType="1"/>
            </p:cNvSpPr>
            <p:nvPr/>
          </p:nvSpPr>
          <p:spPr bwMode="auto">
            <a:xfrm>
              <a:off x="3924300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2" name="Rectangle 38"/>
            <p:cNvSpPr>
              <a:spLocks noChangeArrowheads="1"/>
            </p:cNvSpPr>
            <p:nvPr/>
          </p:nvSpPr>
          <p:spPr bwMode="auto">
            <a:xfrm>
              <a:off x="3910013" y="546100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53" name="Line 40"/>
            <p:cNvSpPr>
              <a:spLocks noChangeShapeType="1"/>
            </p:cNvSpPr>
            <p:nvPr/>
          </p:nvSpPr>
          <p:spPr bwMode="auto">
            <a:xfrm>
              <a:off x="3722688" y="5367338"/>
              <a:ext cx="1889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4" name="Rectangle 41"/>
            <p:cNvSpPr>
              <a:spLocks noChangeArrowheads="1"/>
            </p:cNvSpPr>
            <p:nvPr/>
          </p:nvSpPr>
          <p:spPr bwMode="auto">
            <a:xfrm>
              <a:off x="4646613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55" name="Line 42"/>
            <p:cNvSpPr>
              <a:spLocks noChangeShapeType="1"/>
            </p:cNvSpPr>
            <p:nvPr/>
          </p:nvSpPr>
          <p:spPr bwMode="auto">
            <a:xfrm>
              <a:off x="4646613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6" name="Line 43"/>
            <p:cNvSpPr>
              <a:spLocks noChangeShapeType="1"/>
            </p:cNvSpPr>
            <p:nvPr/>
          </p:nvSpPr>
          <p:spPr bwMode="auto">
            <a:xfrm>
              <a:off x="4646613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7" name="Line 44"/>
            <p:cNvSpPr>
              <a:spLocks noChangeShapeType="1"/>
            </p:cNvSpPr>
            <p:nvPr/>
          </p:nvSpPr>
          <p:spPr bwMode="auto">
            <a:xfrm>
              <a:off x="4646613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8" name="Rectangle 45"/>
            <p:cNvSpPr>
              <a:spLocks noChangeArrowheads="1"/>
            </p:cNvSpPr>
            <p:nvPr/>
          </p:nvSpPr>
          <p:spPr bwMode="auto">
            <a:xfrm>
              <a:off x="4621213" y="546735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59" name="Line 47"/>
            <p:cNvSpPr>
              <a:spLocks noChangeShapeType="1"/>
            </p:cNvSpPr>
            <p:nvPr/>
          </p:nvSpPr>
          <p:spPr bwMode="auto">
            <a:xfrm>
              <a:off x="4432300" y="5176838"/>
              <a:ext cx="1889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0" name="Rectangle 48"/>
            <p:cNvSpPr>
              <a:spLocks noChangeArrowheads="1"/>
            </p:cNvSpPr>
            <p:nvPr/>
          </p:nvSpPr>
          <p:spPr bwMode="auto">
            <a:xfrm>
              <a:off x="5356225" y="4867275"/>
              <a:ext cx="3429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61" name="Line 49"/>
            <p:cNvSpPr>
              <a:spLocks noChangeShapeType="1"/>
            </p:cNvSpPr>
            <p:nvPr/>
          </p:nvSpPr>
          <p:spPr bwMode="auto">
            <a:xfrm>
              <a:off x="5356225" y="5067300"/>
              <a:ext cx="3429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2" name="Line 50"/>
            <p:cNvSpPr>
              <a:spLocks noChangeShapeType="1"/>
            </p:cNvSpPr>
            <p:nvPr/>
          </p:nvSpPr>
          <p:spPr bwMode="auto">
            <a:xfrm>
              <a:off x="5356225" y="5272088"/>
              <a:ext cx="3429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3" name="Line 51"/>
            <p:cNvSpPr>
              <a:spLocks noChangeShapeType="1"/>
            </p:cNvSpPr>
            <p:nvPr/>
          </p:nvSpPr>
          <p:spPr bwMode="auto">
            <a:xfrm>
              <a:off x="5356225" y="5476875"/>
              <a:ext cx="3429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4" name="Rectangle 52"/>
            <p:cNvSpPr>
              <a:spLocks noChangeArrowheads="1"/>
            </p:cNvSpPr>
            <p:nvPr/>
          </p:nvSpPr>
          <p:spPr bwMode="auto">
            <a:xfrm>
              <a:off x="5341938" y="546735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65" name="Line 54"/>
            <p:cNvSpPr>
              <a:spLocks noChangeShapeType="1"/>
            </p:cNvSpPr>
            <p:nvPr/>
          </p:nvSpPr>
          <p:spPr bwMode="auto">
            <a:xfrm>
              <a:off x="5153025" y="5367338"/>
              <a:ext cx="203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6" name="Rectangle 55"/>
            <p:cNvSpPr>
              <a:spLocks noChangeArrowheads="1"/>
            </p:cNvSpPr>
            <p:nvPr/>
          </p:nvSpPr>
          <p:spPr bwMode="auto">
            <a:xfrm>
              <a:off x="6080125" y="4867275"/>
              <a:ext cx="341313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67" name="Line 56"/>
            <p:cNvSpPr>
              <a:spLocks noChangeShapeType="1"/>
            </p:cNvSpPr>
            <p:nvPr/>
          </p:nvSpPr>
          <p:spPr bwMode="auto">
            <a:xfrm>
              <a:off x="6080125" y="5067300"/>
              <a:ext cx="341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8" name="Line 57"/>
            <p:cNvSpPr>
              <a:spLocks noChangeShapeType="1"/>
            </p:cNvSpPr>
            <p:nvPr/>
          </p:nvSpPr>
          <p:spPr bwMode="auto">
            <a:xfrm>
              <a:off x="6080125" y="5272088"/>
              <a:ext cx="341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9" name="Line 58"/>
            <p:cNvSpPr>
              <a:spLocks noChangeShapeType="1"/>
            </p:cNvSpPr>
            <p:nvPr/>
          </p:nvSpPr>
          <p:spPr bwMode="auto">
            <a:xfrm>
              <a:off x="6080125" y="5476875"/>
              <a:ext cx="341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0" name="Rectangle 59"/>
            <p:cNvSpPr>
              <a:spLocks noChangeArrowheads="1"/>
            </p:cNvSpPr>
            <p:nvPr/>
          </p:nvSpPr>
          <p:spPr bwMode="auto">
            <a:xfrm>
              <a:off x="6064250" y="546100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42</a:t>
              </a:r>
            </a:p>
          </p:txBody>
        </p:sp>
        <p:sp>
          <p:nvSpPr>
            <p:cNvPr id="13371" name="Line 61"/>
            <p:cNvSpPr>
              <a:spLocks noChangeShapeType="1"/>
            </p:cNvSpPr>
            <p:nvPr/>
          </p:nvSpPr>
          <p:spPr bwMode="auto">
            <a:xfrm>
              <a:off x="5864225" y="5584825"/>
              <a:ext cx="203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2" name="Rectangle 62"/>
            <p:cNvSpPr>
              <a:spLocks noChangeArrowheads="1"/>
            </p:cNvSpPr>
            <p:nvPr/>
          </p:nvSpPr>
          <p:spPr bwMode="auto">
            <a:xfrm>
              <a:off x="2503488" y="52641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373" name="Rectangle 63"/>
            <p:cNvSpPr>
              <a:spLocks noChangeArrowheads="1"/>
            </p:cNvSpPr>
            <p:nvPr/>
          </p:nvSpPr>
          <p:spPr bwMode="auto">
            <a:xfrm>
              <a:off x="3960813" y="52641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374" name="Rectangle 64"/>
            <p:cNvSpPr>
              <a:spLocks noChangeArrowheads="1"/>
            </p:cNvSpPr>
            <p:nvPr/>
          </p:nvSpPr>
          <p:spPr bwMode="auto">
            <a:xfrm>
              <a:off x="4670425" y="52641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375" name="Rectangle 65"/>
            <p:cNvSpPr>
              <a:spLocks noChangeArrowheads="1"/>
            </p:cNvSpPr>
            <p:nvPr/>
          </p:nvSpPr>
          <p:spPr bwMode="auto">
            <a:xfrm>
              <a:off x="4670425" y="5059363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3376" name="Rectangle 66"/>
            <p:cNvSpPr>
              <a:spLocks noChangeArrowheads="1"/>
            </p:cNvSpPr>
            <p:nvPr/>
          </p:nvSpPr>
          <p:spPr bwMode="auto">
            <a:xfrm>
              <a:off x="5348288" y="526415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30</a:t>
              </a:r>
            </a:p>
          </p:txBody>
        </p:sp>
        <p:sp>
          <p:nvSpPr>
            <p:cNvPr id="13377" name="Rectangle 67"/>
            <p:cNvSpPr>
              <a:spLocks noChangeArrowheads="1"/>
            </p:cNvSpPr>
            <p:nvPr/>
          </p:nvSpPr>
          <p:spPr bwMode="auto">
            <a:xfrm>
              <a:off x="1793875" y="5730875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378" name="Rectangle 68"/>
            <p:cNvSpPr>
              <a:spLocks noChangeArrowheads="1"/>
            </p:cNvSpPr>
            <p:nvPr/>
          </p:nvSpPr>
          <p:spPr bwMode="auto">
            <a:xfrm>
              <a:off x="2514600" y="5745163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379" name="Rectangle 69"/>
            <p:cNvSpPr>
              <a:spLocks noChangeArrowheads="1"/>
            </p:cNvSpPr>
            <p:nvPr/>
          </p:nvSpPr>
          <p:spPr bwMode="auto">
            <a:xfrm>
              <a:off x="3240088" y="5734050"/>
              <a:ext cx="25968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*</a:t>
              </a:r>
            </a:p>
          </p:txBody>
        </p:sp>
        <p:sp>
          <p:nvSpPr>
            <p:cNvPr id="13380" name="Rectangle 70"/>
            <p:cNvSpPr>
              <a:spLocks noChangeArrowheads="1"/>
            </p:cNvSpPr>
            <p:nvPr/>
          </p:nvSpPr>
          <p:spPr bwMode="auto">
            <a:xfrm>
              <a:off x="3973513" y="57340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381" name="Rectangle 71"/>
            <p:cNvSpPr>
              <a:spLocks noChangeArrowheads="1"/>
            </p:cNvSpPr>
            <p:nvPr/>
          </p:nvSpPr>
          <p:spPr bwMode="auto">
            <a:xfrm>
              <a:off x="4670425" y="5745163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3382" name="Rectangle 72"/>
            <p:cNvSpPr>
              <a:spLocks noChangeArrowheads="1"/>
            </p:cNvSpPr>
            <p:nvPr/>
          </p:nvSpPr>
          <p:spPr bwMode="auto">
            <a:xfrm>
              <a:off x="5405438" y="5734050"/>
              <a:ext cx="25968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*</a:t>
              </a:r>
            </a:p>
          </p:txBody>
        </p:sp>
        <p:sp>
          <p:nvSpPr>
            <p:cNvPr id="13383" name="Rectangle 73"/>
            <p:cNvSpPr>
              <a:spLocks noChangeArrowheads="1"/>
            </p:cNvSpPr>
            <p:nvPr/>
          </p:nvSpPr>
          <p:spPr bwMode="auto">
            <a:xfrm>
              <a:off x="6127750" y="5734050"/>
              <a:ext cx="25968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+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46926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3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FC0298B3-9AD7-49A9-919D-FAE0D267F23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Processor Organization 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10800000">
            <a:off x="46482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10800000">
            <a:off x="35052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10800000">
            <a:off x="75438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10800000">
            <a:off x="60198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7" name="Rectangle 3"/>
          <p:cNvSpPr txBox="1">
            <a:spLocks noChangeArrowheads="1"/>
          </p:cNvSpPr>
          <p:nvPr/>
        </p:nvSpPr>
        <p:spPr bwMode="auto">
          <a:xfrm>
            <a:off x="1981200" y="1227138"/>
            <a:ext cx="8229600" cy="547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400" b="1"/>
              <a:t>In general, most processors are organized in one of 3 ways</a:t>
            </a:r>
          </a:p>
          <a:p>
            <a:pPr eaLnBrk="1" hangingPunct="1"/>
            <a:endParaRPr lang="en-US" altLang="ko-KR" sz="2400" b="1"/>
          </a:p>
          <a:p>
            <a:pPr lvl="1" eaLnBrk="1" hangingPunct="1"/>
            <a:r>
              <a:rPr lang="en-US" altLang="ko-KR" sz="2000" b="1"/>
              <a:t>Single register (Accumulator) organization</a:t>
            </a:r>
          </a:p>
          <a:p>
            <a:pPr lvl="2" eaLnBrk="1" hangingPunct="1"/>
            <a:r>
              <a:rPr lang="en-US" altLang="ko-KR" sz="1800" b="1"/>
              <a:t>Basic Computer is a good example</a:t>
            </a:r>
          </a:p>
          <a:p>
            <a:pPr lvl="2" eaLnBrk="1" hangingPunct="1"/>
            <a:r>
              <a:rPr lang="en-US" altLang="ko-KR" sz="1800" b="1"/>
              <a:t>Accumulator is the only general purpose register</a:t>
            </a:r>
          </a:p>
          <a:p>
            <a:pPr lvl="2" eaLnBrk="1" hangingPunct="1"/>
            <a:endParaRPr lang="en-US" altLang="ko-KR" sz="1800" b="1"/>
          </a:p>
          <a:p>
            <a:pPr lvl="1" eaLnBrk="1" hangingPunct="1"/>
            <a:r>
              <a:rPr lang="en-US" altLang="ko-KR" sz="2000" b="1"/>
              <a:t>General register organization</a:t>
            </a:r>
          </a:p>
          <a:p>
            <a:pPr lvl="2" eaLnBrk="1" hangingPunct="1"/>
            <a:r>
              <a:rPr lang="en-US" altLang="ko-KR" sz="1800" b="1"/>
              <a:t>Used by most modern computer processors</a:t>
            </a:r>
          </a:p>
          <a:p>
            <a:pPr lvl="2" eaLnBrk="1" hangingPunct="1"/>
            <a:r>
              <a:rPr lang="en-US" altLang="ko-KR" sz="1800" b="1"/>
              <a:t>Any of the registers can be used as the source or destination for computer operations</a:t>
            </a:r>
          </a:p>
          <a:p>
            <a:pPr lvl="2" eaLnBrk="1" hangingPunct="1"/>
            <a:endParaRPr lang="en-US" altLang="ko-KR" sz="1800" b="1"/>
          </a:p>
          <a:p>
            <a:pPr lvl="1" eaLnBrk="1" hangingPunct="1"/>
            <a:r>
              <a:rPr lang="en-US" altLang="ko-KR" sz="2000" b="1"/>
              <a:t>Stack organization</a:t>
            </a:r>
          </a:p>
          <a:p>
            <a:pPr lvl="2" eaLnBrk="1" hangingPunct="1"/>
            <a:r>
              <a:rPr lang="en-US" altLang="ko-KR" sz="1800" b="1"/>
              <a:t>All operations are done using the hardware stack</a:t>
            </a:r>
          </a:p>
        </p:txBody>
      </p:sp>
    </p:spTree>
    <p:extLst>
      <p:ext uri="{BB962C8B-B14F-4D97-AF65-F5344CB8AC3E}">
        <p14:creationId xmlns="" xmlns:p14="http://schemas.microsoft.com/office/powerpoint/2010/main" val="278250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292281B-32BB-4F2D-B7A6-7402B9D3500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Instruction Format</a:t>
            </a:r>
          </a:p>
        </p:txBody>
      </p:sp>
      <p:sp>
        <p:nvSpPr>
          <p:cNvPr id="15367" name="Rectangle 3"/>
          <p:cNvSpPr>
            <a:spLocks noChangeArrowheads="1"/>
          </p:cNvSpPr>
          <p:nvPr/>
        </p:nvSpPr>
        <p:spPr bwMode="auto">
          <a:xfrm>
            <a:off x="2139951" y="1460500"/>
            <a:ext cx="8213725" cy="2017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1524000" indent="-1524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2000"/>
              </a:lnSpc>
              <a:spcBef>
                <a:spcPct val="4600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lnSpc>
                <a:spcPct val="92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 smtClean="0"/>
              <a:t>OP-code </a:t>
            </a:r>
            <a:r>
              <a:rPr lang="en-US" altLang="ko-KR" sz="1800" b="1" dirty="0"/>
              <a:t>field - specifies the operation to be performed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 smtClean="0"/>
              <a:t>Address </a:t>
            </a:r>
            <a:r>
              <a:rPr lang="en-US" altLang="ko-KR" sz="1800" b="1" dirty="0"/>
              <a:t>field - designates memory address(</a:t>
            </a:r>
            <a:r>
              <a:rPr lang="en-US" altLang="ko-KR" sz="1800" b="1" dirty="0" err="1"/>
              <a:t>es</a:t>
            </a:r>
            <a:r>
              <a:rPr lang="en-US" altLang="ko-KR" sz="1800" b="1" dirty="0"/>
              <a:t>) or a processor register(s)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 smtClean="0"/>
              <a:t>Mode </a:t>
            </a:r>
            <a:r>
              <a:rPr lang="en-US" altLang="ko-KR" sz="1800" b="1" dirty="0"/>
              <a:t>field      - determines how the address field is to be interpreted (to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/>
              <a:t>	   get effective address or the operand)</a:t>
            </a:r>
          </a:p>
        </p:txBody>
      </p:sp>
      <p:sp>
        <p:nvSpPr>
          <p:cNvPr id="15368" name="Rectangle 4"/>
          <p:cNvSpPr>
            <a:spLocks noChangeArrowheads="1"/>
          </p:cNvSpPr>
          <p:nvPr/>
        </p:nvSpPr>
        <p:spPr bwMode="auto">
          <a:xfrm>
            <a:off x="1716088" y="2590800"/>
            <a:ext cx="8647112" cy="2205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/>
              <a:t> </a:t>
            </a:r>
            <a:endParaRPr lang="en-US" altLang="ko-KR" sz="2000" b="1" dirty="0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ko-KR" sz="2000" b="1" dirty="0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ko-KR" sz="2000" b="1" dirty="0" smtClean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 smtClean="0"/>
              <a:t>The </a:t>
            </a:r>
            <a:r>
              <a:rPr lang="en-US" altLang="ko-KR" sz="2000" b="1" dirty="0"/>
              <a:t>number of address fields in the instruction format depends on the internal             	organization of </a:t>
            </a:r>
            <a:r>
              <a:rPr lang="en-US" altLang="ko-KR" sz="2000" b="1" dirty="0" smtClean="0"/>
              <a:t>CPU</a:t>
            </a: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</p:txBody>
      </p:sp>
      <p:sp>
        <p:nvSpPr>
          <p:cNvPr id="15370" name="Rectangle 7"/>
          <p:cNvSpPr>
            <a:spLocks noChangeArrowheads="1"/>
          </p:cNvSpPr>
          <p:nvPr/>
        </p:nvSpPr>
        <p:spPr bwMode="auto">
          <a:xfrm>
            <a:off x="1716088" y="1050926"/>
            <a:ext cx="2197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/>
              <a:t> </a:t>
            </a:r>
            <a:r>
              <a:rPr lang="en-US" altLang="ko-KR" sz="2000" b="1" dirty="0" smtClean="0"/>
              <a:t>Instruction </a:t>
            </a:r>
            <a:r>
              <a:rPr lang="en-US" altLang="ko-KR" sz="2000" b="1" dirty="0"/>
              <a:t>Fields</a:t>
            </a:r>
          </a:p>
        </p:txBody>
      </p:sp>
    </p:spTree>
    <p:extLst>
      <p:ext uri="{BB962C8B-B14F-4D97-AF65-F5344CB8AC3E}">
        <p14:creationId xmlns="" xmlns:p14="http://schemas.microsoft.com/office/powerpoint/2010/main" val="64544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292281B-32BB-4F2D-B7A6-7402B9D3500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Instruction Format</a:t>
            </a:r>
          </a:p>
        </p:txBody>
      </p:sp>
      <p:sp>
        <p:nvSpPr>
          <p:cNvPr id="15368" name="Rectangle 4"/>
          <p:cNvSpPr>
            <a:spLocks noChangeArrowheads="1"/>
          </p:cNvSpPr>
          <p:nvPr/>
        </p:nvSpPr>
        <p:spPr bwMode="auto">
          <a:xfrm>
            <a:off x="3450254" y="1654076"/>
            <a:ext cx="5619101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 smtClean="0"/>
              <a:t>The </a:t>
            </a:r>
            <a:r>
              <a:rPr lang="en-US" altLang="ko-KR" sz="2000" b="1" dirty="0"/>
              <a:t>three most common CPU organizations: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</p:txBody>
      </p:sp>
      <p:sp>
        <p:nvSpPr>
          <p:cNvPr id="15369" name="Rectangle 6"/>
          <p:cNvSpPr>
            <a:spLocks noChangeArrowheads="1"/>
          </p:cNvSpPr>
          <p:nvPr/>
        </p:nvSpPr>
        <p:spPr bwMode="auto">
          <a:xfrm>
            <a:off x="2926556" y="2473325"/>
            <a:ext cx="6338887" cy="284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19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Single accumulator organization: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ADD	X	                /* AC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AC + M[X]  */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General register organization: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ADD	R1, R2, R3	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R2 + R3  */	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    ADD	R1, R2	            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R1 + R2  */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MOV	R1, R2	            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R2  */	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    ADD	R1, X	            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R1 + M[X]  */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Stack organization: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PUSH	X	                /* TOS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M[X]  */	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    ADD	</a:t>
            </a:r>
          </a:p>
        </p:txBody>
      </p:sp>
    </p:spTree>
    <p:extLst>
      <p:ext uri="{BB962C8B-B14F-4D97-AF65-F5344CB8AC3E}">
        <p14:creationId xmlns="" xmlns:p14="http://schemas.microsoft.com/office/powerpoint/2010/main" val="359507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8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49AA7AC-53AE-42B9-BD99-5CF2DB3DCCDD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63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Three &amp; Two Address Instruction</a:t>
            </a:r>
          </a:p>
        </p:txBody>
      </p:sp>
      <p:sp>
        <p:nvSpPr>
          <p:cNvPr id="16391" name="Rectangle 2"/>
          <p:cNvSpPr>
            <a:spLocks noChangeArrowheads="1"/>
          </p:cNvSpPr>
          <p:nvPr/>
        </p:nvSpPr>
        <p:spPr bwMode="auto">
          <a:xfrm>
            <a:off x="1981200" y="1309688"/>
            <a:ext cx="8305800" cy="531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Three-Address 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Program to evaluate  X = (A + B) * (C + D) :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r>
              <a:rPr lang="en-US" altLang="ko-KR" sz="1800" b="1"/>
              <a:t>		ADD	R1, A, B	   /*    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M[A] + M[B]	          */		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r>
              <a:rPr lang="en-US" altLang="ko-KR" sz="1800" b="1"/>
              <a:t>        		ADD	R2, C, D	   /*     R2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M[C] + M[D]	          */		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r>
              <a:rPr lang="en-US" altLang="ko-KR" sz="1800" b="1"/>
              <a:t>        		MUL	X, R1, R2  /*     M[X]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* R2                            */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endParaRPr lang="en-US" altLang="ko-KR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	- Results in short programs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  			- Instruction becomes long (many bits)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Two-Address Instructions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	 Program to evaluate  X = (A + B) * (C + D)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MOV    R1, A               /*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M[A]     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ADD     R1, B               /*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+ M[B]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MOV    R2, C               /* R2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M[C]     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ADD     R2, D               /* R2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R2 + M[D]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MUL     R1, R2             /*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* R2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MOV     X, R1               /* M[X]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    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/>
          </a:p>
        </p:txBody>
      </p:sp>
    </p:spTree>
    <p:extLst>
      <p:ext uri="{BB962C8B-B14F-4D97-AF65-F5344CB8AC3E}">
        <p14:creationId xmlns="" xmlns:p14="http://schemas.microsoft.com/office/powerpoint/2010/main" val="309415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8B4C98F-5F36-40A1-BFAE-F28E13C5510D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One Address Instruction</a:t>
            </a:r>
          </a:p>
        </p:txBody>
      </p:sp>
      <p:sp>
        <p:nvSpPr>
          <p:cNvPr id="17415" name="Rectangle 3"/>
          <p:cNvSpPr>
            <a:spLocks noChangeArrowheads="1"/>
          </p:cNvSpPr>
          <p:nvPr/>
        </p:nvSpPr>
        <p:spPr bwMode="auto">
          <a:xfrm>
            <a:off x="1827214" y="1408114"/>
            <a:ext cx="4154487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800" b="1"/>
              <a:t> One-Address Instructions</a:t>
            </a:r>
          </a:p>
        </p:txBody>
      </p:sp>
      <p:sp>
        <p:nvSpPr>
          <p:cNvPr id="17416" name="Rectangle 4"/>
          <p:cNvSpPr>
            <a:spLocks noChangeArrowheads="1"/>
          </p:cNvSpPr>
          <p:nvPr/>
        </p:nvSpPr>
        <p:spPr bwMode="auto">
          <a:xfrm>
            <a:off x="2239963" y="1905000"/>
            <a:ext cx="68707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- Use an implied AC register for all data manipulation</a:t>
            </a:r>
          </a:p>
        </p:txBody>
      </p:sp>
      <p:sp>
        <p:nvSpPr>
          <p:cNvPr id="17417" name="Rectangle 5"/>
          <p:cNvSpPr>
            <a:spLocks noChangeArrowheads="1"/>
          </p:cNvSpPr>
          <p:nvPr/>
        </p:nvSpPr>
        <p:spPr bwMode="auto">
          <a:xfrm>
            <a:off x="2239964" y="2322514"/>
            <a:ext cx="561022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- Program to evaluate  X = (A + B) * (C + D) :</a:t>
            </a:r>
          </a:p>
        </p:txBody>
      </p:sp>
      <p:sp>
        <p:nvSpPr>
          <p:cNvPr id="17418" name="Rectangle 7"/>
          <p:cNvSpPr>
            <a:spLocks noChangeArrowheads="1"/>
          </p:cNvSpPr>
          <p:nvPr/>
        </p:nvSpPr>
        <p:spPr bwMode="auto">
          <a:xfrm>
            <a:off x="3124200" y="3048000"/>
            <a:ext cx="6521450" cy="267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LOAD   	A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M[A]   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ADD     	B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+ M[B]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STORE  	T            /*  M[T]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  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LOAD   	C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M[C]   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ADD     	D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+ M[D]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MUL     	T 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* M[T]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STORE  	X           /*  M[X]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  	*/</a:t>
            </a:r>
          </a:p>
        </p:txBody>
      </p:sp>
    </p:spTree>
    <p:extLst>
      <p:ext uri="{BB962C8B-B14F-4D97-AF65-F5344CB8AC3E}">
        <p14:creationId xmlns="" xmlns:p14="http://schemas.microsoft.com/office/powerpoint/2010/main" val="316851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3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3759C832-F70C-4E50-8865-E79B4F7FFA9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84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Zero Address Instruction</a:t>
            </a:r>
          </a:p>
        </p:txBody>
      </p:sp>
      <p:grpSp>
        <p:nvGrpSpPr>
          <p:cNvPr id="18439" name="Group 17"/>
          <p:cNvGrpSpPr>
            <a:grpSpLocks/>
          </p:cNvGrpSpPr>
          <p:nvPr/>
        </p:nvGrpSpPr>
        <p:grpSpPr bwMode="auto">
          <a:xfrm>
            <a:off x="1827214" y="1447800"/>
            <a:ext cx="7756525" cy="4191000"/>
            <a:chOff x="303213" y="3584575"/>
            <a:chExt cx="7756525" cy="4191000"/>
          </a:xfrm>
        </p:grpSpPr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303213" y="3584575"/>
              <a:ext cx="4202817" cy="420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ko-KR" sz="2800" b="1"/>
                <a:t> Zero-Address Instructions</a:t>
              </a: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715963" y="4230747"/>
              <a:ext cx="5880905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/>
                <a:t>- Can be found in a stack-organized computer</a:t>
              </a: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715963" y="4687947"/>
              <a:ext cx="5609997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/>
                <a:t>- Program to evaluate  X = (A + B) * (C + D) :</a:t>
              </a: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1663700" y="5365556"/>
              <a:ext cx="6396038" cy="2410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15240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A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A	*/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B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B	*/	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ADD	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(A + B)	*/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C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C	*/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D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D	*/	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ADD	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(C + D)	*/	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MUL	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(C + D) * (A + B)  */  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POP	X	/*  M[X]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TOS	*/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43264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57346" name="Picture 2" descr="Addressing Modes - Computer Architecture and Organisation (CAO) - Computer  Science Engineering (CSE) PDF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36" y="1513598"/>
            <a:ext cx="7836045" cy="230262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2072958" y="5083628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Addressing </a:t>
            </a:r>
            <a:r>
              <a:rPr lang="en-US" altLang="en-US" b="1" dirty="0" smtClean="0"/>
              <a:t>Modes</a:t>
            </a:r>
            <a:endParaRPr lang="en-US" altLang="en-US" b="1" dirty="0"/>
          </a:p>
        </p:txBody>
      </p:sp>
    </p:spTree>
    <p:extLst>
      <p:ext uri="{BB962C8B-B14F-4D97-AF65-F5344CB8AC3E}">
        <p14:creationId xmlns="" xmlns:p14="http://schemas.microsoft.com/office/powerpoint/2010/main" val="451333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5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E69108A-EAAB-4339-A911-FAB59660781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1946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Addressing Mode</a:t>
            </a:r>
          </a:p>
        </p:txBody>
      </p:sp>
      <p:sp>
        <p:nvSpPr>
          <p:cNvPr id="19463" name="Rectangle 4"/>
          <p:cNvSpPr>
            <a:spLocks noChangeArrowheads="1"/>
          </p:cNvSpPr>
          <p:nvPr/>
        </p:nvSpPr>
        <p:spPr bwMode="auto">
          <a:xfrm>
            <a:off x="1984375" y="2464387"/>
            <a:ext cx="8223250" cy="2616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1000"/>
              </a:lnSpc>
              <a:spcBef>
                <a:spcPct val="45000"/>
              </a:spcBef>
              <a:buFontTx/>
              <a:buNone/>
            </a:pPr>
            <a:r>
              <a:rPr lang="en-US" altLang="ko-KR" sz="2000" b="1" u="sng" dirty="0" smtClean="0"/>
              <a:t>Addressing </a:t>
            </a:r>
            <a:r>
              <a:rPr lang="en-US" altLang="ko-KR" sz="2000" b="1" u="sng" dirty="0"/>
              <a:t>Modes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</a:t>
            </a:r>
            <a:r>
              <a:rPr lang="en-US" altLang="ko-KR" sz="1800" b="1" dirty="0"/>
              <a:t>- Specifies a rule for interpreting or modifying the address field of the     	instruction (before the operand is actually referenced)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</a:t>
            </a:r>
            <a:r>
              <a:rPr lang="en-US" altLang="ko-KR" sz="1800" b="1" dirty="0"/>
              <a:t>- Variety of addressing modes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- to give programming flexibility to the 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    </a:t>
            </a:r>
            <a:r>
              <a:rPr lang="en-US" altLang="ko-KR" sz="1800" b="1" dirty="0"/>
              <a:t>- to use the bits in the address field of the instruction efficiently </a:t>
            </a:r>
            <a:r>
              <a:rPr lang="en-US" altLang="ko-KR" sz="2000" b="1" dirty="0"/>
              <a:t>              </a:t>
            </a:r>
          </a:p>
        </p:txBody>
      </p:sp>
    </p:spTree>
    <p:extLst>
      <p:ext uri="{BB962C8B-B14F-4D97-AF65-F5344CB8AC3E}">
        <p14:creationId xmlns="" xmlns:p14="http://schemas.microsoft.com/office/powerpoint/2010/main" val="232776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5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E69108A-EAAB-4339-A911-FAB59660781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1946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19464" name="Rectangle 4"/>
          <p:cNvSpPr>
            <a:spLocks noChangeArrowheads="1"/>
          </p:cNvSpPr>
          <p:nvPr/>
        </p:nvSpPr>
        <p:spPr bwMode="auto">
          <a:xfrm>
            <a:off x="1828800" y="1912143"/>
            <a:ext cx="8534400" cy="4283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 smtClean="0"/>
              <a:t>1</a:t>
            </a:r>
            <a:r>
              <a:rPr lang="en-US" altLang="ko-KR" sz="2000" b="1" dirty="0"/>
              <a:t>. </a:t>
            </a:r>
            <a:r>
              <a:rPr lang="en-US" altLang="ko-KR" sz="2000" b="1" u="sng" dirty="0"/>
              <a:t>Implied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Address of the operands are specified implicitly in the definition of the 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No need to specify address in the 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EA = AC, or EA = Stack[SP]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Examples from Basic Computer - CLA, CME, INP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/>
              <a:t>   </a:t>
            </a:r>
            <a:endParaRPr lang="en-US" altLang="ko-KR" sz="20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 smtClean="0"/>
              <a:t>2</a:t>
            </a:r>
            <a:r>
              <a:rPr lang="en-US" altLang="ko-KR" sz="2000" b="1" dirty="0"/>
              <a:t>. </a:t>
            </a:r>
            <a:r>
              <a:rPr lang="en-US" altLang="ko-KR" sz="2000" b="1" u="sng" dirty="0"/>
              <a:t>Immediate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Instead of specifying the address of the operand, operand itself is specified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No need to specify address in the 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However, operand itself needs to be specified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Sometimes, require more bits than the address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Fast to acquire an operand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="" xmlns:p14="http://schemas.microsoft.com/office/powerpoint/2010/main" val="138983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13F7F16-3ABF-46D6-B4B9-0287C45ED78F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905000" y="1131889"/>
            <a:ext cx="8382000" cy="3610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endParaRPr lang="en-US" altLang="ko-KR" b="1" kern="0" dirty="0">
              <a:solidFill>
                <a:sysClr val="windowText" lastClr="000000"/>
              </a:solidFill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3. Register Mode</a:t>
            </a: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Address specified in the instruction is the register </a:t>
            </a:r>
            <a:r>
              <a:rPr lang="en-US" altLang="ko-KR" b="1" dirty="0" smtClean="0">
                <a:latin typeface="Calibri" panose="020F0502020204030204" pitchFamily="34" charset="0"/>
              </a:rPr>
              <a:t>address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Designated operand need to be in a </a:t>
            </a:r>
            <a:r>
              <a:rPr lang="en-US" altLang="ko-KR" b="1" dirty="0" smtClean="0">
                <a:latin typeface="Calibri" panose="020F0502020204030204" pitchFamily="34" charset="0"/>
              </a:rPr>
              <a:t>register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Shorter address than the memory </a:t>
            </a:r>
            <a:r>
              <a:rPr lang="en-US" altLang="ko-KR" b="1" dirty="0" smtClean="0">
                <a:latin typeface="Calibri" panose="020F0502020204030204" pitchFamily="34" charset="0"/>
              </a:rPr>
              <a:t>address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Saving address field in the </a:t>
            </a:r>
            <a:r>
              <a:rPr lang="en-US" altLang="ko-KR" b="1" dirty="0" smtClean="0">
                <a:latin typeface="Calibri" panose="020F0502020204030204" pitchFamily="34" charset="0"/>
              </a:rPr>
              <a:t>instruction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Faster to acquire an operand than the memory </a:t>
            </a:r>
            <a:r>
              <a:rPr lang="en-US" altLang="ko-KR" b="1" dirty="0" smtClean="0">
                <a:latin typeface="Calibri" panose="020F0502020204030204" pitchFamily="34" charset="0"/>
              </a:rPr>
              <a:t>addressing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EA = IR(R)  (IR(R): Register field of IR</a:t>
            </a:r>
            <a:r>
              <a:rPr lang="en-US" altLang="ko-KR" b="1" dirty="0" smtClean="0">
                <a:latin typeface="Calibri" panose="020F0502020204030204" pitchFamily="34" charset="0"/>
              </a:rPr>
              <a:t>)</a:t>
            </a:r>
            <a:endParaRPr lang="en-US" altLang="ko-KR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661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13F7F16-3ABF-46D6-B4B9-0287C45ED78F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905000" y="1131889"/>
            <a:ext cx="8382000" cy="41647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endParaRPr lang="en-US" altLang="ko-KR" b="1" kern="0" dirty="0">
              <a:solidFill>
                <a:sysClr val="windowText" lastClr="000000"/>
              </a:solidFill>
            </a:endParaRPr>
          </a:p>
          <a:p>
            <a:pPr defTabSz="762000">
              <a:defRPr/>
            </a:pPr>
            <a:r>
              <a:rPr lang="en-US" altLang="ko-KR" b="1" dirty="0" smtClean="0">
                <a:latin typeface="Calibri" panose="020F0502020204030204" pitchFamily="34" charset="0"/>
              </a:rPr>
              <a:t>4</a:t>
            </a:r>
            <a:r>
              <a:rPr lang="en-US" altLang="ko-KR" b="1" dirty="0">
                <a:latin typeface="Calibri" panose="020F0502020204030204" pitchFamily="34" charset="0"/>
              </a:rPr>
              <a:t>. Register Indirect Mode</a:t>
            </a: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 - Instruction specifies a register which contains the memory address of the  operand </a:t>
            </a:r>
          </a:p>
          <a:p>
            <a:pPr defTabSz="762000">
              <a:defRPr/>
            </a:pPr>
            <a:endParaRPr lang="en-US" altLang="ko-KR" b="1" dirty="0" smtClean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 smtClean="0">
                <a:latin typeface="Calibri" panose="020F0502020204030204" pitchFamily="34" charset="0"/>
              </a:rPr>
              <a:t>      </a:t>
            </a:r>
            <a:r>
              <a:rPr lang="en-US" altLang="ko-KR" b="1" dirty="0">
                <a:latin typeface="Calibri" panose="020F0502020204030204" pitchFamily="34" charset="0"/>
              </a:rPr>
              <a:t>- Saving instruction bits since register address is shorter than the memory address</a:t>
            </a:r>
          </a:p>
          <a:p>
            <a:pPr defTabSz="762000">
              <a:defRPr/>
            </a:pPr>
            <a:endParaRPr lang="en-US" altLang="ko-KR" b="1" dirty="0" smtClean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 smtClean="0">
                <a:latin typeface="Calibri" panose="020F0502020204030204" pitchFamily="34" charset="0"/>
              </a:rPr>
              <a:t>      </a:t>
            </a:r>
            <a:r>
              <a:rPr lang="en-US" altLang="ko-KR" b="1" dirty="0">
                <a:latin typeface="Calibri" panose="020F0502020204030204" pitchFamily="34" charset="0"/>
              </a:rPr>
              <a:t>- Slower to acquire an operand than both the register addressing or memory 	addressing</a:t>
            </a:r>
          </a:p>
          <a:p>
            <a:pPr defTabSz="762000">
              <a:defRPr/>
            </a:pPr>
            <a:endParaRPr lang="en-US" altLang="ko-KR" b="1" dirty="0" smtClean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 smtClean="0">
                <a:latin typeface="Calibri" panose="020F0502020204030204" pitchFamily="34" charset="0"/>
              </a:rPr>
              <a:t>       </a:t>
            </a:r>
            <a:r>
              <a:rPr lang="en-US" altLang="ko-KR" b="1" dirty="0">
                <a:latin typeface="Calibri" panose="020F0502020204030204" pitchFamily="34" charset="0"/>
              </a:rPr>
              <a:t>- EA = [IR(R)] ([x]: Content of x)</a:t>
            </a:r>
          </a:p>
          <a:p>
            <a:pPr defTabSz="762000">
              <a:defRPr/>
            </a:pPr>
            <a:endParaRPr lang="en-US" altLang="ko-KR" b="1" dirty="0" smtClean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 smtClean="0">
                <a:latin typeface="Calibri" panose="020F0502020204030204" pitchFamily="34" charset="0"/>
              </a:rPr>
              <a:t>5</a:t>
            </a:r>
            <a:r>
              <a:rPr lang="en-US" altLang="ko-KR" b="1" dirty="0">
                <a:latin typeface="Calibri" panose="020F0502020204030204" pitchFamily="34" charset="0"/>
              </a:rPr>
              <a:t>. </a:t>
            </a:r>
            <a:r>
              <a:rPr lang="en-US" altLang="ko-KR" b="1" dirty="0" err="1">
                <a:latin typeface="Calibri" panose="020F0502020204030204" pitchFamily="34" charset="0"/>
              </a:rPr>
              <a:t>Autoincrement</a:t>
            </a:r>
            <a:r>
              <a:rPr lang="en-US" altLang="ko-KR" b="1" dirty="0">
                <a:latin typeface="Calibri" panose="020F0502020204030204" pitchFamily="34" charset="0"/>
              </a:rPr>
              <a:t> or </a:t>
            </a:r>
            <a:r>
              <a:rPr lang="en-US" altLang="ko-KR" b="1" dirty="0" err="1">
                <a:latin typeface="Calibri" panose="020F0502020204030204" pitchFamily="34" charset="0"/>
              </a:rPr>
              <a:t>Autodecrement</a:t>
            </a:r>
            <a:r>
              <a:rPr lang="en-US" altLang="ko-KR" b="1" dirty="0">
                <a:latin typeface="Calibri" panose="020F0502020204030204" pitchFamily="34" charset="0"/>
              </a:rPr>
              <a:t> Mode</a:t>
            </a: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  - When the address in the register is used to access memory, the value in the 	register is incremented or decremented by 1 automatically</a:t>
            </a:r>
          </a:p>
        </p:txBody>
      </p:sp>
    </p:spTree>
    <p:extLst>
      <p:ext uri="{BB962C8B-B14F-4D97-AF65-F5344CB8AC3E}">
        <p14:creationId xmlns="" xmlns:p14="http://schemas.microsoft.com/office/powerpoint/2010/main" val="283197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97B3E96-0D08-4E1C-8CD1-24A7304B2E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1511" name="Rectangle 4"/>
          <p:cNvSpPr>
            <a:spLocks noChangeArrowheads="1"/>
          </p:cNvSpPr>
          <p:nvPr/>
        </p:nvSpPr>
        <p:spPr bwMode="auto">
          <a:xfrm>
            <a:off x="1865313" y="1276351"/>
            <a:ext cx="8659812" cy="3198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u="sng" dirty="0"/>
              <a:t>6. Direct Address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u="sng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</a:t>
            </a:r>
            <a:r>
              <a:rPr lang="en-US" altLang="ko-KR" sz="1800" b="1" dirty="0" smtClean="0"/>
              <a:t>-  </a:t>
            </a:r>
            <a:r>
              <a:rPr lang="en-US" altLang="ko-KR" sz="1800" b="1" dirty="0"/>
              <a:t>Instruction specifies the memory address which can be used directly to access the 	memory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- </a:t>
            </a:r>
            <a:r>
              <a:rPr lang="en-US" altLang="ko-KR" sz="1800" b="1" dirty="0"/>
              <a:t>Faster than the other memory addressing modes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</a:t>
            </a:r>
            <a:r>
              <a:rPr lang="en-US" altLang="ko-KR" sz="1800" b="1" dirty="0" smtClean="0"/>
              <a:t>       </a:t>
            </a:r>
            <a:r>
              <a:rPr lang="en-US" altLang="ko-KR" sz="1800" b="1" dirty="0"/>
              <a:t>- Too many bits are needed to specify the address for a large physical memory space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</a:t>
            </a:r>
            <a:r>
              <a:rPr lang="en-US" altLang="ko-KR" sz="1800" b="1" dirty="0" smtClean="0"/>
              <a:t>       </a:t>
            </a:r>
            <a:r>
              <a:rPr lang="en-US" altLang="ko-KR" sz="1800" b="1" dirty="0"/>
              <a:t>- EA = IR(</a:t>
            </a:r>
            <a:r>
              <a:rPr lang="en-US" altLang="ko-KR" sz="1800" b="1" dirty="0" err="1"/>
              <a:t>addr</a:t>
            </a:r>
            <a:r>
              <a:rPr lang="en-US" altLang="ko-KR" sz="1800" b="1" dirty="0"/>
              <a:t>) (IR(</a:t>
            </a:r>
            <a:r>
              <a:rPr lang="en-US" altLang="ko-KR" sz="1800" b="1" dirty="0" err="1"/>
              <a:t>addr</a:t>
            </a:r>
            <a:r>
              <a:rPr lang="en-US" altLang="ko-KR" sz="1800" b="1" dirty="0"/>
              <a:t>): address field of IR)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="" xmlns:p14="http://schemas.microsoft.com/office/powerpoint/2010/main" val="223555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97B3E96-0D08-4E1C-8CD1-24A7304B2E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1511" name="Rectangle 4"/>
          <p:cNvSpPr>
            <a:spLocks noChangeArrowheads="1"/>
          </p:cNvSpPr>
          <p:nvPr/>
        </p:nvSpPr>
        <p:spPr bwMode="auto">
          <a:xfrm>
            <a:off x="1865313" y="1276351"/>
            <a:ext cx="8659812" cy="3475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u="sng" dirty="0"/>
              <a:t>7. Indirect Addressing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u="sng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The address field of an instruction specifies the address of a memory location that 	contains the address of the operand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- </a:t>
            </a:r>
            <a:r>
              <a:rPr lang="en-US" altLang="ko-KR" sz="1800" b="1" dirty="0"/>
              <a:t>When the abbreviated address is used large physical memory can be addressed 	with a relatively small number of bits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</a:t>
            </a:r>
            <a:r>
              <a:rPr lang="en-US" altLang="ko-KR" sz="1800" b="1" dirty="0" smtClean="0"/>
              <a:t>       </a:t>
            </a:r>
            <a:r>
              <a:rPr lang="en-US" altLang="ko-KR" sz="1800" b="1" dirty="0"/>
              <a:t>- Slow to acquire an operand because of an additional memory access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</a:t>
            </a:r>
            <a:r>
              <a:rPr lang="en-US" altLang="ko-KR" sz="1800" b="1" dirty="0" smtClean="0"/>
              <a:t>       - </a:t>
            </a:r>
            <a:r>
              <a:rPr lang="en-US" altLang="ko-KR" sz="1800" b="1" dirty="0"/>
              <a:t>EA = M[IR(address)]</a:t>
            </a:r>
          </a:p>
        </p:txBody>
      </p:sp>
    </p:spTree>
    <p:extLst>
      <p:ext uri="{BB962C8B-B14F-4D97-AF65-F5344CB8AC3E}">
        <p14:creationId xmlns="" xmlns:p14="http://schemas.microsoft.com/office/powerpoint/2010/main" val="82632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C0EA7E3-DDB3-40A7-9574-AA225ED05A9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1724026" y="909638"/>
            <a:ext cx="8791575" cy="3875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u="sng" dirty="0"/>
              <a:t>8. Relative Addressing Modes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- </a:t>
            </a:r>
            <a:r>
              <a:rPr lang="en-US" altLang="ko-KR" sz="1800" b="1" dirty="0"/>
              <a:t>The Address fields of an instruction specifies the part of the address (abbreviated 	address) which can be used along with a designated register to calculate the 	address of the operand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</a:t>
            </a:r>
            <a:r>
              <a:rPr lang="en-US" altLang="ko-KR" sz="1800" b="1" dirty="0"/>
              <a:t>- Address field of the instruction is short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</a:t>
            </a:r>
            <a:r>
              <a:rPr lang="en-US" altLang="ko-KR" sz="1800" b="1" dirty="0"/>
              <a:t>- Large physical memory can be accessed with a small number of  address bits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</a:t>
            </a:r>
            <a:r>
              <a:rPr lang="en-US" altLang="ko-KR" sz="1800" b="1" dirty="0"/>
              <a:t>- EA = f(IR(address), R), R is sometimes implied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dirty="0"/>
              <a:t>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dirty="0"/>
              <a:t>         </a:t>
            </a:r>
            <a:endParaRPr lang="en-US" altLang="ko-KR" sz="1800" b="1" dirty="0"/>
          </a:p>
        </p:txBody>
      </p:sp>
    </p:spTree>
    <p:extLst>
      <p:ext uri="{BB962C8B-B14F-4D97-AF65-F5344CB8AC3E}">
        <p14:creationId xmlns="" xmlns:p14="http://schemas.microsoft.com/office/powerpoint/2010/main" val="1252956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C0EA7E3-DDB3-40A7-9574-AA225ED05A9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1724026" y="909638"/>
            <a:ext cx="8791575" cy="3813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marL="285750" indent="-285750" eaLnBrk="1" hangingPunct="1">
              <a:spcBef>
                <a:spcPct val="0"/>
              </a:spcBef>
            </a:pPr>
            <a:endParaRPr lang="en-US" altLang="ko-KR" sz="2400" b="1" dirty="0" smtClean="0"/>
          </a:p>
          <a:p>
            <a:pPr marL="285750" indent="-285750" eaLnBrk="1" hangingPunct="1">
              <a:spcBef>
                <a:spcPct val="0"/>
              </a:spcBef>
            </a:pPr>
            <a:endParaRPr lang="en-US" altLang="ko-KR" sz="2400" b="1" dirty="0"/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ko-KR" sz="2400" b="1" dirty="0" smtClean="0"/>
              <a:t>3 </a:t>
            </a:r>
            <a:r>
              <a:rPr lang="en-US" altLang="ko-KR" sz="2400" b="1" dirty="0"/>
              <a:t>different Relative Addressing Modes depending on 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/>
              <a:t>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/>
              <a:t>	PC Relative Addressing Mode (R = PC)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      - EA = PC + IR(address)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</a:t>
            </a:r>
            <a:r>
              <a:rPr lang="en-US" altLang="ko-KR" sz="2000" b="1" dirty="0"/>
              <a:t>  Indexed Addressing Mode</a:t>
            </a:r>
            <a:r>
              <a:rPr lang="en-US" altLang="ko-KR" sz="1800" b="1" dirty="0"/>
              <a:t> (R = IX, where IX: Index Register)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      - EA = IX + IR(address)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</a:t>
            </a:r>
            <a:r>
              <a:rPr lang="en-US" altLang="ko-KR" sz="2000" b="1" dirty="0"/>
              <a:t>  Base Register Addressing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		(R = BAR, where BAR: Base Address Register)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      - EA = BAR + IR(address)</a:t>
            </a:r>
          </a:p>
        </p:txBody>
      </p:sp>
    </p:spTree>
    <p:extLst>
      <p:ext uri="{BB962C8B-B14F-4D97-AF65-F5344CB8AC3E}">
        <p14:creationId xmlns="" xmlns:p14="http://schemas.microsoft.com/office/powerpoint/2010/main" val="333868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55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0DD039D9-3003-402C-8C50-1C10C3893EAC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 - Example</a:t>
            </a:r>
          </a:p>
        </p:txBody>
      </p:sp>
      <p:grpSp>
        <p:nvGrpSpPr>
          <p:cNvPr id="23559" name="Group 62"/>
          <p:cNvGrpSpPr>
            <a:grpSpLocks/>
          </p:cNvGrpSpPr>
          <p:nvPr/>
        </p:nvGrpSpPr>
        <p:grpSpPr bwMode="auto">
          <a:xfrm>
            <a:off x="1752601" y="1038225"/>
            <a:ext cx="8437563" cy="5664200"/>
            <a:chOff x="0" y="1038225"/>
            <a:chExt cx="8437619" cy="5663931"/>
          </a:xfrm>
        </p:grpSpPr>
        <p:sp>
          <p:nvSpPr>
            <p:cNvPr id="23560" name="Rectangle 3"/>
            <p:cNvSpPr>
              <a:spLocks noChangeArrowheads="1"/>
            </p:cNvSpPr>
            <p:nvPr/>
          </p:nvSpPr>
          <p:spPr bwMode="auto">
            <a:xfrm>
              <a:off x="838200" y="4340225"/>
              <a:ext cx="1112484" cy="396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Addressing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Mode</a:t>
              </a:r>
            </a:p>
          </p:txBody>
        </p:sp>
        <p:sp>
          <p:nvSpPr>
            <p:cNvPr id="23561" name="Rectangle 4"/>
            <p:cNvSpPr>
              <a:spLocks noChangeArrowheads="1"/>
            </p:cNvSpPr>
            <p:nvPr/>
          </p:nvSpPr>
          <p:spPr bwMode="auto">
            <a:xfrm>
              <a:off x="2181225" y="4340225"/>
              <a:ext cx="873637" cy="396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Effective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3562" name="Rectangle 5"/>
            <p:cNvSpPr>
              <a:spLocks noChangeArrowheads="1"/>
            </p:cNvSpPr>
            <p:nvPr/>
          </p:nvSpPr>
          <p:spPr bwMode="auto">
            <a:xfrm>
              <a:off x="4883150" y="4352925"/>
              <a:ext cx="803105" cy="396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Content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of AC</a:t>
              </a:r>
            </a:p>
          </p:txBody>
        </p:sp>
        <p:sp>
          <p:nvSpPr>
            <p:cNvPr id="23563" name="Rectangle 6"/>
            <p:cNvSpPr>
              <a:spLocks noChangeArrowheads="1"/>
            </p:cNvSpPr>
            <p:nvPr/>
          </p:nvSpPr>
          <p:spPr bwMode="auto">
            <a:xfrm>
              <a:off x="498475" y="4329113"/>
              <a:ext cx="5262563" cy="21510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64" name="Line 7"/>
            <p:cNvSpPr>
              <a:spLocks noChangeShapeType="1"/>
            </p:cNvSpPr>
            <p:nvPr/>
          </p:nvSpPr>
          <p:spPr bwMode="auto">
            <a:xfrm>
              <a:off x="509588" y="4733925"/>
              <a:ext cx="5268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Rectangle 9"/>
            <p:cNvSpPr>
              <a:spLocks noChangeArrowheads="1"/>
            </p:cNvSpPr>
            <p:nvPr/>
          </p:nvSpPr>
          <p:spPr bwMode="auto">
            <a:xfrm>
              <a:off x="0" y="4733925"/>
              <a:ext cx="5615321" cy="1968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Direct address	500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(500)	 */       800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Immediate operand	  -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500	 */       500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Indirect address	800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((500))	 */       300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Relative address	702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(PC+500)	 */       325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Indexed address	600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(RX+500)	 */       900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Register	                 -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R1	 */       400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Register indirect	400         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(R1)	 */       700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Autoincrement	400 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(R1)+	 */       700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Autodecrement	399 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-(R)	 */       450</a:t>
              </a:r>
            </a:p>
            <a:p>
              <a:pPr eaLnBrk="1" latin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66" name="Rectangle 10"/>
            <p:cNvSpPr>
              <a:spLocks noChangeArrowheads="1"/>
            </p:cNvSpPr>
            <p:nvPr/>
          </p:nvSpPr>
          <p:spPr bwMode="auto">
            <a:xfrm>
              <a:off x="6862763" y="1308100"/>
              <a:ext cx="157485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Load to AC    Mode</a:t>
              </a:r>
            </a:p>
          </p:txBody>
        </p:sp>
        <p:sp>
          <p:nvSpPr>
            <p:cNvPr id="23567" name="Line 11"/>
            <p:cNvSpPr>
              <a:spLocks noChangeShapeType="1"/>
            </p:cNvSpPr>
            <p:nvPr/>
          </p:nvSpPr>
          <p:spPr bwMode="auto">
            <a:xfrm>
              <a:off x="6886575" y="1312863"/>
              <a:ext cx="150653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8" name="Line 12"/>
            <p:cNvSpPr>
              <a:spLocks noChangeShapeType="1"/>
            </p:cNvSpPr>
            <p:nvPr/>
          </p:nvSpPr>
          <p:spPr bwMode="auto">
            <a:xfrm>
              <a:off x="6886575" y="16002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9" name="Line 13"/>
            <p:cNvSpPr>
              <a:spLocks noChangeShapeType="1"/>
            </p:cNvSpPr>
            <p:nvPr/>
          </p:nvSpPr>
          <p:spPr bwMode="auto">
            <a:xfrm>
              <a:off x="6886575" y="1828800"/>
              <a:ext cx="150653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0" name="Line 14"/>
            <p:cNvSpPr>
              <a:spLocks noChangeShapeType="1"/>
            </p:cNvSpPr>
            <p:nvPr/>
          </p:nvSpPr>
          <p:spPr bwMode="auto">
            <a:xfrm>
              <a:off x="6886575" y="20574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1" name="Line 15"/>
            <p:cNvSpPr>
              <a:spLocks noChangeShapeType="1"/>
            </p:cNvSpPr>
            <p:nvPr/>
          </p:nvSpPr>
          <p:spPr bwMode="auto">
            <a:xfrm>
              <a:off x="6886575" y="2312988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Line 16"/>
            <p:cNvSpPr>
              <a:spLocks noChangeShapeType="1"/>
            </p:cNvSpPr>
            <p:nvPr/>
          </p:nvSpPr>
          <p:spPr bwMode="auto">
            <a:xfrm>
              <a:off x="6886575" y="2511425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Line 17"/>
            <p:cNvSpPr>
              <a:spLocks noChangeShapeType="1"/>
            </p:cNvSpPr>
            <p:nvPr/>
          </p:nvSpPr>
          <p:spPr bwMode="auto">
            <a:xfrm>
              <a:off x="6886575" y="271145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4" name="Line 18"/>
            <p:cNvSpPr>
              <a:spLocks noChangeShapeType="1"/>
            </p:cNvSpPr>
            <p:nvPr/>
          </p:nvSpPr>
          <p:spPr bwMode="auto">
            <a:xfrm>
              <a:off x="6886575" y="31115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5" name="Line 19"/>
            <p:cNvSpPr>
              <a:spLocks noChangeShapeType="1"/>
            </p:cNvSpPr>
            <p:nvPr/>
          </p:nvSpPr>
          <p:spPr bwMode="auto">
            <a:xfrm>
              <a:off x="6886575" y="3309938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6" name="Line 20"/>
            <p:cNvSpPr>
              <a:spLocks noChangeShapeType="1"/>
            </p:cNvSpPr>
            <p:nvPr/>
          </p:nvSpPr>
          <p:spPr bwMode="auto">
            <a:xfrm>
              <a:off x="6886575" y="3711575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Line 21"/>
            <p:cNvSpPr>
              <a:spLocks noChangeShapeType="1"/>
            </p:cNvSpPr>
            <p:nvPr/>
          </p:nvSpPr>
          <p:spPr bwMode="auto">
            <a:xfrm>
              <a:off x="6886575" y="39116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8" name="Line 22"/>
            <p:cNvSpPr>
              <a:spLocks noChangeShapeType="1"/>
            </p:cNvSpPr>
            <p:nvPr/>
          </p:nvSpPr>
          <p:spPr bwMode="auto">
            <a:xfrm>
              <a:off x="6886575" y="431165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Line 23"/>
            <p:cNvSpPr>
              <a:spLocks noChangeShapeType="1"/>
            </p:cNvSpPr>
            <p:nvPr/>
          </p:nvSpPr>
          <p:spPr bwMode="auto">
            <a:xfrm>
              <a:off x="6886575" y="4510088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0" name="Line 24"/>
            <p:cNvSpPr>
              <a:spLocks noChangeShapeType="1"/>
            </p:cNvSpPr>
            <p:nvPr/>
          </p:nvSpPr>
          <p:spPr bwMode="auto">
            <a:xfrm>
              <a:off x="6886575" y="4911725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1" name="Line 25"/>
            <p:cNvSpPr>
              <a:spLocks noChangeShapeType="1"/>
            </p:cNvSpPr>
            <p:nvPr/>
          </p:nvSpPr>
          <p:spPr bwMode="auto">
            <a:xfrm>
              <a:off x="6886575" y="5111750"/>
              <a:ext cx="153511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2" name="Rectangle 26"/>
            <p:cNvSpPr>
              <a:spLocks noChangeArrowheads="1"/>
            </p:cNvSpPr>
            <p:nvPr/>
          </p:nvSpPr>
          <p:spPr bwMode="auto">
            <a:xfrm>
              <a:off x="7045325" y="1600200"/>
              <a:ext cx="122790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= 500</a:t>
              </a:r>
            </a:p>
          </p:txBody>
        </p:sp>
        <p:sp>
          <p:nvSpPr>
            <p:cNvPr id="23583" name="Rectangle 27"/>
            <p:cNvSpPr>
              <a:spLocks noChangeArrowheads="1"/>
            </p:cNvSpPr>
            <p:nvPr/>
          </p:nvSpPr>
          <p:spPr bwMode="auto">
            <a:xfrm>
              <a:off x="7045325" y="1828800"/>
              <a:ext cx="135453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 instruction</a:t>
              </a:r>
            </a:p>
          </p:txBody>
        </p:sp>
        <p:sp>
          <p:nvSpPr>
            <p:cNvPr id="23584" name="Rectangle 28"/>
            <p:cNvSpPr>
              <a:spLocks noChangeArrowheads="1"/>
            </p:cNvSpPr>
            <p:nvPr/>
          </p:nvSpPr>
          <p:spPr bwMode="auto">
            <a:xfrm>
              <a:off x="6445250" y="130810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</a:t>
              </a:r>
            </a:p>
          </p:txBody>
        </p:sp>
        <p:sp>
          <p:nvSpPr>
            <p:cNvPr id="23585" name="Rectangle 29"/>
            <p:cNvSpPr>
              <a:spLocks noChangeArrowheads="1"/>
            </p:cNvSpPr>
            <p:nvPr/>
          </p:nvSpPr>
          <p:spPr bwMode="auto">
            <a:xfrm>
              <a:off x="6445250" y="15097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</a:t>
              </a:r>
            </a:p>
          </p:txBody>
        </p:sp>
        <p:sp>
          <p:nvSpPr>
            <p:cNvPr id="23586" name="Rectangle 30"/>
            <p:cNvSpPr>
              <a:spLocks noChangeArrowheads="1"/>
            </p:cNvSpPr>
            <p:nvPr/>
          </p:nvSpPr>
          <p:spPr bwMode="auto">
            <a:xfrm>
              <a:off x="6400800" y="1859166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</a:t>
              </a:r>
            </a:p>
          </p:txBody>
        </p:sp>
        <p:sp>
          <p:nvSpPr>
            <p:cNvPr id="23587" name="Rectangle 31"/>
            <p:cNvSpPr>
              <a:spLocks noChangeArrowheads="1"/>
            </p:cNvSpPr>
            <p:nvPr/>
          </p:nvSpPr>
          <p:spPr bwMode="auto">
            <a:xfrm>
              <a:off x="6445250" y="23082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399</a:t>
              </a:r>
            </a:p>
          </p:txBody>
        </p:sp>
        <p:sp>
          <p:nvSpPr>
            <p:cNvPr id="23588" name="Rectangle 32"/>
            <p:cNvSpPr>
              <a:spLocks noChangeArrowheads="1"/>
            </p:cNvSpPr>
            <p:nvPr/>
          </p:nvSpPr>
          <p:spPr bwMode="auto">
            <a:xfrm>
              <a:off x="6445250" y="250825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400</a:t>
              </a:r>
            </a:p>
          </p:txBody>
        </p:sp>
        <p:sp>
          <p:nvSpPr>
            <p:cNvPr id="23589" name="Rectangle 33"/>
            <p:cNvSpPr>
              <a:spLocks noChangeArrowheads="1"/>
            </p:cNvSpPr>
            <p:nvPr/>
          </p:nvSpPr>
          <p:spPr bwMode="auto">
            <a:xfrm>
              <a:off x="7354888" y="23082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450</a:t>
              </a:r>
            </a:p>
          </p:txBody>
        </p:sp>
        <p:sp>
          <p:nvSpPr>
            <p:cNvPr id="23590" name="Rectangle 34"/>
            <p:cNvSpPr>
              <a:spLocks noChangeArrowheads="1"/>
            </p:cNvSpPr>
            <p:nvPr/>
          </p:nvSpPr>
          <p:spPr bwMode="auto">
            <a:xfrm>
              <a:off x="7354888" y="250825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700</a:t>
              </a:r>
            </a:p>
          </p:txBody>
        </p:sp>
        <p:sp>
          <p:nvSpPr>
            <p:cNvPr id="23591" name="Rectangle 35"/>
            <p:cNvSpPr>
              <a:spLocks noChangeArrowheads="1"/>
            </p:cNvSpPr>
            <p:nvPr/>
          </p:nvSpPr>
          <p:spPr bwMode="auto">
            <a:xfrm>
              <a:off x="6445250" y="3108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500</a:t>
              </a:r>
            </a:p>
          </p:txBody>
        </p:sp>
        <p:sp>
          <p:nvSpPr>
            <p:cNvPr id="23592" name="Rectangle 36"/>
            <p:cNvSpPr>
              <a:spLocks noChangeArrowheads="1"/>
            </p:cNvSpPr>
            <p:nvPr/>
          </p:nvSpPr>
          <p:spPr bwMode="auto">
            <a:xfrm>
              <a:off x="7354888" y="3108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800</a:t>
              </a:r>
            </a:p>
          </p:txBody>
        </p:sp>
        <p:sp>
          <p:nvSpPr>
            <p:cNvPr id="23593" name="Rectangle 37"/>
            <p:cNvSpPr>
              <a:spLocks noChangeArrowheads="1"/>
            </p:cNvSpPr>
            <p:nvPr/>
          </p:nvSpPr>
          <p:spPr bwMode="auto">
            <a:xfrm>
              <a:off x="6445250" y="370840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600</a:t>
              </a:r>
            </a:p>
          </p:txBody>
        </p:sp>
        <p:sp>
          <p:nvSpPr>
            <p:cNvPr id="23594" name="Rectangle 38"/>
            <p:cNvSpPr>
              <a:spLocks noChangeArrowheads="1"/>
            </p:cNvSpPr>
            <p:nvPr/>
          </p:nvSpPr>
          <p:spPr bwMode="auto">
            <a:xfrm>
              <a:off x="7354888" y="370840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900</a:t>
              </a:r>
            </a:p>
          </p:txBody>
        </p:sp>
        <p:sp>
          <p:nvSpPr>
            <p:cNvPr id="23595" name="Rectangle 39"/>
            <p:cNvSpPr>
              <a:spLocks noChangeArrowheads="1"/>
            </p:cNvSpPr>
            <p:nvPr/>
          </p:nvSpPr>
          <p:spPr bwMode="auto">
            <a:xfrm>
              <a:off x="6445250" y="430847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702</a:t>
              </a:r>
            </a:p>
          </p:txBody>
        </p:sp>
        <p:sp>
          <p:nvSpPr>
            <p:cNvPr id="23596" name="Rectangle 40"/>
            <p:cNvSpPr>
              <a:spLocks noChangeArrowheads="1"/>
            </p:cNvSpPr>
            <p:nvPr/>
          </p:nvSpPr>
          <p:spPr bwMode="auto">
            <a:xfrm>
              <a:off x="7354888" y="430847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325</a:t>
              </a:r>
            </a:p>
          </p:txBody>
        </p:sp>
        <p:sp>
          <p:nvSpPr>
            <p:cNvPr id="23597" name="Rectangle 41"/>
            <p:cNvSpPr>
              <a:spLocks noChangeArrowheads="1"/>
            </p:cNvSpPr>
            <p:nvPr/>
          </p:nvSpPr>
          <p:spPr bwMode="auto">
            <a:xfrm>
              <a:off x="6445250" y="490696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800</a:t>
              </a:r>
            </a:p>
          </p:txBody>
        </p:sp>
        <p:sp>
          <p:nvSpPr>
            <p:cNvPr id="23598" name="Rectangle 42"/>
            <p:cNvSpPr>
              <a:spLocks noChangeArrowheads="1"/>
            </p:cNvSpPr>
            <p:nvPr/>
          </p:nvSpPr>
          <p:spPr bwMode="auto">
            <a:xfrm>
              <a:off x="7354888" y="490696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300</a:t>
              </a:r>
            </a:p>
          </p:txBody>
        </p:sp>
        <p:sp>
          <p:nvSpPr>
            <p:cNvPr id="23599" name="Line 43"/>
            <p:cNvSpPr>
              <a:spLocks noChangeShapeType="1"/>
            </p:cNvSpPr>
            <p:nvPr/>
          </p:nvSpPr>
          <p:spPr bwMode="auto">
            <a:xfrm>
              <a:off x="6886575" y="1312863"/>
              <a:ext cx="0" cy="38147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Line 44"/>
            <p:cNvSpPr>
              <a:spLocks noChangeShapeType="1"/>
            </p:cNvSpPr>
            <p:nvPr/>
          </p:nvSpPr>
          <p:spPr bwMode="auto">
            <a:xfrm>
              <a:off x="8404225" y="1312863"/>
              <a:ext cx="0" cy="38147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Rectangle 45"/>
            <p:cNvSpPr>
              <a:spLocks noChangeArrowheads="1"/>
            </p:cNvSpPr>
            <p:nvPr/>
          </p:nvSpPr>
          <p:spPr bwMode="auto">
            <a:xfrm>
              <a:off x="7227888" y="1038225"/>
              <a:ext cx="77104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23602" name="Rectangle 46"/>
            <p:cNvSpPr>
              <a:spLocks noChangeArrowheads="1"/>
            </p:cNvSpPr>
            <p:nvPr/>
          </p:nvSpPr>
          <p:spPr bwMode="auto">
            <a:xfrm>
              <a:off x="6329363" y="1038225"/>
              <a:ext cx="79669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3603" name="Line 47"/>
            <p:cNvSpPr>
              <a:spLocks noChangeShapeType="1"/>
            </p:cNvSpPr>
            <p:nvPr/>
          </p:nvSpPr>
          <p:spPr bwMode="auto">
            <a:xfrm>
              <a:off x="7845425" y="1312863"/>
              <a:ext cx="0" cy="2047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Rectangle 48"/>
            <p:cNvSpPr>
              <a:spLocks noChangeArrowheads="1"/>
            </p:cNvSpPr>
            <p:nvPr/>
          </p:nvSpPr>
          <p:spPr bwMode="auto">
            <a:xfrm>
              <a:off x="4565650" y="1509713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PC = 200</a:t>
              </a:r>
            </a:p>
          </p:txBody>
        </p:sp>
        <p:sp>
          <p:nvSpPr>
            <p:cNvPr id="23605" name="Rectangle 49"/>
            <p:cNvSpPr>
              <a:spLocks noChangeArrowheads="1"/>
            </p:cNvSpPr>
            <p:nvPr/>
          </p:nvSpPr>
          <p:spPr bwMode="auto">
            <a:xfrm>
              <a:off x="4343400" y="1511300"/>
              <a:ext cx="1196975" cy="188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06" name="Rectangle 50"/>
            <p:cNvSpPr>
              <a:spLocks noChangeArrowheads="1"/>
            </p:cNvSpPr>
            <p:nvPr/>
          </p:nvSpPr>
          <p:spPr bwMode="auto">
            <a:xfrm>
              <a:off x="4565650" y="1955800"/>
              <a:ext cx="80951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 = 400</a:t>
              </a:r>
            </a:p>
          </p:txBody>
        </p:sp>
        <p:sp>
          <p:nvSpPr>
            <p:cNvPr id="23607" name="Rectangle 51"/>
            <p:cNvSpPr>
              <a:spLocks noChangeArrowheads="1"/>
            </p:cNvSpPr>
            <p:nvPr/>
          </p:nvSpPr>
          <p:spPr bwMode="auto">
            <a:xfrm>
              <a:off x="4343400" y="1970088"/>
              <a:ext cx="1196975" cy="188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08" name="Rectangle 52"/>
            <p:cNvSpPr>
              <a:spLocks noChangeArrowheads="1"/>
            </p:cNvSpPr>
            <p:nvPr/>
          </p:nvSpPr>
          <p:spPr bwMode="auto">
            <a:xfrm>
              <a:off x="4565650" y="2420938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XR = 100</a:t>
              </a:r>
            </a:p>
          </p:txBody>
        </p:sp>
        <p:sp>
          <p:nvSpPr>
            <p:cNvPr id="23609" name="Rectangle 53"/>
            <p:cNvSpPr>
              <a:spLocks noChangeArrowheads="1"/>
            </p:cNvSpPr>
            <p:nvPr/>
          </p:nvSpPr>
          <p:spPr bwMode="auto">
            <a:xfrm>
              <a:off x="4343400" y="2439988"/>
              <a:ext cx="1196975" cy="188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10" name="Rectangle 54"/>
            <p:cNvSpPr>
              <a:spLocks noChangeArrowheads="1"/>
            </p:cNvSpPr>
            <p:nvPr/>
          </p:nvSpPr>
          <p:spPr bwMode="auto">
            <a:xfrm>
              <a:off x="4752975" y="2897188"/>
              <a:ext cx="40395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</a:t>
              </a:r>
            </a:p>
          </p:txBody>
        </p:sp>
        <p:sp>
          <p:nvSpPr>
            <p:cNvPr id="23611" name="Rectangle 55"/>
            <p:cNvSpPr>
              <a:spLocks noChangeArrowheads="1"/>
            </p:cNvSpPr>
            <p:nvPr/>
          </p:nvSpPr>
          <p:spPr bwMode="auto">
            <a:xfrm>
              <a:off x="4343400" y="2911475"/>
              <a:ext cx="1196975" cy="188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87100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D408643-363E-4A5B-9371-02DE69630CB9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5604" name="TextBox 5"/>
          <p:cNvSpPr txBox="1">
            <a:spLocks noChangeArrowheads="1"/>
          </p:cNvSpPr>
          <p:nvPr/>
        </p:nvSpPr>
        <p:spPr bwMode="auto">
          <a:xfrm>
            <a:off x="1576388" y="6518275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Transfer Instructions</a:t>
            </a:r>
          </a:p>
        </p:txBody>
      </p:sp>
      <p:grpSp>
        <p:nvGrpSpPr>
          <p:cNvPr id="25607" name="Group 34"/>
          <p:cNvGrpSpPr>
            <a:grpSpLocks/>
          </p:cNvGrpSpPr>
          <p:nvPr/>
        </p:nvGrpSpPr>
        <p:grpSpPr bwMode="auto">
          <a:xfrm>
            <a:off x="2303464" y="1819276"/>
            <a:ext cx="5083175" cy="2600325"/>
            <a:chOff x="779463" y="904875"/>
            <a:chExt cx="5083175" cy="2601035"/>
          </a:xfrm>
        </p:grpSpPr>
        <p:sp>
          <p:nvSpPr>
            <p:cNvPr id="25608" name="Rectangle 3"/>
            <p:cNvSpPr>
              <a:spLocks noChangeArrowheads="1"/>
            </p:cNvSpPr>
            <p:nvPr/>
          </p:nvSpPr>
          <p:spPr bwMode="auto">
            <a:xfrm>
              <a:off x="2557463" y="1633538"/>
              <a:ext cx="3305175" cy="1872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1557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1557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1557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15240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Load	      LD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Store  	      ST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Move	      MOV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Exchange	      XCH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Input	      IN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Output	      OUT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Push	      PUSH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Pop	      POP</a:t>
              </a:r>
            </a:p>
          </p:txBody>
        </p:sp>
        <p:sp>
          <p:nvSpPr>
            <p:cNvPr id="25609" name="Rectangle 4"/>
            <p:cNvSpPr>
              <a:spLocks noChangeArrowheads="1"/>
            </p:cNvSpPr>
            <p:nvPr/>
          </p:nvSpPr>
          <p:spPr bwMode="auto">
            <a:xfrm>
              <a:off x="2608263" y="1322388"/>
              <a:ext cx="2412520" cy="328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Name             Mnemonic</a:t>
              </a:r>
            </a:p>
          </p:txBody>
        </p:sp>
        <p:sp>
          <p:nvSpPr>
            <p:cNvPr id="25610" name="Rectangle 5"/>
            <p:cNvSpPr>
              <a:spLocks noChangeArrowheads="1"/>
            </p:cNvSpPr>
            <p:nvPr/>
          </p:nvSpPr>
          <p:spPr bwMode="auto">
            <a:xfrm>
              <a:off x="779463" y="904875"/>
              <a:ext cx="3844642" cy="359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Typical Data Transfer Instructions</a:t>
              </a:r>
            </a:p>
          </p:txBody>
        </p:sp>
        <p:sp>
          <p:nvSpPr>
            <p:cNvPr id="25611" name="Rectangle 7"/>
            <p:cNvSpPr>
              <a:spLocks noChangeArrowheads="1"/>
            </p:cNvSpPr>
            <p:nvPr/>
          </p:nvSpPr>
          <p:spPr bwMode="auto">
            <a:xfrm>
              <a:off x="2455863" y="1312863"/>
              <a:ext cx="2924175" cy="21637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25612" name="Line 8"/>
            <p:cNvSpPr>
              <a:spLocks noChangeShapeType="1"/>
            </p:cNvSpPr>
            <p:nvPr/>
          </p:nvSpPr>
          <p:spPr bwMode="auto">
            <a:xfrm>
              <a:off x="2454275" y="1601788"/>
              <a:ext cx="293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1923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91879537-4342-49C0-BAEE-CABB1AE838C7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662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Transfer Instructions</a:t>
            </a:r>
          </a:p>
        </p:txBody>
      </p:sp>
      <p:grpSp>
        <p:nvGrpSpPr>
          <p:cNvPr id="26631" name="Group 19"/>
          <p:cNvGrpSpPr>
            <a:grpSpLocks/>
          </p:cNvGrpSpPr>
          <p:nvPr/>
        </p:nvGrpSpPr>
        <p:grpSpPr bwMode="auto">
          <a:xfrm>
            <a:off x="2559050" y="1905001"/>
            <a:ext cx="6737350" cy="2784475"/>
            <a:chOff x="779463" y="1905000"/>
            <a:chExt cx="6738128" cy="2784475"/>
          </a:xfrm>
        </p:grpSpPr>
        <p:sp>
          <p:nvSpPr>
            <p:cNvPr id="26632" name="Rectangle 6"/>
            <p:cNvSpPr>
              <a:spLocks noChangeArrowheads="1"/>
            </p:cNvSpPr>
            <p:nvPr/>
          </p:nvSpPr>
          <p:spPr bwMode="auto">
            <a:xfrm>
              <a:off x="1933575" y="2705100"/>
              <a:ext cx="5364163" cy="195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917700" algn="l"/>
                  <a:tab pos="30480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917700" algn="l"/>
                  <a:tab pos="30480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917700" algn="l"/>
                  <a:tab pos="30480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15240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Direct address	LD  ADR	AC </a:t>
              </a:r>
              <a:r>
                <a:rPr lang="en-US" altLang="ko-KR" sz="1400" b="1">
                  <a:latin typeface="Symbol" panose="05050102010706020507" pitchFamily="18" charset="2"/>
                </a:rPr>
                <a:t></a:t>
              </a:r>
              <a:r>
                <a:rPr lang="en-US" altLang="ko-KR" sz="1400" b="1"/>
                <a:t>M[ADR]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Indirect address	LD  @ADR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M[M[ADR]]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Relative address	LD  $ADR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M[PC + ADR]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Immediate operand	LD  #NBR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NBR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Index addressing	LD  ADR(X)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M[ADR + XR]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Register	LD  R1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R1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Register indirect	LD  (R1)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M[R1]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Autoincrement	LD  (R1)+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M[R1], R1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R1 + 1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Autodecrement                    LD  -(R1)            R1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R1 - 1, 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M[R1]</a:t>
              </a:r>
            </a:p>
          </p:txBody>
        </p:sp>
        <p:sp>
          <p:nvSpPr>
            <p:cNvPr id="26633" name="Rectangle 9"/>
            <p:cNvSpPr>
              <a:spLocks noChangeArrowheads="1"/>
            </p:cNvSpPr>
            <p:nvPr/>
          </p:nvSpPr>
          <p:spPr bwMode="auto">
            <a:xfrm>
              <a:off x="2476500" y="2439987"/>
              <a:ext cx="567463" cy="266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Mode</a:t>
              </a:r>
            </a:p>
          </p:txBody>
        </p:sp>
        <p:sp>
          <p:nvSpPr>
            <p:cNvPr id="26634" name="Rectangle 10"/>
            <p:cNvSpPr>
              <a:spLocks noChangeArrowheads="1"/>
            </p:cNvSpPr>
            <p:nvPr/>
          </p:nvSpPr>
          <p:spPr bwMode="auto">
            <a:xfrm>
              <a:off x="3722688" y="2308225"/>
              <a:ext cx="979948" cy="482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Assembly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Convention</a:t>
              </a:r>
            </a:p>
          </p:txBody>
        </p:sp>
        <p:sp>
          <p:nvSpPr>
            <p:cNvPr id="26635" name="Rectangle 11"/>
            <p:cNvSpPr>
              <a:spLocks noChangeArrowheads="1"/>
            </p:cNvSpPr>
            <p:nvPr/>
          </p:nvSpPr>
          <p:spPr bwMode="auto">
            <a:xfrm>
              <a:off x="4989513" y="2439987"/>
              <a:ext cx="1371594" cy="266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Register Transfer</a:t>
              </a:r>
            </a:p>
          </p:txBody>
        </p:sp>
        <p:sp>
          <p:nvSpPr>
            <p:cNvPr id="26636" name="Rectangle 12"/>
            <p:cNvSpPr>
              <a:spLocks noChangeArrowheads="1"/>
            </p:cNvSpPr>
            <p:nvPr/>
          </p:nvSpPr>
          <p:spPr bwMode="auto">
            <a:xfrm>
              <a:off x="1870075" y="2306637"/>
              <a:ext cx="5445125" cy="23828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26637" name="Line 13"/>
            <p:cNvSpPr>
              <a:spLocks noChangeShapeType="1"/>
            </p:cNvSpPr>
            <p:nvPr/>
          </p:nvSpPr>
          <p:spPr bwMode="auto">
            <a:xfrm>
              <a:off x="1879600" y="2732087"/>
              <a:ext cx="5445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8" name="Rectangle 15"/>
            <p:cNvSpPr>
              <a:spLocks noChangeArrowheads="1"/>
            </p:cNvSpPr>
            <p:nvPr/>
          </p:nvSpPr>
          <p:spPr bwMode="auto">
            <a:xfrm>
              <a:off x="779463" y="1905000"/>
              <a:ext cx="6738128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Data Transfer Instructions with Different Addressing Modes 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236867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65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AB6C0841-3DA6-4946-BF36-946A9A3774B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765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Maniplulation Instructions</a:t>
            </a:r>
          </a:p>
        </p:txBody>
      </p:sp>
      <p:grpSp>
        <p:nvGrpSpPr>
          <p:cNvPr id="27655" name="Group 65"/>
          <p:cNvGrpSpPr>
            <a:grpSpLocks/>
          </p:cNvGrpSpPr>
          <p:nvPr/>
        </p:nvGrpSpPr>
        <p:grpSpPr bwMode="auto">
          <a:xfrm>
            <a:off x="2219326" y="1963738"/>
            <a:ext cx="7381875" cy="1649412"/>
            <a:chOff x="488950" y="847725"/>
            <a:chExt cx="7381392" cy="1649572"/>
          </a:xfrm>
        </p:grpSpPr>
        <p:sp>
          <p:nvSpPr>
            <p:cNvPr id="27656" name="Rectangle 3"/>
            <p:cNvSpPr>
              <a:spLocks noChangeArrowheads="1"/>
            </p:cNvSpPr>
            <p:nvPr/>
          </p:nvSpPr>
          <p:spPr bwMode="auto">
            <a:xfrm>
              <a:off x="488950" y="847725"/>
              <a:ext cx="2692788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400" b="1"/>
                <a:t> Three Basic Types:</a:t>
              </a:r>
            </a:p>
          </p:txBody>
        </p:sp>
        <p:sp>
          <p:nvSpPr>
            <p:cNvPr id="27657" name="Rectangle 4"/>
            <p:cNvSpPr>
              <a:spLocks noChangeArrowheads="1"/>
            </p:cNvSpPr>
            <p:nvPr/>
          </p:nvSpPr>
          <p:spPr bwMode="auto">
            <a:xfrm>
              <a:off x="1850542" y="1338005"/>
              <a:ext cx="6019800" cy="1159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2400" b="1"/>
                <a:t>Arithmetic instructions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2400" b="1"/>
                <a:t>Logical and bit manipulation instructions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2400" b="1"/>
                <a:t>Shift instructions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165754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69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8B332369-7973-44FA-8C51-CE1100CA6529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970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Manipulation Instructions</a:t>
            </a:r>
          </a:p>
        </p:txBody>
      </p:sp>
      <p:grpSp>
        <p:nvGrpSpPr>
          <p:cNvPr id="29703" name="Group 24"/>
          <p:cNvGrpSpPr>
            <a:grpSpLocks/>
          </p:cNvGrpSpPr>
          <p:nvPr/>
        </p:nvGrpSpPr>
        <p:grpSpPr bwMode="auto">
          <a:xfrm>
            <a:off x="2012950" y="1662114"/>
            <a:ext cx="5988050" cy="3595687"/>
            <a:chOff x="488950" y="1539254"/>
            <a:chExt cx="4765676" cy="2070936"/>
          </a:xfrm>
        </p:grpSpPr>
        <p:sp>
          <p:nvSpPr>
            <p:cNvPr id="29704" name="Rectangle 5"/>
            <p:cNvSpPr>
              <a:spLocks noChangeArrowheads="1"/>
            </p:cNvSpPr>
            <p:nvPr/>
          </p:nvSpPr>
          <p:spPr bwMode="auto">
            <a:xfrm>
              <a:off x="488950" y="1539254"/>
              <a:ext cx="2198310" cy="206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Arithmetic Instructions</a:t>
              </a:r>
            </a:p>
          </p:txBody>
        </p:sp>
        <p:sp>
          <p:nvSpPr>
            <p:cNvPr id="29705" name="Rectangle 6"/>
            <p:cNvSpPr>
              <a:spLocks noChangeArrowheads="1"/>
            </p:cNvSpPr>
            <p:nvPr/>
          </p:nvSpPr>
          <p:spPr bwMode="auto">
            <a:xfrm>
              <a:off x="2051050" y="1987550"/>
              <a:ext cx="3079716" cy="174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Name                                  Mnemonic</a:t>
              </a:r>
            </a:p>
          </p:txBody>
        </p:sp>
        <p:sp>
          <p:nvSpPr>
            <p:cNvPr id="29706" name="Rectangle 7"/>
            <p:cNvSpPr>
              <a:spLocks noChangeArrowheads="1"/>
            </p:cNvSpPr>
            <p:nvPr/>
          </p:nvSpPr>
          <p:spPr bwMode="auto">
            <a:xfrm>
              <a:off x="1852614" y="1957388"/>
              <a:ext cx="3402012" cy="165280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29707" name="Line 8"/>
            <p:cNvSpPr>
              <a:spLocks noChangeShapeType="1"/>
            </p:cNvSpPr>
            <p:nvPr/>
          </p:nvSpPr>
          <p:spPr bwMode="auto">
            <a:xfrm>
              <a:off x="1862138" y="2190750"/>
              <a:ext cx="33924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Rectangle 20"/>
            <p:cNvSpPr>
              <a:spLocks noChangeArrowheads="1"/>
            </p:cNvSpPr>
            <p:nvPr/>
          </p:nvSpPr>
          <p:spPr bwMode="auto">
            <a:xfrm>
              <a:off x="1925638" y="2184400"/>
              <a:ext cx="2914785" cy="133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Increment                               INC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Decrement                             DEC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Add                                          ADD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Subtract                                  SUB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Multiply                                  MUL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Divide                                      DIV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Add with Carry                      ADDC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Subtract with Borrow          SUBB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Negate(2’s Complement)    NEG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310722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1DE0E3FA-828C-49E5-BA26-2F5DFFF7394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307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Manipulation Instructions</a:t>
            </a:r>
          </a:p>
        </p:txBody>
      </p:sp>
      <p:sp>
        <p:nvSpPr>
          <p:cNvPr id="30727" name="Rectangle 9"/>
          <p:cNvSpPr>
            <a:spLocks noChangeArrowheads="1"/>
          </p:cNvSpPr>
          <p:nvPr/>
        </p:nvSpPr>
        <p:spPr bwMode="auto">
          <a:xfrm>
            <a:off x="3860800" y="2609850"/>
            <a:ext cx="34544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6129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6129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6129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Clear	          CLR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Complement	          COM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AND	          AND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OR	          OR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Exclusive-OR	          XOR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Clear carry	          CLRC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Set carry	          SETC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Complement carry	      COMC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Enable interrupt	          EI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Disable interrupt	          DI</a:t>
            </a:r>
          </a:p>
        </p:txBody>
      </p:sp>
      <p:sp>
        <p:nvSpPr>
          <p:cNvPr id="30728" name="Rectangle 10"/>
          <p:cNvSpPr>
            <a:spLocks noChangeArrowheads="1"/>
          </p:cNvSpPr>
          <p:nvPr/>
        </p:nvSpPr>
        <p:spPr bwMode="auto">
          <a:xfrm>
            <a:off x="3876676" y="2249489"/>
            <a:ext cx="299402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Name                        Mnemonic</a:t>
            </a:r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2112964" y="1698626"/>
            <a:ext cx="466883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Logical and Bit Manipulation Instructions</a:t>
            </a:r>
          </a:p>
        </p:txBody>
      </p:sp>
      <p:sp>
        <p:nvSpPr>
          <p:cNvPr id="30730" name="Rectangle 15"/>
          <p:cNvSpPr>
            <a:spLocks noChangeArrowheads="1"/>
          </p:cNvSpPr>
          <p:nvPr/>
        </p:nvSpPr>
        <p:spPr bwMode="auto">
          <a:xfrm>
            <a:off x="3751264" y="2219326"/>
            <a:ext cx="3640137" cy="29622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33800" y="2590800"/>
            <a:ext cx="36576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18706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80BDA646-71FF-4508-BEC0-DDE1EA61FF49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317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Manipulation Instructions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886200" y="2590800"/>
            <a:ext cx="3429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752" name="Rectangle 11"/>
          <p:cNvSpPr>
            <a:spLocks noChangeArrowheads="1"/>
          </p:cNvSpPr>
          <p:nvPr/>
        </p:nvSpPr>
        <p:spPr bwMode="auto">
          <a:xfrm>
            <a:off x="3973514" y="2711450"/>
            <a:ext cx="3265487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9939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9939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9939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Logical shift right	        SHR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Logical shift left	        SHL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Arithmetic shift right	        SHRA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Arithmetic shift left	        SHLA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right	        ROR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left	        ROL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right thru carry	     RORC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left thru carry	        ROLC</a:t>
            </a:r>
          </a:p>
        </p:txBody>
      </p:sp>
      <p:sp>
        <p:nvSpPr>
          <p:cNvPr id="31753" name="Rectangle 12"/>
          <p:cNvSpPr>
            <a:spLocks noChangeArrowheads="1"/>
          </p:cNvSpPr>
          <p:nvPr/>
        </p:nvSpPr>
        <p:spPr bwMode="auto">
          <a:xfrm>
            <a:off x="4037014" y="2205038"/>
            <a:ext cx="3259137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Name                             Mnemonic</a:t>
            </a:r>
          </a:p>
        </p:txBody>
      </p:sp>
      <p:sp>
        <p:nvSpPr>
          <p:cNvPr id="31754" name="Rectangle 14"/>
          <p:cNvSpPr>
            <a:spLocks noChangeArrowheads="1"/>
          </p:cNvSpPr>
          <p:nvPr/>
        </p:nvSpPr>
        <p:spPr bwMode="auto">
          <a:xfrm>
            <a:off x="2286001" y="1600201"/>
            <a:ext cx="21240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Shift Instructions</a:t>
            </a:r>
          </a:p>
        </p:txBody>
      </p:sp>
      <p:sp>
        <p:nvSpPr>
          <p:cNvPr id="31755" name="Rectangle 16"/>
          <p:cNvSpPr>
            <a:spLocks noChangeArrowheads="1"/>
          </p:cNvSpPr>
          <p:nvPr/>
        </p:nvSpPr>
        <p:spPr bwMode="auto">
          <a:xfrm>
            <a:off x="3886200" y="2195514"/>
            <a:ext cx="3429000" cy="26050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/>
          </a:p>
        </p:txBody>
      </p:sp>
    </p:spTree>
    <p:extLst>
      <p:ext uri="{BB962C8B-B14F-4D97-AF65-F5344CB8AC3E}">
        <p14:creationId xmlns="" xmlns:p14="http://schemas.microsoft.com/office/powerpoint/2010/main" val="79165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B881C6C7-90A5-4185-8343-D4A4E142538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27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Program Control Instruction</a:t>
            </a:r>
          </a:p>
        </p:txBody>
      </p:sp>
      <p:grpSp>
        <p:nvGrpSpPr>
          <p:cNvPr id="32775" name="Group 22"/>
          <p:cNvGrpSpPr>
            <a:grpSpLocks/>
          </p:cNvGrpSpPr>
          <p:nvPr/>
        </p:nvGrpSpPr>
        <p:grpSpPr bwMode="auto">
          <a:xfrm>
            <a:off x="2016126" y="1000126"/>
            <a:ext cx="8499475" cy="5375275"/>
            <a:chOff x="492125" y="1000125"/>
            <a:chExt cx="8499475" cy="5374774"/>
          </a:xfrm>
        </p:grpSpPr>
        <p:sp>
          <p:nvSpPr>
            <p:cNvPr id="32776" name="Rectangle 4"/>
            <p:cNvSpPr>
              <a:spLocks noChangeArrowheads="1"/>
            </p:cNvSpPr>
            <p:nvPr/>
          </p:nvSpPr>
          <p:spPr bwMode="auto">
            <a:xfrm>
              <a:off x="492125" y="1839913"/>
              <a:ext cx="1574800" cy="3079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2777" name="Rectangle 5"/>
            <p:cNvSpPr>
              <a:spLocks noChangeArrowheads="1"/>
            </p:cNvSpPr>
            <p:nvPr/>
          </p:nvSpPr>
          <p:spPr bwMode="auto">
            <a:xfrm>
              <a:off x="982663" y="1831975"/>
              <a:ext cx="428003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PC</a:t>
              </a:r>
            </a:p>
          </p:txBody>
        </p:sp>
        <p:sp>
          <p:nvSpPr>
            <p:cNvPr id="32778" name="Line 6"/>
            <p:cNvSpPr>
              <a:spLocks noChangeShapeType="1"/>
            </p:cNvSpPr>
            <p:nvPr/>
          </p:nvSpPr>
          <p:spPr bwMode="auto">
            <a:xfrm flipH="1">
              <a:off x="1371600" y="1628775"/>
              <a:ext cx="1660525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9" name="Line 7"/>
            <p:cNvSpPr>
              <a:spLocks noChangeShapeType="1"/>
            </p:cNvSpPr>
            <p:nvPr/>
          </p:nvSpPr>
          <p:spPr bwMode="auto">
            <a:xfrm>
              <a:off x="1389063" y="1638300"/>
              <a:ext cx="0" cy="1920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0" name="Line 8"/>
            <p:cNvSpPr>
              <a:spLocks noChangeShapeType="1"/>
            </p:cNvSpPr>
            <p:nvPr/>
          </p:nvSpPr>
          <p:spPr bwMode="auto">
            <a:xfrm flipH="1">
              <a:off x="1354138" y="2438400"/>
              <a:ext cx="1625600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1" name="Line 9"/>
            <p:cNvSpPr>
              <a:spLocks noChangeShapeType="1"/>
            </p:cNvSpPr>
            <p:nvPr/>
          </p:nvSpPr>
          <p:spPr bwMode="auto">
            <a:xfrm flipV="1">
              <a:off x="1371600" y="2166938"/>
              <a:ext cx="0" cy="2809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2" name="Rectangle 10"/>
            <p:cNvSpPr>
              <a:spLocks noChangeArrowheads="1"/>
            </p:cNvSpPr>
            <p:nvPr/>
          </p:nvSpPr>
          <p:spPr bwMode="auto">
            <a:xfrm>
              <a:off x="3067050" y="1000125"/>
              <a:ext cx="5772150" cy="2070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+1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In-Line Sequencing (Next instruction is fetched from the next adjacent location in the memory)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Address from other source; Current Instruction, Stack, etc; Branch, Conditional Branch, Subroutine, etc</a:t>
              </a:r>
            </a:p>
          </p:txBody>
        </p:sp>
        <p:sp>
          <p:nvSpPr>
            <p:cNvPr id="32783" name="Rectangle 11"/>
            <p:cNvSpPr>
              <a:spLocks noChangeArrowheads="1"/>
            </p:cNvSpPr>
            <p:nvPr/>
          </p:nvSpPr>
          <p:spPr bwMode="auto">
            <a:xfrm>
              <a:off x="523875" y="3192463"/>
              <a:ext cx="4474431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Program Control Instructions                  </a:t>
              </a:r>
            </a:p>
          </p:txBody>
        </p:sp>
        <p:sp>
          <p:nvSpPr>
            <p:cNvPr id="32784" name="Rectangle 12"/>
            <p:cNvSpPr>
              <a:spLocks noChangeArrowheads="1"/>
            </p:cNvSpPr>
            <p:nvPr/>
          </p:nvSpPr>
          <p:spPr bwMode="auto">
            <a:xfrm>
              <a:off x="1703388" y="3679825"/>
              <a:ext cx="3154711" cy="2305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Name                         Mnemonic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Branch                             BR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Jump                                JMP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Skip                                  SKP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Call                                   CALL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Return                             RTN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Compare(by </a:t>
              </a:r>
              <a:r>
                <a:rPr lang="en-US" altLang="ko-KR" sz="1800" b="1">
                  <a:sym typeface="Symbol" panose="05050102010706020507" pitchFamily="18" charset="2"/>
                </a:rPr>
                <a:t></a:t>
              </a:r>
              <a:r>
                <a:rPr lang="en-US" altLang="ko-KR" sz="1800" b="1"/>
                <a:t> )             CMP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Test(by AND)                  TST</a:t>
              </a:r>
            </a:p>
          </p:txBody>
        </p:sp>
        <p:sp>
          <p:nvSpPr>
            <p:cNvPr id="32785" name="Rectangle 13"/>
            <p:cNvSpPr>
              <a:spLocks noChangeArrowheads="1"/>
            </p:cNvSpPr>
            <p:nvPr/>
          </p:nvSpPr>
          <p:spPr bwMode="auto">
            <a:xfrm>
              <a:off x="1371600" y="3687763"/>
              <a:ext cx="3697287" cy="23320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2786" name="Line 14"/>
            <p:cNvSpPr>
              <a:spLocks noChangeShapeType="1"/>
            </p:cNvSpPr>
            <p:nvPr/>
          </p:nvSpPr>
          <p:spPr bwMode="auto">
            <a:xfrm>
              <a:off x="1371600" y="3979863"/>
              <a:ext cx="3670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7" name="Rectangle 15"/>
            <p:cNvSpPr>
              <a:spLocks noChangeArrowheads="1"/>
            </p:cNvSpPr>
            <p:nvPr/>
          </p:nvSpPr>
          <p:spPr bwMode="auto">
            <a:xfrm>
              <a:off x="5262562" y="5638800"/>
              <a:ext cx="3729038" cy="736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* CMP and TST instructions do not retain their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  results of operations ( </a:t>
              </a:r>
              <a:r>
                <a:rPr lang="en-US" altLang="ko-KR" sz="1400" b="1">
                  <a:sym typeface="Symbol" panose="05050102010706020507" pitchFamily="18" charset="2"/>
                </a:rPr>
                <a:t></a:t>
              </a:r>
              <a:r>
                <a:rPr lang="en-US" altLang="ko-KR" sz="1400" b="1"/>
                <a:t> and AND, resp.).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  They only set or clear certain Flags.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293965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86FFCC6E-C652-43F9-BEE6-B0C0CB8F019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35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37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Conditional Branch Instruction</a:t>
            </a: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3286126" y="1552576"/>
            <a:ext cx="6435725" cy="163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512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512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512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BZ	Branch if zero	Z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BNZ	Branch if not zero	Z = 0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BC	Branch if carry	C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BNC	Branch if no carry	C = 0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BP	Branch if plus	S = 0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BM	Branch if minus	S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BV	Branch if overflow	V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BNV	Branch if no overflow	V = 0</a:t>
            </a:r>
          </a:p>
        </p:txBody>
      </p:sp>
      <p:sp>
        <p:nvSpPr>
          <p:cNvPr id="33800" name="Rectangle 4"/>
          <p:cNvSpPr>
            <a:spLocks noChangeArrowheads="1"/>
          </p:cNvSpPr>
          <p:nvPr/>
        </p:nvSpPr>
        <p:spPr bwMode="auto">
          <a:xfrm>
            <a:off x="3286126" y="3398839"/>
            <a:ext cx="6435725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BHI	Branch if higher	A &gt;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BHE	Branch if higher or equal	A </a:t>
            </a:r>
            <a:r>
              <a:rPr lang="en-US" altLang="ko-KR" sz="1400" b="1">
                <a:sym typeface="Symbol" panose="05050102010706020507" pitchFamily="18" charset="2"/>
              </a:rPr>
              <a:t>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BLO	Branch if lower	A &lt;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BLOE	Branch if lower or equal	A </a:t>
            </a:r>
            <a:r>
              <a:rPr lang="en-US" altLang="ko-KR" sz="1400" b="1">
                <a:sym typeface="Symbol" panose="05050102010706020507" pitchFamily="18" charset="2"/>
              </a:rPr>
              <a:t>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BE	Branch if equal	A =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BNE	Branch if not equal	A </a:t>
            </a:r>
            <a:r>
              <a:rPr lang="en-US" altLang="ko-KR" sz="1400" b="1">
                <a:sym typeface="Symbol" panose="05050102010706020507" pitchFamily="18" charset="2"/>
              </a:rPr>
              <a:t> </a:t>
            </a:r>
            <a:r>
              <a:rPr lang="en-US" altLang="ko-KR" sz="1400" b="1"/>
              <a:t>B</a:t>
            </a:r>
          </a:p>
        </p:txBody>
      </p:sp>
      <p:sp>
        <p:nvSpPr>
          <p:cNvPr id="33801" name="Rectangle 5"/>
          <p:cNvSpPr>
            <a:spLocks noChangeArrowheads="1"/>
          </p:cNvSpPr>
          <p:nvPr/>
        </p:nvSpPr>
        <p:spPr bwMode="auto">
          <a:xfrm>
            <a:off x="3286126" y="4913314"/>
            <a:ext cx="6435725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BGT	Branch if greater than	A &gt;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BGE	Branch if greater or equal	A </a:t>
            </a:r>
            <a:r>
              <a:rPr lang="en-US" altLang="ko-KR" sz="1400" b="1">
                <a:sym typeface="Symbol" panose="05050102010706020507" pitchFamily="18" charset="2"/>
              </a:rPr>
              <a:t>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BLT	Branch if less than	A &lt;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BLE	Branch if less or equal	A </a:t>
            </a:r>
            <a:r>
              <a:rPr lang="en-US" altLang="ko-KR" sz="1400" b="1">
                <a:sym typeface="Symbol" panose="05050102010706020507" pitchFamily="18" charset="2"/>
              </a:rPr>
              <a:t>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BE	Branch if equal	A =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BNE	Branch if not equal	A </a:t>
            </a:r>
            <a:r>
              <a:rPr lang="en-US" altLang="ko-KR" sz="1400" b="1">
                <a:sym typeface="Symbol" panose="05050102010706020507" pitchFamily="18" charset="2"/>
              </a:rPr>
              <a:t> </a:t>
            </a:r>
            <a:r>
              <a:rPr lang="en-US" altLang="ko-KR" sz="1400" b="1"/>
              <a:t>B</a:t>
            </a:r>
          </a:p>
        </p:txBody>
      </p:sp>
      <p:sp>
        <p:nvSpPr>
          <p:cNvPr id="33802" name="Rectangle 6"/>
          <p:cNvSpPr>
            <a:spLocks noChangeArrowheads="1"/>
          </p:cNvSpPr>
          <p:nvPr/>
        </p:nvSpPr>
        <p:spPr bwMode="auto">
          <a:xfrm>
            <a:off x="3559175" y="3200400"/>
            <a:ext cx="28765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i="1"/>
              <a:t>Unsigned</a:t>
            </a:r>
            <a:r>
              <a:rPr lang="en-US" altLang="ko-KR" sz="1400" b="1"/>
              <a:t>  compare conditions (A - B)</a:t>
            </a:r>
          </a:p>
        </p:txBody>
      </p:sp>
      <p:sp>
        <p:nvSpPr>
          <p:cNvPr id="33803" name="Rectangle 7"/>
          <p:cNvSpPr>
            <a:spLocks noChangeArrowheads="1"/>
          </p:cNvSpPr>
          <p:nvPr/>
        </p:nvSpPr>
        <p:spPr bwMode="auto">
          <a:xfrm>
            <a:off x="3559176" y="4686300"/>
            <a:ext cx="2678113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i="1"/>
              <a:t>Signed</a:t>
            </a:r>
            <a:r>
              <a:rPr lang="en-US" altLang="ko-KR" sz="1400" b="1"/>
              <a:t>  compare conditions (A - B)</a:t>
            </a:r>
          </a:p>
        </p:txBody>
      </p:sp>
      <p:sp>
        <p:nvSpPr>
          <p:cNvPr id="33804" name="Rectangle 8"/>
          <p:cNvSpPr>
            <a:spLocks noChangeArrowheads="1"/>
          </p:cNvSpPr>
          <p:nvPr/>
        </p:nvSpPr>
        <p:spPr bwMode="auto">
          <a:xfrm>
            <a:off x="3095625" y="1282700"/>
            <a:ext cx="386238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/>
              <a:t>Mnemonic   Branch condition        Tested condition</a:t>
            </a:r>
          </a:p>
        </p:txBody>
      </p:sp>
      <p:sp>
        <p:nvSpPr>
          <p:cNvPr id="33805" name="Rectangle 9"/>
          <p:cNvSpPr>
            <a:spLocks noChangeArrowheads="1"/>
          </p:cNvSpPr>
          <p:nvPr/>
        </p:nvSpPr>
        <p:spPr bwMode="auto">
          <a:xfrm>
            <a:off x="3094039" y="1244601"/>
            <a:ext cx="4454525" cy="49006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sp>
        <p:nvSpPr>
          <p:cNvPr id="33806" name="Line 10"/>
          <p:cNvSpPr>
            <a:spLocks noChangeShapeType="1"/>
          </p:cNvSpPr>
          <p:nvPr/>
        </p:nvSpPr>
        <p:spPr bwMode="auto">
          <a:xfrm>
            <a:off x="3094038" y="1533525"/>
            <a:ext cx="4464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Line 11"/>
          <p:cNvSpPr>
            <a:spLocks noChangeShapeType="1"/>
          </p:cNvSpPr>
          <p:nvPr/>
        </p:nvSpPr>
        <p:spPr bwMode="auto">
          <a:xfrm>
            <a:off x="3094038" y="3160713"/>
            <a:ext cx="4464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Line 12"/>
          <p:cNvSpPr>
            <a:spLocks noChangeShapeType="1"/>
          </p:cNvSpPr>
          <p:nvPr/>
        </p:nvSpPr>
        <p:spPr bwMode="auto">
          <a:xfrm>
            <a:off x="3111500" y="4657725"/>
            <a:ext cx="4446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9091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81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7371A9AC-00ED-4DBE-B151-30A1BB8BB98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36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48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Subroutine Call and Return</a:t>
            </a:r>
          </a:p>
        </p:txBody>
      </p:sp>
      <p:grpSp>
        <p:nvGrpSpPr>
          <p:cNvPr id="34823" name="Group 22"/>
          <p:cNvGrpSpPr>
            <a:grpSpLocks/>
          </p:cNvGrpSpPr>
          <p:nvPr/>
        </p:nvGrpSpPr>
        <p:grpSpPr bwMode="auto">
          <a:xfrm>
            <a:off x="1897064" y="1143000"/>
            <a:ext cx="8313737" cy="5329238"/>
            <a:chOff x="373062" y="842963"/>
            <a:chExt cx="8313737" cy="5329237"/>
          </a:xfrm>
        </p:grpSpPr>
        <p:sp>
          <p:nvSpPr>
            <p:cNvPr id="34824" name="Rectangle 3"/>
            <p:cNvSpPr>
              <a:spLocks noChangeArrowheads="1"/>
            </p:cNvSpPr>
            <p:nvPr/>
          </p:nvSpPr>
          <p:spPr bwMode="auto">
            <a:xfrm>
              <a:off x="2662238" y="842963"/>
              <a:ext cx="3005631" cy="913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Call subroutine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Jump to subroutine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Branch to subroutine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Branch and save return address</a:t>
              </a:r>
            </a:p>
          </p:txBody>
        </p:sp>
        <p:sp>
          <p:nvSpPr>
            <p:cNvPr id="34825" name="Rectangle 4"/>
            <p:cNvSpPr>
              <a:spLocks noChangeArrowheads="1"/>
            </p:cNvSpPr>
            <p:nvPr/>
          </p:nvSpPr>
          <p:spPr bwMode="auto">
            <a:xfrm>
              <a:off x="1631177" y="4119563"/>
              <a:ext cx="3855223" cy="1128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Fixed Location in the subroutine (Memory)</a:t>
              </a: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Fixed Location in memory</a:t>
              </a: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In a processor Register</a:t>
              </a: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In memory </a:t>
              </a:r>
              <a:r>
                <a:rPr lang="en-US" altLang="ko-KR" sz="1400" b="1" i="1">
                  <a:latin typeface="Arial" panose="020B0604020202020204" pitchFamily="34" charset="0"/>
                  <a:cs typeface="Arial" panose="020B0604020202020204" pitchFamily="34" charset="0"/>
                </a:rPr>
                <a:t>stack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- most efficient way</a:t>
              </a:r>
            </a:p>
          </p:txBody>
        </p:sp>
        <p:sp>
          <p:nvSpPr>
            <p:cNvPr id="34826" name="Rectangle 6"/>
            <p:cNvSpPr>
              <a:spLocks noChangeArrowheads="1"/>
            </p:cNvSpPr>
            <p:nvPr/>
          </p:nvSpPr>
          <p:spPr bwMode="auto">
            <a:xfrm>
              <a:off x="373063" y="931863"/>
              <a:ext cx="1617431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Subroutine Call</a:t>
              </a:r>
            </a:p>
          </p:txBody>
        </p:sp>
        <p:sp>
          <p:nvSpPr>
            <p:cNvPr id="34827" name="Rectangle 7"/>
            <p:cNvSpPr>
              <a:spLocks noChangeArrowheads="1"/>
            </p:cNvSpPr>
            <p:nvPr/>
          </p:nvSpPr>
          <p:spPr bwMode="auto">
            <a:xfrm>
              <a:off x="373062" y="2014538"/>
              <a:ext cx="8313737" cy="2028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Two Most Important Operations are Implied;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* Branch to the beginning of the Subroutine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- Same as the Branch or Conditional Branch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* Save the Return Address to get the address of the location in the Calling Program upon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exit from the Subroutine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Locations for storing Return Address </a:t>
              </a:r>
            </a:p>
          </p:txBody>
        </p:sp>
        <p:sp>
          <p:nvSpPr>
            <p:cNvPr id="34828" name="Rectangle 8"/>
            <p:cNvSpPr>
              <a:spLocks noChangeArrowheads="1"/>
            </p:cNvSpPr>
            <p:nvPr/>
          </p:nvSpPr>
          <p:spPr bwMode="auto">
            <a:xfrm>
              <a:off x="6172200" y="4049712"/>
              <a:ext cx="2133600" cy="21224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29" name="Rectangle 9"/>
            <p:cNvSpPr>
              <a:spLocks noChangeArrowheads="1"/>
            </p:cNvSpPr>
            <p:nvPr/>
          </p:nvSpPr>
          <p:spPr bwMode="auto">
            <a:xfrm>
              <a:off x="6186488" y="4165600"/>
              <a:ext cx="2034403" cy="18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CALL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SP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SP - 1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M[SP]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PC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PC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EA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RTN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PC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M[SP]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SP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SP + 1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307055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9028734D-AF94-4CF8-8535-FBE9E6F3B6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37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Flag, Processor Status Word</a:t>
            </a:r>
          </a:p>
        </p:txBody>
      </p:sp>
      <p:sp>
        <p:nvSpPr>
          <p:cNvPr id="35847" name="Rectangle 3"/>
          <p:cNvSpPr txBox="1">
            <a:spLocks noChangeArrowheads="1"/>
          </p:cNvSpPr>
          <p:nvPr/>
        </p:nvSpPr>
        <p:spPr bwMode="auto">
          <a:xfrm>
            <a:off x="1838326" y="1047751"/>
            <a:ext cx="8543925" cy="2327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 smtClean="0"/>
              <a:t>In </a:t>
            </a:r>
            <a:r>
              <a:rPr lang="en-US" altLang="ko-KR" sz="2000" b="1" dirty="0"/>
              <a:t>Basic Computer, the processor had several (status) flags – </a:t>
            </a:r>
            <a:endParaRPr lang="en-US" altLang="ko-KR" sz="2000" b="1" dirty="0" smtClean="0"/>
          </a:p>
          <a:p>
            <a:pPr lvl="1"/>
            <a:r>
              <a:rPr lang="en-US" altLang="ko-KR" sz="1600" b="1" dirty="0" smtClean="0"/>
              <a:t>1 </a:t>
            </a:r>
            <a:r>
              <a:rPr lang="en-US" altLang="ko-KR" sz="1600" b="1" dirty="0"/>
              <a:t>bit value that indicated various information about the processor’s state – E, FGI, FGO, I, IEN, R</a:t>
            </a:r>
          </a:p>
          <a:p>
            <a:pPr eaLnBrk="1" hangingPunct="1"/>
            <a:r>
              <a:rPr lang="en-US" altLang="ko-KR" sz="2000" b="1" dirty="0"/>
              <a:t>In some processors, flags like these are often combined into a register </a:t>
            </a:r>
            <a:endParaRPr lang="en-US" altLang="ko-KR" sz="2000" b="1" dirty="0" smtClean="0"/>
          </a:p>
          <a:p>
            <a:pPr lvl="1"/>
            <a:r>
              <a:rPr lang="en-US" altLang="ko-KR" sz="1600" b="1" dirty="0" smtClean="0"/>
              <a:t>– </a:t>
            </a:r>
            <a:r>
              <a:rPr lang="en-US" altLang="ko-KR" sz="1600" b="1" dirty="0"/>
              <a:t>the processor status register (PSR); sometimes called a processor status word (PSW</a:t>
            </a:r>
            <a:r>
              <a:rPr lang="en-US" altLang="ko-KR" sz="1600" b="1" dirty="0" smtClean="0"/>
              <a:t>)</a:t>
            </a:r>
            <a:endParaRPr lang="en-US" altLang="ko-KR" sz="1600" b="1" dirty="0"/>
          </a:p>
        </p:txBody>
      </p: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4361056" y="3306948"/>
            <a:ext cx="187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Status Flag Circuit</a:t>
            </a:r>
          </a:p>
        </p:txBody>
      </p:sp>
      <p:grpSp>
        <p:nvGrpSpPr>
          <p:cNvPr id="35849" name="Group 46"/>
          <p:cNvGrpSpPr>
            <a:grpSpLocks/>
          </p:cNvGrpSpPr>
          <p:nvPr/>
        </p:nvGrpSpPr>
        <p:grpSpPr bwMode="auto">
          <a:xfrm>
            <a:off x="4242374" y="3698876"/>
            <a:ext cx="3735828" cy="2378788"/>
            <a:chOff x="3255" y="2633"/>
            <a:chExt cx="2267" cy="1427"/>
          </a:xfrm>
        </p:grpSpPr>
        <p:sp>
          <p:nvSpPr>
            <p:cNvPr id="35850" name="Arc 5"/>
            <p:cNvSpPr>
              <a:spLocks/>
            </p:cNvSpPr>
            <p:nvPr/>
          </p:nvSpPr>
          <p:spPr bwMode="auto">
            <a:xfrm>
              <a:off x="3488" y="2954"/>
              <a:ext cx="230" cy="10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Arc 6"/>
            <p:cNvSpPr>
              <a:spLocks/>
            </p:cNvSpPr>
            <p:nvPr/>
          </p:nvSpPr>
          <p:spPr bwMode="auto">
            <a:xfrm>
              <a:off x="3481" y="3045"/>
              <a:ext cx="209" cy="1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2" name="Arc 7"/>
            <p:cNvSpPr>
              <a:spLocks/>
            </p:cNvSpPr>
            <p:nvPr/>
          </p:nvSpPr>
          <p:spPr bwMode="auto">
            <a:xfrm>
              <a:off x="366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3" name="Arc 8"/>
            <p:cNvSpPr>
              <a:spLocks/>
            </p:cNvSpPr>
            <p:nvPr/>
          </p:nvSpPr>
          <p:spPr bwMode="auto">
            <a:xfrm>
              <a:off x="3664" y="3052"/>
              <a:ext cx="40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4" name="Arc 9"/>
            <p:cNvSpPr>
              <a:spLocks/>
            </p:cNvSpPr>
            <p:nvPr/>
          </p:nvSpPr>
          <p:spPr bwMode="auto">
            <a:xfrm>
              <a:off x="370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5" name="Arc 10"/>
            <p:cNvSpPr>
              <a:spLocks/>
            </p:cNvSpPr>
            <p:nvPr/>
          </p:nvSpPr>
          <p:spPr bwMode="auto">
            <a:xfrm>
              <a:off x="3704" y="3052"/>
              <a:ext cx="41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6" name="Rectangle 11"/>
            <p:cNvSpPr>
              <a:spLocks noChangeArrowheads="1"/>
            </p:cNvSpPr>
            <p:nvPr/>
          </p:nvSpPr>
          <p:spPr bwMode="auto">
            <a:xfrm>
              <a:off x="4839" y="2972"/>
              <a:ext cx="642" cy="3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57" name="Line 12"/>
            <p:cNvSpPr>
              <a:spLocks noChangeShapeType="1"/>
            </p:cNvSpPr>
            <p:nvPr/>
          </p:nvSpPr>
          <p:spPr bwMode="auto">
            <a:xfrm flipH="1">
              <a:off x="3953" y="3021"/>
              <a:ext cx="8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8" name="Line 13"/>
            <p:cNvSpPr>
              <a:spLocks noChangeShapeType="1"/>
            </p:cNvSpPr>
            <p:nvPr/>
          </p:nvSpPr>
          <p:spPr bwMode="auto">
            <a:xfrm flipH="1">
              <a:off x="3663" y="3021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9" name="Line 14"/>
            <p:cNvSpPr>
              <a:spLocks noChangeShapeType="1"/>
            </p:cNvSpPr>
            <p:nvPr/>
          </p:nvSpPr>
          <p:spPr bwMode="auto">
            <a:xfrm>
              <a:off x="3663" y="3094"/>
              <a:ext cx="1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0" name="Line 15"/>
            <p:cNvSpPr>
              <a:spLocks noChangeShapeType="1"/>
            </p:cNvSpPr>
            <p:nvPr/>
          </p:nvSpPr>
          <p:spPr bwMode="auto">
            <a:xfrm>
              <a:off x="4994" y="2756"/>
              <a:ext cx="0" cy="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1" name="Line 16"/>
            <p:cNvSpPr>
              <a:spLocks noChangeShapeType="1"/>
            </p:cNvSpPr>
            <p:nvPr/>
          </p:nvSpPr>
          <p:spPr bwMode="auto">
            <a:xfrm>
              <a:off x="5366" y="2743"/>
              <a:ext cx="0" cy="2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2" name="Line 17"/>
            <p:cNvSpPr>
              <a:spLocks noChangeShapeType="1"/>
            </p:cNvSpPr>
            <p:nvPr/>
          </p:nvSpPr>
          <p:spPr bwMode="auto">
            <a:xfrm flipV="1">
              <a:off x="4953" y="2773"/>
              <a:ext cx="82" cy="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3" name="Line 18"/>
            <p:cNvSpPr>
              <a:spLocks noChangeShapeType="1"/>
            </p:cNvSpPr>
            <p:nvPr/>
          </p:nvSpPr>
          <p:spPr bwMode="auto">
            <a:xfrm flipV="1">
              <a:off x="5326" y="2792"/>
              <a:ext cx="77" cy="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4" name="Line 19"/>
            <p:cNvSpPr>
              <a:spLocks noChangeShapeType="1"/>
            </p:cNvSpPr>
            <p:nvPr/>
          </p:nvSpPr>
          <p:spPr bwMode="auto">
            <a:xfrm flipH="1">
              <a:off x="3758" y="3554"/>
              <a:ext cx="1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5" name="Line 20"/>
            <p:cNvSpPr>
              <a:spLocks noChangeShapeType="1"/>
            </p:cNvSpPr>
            <p:nvPr/>
          </p:nvSpPr>
          <p:spPr bwMode="auto">
            <a:xfrm flipH="1">
              <a:off x="4796" y="3699"/>
              <a:ext cx="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6" name="Rectangle 21"/>
            <p:cNvSpPr>
              <a:spLocks noChangeArrowheads="1"/>
            </p:cNvSpPr>
            <p:nvPr/>
          </p:nvSpPr>
          <p:spPr bwMode="auto">
            <a:xfrm>
              <a:off x="4088" y="3606"/>
              <a:ext cx="703" cy="2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7" name="Rectangle 22"/>
            <p:cNvSpPr>
              <a:spLocks noChangeArrowheads="1"/>
            </p:cNvSpPr>
            <p:nvPr/>
          </p:nvSpPr>
          <p:spPr bwMode="auto">
            <a:xfrm>
              <a:off x="3284" y="3292"/>
              <a:ext cx="757" cy="1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8" name="Line 23"/>
            <p:cNvSpPr>
              <a:spLocks noChangeShapeType="1"/>
            </p:cNvSpPr>
            <p:nvPr/>
          </p:nvSpPr>
          <p:spPr bwMode="auto">
            <a:xfrm>
              <a:off x="3670" y="3292"/>
              <a:ext cx="0" cy="1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9" name="Line 24"/>
            <p:cNvSpPr>
              <a:spLocks noChangeShapeType="1"/>
            </p:cNvSpPr>
            <p:nvPr/>
          </p:nvSpPr>
          <p:spPr bwMode="auto">
            <a:xfrm>
              <a:off x="3859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0" name="Line 25"/>
            <p:cNvSpPr>
              <a:spLocks noChangeShapeType="1"/>
            </p:cNvSpPr>
            <p:nvPr/>
          </p:nvSpPr>
          <p:spPr bwMode="auto">
            <a:xfrm>
              <a:off x="3480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Line 26"/>
            <p:cNvSpPr>
              <a:spLocks noChangeShapeType="1"/>
            </p:cNvSpPr>
            <p:nvPr/>
          </p:nvSpPr>
          <p:spPr bwMode="auto">
            <a:xfrm flipH="1">
              <a:off x="3365" y="3064"/>
              <a:ext cx="1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2" name="Line 27"/>
            <p:cNvSpPr>
              <a:spLocks noChangeShapeType="1"/>
            </p:cNvSpPr>
            <p:nvPr/>
          </p:nvSpPr>
          <p:spPr bwMode="auto">
            <a:xfrm>
              <a:off x="3372" y="3064"/>
              <a:ext cx="0" cy="2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3" name="Line 28"/>
            <p:cNvSpPr>
              <a:spLocks noChangeShapeType="1"/>
            </p:cNvSpPr>
            <p:nvPr/>
          </p:nvSpPr>
          <p:spPr bwMode="auto">
            <a:xfrm flipV="1">
              <a:off x="3764" y="3446"/>
              <a:ext cx="0" cy="1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4" name="Line 29"/>
            <p:cNvSpPr>
              <a:spLocks noChangeShapeType="1"/>
            </p:cNvSpPr>
            <p:nvPr/>
          </p:nvSpPr>
          <p:spPr bwMode="auto">
            <a:xfrm flipH="1">
              <a:off x="3575" y="3711"/>
              <a:ext cx="5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5" name="Line 30"/>
            <p:cNvSpPr>
              <a:spLocks noChangeShapeType="1"/>
            </p:cNvSpPr>
            <p:nvPr/>
          </p:nvSpPr>
          <p:spPr bwMode="auto">
            <a:xfrm flipV="1">
              <a:off x="3582" y="3446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6" name="Line 31"/>
            <p:cNvSpPr>
              <a:spLocks noChangeShapeType="1"/>
            </p:cNvSpPr>
            <p:nvPr/>
          </p:nvSpPr>
          <p:spPr bwMode="auto">
            <a:xfrm>
              <a:off x="3953" y="3101"/>
              <a:ext cx="0" cy="1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7" name="Rectangle 32"/>
            <p:cNvSpPr>
              <a:spLocks noChangeArrowheads="1"/>
            </p:cNvSpPr>
            <p:nvPr/>
          </p:nvSpPr>
          <p:spPr bwMode="auto">
            <a:xfrm>
              <a:off x="4237" y="285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78" name="Rectangle 33"/>
            <p:cNvSpPr>
              <a:spLocks noChangeArrowheads="1"/>
            </p:cNvSpPr>
            <p:nvPr/>
          </p:nvSpPr>
          <p:spPr bwMode="auto">
            <a:xfrm>
              <a:off x="4251" y="307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8</a:t>
              </a:r>
            </a:p>
          </p:txBody>
        </p:sp>
        <p:sp>
          <p:nvSpPr>
            <p:cNvPr id="35879" name="Rectangle 34"/>
            <p:cNvSpPr>
              <a:spLocks noChangeArrowheads="1"/>
            </p:cNvSpPr>
            <p:nvPr/>
          </p:nvSpPr>
          <p:spPr bwMode="auto">
            <a:xfrm>
              <a:off x="4899" y="2633"/>
              <a:ext cx="53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            B</a:t>
              </a:r>
            </a:p>
          </p:txBody>
        </p:sp>
        <p:sp>
          <p:nvSpPr>
            <p:cNvPr id="35880" name="Rectangle 35"/>
            <p:cNvSpPr>
              <a:spLocks noChangeArrowheads="1"/>
            </p:cNvSpPr>
            <p:nvPr/>
          </p:nvSpPr>
          <p:spPr bwMode="auto">
            <a:xfrm>
              <a:off x="5008" y="2725"/>
              <a:ext cx="5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8            8</a:t>
              </a:r>
            </a:p>
          </p:txBody>
        </p:sp>
        <p:sp>
          <p:nvSpPr>
            <p:cNvPr id="35881" name="Rectangle 36"/>
            <p:cNvSpPr>
              <a:spLocks noChangeArrowheads="1"/>
            </p:cNvSpPr>
            <p:nvPr/>
          </p:nvSpPr>
          <p:spPr bwMode="auto">
            <a:xfrm>
              <a:off x="4852" y="3021"/>
              <a:ext cx="528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8-bit ALU</a:t>
              </a:r>
            </a:p>
          </p:txBody>
        </p:sp>
        <p:sp>
          <p:nvSpPr>
            <p:cNvPr id="35882" name="Rectangle 37"/>
            <p:cNvSpPr>
              <a:spLocks noChangeArrowheads="1"/>
            </p:cNvSpPr>
            <p:nvPr/>
          </p:nvSpPr>
          <p:spPr bwMode="auto">
            <a:xfrm>
              <a:off x="3255" y="3277"/>
              <a:ext cx="78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V   Z   S    C</a:t>
              </a:r>
            </a:p>
          </p:txBody>
        </p:sp>
        <p:sp>
          <p:nvSpPr>
            <p:cNvPr id="35883" name="Rectangle 38"/>
            <p:cNvSpPr>
              <a:spLocks noChangeArrowheads="1"/>
            </p:cNvSpPr>
            <p:nvPr/>
          </p:nvSpPr>
          <p:spPr bwMode="auto">
            <a:xfrm>
              <a:off x="4269" y="3383"/>
              <a:ext cx="197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84" name="Rectangle 39"/>
            <p:cNvSpPr>
              <a:spLocks noChangeArrowheads="1"/>
            </p:cNvSpPr>
            <p:nvPr/>
          </p:nvSpPr>
          <p:spPr bwMode="auto">
            <a:xfrm>
              <a:off x="4936" y="3134"/>
              <a:ext cx="3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  <a:r>
                <a:rPr lang="en-US" altLang="ko-KR" sz="1400" b="1"/>
                <a:t> - F</a:t>
              </a:r>
              <a:r>
                <a:rPr lang="en-US" altLang="ko-KR" sz="1400" b="1" baseline="-25000"/>
                <a:t>0</a:t>
              </a:r>
            </a:p>
          </p:txBody>
        </p:sp>
        <p:sp>
          <p:nvSpPr>
            <p:cNvPr id="35885" name="Line 40"/>
            <p:cNvSpPr>
              <a:spLocks noChangeShapeType="1"/>
            </p:cNvSpPr>
            <p:nvPr/>
          </p:nvSpPr>
          <p:spPr bwMode="auto">
            <a:xfrm flipH="1">
              <a:off x="5109" y="3615"/>
              <a:ext cx="81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6" name="Rectangle 41"/>
            <p:cNvSpPr>
              <a:spLocks noChangeArrowheads="1"/>
            </p:cNvSpPr>
            <p:nvPr/>
          </p:nvSpPr>
          <p:spPr bwMode="auto">
            <a:xfrm>
              <a:off x="5156" y="3557"/>
              <a:ext cx="1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</a:t>
              </a:r>
            </a:p>
          </p:txBody>
        </p:sp>
        <p:sp>
          <p:nvSpPr>
            <p:cNvPr id="35887" name="Rectangle 42"/>
            <p:cNvSpPr>
              <a:spLocks noChangeArrowheads="1"/>
            </p:cNvSpPr>
            <p:nvPr/>
          </p:nvSpPr>
          <p:spPr bwMode="auto">
            <a:xfrm>
              <a:off x="5067" y="3840"/>
              <a:ext cx="175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F</a:t>
              </a:r>
            </a:p>
          </p:txBody>
        </p:sp>
        <p:sp>
          <p:nvSpPr>
            <p:cNvPr id="35888" name="Rectangle 43"/>
            <p:cNvSpPr>
              <a:spLocks noChangeArrowheads="1"/>
            </p:cNvSpPr>
            <p:nvPr/>
          </p:nvSpPr>
          <p:spPr bwMode="auto">
            <a:xfrm>
              <a:off x="4080" y="3585"/>
              <a:ext cx="63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Check for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zero output</a:t>
              </a:r>
            </a:p>
          </p:txBody>
        </p:sp>
        <p:sp>
          <p:nvSpPr>
            <p:cNvPr id="35889" name="Line 44"/>
            <p:cNvSpPr>
              <a:spLocks noChangeShapeType="1"/>
            </p:cNvSpPr>
            <p:nvPr/>
          </p:nvSpPr>
          <p:spPr bwMode="auto">
            <a:xfrm>
              <a:off x="5156" y="3332"/>
              <a:ext cx="0" cy="5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240213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9028734D-AF94-4CF8-8535-FBE9E6F3B6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38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Flag, Processor Status Word</a:t>
            </a:r>
          </a:p>
        </p:txBody>
      </p:sp>
      <p:sp>
        <p:nvSpPr>
          <p:cNvPr id="35847" name="Rectangle 3"/>
          <p:cNvSpPr txBox="1">
            <a:spLocks noChangeArrowheads="1"/>
          </p:cNvSpPr>
          <p:nvPr/>
        </p:nvSpPr>
        <p:spPr bwMode="auto">
          <a:xfrm>
            <a:off x="1838326" y="1047751"/>
            <a:ext cx="854392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 smtClean="0"/>
              <a:t>Common </a:t>
            </a:r>
            <a:r>
              <a:rPr lang="en-US" altLang="ko-KR" sz="2000" b="1" dirty="0"/>
              <a:t>flags in PSW are</a:t>
            </a:r>
          </a:p>
          <a:p>
            <a:pPr lvl="1" eaLnBrk="1" hangingPunct="1"/>
            <a:r>
              <a:rPr lang="en-US" altLang="ko-KR" sz="1600" b="1" dirty="0"/>
              <a:t>C (Carry): Set to 1 if the carry out of the ALU is 1</a:t>
            </a:r>
          </a:p>
          <a:p>
            <a:pPr lvl="1" eaLnBrk="1" hangingPunct="1"/>
            <a:r>
              <a:rPr lang="en-US" altLang="ko-KR" sz="1600" b="1" dirty="0"/>
              <a:t>S (Sign): The MSB bit of the ALU’s output</a:t>
            </a:r>
          </a:p>
          <a:p>
            <a:pPr lvl="1" eaLnBrk="1" hangingPunct="1"/>
            <a:r>
              <a:rPr lang="en-US" altLang="ko-KR" sz="1600" b="1" dirty="0"/>
              <a:t>Z (Zero): Set to 1 if the ALU’s output is all 0’s</a:t>
            </a:r>
          </a:p>
          <a:p>
            <a:pPr lvl="1" eaLnBrk="1" hangingPunct="1"/>
            <a:r>
              <a:rPr lang="en-US" altLang="ko-KR" sz="1600" b="1" dirty="0"/>
              <a:t>V (Overflow): Set to 1 if there is an overflow</a:t>
            </a:r>
          </a:p>
        </p:txBody>
      </p: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4742318" y="3017158"/>
            <a:ext cx="187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Status Flag Circuit</a:t>
            </a:r>
          </a:p>
        </p:txBody>
      </p:sp>
      <p:grpSp>
        <p:nvGrpSpPr>
          <p:cNvPr id="35849" name="Group 46"/>
          <p:cNvGrpSpPr>
            <a:grpSpLocks/>
          </p:cNvGrpSpPr>
          <p:nvPr/>
        </p:nvGrpSpPr>
        <p:grpSpPr bwMode="auto">
          <a:xfrm>
            <a:off x="3968621" y="3594877"/>
            <a:ext cx="3735828" cy="2378788"/>
            <a:chOff x="3255" y="2633"/>
            <a:chExt cx="2267" cy="1427"/>
          </a:xfrm>
        </p:grpSpPr>
        <p:sp>
          <p:nvSpPr>
            <p:cNvPr id="35850" name="Arc 5"/>
            <p:cNvSpPr>
              <a:spLocks/>
            </p:cNvSpPr>
            <p:nvPr/>
          </p:nvSpPr>
          <p:spPr bwMode="auto">
            <a:xfrm>
              <a:off x="3488" y="2954"/>
              <a:ext cx="230" cy="10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Arc 6"/>
            <p:cNvSpPr>
              <a:spLocks/>
            </p:cNvSpPr>
            <p:nvPr/>
          </p:nvSpPr>
          <p:spPr bwMode="auto">
            <a:xfrm>
              <a:off x="3481" y="3045"/>
              <a:ext cx="209" cy="1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2" name="Arc 7"/>
            <p:cNvSpPr>
              <a:spLocks/>
            </p:cNvSpPr>
            <p:nvPr/>
          </p:nvSpPr>
          <p:spPr bwMode="auto">
            <a:xfrm>
              <a:off x="366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3" name="Arc 8"/>
            <p:cNvSpPr>
              <a:spLocks/>
            </p:cNvSpPr>
            <p:nvPr/>
          </p:nvSpPr>
          <p:spPr bwMode="auto">
            <a:xfrm>
              <a:off x="3664" y="3052"/>
              <a:ext cx="40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4" name="Arc 9"/>
            <p:cNvSpPr>
              <a:spLocks/>
            </p:cNvSpPr>
            <p:nvPr/>
          </p:nvSpPr>
          <p:spPr bwMode="auto">
            <a:xfrm>
              <a:off x="370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5" name="Arc 10"/>
            <p:cNvSpPr>
              <a:spLocks/>
            </p:cNvSpPr>
            <p:nvPr/>
          </p:nvSpPr>
          <p:spPr bwMode="auto">
            <a:xfrm>
              <a:off x="3704" y="3052"/>
              <a:ext cx="41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6" name="Rectangle 11"/>
            <p:cNvSpPr>
              <a:spLocks noChangeArrowheads="1"/>
            </p:cNvSpPr>
            <p:nvPr/>
          </p:nvSpPr>
          <p:spPr bwMode="auto">
            <a:xfrm>
              <a:off x="4839" y="2972"/>
              <a:ext cx="642" cy="3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57" name="Line 12"/>
            <p:cNvSpPr>
              <a:spLocks noChangeShapeType="1"/>
            </p:cNvSpPr>
            <p:nvPr/>
          </p:nvSpPr>
          <p:spPr bwMode="auto">
            <a:xfrm flipH="1">
              <a:off x="3953" y="3021"/>
              <a:ext cx="8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8" name="Line 13"/>
            <p:cNvSpPr>
              <a:spLocks noChangeShapeType="1"/>
            </p:cNvSpPr>
            <p:nvPr/>
          </p:nvSpPr>
          <p:spPr bwMode="auto">
            <a:xfrm flipH="1">
              <a:off x="3663" y="3021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9" name="Line 14"/>
            <p:cNvSpPr>
              <a:spLocks noChangeShapeType="1"/>
            </p:cNvSpPr>
            <p:nvPr/>
          </p:nvSpPr>
          <p:spPr bwMode="auto">
            <a:xfrm>
              <a:off x="3663" y="3094"/>
              <a:ext cx="1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0" name="Line 15"/>
            <p:cNvSpPr>
              <a:spLocks noChangeShapeType="1"/>
            </p:cNvSpPr>
            <p:nvPr/>
          </p:nvSpPr>
          <p:spPr bwMode="auto">
            <a:xfrm>
              <a:off x="4994" y="2756"/>
              <a:ext cx="0" cy="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1" name="Line 16"/>
            <p:cNvSpPr>
              <a:spLocks noChangeShapeType="1"/>
            </p:cNvSpPr>
            <p:nvPr/>
          </p:nvSpPr>
          <p:spPr bwMode="auto">
            <a:xfrm>
              <a:off x="5366" y="2743"/>
              <a:ext cx="0" cy="2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2" name="Line 17"/>
            <p:cNvSpPr>
              <a:spLocks noChangeShapeType="1"/>
            </p:cNvSpPr>
            <p:nvPr/>
          </p:nvSpPr>
          <p:spPr bwMode="auto">
            <a:xfrm flipV="1">
              <a:off x="4953" y="2773"/>
              <a:ext cx="82" cy="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3" name="Line 18"/>
            <p:cNvSpPr>
              <a:spLocks noChangeShapeType="1"/>
            </p:cNvSpPr>
            <p:nvPr/>
          </p:nvSpPr>
          <p:spPr bwMode="auto">
            <a:xfrm flipV="1">
              <a:off x="5326" y="2792"/>
              <a:ext cx="77" cy="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4" name="Line 19"/>
            <p:cNvSpPr>
              <a:spLocks noChangeShapeType="1"/>
            </p:cNvSpPr>
            <p:nvPr/>
          </p:nvSpPr>
          <p:spPr bwMode="auto">
            <a:xfrm flipH="1">
              <a:off x="3758" y="3554"/>
              <a:ext cx="1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5" name="Line 20"/>
            <p:cNvSpPr>
              <a:spLocks noChangeShapeType="1"/>
            </p:cNvSpPr>
            <p:nvPr/>
          </p:nvSpPr>
          <p:spPr bwMode="auto">
            <a:xfrm flipH="1">
              <a:off x="4796" y="3699"/>
              <a:ext cx="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6" name="Rectangle 21"/>
            <p:cNvSpPr>
              <a:spLocks noChangeArrowheads="1"/>
            </p:cNvSpPr>
            <p:nvPr/>
          </p:nvSpPr>
          <p:spPr bwMode="auto">
            <a:xfrm>
              <a:off x="4088" y="3606"/>
              <a:ext cx="703" cy="2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7" name="Rectangle 22"/>
            <p:cNvSpPr>
              <a:spLocks noChangeArrowheads="1"/>
            </p:cNvSpPr>
            <p:nvPr/>
          </p:nvSpPr>
          <p:spPr bwMode="auto">
            <a:xfrm>
              <a:off x="3284" y="3292"/>
              <a:ext cx="757" cy="1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8" name="Line 23"/>
            <p:cNvSpPr>
              <a:spLocks noChangeShapeType="1"/>
            </p:cNvSpPr>
            <p:nvPr/>
          </p:nvSpPr>
          <p:spPr bwMode="auto">
            <a:xfrm>
              <a:off x="3670" y="3292"/>
              <a:ext cx="0" cy="1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9" name="Line 24"/>
            <p:cNvSpPr>
              <a:spLocks noChangeShapeType="1"/>
            </p:cNvSpPr>
            <p:nvPr/>
          </p:nvSpPr>
          <p:spPr bwMode="auto">
            <a:xfrm>
              <a:off x="3859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0" name="Line 25"/>
            <p:cNvSpPr>
              <a:spLocks noChangeShapeType="1"/>
            </p:cNvSpPr>
            <p:nvPr/>
          </p:nvSpPr>
          <p:spPr bwMode="auto">
            <a:xfrm>
              <a:off x="3480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Line 26"/>
            <p:cNvSpPr>
              <a:spLocks noChangeShapeType="1"/>
            </p:cNvSpPr>
            <p:nvPr/>
          </p:nvSpPr>
          <p:spPr bwMode="auto">
            <a:xfrm flipH="1">
              <a:off x="3365" y="3064"/>
              <a:ext cx="1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2" name="Line 27"/>
            <p:cNvSpPr>
              <a:spLocks noChangeShapeType="1"/>
            </p:cNvSpPr>
            <p:nvPr/>
          </p:nvSpPr>
          <p:spPr bwMode="auto">
            <a:xfrm>
              <a:off x="3372" y="3064"/>
              <a:ext cx="0" cy="2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3" name="Line 28"/>
            <p:cNvSpPr>
              <a:spLocks noChangeShapeType="1"/>
            </p:cNvSpPr>
            <p:nvPr/>
          </p:nvSpPr>
          <p:spPr bwMode="auto">
            <a:xfrm flipV="1">
              <a:off x="3764" y="3446"/>
              <a:ext cx="0" cy="1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4" name="Line 29"/>
            <p:cNvSpPr>
              <a:spLocks noChangeShapeType="1"/>
            </p:cNvSpPr>
            <p:nvPr/>
          </p:nvSpPr>
          <p:spPr bwMode="auto">
            <a:xfrm flipH="1">
              <a:off x="3575" y="3711"/>
              <a:ext cx="5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5" name="Line 30"/>
            <p:cNvSpPr>
              <a:spLocks noChangeShapeType="1"/>
            </p:cNvSpPr>
            <p:nvPr/>
          </p:nvSpPr>
          <p:spPr bwMode="auto">
            <a:xfrm flipV="1">
              <a:off x="3582" y="3446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6" name="Line 31"/>
            <p:cNvSpPr>
              <a:spLocks noChangeShapeType="1"/>
            </p:cNvSpPr>
            <p:nvPr/>
          </p:nvSpPr>
          <p:spPr bwMode="auto">
            <a:xfrm>
              <a:off x="3953" y="3101"/>
              <a:ext cx="0" cy="1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7" name="Rectangle 32"/>
            <p:cNvSpPr>
              <a:spLocks noChangeArrowheads="1"/>
            </p:cNvSpPr>
            <p:nvPr/>
          </p:nvSpPr>
          <p:spPr bwMode="auto">
            <a:xfrm>
              <a:off x="4237" y="285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78" name="Rectangle 33"/>
            <p:cNvSpPr>
              <a:spLocks noChangeArrowheads="1"/>
            </p:cNvSpPr>
            <p:nvPr/>
          </p:nvSpPr>
          <p:spPr bwMode="auto">
            <a:xfrm>
              <a:off x="4251" y="307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8</a:t>
              </a:r>
            </a:p>
          </p:txBody>
        </p:sp>
        <p:sp>
          <p:nvSpPr>
            <p:cNvPr id="35879" name="Rectangle 34"/>
            <p:cNvSpPr>
              <a:spLocks noChangeArrowheads="1"/>
            </p:cNvSpPr>
            <p:nvPr/>
          </p:nvSpPr>
          <p:spPr bwMode="auto">
            <a:xfrm>
              <a:off x="4899" y="2633"/>
              <a:ext cx="53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            B</a:t>
              </a:r>
            </a:p>
          </p:txBody>
        </p:sp>
        <p:sp>
          <p:nvSpPr>
            <p:cNvPr id="35880" name="Rectangle 35"/>
            <p:cNvSpPr>
              <a:spLocks noChangeArrowheads="1"/>
            </p:cNvSpPr>
            <p:nvPr/>
          </p:nvSpPr>
          <p:spPr bwMode="auto">
            <a:xfrm>
              <a:off x="5008" y="2725"/>
              <a:ext cx="5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8            8</a:t>
              </a:r>
            </a:p>
          </p:txBody>
        </p:sp>
        <p:sp>
          <p:nvSpPr>
            <p:cNvPr id="35881" name="Rectangle 36"/>
            <p:cNvSpPr>
              <a:spLocks noChangeArrowheads="1"/>
            </p:cNvSpPr>
            <p:nvPr/>
          </p:nvSpPr>
          <p:spPr bwMode="auto">
            <a:xfrm>
              <a:off x="4852" y="3021"/>
              <a:ext cx="528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8-bit ALU</a:t>
              </a:r>
            </a:p>
          </p:txBody>
        </p:sp>
        <p:sp>
          <p:nvSpPr>
            <p:cNvPr id="35882" name="Rectangle 37"/>
            <p:cNvSpPr>
              <a:spLocks noChangeArrowheads="1"/>
            </p:cNvSpPr>
            <p:nvPr/>
          </p:nvSpPr>
          <p:spPr bwMode="auto">
            <a:xfrm>
              <a:off x="3255" y="3277"/>
              <a:ext cx="78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V   Z   S    C</a:t>
              </a:r>
            </a:p>
          </p:txBody>
        </p:sp>
        <p:sp>
          <p:nvSpPr>
            <p:cNvPr id="35883" name="Rectangle 38"/>
            <p:cNvSpPr>
              <a:spLocks noChangeArrowheads="1"/>
            </p:cNvSpPr>
            <p:nvPr/>
          </p:nvSpPr>
          <p:spPr bwMode="auto">
            <a:xfrm>
              <a:off x="4269" y="3383"/>
              <a:ext cx="197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84" name="Rectangle 39"/>
            <p:cNvSpPr>
              <a:spLocks noChangeArrowheads="1"/>
            </p:cNvSpPr>
            <p:nvPr/>
          </p:nvSpPr>
          <p:spPr bwMode="auto">
            <a:xfrm>
              <a:off x="4936" y="3134"/>
              <a:ext cx="3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  <a:r>
                <a:rPr lang="en-US" altLang="ko-KR" sz="1400" b="1"/>
                <a:t> - F</a:t>
              </a:r>
              <a:r>
                <a:rPr lang="en-US" altLang="ko-KR" sz="1400" b="1" baseline="-25000"/>
                <a:t>0</a:t>
              </a:r>
            </a:p>
          </p:txBody>
        </p:sp>
        <p:sp>
          <p:nvSpPr>
            <p:cNvPr id="35885" name="Line 40"/>
            <p:cNvSpPr>
              <a:spLocks noChangeShapeType="1"/>
            </p:cNvSpPr>
            <p:nvPr/>
          </p:nvSpPr>
          <p:spPr bwMode="auto">
            <a:xfrm flipH="1">
              <a:off x="5109" y="3615"/>
              <a:ext cx="81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6" name="Rectangle 41"/>
            <p:cNvSpPr>
              <a:spLocks noChangeArrowheads="1"/>
            </p:cNvSpPr>
            <p:nvPr/>
          </p:nvSpPr>
          <p:spPr bwMode="auto">
            <a:xfrm>
              <a:off x="5156" y="3557"/>
              <a:ext cx="1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</a:t>
              </a:r>
            </a:p>
          </p:txBody>
        </p:sp>
        <p:sp>
          <p:nvSpPr>
            <p:cNvPr id="35887" name="Rectangle 42"/>
            <p:cNvSpPr>
              <a:spLocks noChangeArrowheads="1"/>
            </p:cNvSpPr>
            <p:nvPr/>
          </p:nvSpPr>
          <p:spPr bwMode="auto">
            <a:xfrm>
              <a:off x="5067" y="3840"/>
              <a:ext cx="175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 dirty="0"/>
                <a:t>F</a:t>
              </a:r>
            </a:p>
          </p:txBody>
        </p:sp>
        <p:sp>
          <p:nvSpPr>
            <p:cNvPr id="35888" name="Rectangle 43"/>
            <p:cNvSpPr>
              <a:spLocks noChangeArrowheads="1"/>
            </p:cNvSpPr>
            <p:nvPr/>
          </p:nvSpPr>
          <p:spPr bwMode="auto">
            <a:xfrm>
              <a:off x="4080" y="3585"/>
              <a:ext cx="63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Check for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zero output</a:t>
              </a:r>
            </a:p>
          </p:txBody>
        </p:sp>
        <p:sp>
          <p:nvSpPr>
            <p:cNvPr id="35889" name="Line 44"/>
            <p:cNvSpPr>
              <a:spLocks noChangeShapeType="1"/>
            </p:cNvSpPr>
            <p:nvPr/>
          </p:nvSpPr>
          <p:spPr bwMode="auto">
            <a:xfrm>
              <a:off x="5156" y="3332"/>
              <a:ext cx="0" cy="5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302349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F999F24D-9D7D-4185-A590-355BD1D24893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39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Program Interrupt</a:t>
            </a:r>
          </a:p>
        </p:txBody>
      </p:sp>
      <p:sp>
        <p:nvSpPr>
          <p:cNvPr id="36871" name="Rectangle 3"/>
          <p:cNvSpPr>
            <a:spLocks noChangeArrowheads="1"/>
          </p:cNvSpPr>
          <p:nvPr/>
        </p:nvSpPr>
        <p:spPr bwMode="auto">
          <a:xfrm>
            <a:off x="1752601" y="1138239"/>
            <a:ext cx="20304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600" b="1">
                <a:latin typeface="Arial" panose="020B0604020202020204" pitchFamily="34" charset="0"/>
                <a:cs typeface="Arial" panose="020B0604020202020204" pitchFamily="34" charset="0"/>
              </a:rPr>
              <a:t> Types of Interrupts</a:t>
            </a:r>
          </a:p>
        </p:txBody>
      </p:sp>
      <p:sp>
        <p:nvSpPr>
          <p:cNvPr id="36872" name="Rectangle 4"/>
          <p:cNvSpPr>
            <a:spLocks noChangeArrowheads="1"/>
          </p:cNvSpPr>
          <p:nvPr/>
        </p:nvSpPr>
        <p:spPr bwMode="auto">
          <a:xfrm>
            <a:off x="2198689" y="1582738"/>
            <a:ext cx="8404225" cy="3955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External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interrupts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External Interrupts initiated from the outside of CPU and Memory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I/O Device → Data transfer request or Data transfer complete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Timing Device → Timeout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Power Failure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Operator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Internal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interrupts (traps)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Internal Interrupts are caused by the currently running program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Register, Stack Overflow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Divide by zero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OP-code Violation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Protection Violation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8193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F999F24D-9D7D-4185-A590-355BD1D24893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40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Program Interrupt</a:t>
            </a:r>
          </a:p>
        </p:txBody>
      </p:sp>
      <p:sp>
        <p:nvSpPr>
          <p:cNvPr id="36871" name="Rectangle 3"/>
          <p:cNvSpPr>
            <a:spLocks noChangeArrowheads="1"/>
          </p:cNvSpPr>
          <p:nvPr/>
        </p:nvSpPr>
        <p:spPr bwMode="auto">
          <a:xfrm>
            <a:off x="1752601" y="1138239"/>
            <a:ext cx="20304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600" b="1">
                <a:latin typeface="Arial" panose="020B0604020202020204" pitchFamily="34" charset="0"/>
                <a:cs typeface="Arial" panose="020B0604020202020204" pitchFamily="34" charset="0"/>
              </a:rPr>
              <a:t> Types of Interrupts</a:t>
            </a:r>
          </a:p>
        </p:txBody>
      </p:sp>
      <p:sp>
        <p:nvSpPr>
          <p:cNvPr id="36872" name="Rectangle 4"/>
          <p:cNvSpPr>
            <a:spLocks noChangeArrowheads="1"/>
          </p:cNvSpPr>
          <p:nvPr/>
        </p:nvSpPr>
        <p:spPr bwMode="auto">
          <a:xfrm>
            <a:off x="2198689" y="1582738"/>
            <a:ext cx="8404225" cy="2537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Software Interrupts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altLang="ko-KR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Both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External and Internal Interrupts are initiated by the computer HW.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altLang="ko-KR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Software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Interrupts are initiated by the executing an instruction.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altLang="ko-KR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Supervisor Call      1. Switching from a user mode to the supervisor mode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2. Allows to execute a certain class of operations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																which are not allowed in the user mode</a:t>
            </a:r>
          </a:p>
        </p:txBody>
      </p:sp>
    </p:spTree>
    <p:extLst>
      <p:ext uri="{BB962C8B-B14F-4D97-AF65-F5344CB8AC3E}">
        <p14:creationId xmlns="" xmlns:p14="http://schemas.microsoft.com/office/powerpoint/2010/main" val="161882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BC8A44D5-FA22-4612-9AFE-DF8B91072A7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41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209800" y="3302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Interrupt Procedure</a:t>
            </a:r>
          </a:p>
        </p:txBody>
      </p:sp>
      <p:sp>
        <p:nvSpPr>
          <p:cNvPr id="37895" name="Rectangle 3"/>
          <p:cNvSpPr>
            <a:spLocks noChangeArrowheads="1"/>
          </p:cNvSpPr>
          <p:nvPr/>
        </p:nvSpPr>
        <p:spPr bwMode="auto">
          <a:xfrm>
            <a:off x="1890714" y="1860550"/>
            <a:ext cx="8472487" cy="23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9144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- The interrupt is usually initiated by an internal or an external signal rather than from the execution of an instruction (except for the software interrupt)</a:t>
            </a:r>
          </a:p>
          <a:p>
            <a:pPr marL="0" lvl="1">
              <a:spcBef>
                <a:spcPct val="0"/>
              </a:spcBef>
              <a:buNone/>
            </a:pPr>
            <a:endParaRPr lang="en-US" altLang="ko-KR" sz="1800" b="1" dirty="0"/>
          </a:p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- The address of the interrupt service program is determined by the hardware rather than from the address field of an instruction</a:t>
            </a:r>
          </a:p>
          <a:p>
            <a:pPr marL="0" lvl="1">
              <a:spcBef>
                <a:spcPct val="0"/>
              </a:spcBef>
              <a:buNone/>
            </a:pPr>
            <a:endParaRPr lang="en-US" altLang="ko-KR" sz="1800" b="1" dirty="0"/>
          </a:p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- An interrupt procedure usually stores all the information necessary to define the state of CPU rather than storing only the PC</a:t>
            </a:r>
            <a:r>
              <a:rPr lang="en-US" altLang="ko-KR" sz="1800" b="1" dirty="0" smtClean="0"/>
              <a:t>.</a:t>
            </a:r>
            <a:endParaRPr lang="en-US" altLang="ko-KR" sz="1800" b="1" dirty="0"/>
          </a:p>
        </p:txBody>
      </p:sp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2049464" y="1371601"/>
            <a:ext cx="5938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Interrupt Procedure and Subroutine Call</a:t>
            </a:r>
          </a:p>
        </p:txBody>
      </p:sp>
    </p:spTree>
    <p:extLst>
      <p:ext uri="{BB962C8B-B14F-4D97-AF65-F5344CB8AC3E}">
        <p14:creationId xmlns="" xmlns:p14="http://schemas.microsoft.com/office/powerpoint/2010/main" val="408521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BC8A44D5-FA22-4612-9AFE-DF8B91072A7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42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209800" y="3302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Interrupt Procedure</a:t>
            </a:r>
          </a:p>
        </p:txBody>
      </p:sp>
      <p:sp>
        <p:nvSpPr>
          <p:cNvPr id="37895" name="Rectangle 3"/>
          <p:cNvSpPr>
            <a:spLocks noChangeArrowheads="1"/>
          </p:cNvSpPr>
          <p:nvPr/>
        </p:nvSpPr>
        <p:spPr bwMode="auto">
          <a:xfrm>
            <a:off x="1890714" y="1860550"/>
            <a:ext cx="8472487" cy="23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9144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>
              <a:spcBef>
                <a:spcPct val="0"/>
              </a:spcBef>
              <a:buNone/>
            </a:pPr>
            <a:endParaRPr lang="en-US" altLang="ko-KR" sz="1800" b="1" dirty="0"/>
          </a:p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          The state of the CPU is determined from: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/>
              <a:t>  Content of the PC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/>
              <a:t>  Content of all processor registers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/>
              <a:t>  Content of status </a:t>
            </a:r>
            <a:r>
              <a:rPr lang="en-US" altLang="ko-KR" sz="1800" b="1" dirty="0" smtClean="0"/>
              <a:t>bits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 smtClean="0"/>
              <a:t>  Many </a:t>
            </a:r>
            <a:r>
              <a:rPr lang="en-US" altLang="ko-KR" sz="1800" b="1" dirty="0"/>
              <a:t>ways of saving the CPU state </a:t>
            </a:r>
            <a:endParaRPr lang="en-US" altLang="ko-KR" sz="1800" b="1" dirty="0" smtClean="0"/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 smtClean="0"/>
              <a:t>  Depending </a:t>
            </a:r>
            <a:r>
              <a:rPr lang="en-US" altLang="ko-KR" sz="1800" b="1" dirty="0"/>
              <a:t>on the CPU architectures</a:t>
            </a:r>
          </a:p>
          <a:p>
            <a:pPr eaLnBrk="1" latin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</p:txBody>
      </p:sp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2049464" y="1371601"/>
            <a:ext cx="5938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Interrupt Procedure and Subroutine Call</a:t>
            </a:r>
          </a:p>
        </p:txBody>
      </p:sp>
    </p:spTree>
    <p:extLst>
      <p:ext uri="{BB962C8B-B14F-4D97-AF65-F5344CB8AC3E}">
        <p14:creationId xmlns="" xmlns:p14="http://schemas.microsoft.com/office/powerpoint/2010/main" val="584511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1030" name="Picture 6" descr="RISC and CISC Architecture - Working &amp; Their Applic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440" y="1612024"/>
            <a:ext cx="5441119" cy="395835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2578406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91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AB8B7BD5-09AC-41A5-A068-C5BE2574A13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44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389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8919" name="Rectangle 21"/>
          <p:cNvSpPr txBox="1">
            <a:spLocks noChangeArrowheads="1"/>
          </p:cNvSpPr>
          <p:nvPr/>
        </p:nvSpPr>
        <p:spPr bwMode="auto">
          <a:xfrm>
            <a:off x="2159000" y="1220788"/>
            <a:ext cx="8337550" cy="548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/>
              <a:t>IBM System/360, 1964</a:t>
            </a:r>
          </a:p>
          <a:p>
            <a:pPr eaLnBrk="1" hangingPunct="1"/>
            <a:r>
              <a:rPr lang="en-US" altLang="ko-KR" sz="2000" b="1" dirty="0"/>
              <a:t>The real beginning of modern computer architecture</a:t>
            </a:r>
          </a:p>
          <a:p>
            <a:pPr eaLnBrk="1" hangingPunct="1"/>
            <a:r>
              <a:rPr lang="en-US" altLang="ko-KR" sz="2000" b="1" dirty="0"/>
              <a:t>Distinction between </a:t>
            </a:r>
            <a:r>
              <a:rPr lang="en-US" altLang="ko-KR" sz="2000" b="1" i="1" dirty="0"/>
              <a:t>Architecture</a:t>
            </a:r>
            <a:r>
              <a:rPr lang="en-US" altLang="ko-KR" sz="2000" b="1" dirty="0"/>
              <a:t>  and </a:t>
            </a:r>
            <a:r>
              <a:rPr lang="en-US" altLang="ko-KR" sz="2000" b="1" i="1" dirty="0"/>
              <a:t>Implementation</a:t>
            </a:r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Architecture: The abstract structure of a computer 					seen by an assembly-language programmer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Continuing growth in semiconductor memory and microprogramming  </a:t>
            </a:r>
          </a:p>
          <a:p>
            <a:pPr eaLnBrk="1" hangingPunct="1">
              <a:buFontTx/>
              <a:buNone/>
            </a:pPr>
            <a:r>
              <a:rPr lang="en-US" altLang="ko-KR" sz="2000" b="1" dirty="0"/>
              <a:t>		</a:t>
            </a:r>
            <a:r>
              <a:rPr lang="en-US" altLang="ko-KR" sz="2000" b="1" dirty="0">
                <a:sym typeface="Symbol" panose="05050102010706020507" pitchFamily="18" charset="2"/>
              </a:rPr>
              <a:t> </a:t>
            </a:r>
            <a:r>
              <a:rPr lang="en-US" altLang="ko-KR" sz="2000" b="1" dirty="0"/>
              <a:t>A much richer and complicated instruction sets</a:t>
            </a:r>
          </a:p>
          <a:p>
            <a:pPr eaLnBrk="1" hangingPunct="1">
              <a:buFontTx/>
              <a:buNone/>
            </a:pPr>
            <a:r>
              <a:rPr lang="en-US" altLang="ko-KR" sz="2000" b="1" dirty="0"/>
              <a:t>                 </a:t>
            </a:r>
            <a:r>
              <a:rPr lang="en-US" altLang="ko-KR" sz="2000" b="1" dirty="0">
                <a:sym typeface="Symbol" panose="05050102010706020507" pitchFamily="18" charset="2"/>
              </a:rPr>
              <a:t> </a:t>
            </a:r>
            <a:r>
              <a:rPr lang="en-US" altLang="ko-KR" sz="2000" b="1" dirty="0"/>
              <a:t>CISC(Complex Instruction Set Computer)</a:t>
            </a:r>
          </a:p>
          <a:p>
            <a:pPr eaLnBrk="1" hangingPunct="1"/>
            <a:endParaRPr lang="en-US" altLang="ko-KR" sz="1800" b="1" dirty="0"/>
          </a:p>
        </p:txBody>
      </p:sp>
      <p:grpSp>
        <p:nvGrpSpPr>
          <p:cNvPr id="38920" name="Group 29"/>
          <p:cNvGrpSpPr>
            <a:grpSpLocks/>
          </p:cNvGrpSpPr>
          <p:nvPr/>
        </p:nvGrpSpPr>
        <p:grpSpPr bwMode="auto">
          <a:xfrm>
            <a:off x="3629025" y="3097214"/>
            <a:ext cx="5538788" cy="2084387"/>
            <a:chOff x="1625" y="1922"/>
            <a:chExt cx="3489" cy="1313"/>
          </a:xfrm>
        </p:grpSpPr>
        <p:sp>
          <p:nvSpPr>
            <p:cNvPr id="38922" name="Rectangle 6"/>
            <p:cNvSpPr>
              <a:spLocks noChangeArrowheads="1"/>
            </p:cNvSpPr>
            <p:nvPr/>
          </p:nvSpPr>
          <p:spPr bwMode="auto">
            <a:xfrm>
              <a:off x="1720" y="2355"/>
              <a:ext cx="570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High-Level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Language</a:t>
              </a:r>
            </a:p>
          </p:txBody>
        </p:sp>
        <p:sp>
          <p:nvSpPr>
            <p:cNvPr id="38923" name="Rectangle 7"/>
            <p:cNvSpPr>
              <a:spLocks noChangeArrowheads="1"/>
            </p:cNvSpPr>
            <p:nvPr/>
          </p:nvSpPr>
          <p:spPr bwMode="auto">
            <a:xfrm>
              <a:off x="2962" y="2372"/>
              <a:ext cx="592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Instruction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Set</a:t>
              </a:r>
            </a:p>
          </p:txBody>
        </p:sp>
        <p:sp>
          <p:nvSpPr>
            <p:cNvPr id="38924" name="Rectangle 8"/>
            <p:cNvSpPr>
              <a:spLocks noChangeArrowheads="1"/>
            </p:cNvSpPr>
            <p:nvPr/>
          </p:nvSpPr>
          <p:spPr bwMode="auto">
            <a:xfrm>
              <a:off x="4398" y="2423"/>
              <a:ext cx="54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 dirty="0"/>
                <a:t>Hardware</a:t>
              </a:r>
            </a:p>
          </p:txBody>
        </p:sp>
        <p:sp>
          <p:nvSpPr>
            <p:cNvPr id="38925" name="Oval 9"/>
            <p:cNvSpPr>
              <a:spLocks noChangeArrowheads="1"/>
            </p:cNvSpPr>
            <p:nvPr/>
          </p:nvSpPr>
          <p:spPr bwMode="auto">
            <a:xfrm>
              <a:off x="1625" y="2319"/>
              <a:ext cx="840" cy="35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26" name="Oval 10"/>
            <p:cNvSpPr>
              <a:spLocks noChangeArrowheads="1"/>
            </p:cNvSpPr>
            <p:nvPr/>
          </p:nvSpPr>
          <p:spPr bwMode="auto">
            <a:xfrm>
              <a:off x="2869" y="2319"/>
              <a:ext cx="840" cy="35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27" name="Oval 11"/>
            <p:cNvSpPr>
              <a:spLocks noChangeArrowheads="1"/>
            </p:cNvSpPr>
            <p:nvPr/>
          </p:nvSpPr>
          <p:spPr bwMode="auto">
            <a:xfrm>
              <a:off x="4273" y="2329"/>
              <a:ext cx="840" cy="35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28" name="Line 12"/>
            <p:cNvSpPr>
              <a:spLocks noChangeShapeType="1"/>
            </p:cNvSpPr>
            <p:nvPr/>
          </p:nvSpPr>
          <p:spPr bwMode="auto">
            <a:xfrm>
              <a:off x="2481" y="2491"/>
              <a:ext cx="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>
              <a:off x="3725" y="2500"/>
              <a:ext cx="5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0" name="Rectangle 14"/>
            <p:cNvSpPr>
              <a:spLocks noChangeArrowheads="1"/>
            </p:cNvSpPr>
            <p:nvPr/>
          </p:nvSpPr>
          <p:spPr bwMode="auto">
            <a:xfrm>
              <a:off x="2375" y="2260"/>
              <a:ext cx="507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Compiler</a:t>
              </a:r>
            </a:p>
          </p:txBody>
        </p:sp>
        <p:sp>
          <p:nvSpPr>
            <p:cNvPr id="38931" name="Rectangle 15"/>
            <p:cNvSpPr>
              <a:spLocks noChangeArrowheads="1"/>
            </p:cNvSpPr>
            <p:nvPr/>
          </p:nvSpPr>
          <p:spPr bwMode="auto">
            <a:xfrm>
              <a:off x="3642" y="2160"/>
              <a:ext cx="58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Symbol" panose="05050102010706020507" pitchFamily="18" charset="2"/>
                </a:rPr>
                <a:t></a:t>
              </a:r>
              <a:r>
                <a:rPr lang="en-US" altLang="ko-KR" sz="1400" b="1"/>
                <a:t>-program</a:t>
              </a:r>
            </a:p>
          </p:txBody>
        </p:sp>
        <p:sp>
          <p:nvSpPr>
            <p:cNvPr id="38932" name="Rectangle 16"/>
            <p:cNvSpPr>
              <a:spLocks noChangeArrowheads="1"/>
            </p:cNvSpPr>
            <p:nvPr/>
          </p:nvSpPr>
          <p:spPr bwMode="auto">
            <a:xfrm>
              <a:off x="2968" y="2684"/>
              <a:ext cx="66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Architecture</a:t>
              </a:r>
            </a:p>
          </p:txBody>
        </p:sp>
        <p:sp>
          <p:nvSpPr>
            <p:cNvPr id="38933" name="Rectangle 17"/>
            <p:cNvSpPr>
              <a:spLocks noChangeArrowheads="1"/>
            </p:cNvSpPr>
            <p:nvPr/>
          </p:nvSpPr>
          <p:spPr bwMode="auto">
            <a:xfrm>
              <a:off x="4250" y="3067"/>
              <a:ext cx="83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Implementation</a:t>
              </a:r>
            </a:p>
          </p:txBody>
        </p:sp>
        <p:sp>
          <p:nvSpPr>
            <p:cNvPr id="38934" name="Line 23"/>
            <p:cNvSpPr>
              <a:spLocks noChangeShapeType="1"/>
            </p:cNvSpPr>
            <p:nvPr/>
          </p:nvSpPr>
          <p:spPr bwMode="auto">
            <a:xfrm>
              <a:off x="3710" y="2519"/>
              <a:ext cx="588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5" name="Line 24"/>
            <p:cNvSpPr>
              <a:spLocks noChangeShapeType="1"/>
            </p:cNvSpPr>
            <p:nvPr/>
          </p:nvSpPr>
          <p:spPr bwMode="auto">
            <a:xfrm flipV="1">
              <a:off x="3721" y="2270"/>
              <a:ext cx="598" cy="2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6" name="Oval 25"/>
            <p:cNvSpPr>
              <a:spLocks noChangeArrowheads="1"/>
            </p:cNvSpPr>
            <p:nvPr/>
          </p:nvSpPr>
          <p:spPr bwMode="auto">
            <a:xfrm>
              <a:off x="4273" y="1922"/>
              <a:ext cx="840" cy="35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37" name="Oval 26"/>
            <p:cNvSpPr>
              <a:spLocks noChangeArrowheads="1"/>
            </p:cNvSpPr>
            <p:nvPr/>
          </p:nvSpPr>
          <p:spPr bwMode="auto">
            <a:xfrm>
              <a:off x="4274" y="2714"/>
              <a:ext cx="840" cy="35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38" name="Rectangle 27"/>
            <p:cNvSpPr>
              <a:spLocks noChangeArrowheads="1"/>
            </p:cNvSpPr>
            <p:nvPr/>
          </p:nvSpPr>
          <p:spPr bwMode="auto">
            <a:xfrm>
              <a:off x="4398" y="2022"/>
              <a:ext cx="54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Hardware</a:t>
              </a:r>
            </a:p>
          </p:txBody>
        </p:sp>
        <p:sp>
          <p:nvSpPr>
            <p:cNvPr id="38939" name="Rectangle 28"/>
            <p:cNvSpPr>
              <a:spLocks noChangeArrowheads="1"/>
            </p:cNvSpPr>
            <p:nvPr/>
          </p:nvSpPr>
          <p:spPr bwMode="auto">
            <a:xfrm>
              <a:off x="4399" y="2807"/>
              <a:ext cx="54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Hardware</a:t>
              </a:r>
            </a:p>
          </p:txBody>
        </p:sp>
      </p:grpSp>
      <p:sp>
        <p:nvSpPr>
          <p:cNvPr id="38921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RISC- Historical BackGround</a:t>
            </a:r>
          </a:p>
        </p:txBody>
      </p:sp>
    </p:spTree>
    <p:extLst>
      <p:ext uri="{BB962C8B-B14F-4D97-AF65-F5344CB8AC3E}">
        <p14:creationId xmlns="" xmlns:p14="http://schemas.microsoft.com/office/powerpoint/2010/main" val="253043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3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120B87C8-9EF9-4A29-8266-2EA41B96455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45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3994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9943" name="TextBox 30"/>
          <p:cNvSpPr txBox="1">
            <a:spLocks noChangeArrowheads="1"/>
          </p:cNvSpPr>
          <p:nvPr/>
        </p:nvSpPr>
        <p:spPr bwMode="auto">
          <a:xfrm>
            <a:off x="1905000" y="1123950"/>
            <a:ext cx="7696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Arguments Advanced at that time</a:t>
            </a:r>
          </a:p>
        </p:txBody>
      </p:sp>
      <p:sp>
        <p:nvSpPr>
          <p:cNvPr id="39944" name="Rectangle 3"/>
          <p:cNvSpPr txBox="1">
            <a:spLocks noChangeArrowheads="1"/>
          </p:cNvSpPr>
          <p:nvPr/>
        </p:nvSpPr>
        <p:spPr bwMode="auto">
          <a:xfrm>
            <a:off x="1981200" y="1600200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001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sz="2000" b="1"/>
              <a:t>Richer instruction sets would simplify compilers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sz="2000" b="1"/>
              <a:t>Richer instruction sets would alleviate the software crisis    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r>
              <a:rPr lang="en-US" altLang="ko-KR" sz="1600" b="1"/>
              <a:t>move as much functions to the hardware as possible	</a:t>
            </a:r>
            <a:endParaRPr lang="en-US" altLang="ko-KR" sz="1600" b="1" i="1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sz="2000" b="1"/>
              <a:t>Richer instruction sets would improve </a:t>
            </a:r>
            <a:r>
              <a:rPr lang="en-US" altLang="ko-KR" sz="2000" b="1" i="1"/>
              <a:t>architecture quality</a:t>
            </a:r>
            <a:endParaRPr lang="en-US" altLang="ko-KR" sz="2000" b="1"/>
          </a:p>
          <a:p>
            <a:pPr eaLnBrk="1" hangingPunct="1"/>
            <a:endParaRPr lang="en-US" altLang="ko-KR" sz="2000" b="1"/>
          </a:p>
        </p:txBody>
      </p:sp>
      <p:sp>
        <p:nvSpPr>
          <p:cNvPr id="39945" name="Rectangle 3"/>
          <p:cNvSpPr txBox="1">
            <a:spLocks noChangeArrowheads="1"/>
          </p:cNvSpPr>
          <p:nvPr/>
        </p:nvSpPr>
        <p:spPr bwMode="auto">
          <a:xfrm>
            <a:off x="1981200" y="3657601"/>
            <a:ext cx="8229600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/>
              <a:t>These computers with many instructions and addressing modes came to be known as </a:t>
            </a:r>
            <a:r>
              <a:rPr lang="en-US" altLang="ko-KR" sz="2000" b="1" dirty="0">
                <a:solidFill>
                  <a:schemeClr val="tx2"/>
                </a:solidFill>
              </a:rPr>
              <a:t>Complex Instruction Set Computers (CISC)</a:t>
            </a:r>
          </a:p>
          <a:p>
            <a:pPr eaLnBrk="1" hangingPunct="1">
              <a:buFontTx/>
              <a:buNone/>
            </a:pPr>
            <a:r>
              <a:rPr lang="en-US" altLang="ko-KR" sz="2000" b="1" dirty="0"/>
              <a:t> </a:t>
            </a:r>
          </a:p>
          <a:p>
            <a:pPr eaLnBrk="1" hangingPunct="1"/>
            <a:r>
              <a:rPr lang="en-US" altLang="ko-KR" sz="2000" b="1" dirty="0"/>
              <a:t>One goal for CISC machines was to have a machine language instruction to match each high-level language statement type</a:t>
            </a:r>
          </a:p>
        </p:txBody>
      </p:sp>
      <p:sp>
        <p:nvSpPr>
          <p:cNvPr id="39946" name="TextBox 34"/>
          <p:cNvSpPr txBox="1">
            <a:spLocks noChangeArrowheads="1"/>
          </p:cNvSpPr>
          <p:nvPr/>
        </p:nvSpPr>
        <p:spPr bwMode="auto">
          <a:xfrm>
            <a:off x="1981200" y="3200401"/>
            <a:ext cx="434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CISC</a:t>
            </a:r>
          </a:p>
        </p:txBody>
      </p:sp>
      <p:sp>
        <p:nvSpPr>
          <p:cNvPr id="39947" name="TextBox 35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CISC</a:t>
            </a:r>
          </a:p>
        </p:txBody>
      </p:sp>
    </p:spTree>
    <p:extLst>
      <p:ext uri="{BB962C8B-B14F-4D97-AF65-F5344CB8AC3E}">
        <p14:creationId xmlns="" xmlns:p14="http://schemas.microsoft.com/office/powerpoint/2010/main" val="276156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EF22A6F4-C572-4502-869B-16E5B3A2126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46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09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0967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Complex Instruction Set Computers</a:t>
            </a:r>
          </a:p>
        </p:txBody>
      </p:sp>
      <p:sp>
        <p:nvSpPr>
          <p:cNvPr id="40968" name="Rectangle 3"/>
          <p:cNvSpPr txBox="1">
            <a:spLocks noChangeArrowheads="1"/>
          </p:cNvSpPr>
          <p:nvPr/>
        </p:nvSpPr>
        <p:spPr bwMode="auto">
          <a:xfrm>
            <a:off x="1882775" y="1409700"/>
            <a:ext cx="85344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 smtClean="0"/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 smtClean="0"/>
              <a:t>Another </a:t>
            </a:r>
            <a:r>
              <a:rPr lang="en-US" altLang="ko-KR" sz="2000" b="1" dirty="0"/>
              <a:t>characteristic of CISC computers is that they have instructions that act directly on memory addresses</a:t>
            </a:r>
          </a:p>
          <a:p>
            <a:pPr lvl="1" eaLnBrk="1" hangingPunct="1"/>
            <a:r>
              <a:rPr lang="en-US" altLang="ko-KR" sz="1600" b="1" dirty="0"/>
              <a:t>For example, </a:t>
            </a:r>
            <a:br>
              <a:rPr lang="en-US" altLang="ko-KR" sz="1600" b="1" dirty="0"/>
            </a:br>
            <a:r>
              <a:rPr lang="en-US" altLang="ko-KR" sz="1600" b="1" dirty="0"/>
              <a:t>		ADD L1, L2, L3</a:t>
            </a:r>
            <a:br>
              <a:rPr lang="en-US" altLang="ko-KR" sz="1600" b="1" dirty="0"/>
            </a:br>
            <a:r>
              <a:rPr lang="en-US" altLang="ko-KR" sz="1600" b="1" dirty="0"/>
              <a:t>that takes the contents of </a:t>
            </a:r>
            <a:r>
              <a:rPr lang="en-US" altLang="ko-KR" sz="1600" b="1" i="1" dirty="0"/>
              <a:t>M</a:t>
            </a:r>
            <a:r>
              <a:rPr lang="en-US" altLang="ko-KR" sz="1600" b="1" dirty="0"/>
              <a:t>[</a:t>
            </a:r>
            <a:r>
              <a:rPr lang="en-US" altLang="ko-KR" sz="1600" b="1" i="1" dirty="0"/>
              <a:t>L1</a:t>
            </a:r>
            <a:r>
              <a:rPr lang="en-US" altLang="ko-KR" sz="1600" b="1" dirty="0"/>
              <a:t>] adds it to the contents of </a:t>
            </a:r>
            <a:r>
              <a:rPr lang="en-US" altLang="ko-KR" sz="1600" b="1" i="1" dirty="0"/>
              <a:t>M</a:t>
            </a:r>
            <a:r>
              <a:rPr lang="en-US" altLang="ko-KR" sz="1600" b="1" dirty="0"/>
              <a:t>[</a:t>
            </a:r>
            <a:r>
              <a:rPr lang="en-US" altLang="ko-KR" sz="1600" b="1" i="1" dirty="0"/>
              <a:t>L2</a:t>
            </a:r>
            <a:r>
              <a:rPr lang="en-US" altLang="ko-KR" sz="1600" b="1" dirty="0"/>
              <a:t>] and stores the result in location </a:t>
            </a:r>
            <a:r>
              <a:rPr lang="en-US" altLang="ko-KR" sz="1600" b="1" i="1" dirty="0"/>
              <a:t>M</a:t>
            </a:r>
            <a:r>
              <a:rPr lang="en-US" altLang="ko-KR" sz="1600" b="1" dirty="0"/>
              <a:t>[</a:t>
            </a:r>
            <a:r>
              <a:rPr lang="en-US" altLang="ko-KR" sz="1600" b="1" i="1" dirty="0"/>
              <a:t>L3</a:t>
            </a:r>
            <a:r>
              <a:rPr lang="en-US" altLang="ko-KR" sz="1600" b="1" dirty="0"/>
              <a:t>]</a:t>
            </a:r>
          </a:p>
          <a:p>
            <a:pPr eaLnBrk="1" hangingPunct="1"/>
            <a:r>
              <a:rPr lang="en-US" altLang="ko-KR" sz="2000" b="1" dirty="0"/>
              <a:t>An instruction like this takes three memory access cycles to execute</a:t>
            </a:r>
          </a:p>
          <a:p>
            <a:pPr eaLnBrk="1" hangingPunct="1"/>
            <a:r>
              <a:rPr lang="en-US" altLang="ko-KR" sz="2000" b="1" dirty="0"/>
              <a:t>That makes for a potentially very long instruction execution cycle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="" xmlns:p14="http://schemas.microsoft.com/office/powerpoint/2010/main" val="256349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EF22A6F4-C572-4502-869B-16E5B3A2126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47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09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0967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Complex Instruction Set Computers</a:t>
            </a:r>
          </a:p>
        </p:txBody>
      </p:sp>
      <p:sp>
        <p:nvSpPr>
          <p:cNvPr id="40968" name="Rectangle 3"/>
          <p:cNvSpPr txBox="1">
            <a:spLocks noChangeArrowheads="1"/>
          </p:cNvSpPr>
          <p:nvPr/>
        </p:nvSpPr>
        <p:spPr bwMode="auto">
          <a:xfrm>
            <a:off x="1882775" y="1409700"/>
            <a:ext cx="85344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The </a:t>
            </a:r>
            <a:r>
              <a:rPr lang="en-US" altLang="ko-KR" sz="2000" b="1" dirty="0"/>
              <a:t>problems with CISC computers are</a:t>
            </a:r>
            <a:br>
              <a:rPr lang="en-US" altLang="ko-KR" sz="2000" b="1" dirty="0"/>
            </a:br>
            <a:endParaRPr lang="en-US" altLang="ko-KR" sz="2000" b="1" dirty="0"/>
          </a:p>
          <a:p>
            <a:pPr lvl="1" eaLnBrk="1" hangingPunct="1"/>
            <a:r>
              <a:rPr lang="en-US" altLang="ko-KR" sz="1600" b="1" dirty="0"/>
              <a:t>The complexity of the design may slow down the processor</a:t>
            </a:r>
            <a:r>
              <a:rPr lang="en-US" altLang="ko-KR" sz="1600" b="1" dirty="0" smtClean="0"/>
              <a:t>,</a:t>
            </a:r>
          </a:p>
          <a:p>
            <a:pPr lvl="1" eaLnBrk="1" hangingPunct="1"/>
            <a:endParaRPr lang="en-US" altLang="ko-KR" sz="1600" b="1" dirty="0"/>
          </a:p>
          <a:p>
            <a:pPr lvl="1" eaLnBrk="1" hangingPunct="1"/>
            <a:r>
              <a:rPr lang="en-US" altLang="ko-KR" sz="1600" b="1" dirty="0"/>
              <a:t>The complexity of the design may result in costly errors in the processor design and implementation</a:t>
            </a:r>
            <a:r>
              <a:rPr lang="en-US" altLang="ko-KR" sz="1600" b="1" dirty="0" smtClean="0"/>
              <a:t>,</a:t>
            </a:r>
          </a:p>
          <a:p>
            <a:pPr lvl="1" eaLnBrk="1" hangingPunct="1"/>
            <a:endParaRPr lang="en-US" altLang="ko-KR" sz="1600" b="1" dirty="0"/>
          </a:p>
          <a:p>
            <a:pPr lvl="1" eaLnBrk="1" hangingPunct="1"/>
            <a:r>
              <a:rPr lang="en-US" altLang="ko-KR" sz="1600" b="1" dirty="0"/>
              <a:t>Many of the instructions and addressing modes are used rarely, if ever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="" xmlns:p14="http://schemas.microsoft.com/office/powerpoint/2010/main" val="196655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98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C672DFB8-B623-4554-8FB4-2E91BF8E926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48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19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1991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Summary : Criticism On CISC</a:t>
            </a:r>
          </a:p>
        </p:txBody>
      </p:sp>
      <p:sp>
        <p:nvSpPr>
          <p:cNvPr id="41992" name="Rectangle 5"/>
          <p:cNvSpPr>
            <a:spLocks noChangeArrowheads="1"/>
          </p:cNvSpPr>
          <p:nvPr/>
        </p:nvSpPr>
        <p:spPr bwMode="auto">
          <a:xfrm>
            <a:off x="1782764" y="457201"/>
            <a:ext cx="8670925" cy="492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 </a:t>
            </a:r>
            <a:r>
              <a:rPr lang="en-US" altLang="ko-KR" sz="2000" b="1" dirty="0"/>
              <a:t>High Performance General Purpose 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  <a:r>
              <a:rPr lang="en-US" altLang="ko-KR" sz="2000" b="1" dirty="0" smtClean="0"/>
              <a:t>1.</a:t>
            </a:r>
            <a:r>
              <a:rPr lang="en-US" altLang="ko-KR" sz="1800" b="1" dirty="0" smtClean="0"/>
              <a:t> </a:t>
            </a:r>
            <a:r>
              <a:rPr lang="en-US" altLang="ko-KR" sz="2000" b="1" dirty="0"/>
              <a:t>Complex Instruction</a:t>
            </a:r>
            <a:r>
              <a:rPr lang="en-US" altLang="ko-KR" sz="1800" b="1" dirty="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  <a:r>
              <a:rPr lang="en-US" altLang="ko-KR" sz="1800" b="1" dirty="0">
                <a:cs typeface="Arial" panose="020B0604020202020204" pitchFamily="34" charset="0"/>
              </a:rPr>
              <a:t>→ Format, Length, Addressing Modes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>
                <a:cs typeface="Arial" panose="020B0604020202020204" pitchFamily="34" charset="0"/>
              </a:rPr>
              <a:t>               </a:t>
            </a:r>
            <a:endParaRPr lang="en-US" altLang="ko-KR" sz="1800" b="1" dirty="0" smtClean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>
                <a:cs typeface="Arial" panose="020B0604020202020204" pitchFamily="34" charset="0"/>
              </a:rPr>
              <a:t>	</a:t>
            </a:r>
            <a:r>
              <a:rPr lang="en-US" altLang="ko-KR" sz="1800" b="1" dirty="0" smtClean="0">
                <a:cs typeface="Arial" panose="020B0604020202020204" pitchFamily="34" charset="0"/>
              </a:rPr>
              <a:t>→</a:t>
            </a:r>
            <a:r>
              <a:rPr lang="en-US" altLang="ko-KR" sz="1800" b="1" dirty="0" smtClean="0"/>
              <a:t> </a:t>
            </a:r>
            <a:r>
              <a:rPr lang="en-US" altLang="ko-KR" sz="1800" b="1" dirty="0"/>
              <a:t>Complicated instruction cycle control due to the complex decoding HW and 	decoding process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</a:t>
            </a:r>
            <a:r>
              <a:rPr lang="en-US" altLang="ko-KR" sz="1800" b="1" dirty="0" smtClean="0"/>
              <a:t>          </a:t>
            </a:r>
            <a:r>
              <a:rPr lang="en-US" altLang="ko-KR" sz="2000" b="1" dirty="0" smtClean="0"/>
              <a:t>2. </a:t>
            </a:r>
            <a:r>
              <a:rPr lang="en-US" altLang="ko-KR" sz="2000" b="1" dirty="0"/>
              <a:t>Multiple memory cycle 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→ Operations on memory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</a:t>
            </a:r>
            <a:r>
              <a:rPr lang="en-US" altLang="ko-KR" sz="1800" b="1" dirty="0" smtClean="0"/>
              <a:t>→ </a:t>
            </a:r>
            <a:r>
              <a:rPr lang="en-US" altLang="ko-KR" sz="1800" b="1" dirty="0"/>
              <a:t>Multiple memory </a:t>
            </a:r>
            <a:r>
              <a:rPr lang="en-US" altLang="ko-KR" sz="1800" b="1" dirty="0" smtClean="0"/>
              <a:t>accesses/instruction</a:t>
            </a:r>
            <a:endParaRPr lang="en-US" altLang="ko-KR" sz="1800" b="1" dirty="0"/>
          </a:p>
        </p:txBody>
      </p:sp>
    </p:spTree>
    <p:extLst>
      <p:ext uri="{BB962C8B-B14F-4D97-AF65-F5344CB8AC3E}">
        <p14:creationId xmlns="" xmlns:p14="http://schemas.microsoft.com/office/powerpoint/2010/main" val="158256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98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C672DFB8-B623-4554-8FB4-2E91BF8E926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49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19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1991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Summary : Criticism On CISC</a:t>
            </a:r>
          </a:p>
        </p:txBody>
      </p:sp>
      <p:sp>
        <p:nvSpPr>
          <p:cNvPr id="41992" name="Rectangle 5"/>
          <p:cNvSpPr>
            <a:spLocks noChangeArrowheads="1"/>
          </p:cNvSpPr>
          <p:nvPr/>
        </p:nvSpPr>
        <p:spPr bwMode="auto">
          <a:xfrm>
            <a:off x="1782764" y="457201"/>
            <a:ext cx="8670925" cy="5475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</a:t>
            </a:r>
            <a:r>
              <a:rPr lang="en-US" altLang="ko-KR" sz="2000" b="1" dirty="0" smtClean="0"/>
              <a:t>High </a:t>
            </a:r>
            <a:r>
              <a:rPr lang="en-US" altLang="ko-KR" sz="2000" b="1" dirty="0"/>
              <a:t>Performance General Purpose </a:t>
            </a:r>
            <a:r>
              <a:rPr lang="en-US" altLang="ko-KR" sz="2000" b="1" dirty="0" smtClean="0"/>
              <a:t>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 </a:t>
            </a:r>
            <a:r>
              <a:rPr lang="en-US" altLang="ko-KR" sz="2000" b="1" dirty="0" smtClean="0"/>
              <a:t>3. Microprogrammed control is necessity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 smtClean="0"/>
              <a:t>               </a:t>
            </a:r>
            <a:r>
              <a:rPr lang="en-US" altLang="ko-KR" sz="1800" b="1" dirty="0"/>
              <a:t>→ Microprogram control storage takes substantial portion of CPU chip area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</a:t>
            </a:r>
            <a:r>
              <a:rPr lang="en-US" altLang="ko-KR" sz="1800" b="1" dirty="0" smtClean="0"/>
              <a:t>→ </a:t>
            </a:r>
            <a:r>
              <a:rPr lang="en-US" altLang="ko-KR" sz="1800" b="1" dirty="0"/>
              <a:t>Semantic Gap is large between machine instruction and microinstruction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N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</a:t>
            </a:r>
            <a:r>
              <a:rPr lang="en-US" altLang="ko-KR" sz="2000" b="1" dirty="0" smtClean="0"/>
              <a:t>4. </a:t>
            </a:r>
            <a:r>
              <a:rPr lang="en-US" altLang="ko-KR" sz="2000" b="1" dirty="0"/>
              <a:t>General purpose instruction set includes all the features required by 	individually different applications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  <a:endParaRPr lang="en-US" altLang="ko-KR" sz="1800" b="1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</a:t>
            </a:r>
            <a:r>
              <a:rPr lang="en-US" altLang="ko-KR" sz="1800" b="1" dirty="0" smtClean="0"/>
              <a:t>→ </a:t>
            </a:r>
            <a:r>
              <a:rPr lang="en-US" altLang="ko-KR" sz="1800" b="1" dirty="0"/>
              <a:t>When any one application is running, all the features required by the other 	applications are extra burden to the application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</a:p>
        </p:txBody>
      </p:sp>
    </p:spTree>
    <p:extLst>
      <p:ext uri="{BB962C8B-B14F-4D97-AF65-F5344CB8AC3E}">
        <p14:creationId xmlns="" xmlns:p14="http://schemas.microsoft.com/office/powerpoint/2010/main" val="97591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245A2B9C-2C80-45CC-A634-CC528990F141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50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30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3015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3016" name="Rectangle 3"/>
          <p:cNvSpPr txBox="1">
            <a:spLocks noChangeArrowheads="1"/>
          </p:cNvSpPr>
          <p:nvPr/>
        </p:nvSpPr>
        <p:spPr bwMode="auto">
          <a:xfrm>
            <a:off x="1946275" y="1112838"/>
            <a:ext cx="8229600" cy="559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 smtClean="0"/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 smtClean="0"/>
              <a:t>In </a:t>
            </a:r>
            <a:r>
              <a:rPr lang="en-US" altLang="ko-KR" sz="2000" b="1" dirty="0"/>
              <a:t>the late ‘70s and early ‘80s there was a reaction to the shortcomings of the CISC style of processors</a:t>
            </a:r>
          </a:p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Reduced </a:t>
            </a:r>
            <a:r>
              <a:rPr lang="en-US" altLang="ko-KR" sz="2000" b="1" dirty="0"/>
              <a:t>Instruction Set Computers (RISC) were proposed as an alternative</a:t>
            </a:r>
          </a:p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The </a:t>
            </a:r>
            <a:r>
              <a:rPr lang="en-US" altLang="ko-KR" sz="2000" b="1" dirty="0"/>
              <a:t>underlying idea behind RISC processors is to simplify the instruction set and reduce instruction execution time</a:t>
            </a:r>
          </a:p>
          <a:p>
            <a:pPr eaLnBrk="1" hangingPunct="1"/>
            <a:endParaRPr lang="en-US" altLang="ko-KR" sz="2000" b="1" dirty="0"/>
          </a:p>
        </p:txBody>
      </p:sp>
    </p:spTree>
    <p:extLst>
      <p:ext uri="{BB962C8B-B14F-4D97-AF65-F5344CB8AC3E}">
        <p14:creationId xmlns="" xmlns:p14="http://schemas.microsoft.com/office/powerpoint/2010/main" val="392554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245A2B9C-2C80-45CC-A634-CC528990F141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51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30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3015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3016" name="Rectangle 3"/>
          <p:cNvSpPr txBox="1">
            <a:spLocks noChangeArrowheads="1"/>
          </p:cNvSpPr>
          <p:nvPr/>
        </p:nvSpPr>
        <p:spPr bwMode="auto">
          <a:xfrm>
            <a:off x="1946275" y="1112838"/>
            <a:ext cx="8229600" cy="559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RISC processors often feature:</a:t>
            </a:r>
            <a:br>
              <a:rPr lang="en-US" altLang="ko-KR" sz="2000" b="1" dirty="0"/>
            </a:br>
            <a:endParaRPr lang="en-US" altLang="ko-KR" sz="2000" b="1" dirty="0"/>
          </a:p>
          <a:p>
            <a:pPr lvl="1" eaLnBrk="1" hangingPunct="1"/>
            <a:r>
              <a:rPr lang="en-US" altLang="ko-KR" sz="1800" b="1" dirty="0"/>
              <a:t>Few instructions</a:t>
            </a:r>
          </a:p>
          <a:p>
            <a:pPr lvl="1" eaLnBrk="1" hangingPunct="1"/>
            <a:r>
              <a:rPr lang="en-US" altLang="ko-KR" sz="1800" b="1" dirty="0"/>
              <a:t>Few addressing modes</a:t>
            </a:r>
          </a:p>
          <a:p>
            <a:pPr lvl="1" eaLnBrk="1" hangingPunct="1"/>
            <a:r>
              <a:rPr lang="en-US" altLang="ko-KR" sz="1800" b="1" dirty="0"/>
              <a:t>Only load and store instructions access memory</a:t>
            </a:r>
          </a:p>
          <a:p>
            <a:pPr lvl="1" eaLnBrk="1" hangingPunct="1"/>
            <a:r>
              <a:rPr lang="en-US" altLang="ko-KR" sz="1800" b="1" dirty="0"/>
              <a:t>All other operations are done using on-processor registers</a:t>
            </a:r>
          </a:p>
          <a:p>
            <a:pPr lvl="1" eaLnBrk="1" hangingPunct="1"/>
            <a:r>
              <a:rPr lang="en-US" altLang="ko-KR" sz="1800" b="1" dirty="0"/>
              <a:t>Fixed length instructions</a:t>
            </a:r>
          </a:p>
          <a:p>
            <a:pPr lvl="1" eaLnBrk="1" hangingPunct="1"/>
            <a:r>
              <a:rPr lang="en-US" altLang="ko-KR" sz="1800" b="1" dirty="0"/>
              <a:t>Single cycle execution of instructions</a:t>
            </a:r>
          </a:p>
          <a:p>
            <a:pPr lvl="1" eaLnBrk="1" hangingPunct="1"/>
            <a:r>
              <a:rPr lang="en-US" altLang="ko-KR" sz="1800" b="1" dirty="0"/>
              <a:t>The control unit is hardwired, not microprogrammed</a:t>
            </a:r>
          </a:p>
          <a:p>
            <a:pPr eaLnBrk="1" hangingPunct="1"/>
            <a:endParaRPr lang="en-US" altLang="ko-KR" sz="2000" b="1" dirty="0"/>
          </a:p>
        </p:txBody>
      </p:sp>
    </p:spTree>
    <p:extLst>
      <p:ext uri="{BB962C8B-B14F-4D97-AF65-F5344CB8AC3E}">
        <p14:creationId xmlns="" xmlns:p14="http://schemas.microsoft.com/office/powerpoint/2010/main" val="78090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03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3B511DAD-04D0-4610-A07B-B1126CCD0D1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52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40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4039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4040" name="Rectangle 3"/>
          <p:cNvSpPr txBox="1">
            <a:spLocks noChangeArrowheads="1"/>
          </p:cNvSpPr>
          <p:nvPr/>
        </p:nvSpPr>
        <p:spPr bwMode="auto">
          <a:xfrm>
            <a:off x="1917700" y="1581150"/>
            <a:ext cx="84455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/>
              <a:t>Since all but the load and store instructions use only registers for operands, only a few addressing modes are </a:t>
            </a:r>
            <a:r>
              <a:rPr lang="en-US" altLang="ko-KR" sz="2000" b="1" dirty="0" smtClean="0"/>
              <a:t>needed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By having all instructions the same length, reading them in is easy and </a:t>
            </a:r>
            <a:r>
              <a:rPr lang="en-US" altLang="ko-KR" sz="2000" b="1" dirty="0" smtClean="0"/>
              <a:t>fast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The fetch and decode stages are </a:t>
            </a:r>
            <a:r>
              <a:rPr lang="en-US" altLang="ko-KR" sz="2000" b="1" dirty="0" smtClean="0"/>
              <a:t>simple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The instruction and address formats are designed to be easy to decode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="" xmlns:p14="http://schemas.microsoft.com/office/powerpoint/2010/main" val="5853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03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3B511DAD-04D0-4610-A07B-B1126CCD0D1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53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40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4039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4040" name="Rectangle 3"/>
          <p:cNvSpPr txBox="1">
            <a:spLocks noChangeArrowheads="1"/>
          </p:cNvSpPr>
          <p:nvPr/>
        </p:nvSpPr>
        <p:spPr bwMode="auto">
          <a:xfrm>
            <a:off x="1917700" y="1581150"/>
            <a:ext cx="84455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 smtClean="0"/>
              <a:t>Unlike </a:t>
            </a:r>
            <a:r>
              <a:rPr lang="en-US" altLang="ko-KR" sz="2000" b="1" dirty="0"/>
              <a:t>the variable length CISC instructions, the opcode and register fields of RISC instructions can be decoded simultaneously</a:t>
            </a:r>
          </a:p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The </a:t>
            </a:r>
            <a:r>
              <a:rPr lang="en-US" altLang="ko-KR" sz="2000" b="1" dirty="0"/>
              <a:t>control logic of a RISC processor is designed to be simple and fast</a:t>
            </a:r>
          </a:p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The </a:t>
            </a:r>
            <a:r>
              <a:rPr lang="en-US" altLang="ko-KR" sz="2000" b="1" dirty="0"/>
              <a:t>control logic is simple because of the small number of instructions and the simple addressing modes</a:t>
            </a:r>
          </a:p>
          <a:p>
            <a:pPr eaLnBrk="1" hangingPunct="1"/>
            <a:endParaRPr lang="en-US" altLang="ko-KR" sz="2000" b="1" dirty="0" smtClean="0"/>
          </a:p>
          <a:p>
            <a:pPr eaLnBrk="1" hangingPunct="1"/>
            <a:r>
              <a:rPr lang="en-US" altLang="ko-KR" sz="2000" b="1" dirty="0" smtClean="0"/>
              <a:t>The </a:t>
            </a:r>
            <a:r>
              <a:rPr lang="en-US" altLang="ko-KR" sz="2000" b="1" dirty="0"/>
              <a:t>control logic is hardwired, rather than microprogrammed, because hardwired control is faster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="" xmlns:p14="http://schemas.microsoft.com/office/powerpoint/2010/main" val="78717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</TotalTime>
  <Words>2767</Words>
  <Application>Microsoft Office PowerPoint</Application>
  <PresentationFormat>Custom</PresentationFormat>
  <Paragraphs>886</Paragraphs>
  <Slides>53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1_Office Theme</vt:lpstr>
      <vt:lpstr>Example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DK</cp:lastModifiedBy>
  <cp:revision>41</cp:revision>
  <dcterms:created xsi:type="dcterms:W3CDTF">2024-12-19T08:47:23Z</dcterms:created>
  <dcterms:modified xsi:type="dcterms:W3CDTF">2026-02-13T06:23:55Z</dcterms:modified>
</cp:coreProperties>
</file>