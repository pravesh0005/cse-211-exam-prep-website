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013" r:id="rId2"/>
    <p:sldId id="4042" r:id="rId3"/>
    <p:sldId id="4058" r:id="rId4"/>
    <p:sldId id="4043" r:id="rId5"/>
    <p:sldId id="4044" r:id="rId6"/>
    <p:sldId id="4045" r:id="rId7"/>
    <p:sldId id="4046" r:id="rId8"/>
    <p:sldId id="4047" r:id="rId9"/>
    <p:sldId id="4048" r:id="rId10"/>
    <p:sldId id="4059" r:id="rId11"/>
    <p:sldId id="4049" r:id="rId12"/>
    <p:sldId id="4061" r:id="rId13"/>
    <p:sldId id="4050" r:id="rId14"/>
    <p:sldId id="4051" r:id="rId15"/>
    <p:sldId id="4060" r:id="rId16"/>
    <p:sldId id="4052" r:id="rId17"/>
    <p:sldId id="4053" r:id="rId18"/>
    <p:sldId id="405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6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39EC9-C142-46A2-9EE7-6BAF7D5DF33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b="1" dirty="0">
                <a:latin typeface="Calibri" panose="020F0502020204030204" pitchFamily="34" charset="0"/>
              </a:rPr>
              <a:t>Bus and Memory Transfers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428" y="1690688"/>
            <a:ext cx="4351338" cy="4351338"/>
          </a:xfrm>
        </p:spPr>
      </p:pic>
      <p:pic>
        <p:nvPicPr>
          <p:cNvPr id="6" name="Picture 5" descr="bus - Trying to understand a picture of computer buses - Super User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920" y="1690688"/>
            <a:ext cx="389572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4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3793BD96-19FE-460D-98B5-4B9D23272269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sp>
        <p:nvSpPr>
          <p:cNvPr id="30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sp>
        <p:nvSpPr>
          <p:cNvPr id="3079" name="Rectangle 4"/>
          <p:cNvSpPr txBox="1">
            <a:spLocks noChangeArrowheads="1"/>
          </p:cNvSpPr>
          <p:nvPr/>
        </p:nvSpPr>
        <p:spPr bwMode="auto">
          <a:xfrm>
            <a:off x="2133601" y="1066800"/>
            <a:ext cx="7591425" cy="447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Symbol" panose="05050102010706020507" pitchFamily="18" charset="2"/>
              </a:rPr>
              <a:t>In a digital system with many registers,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Symbol" panose="05050102010706020507" pitchFamily="18" charset="2"/>
              </a:rPr>
              <a:t>it is impractical to have data and control lines to directly allow each register to be loaded with the contents of every possible other registers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Symbol" panose="05050102010706020507" pitchFamily="18" charset="2"/>
              </a:rPr>
              <a:t>To completely connect n registers </a:t>
            </a:r>
            <a:r>
              <a:rPr lang="en-US" altLang="ko-KR" b="1" dirty="0">
                <a:latin typeface="Calibri" panose="020F0502020204030204" pitchFamily="34" charset="0"/>
                <a:sym typeface="Wingdings" panose="05000000000000000000" pitchFamily="2" charset="2"/>
              </a:rPr>
              <a:t> n(n-1) lines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Wingdings" panose="05000000000000000000" pitchFamily="2" charset="2"/>
              </a:rPr>
              <a:t>So the cost is in order of O(n</a:t>
            </a:r>
            <a:r>
              <a:rPr lang="en-US" altLang="ko-KR" b="1" baseline="30000" dirty="0">
                <a:latin typeface="Calibri" panose="020F0502020204030204" pitchFamily="34" charset="0"/>
                <a:sym typeface="Wingdings" panose="05000000000000000000" pitchFamily="2" charset="2"/>
              </a:rPr>
              <a:t>2</a:t>
            </a:r>
            <a:r>
              <a:rPr lang="en-US" altLang="ko-KR" b="1" dirty="0">
                <a:latin typeface="Calibri" panose="020F0502020204030204" pitchFamily="34" charset="0"/>
                <a:sym typeface="Wingdings" panose="05000000000000000000" pitchFamily="2" charset="2"/>
              </a:rPr>
              <a:t>) cost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Symbol" panose="05050102010706020507" pitchFamily="18" charset="2"/>
              </a:rPr>
              <a:t>This is not a realistic approach to use in a large digital system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b="1" dirty="0">
              <a:latin typeface="Calibri" panose="020F050202020403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4123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3793BD96-19FE-460D-98B5-4B9D23272269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r>
              <a:rPr lang="en-US" altLang="en-US">
                <a:latin typeface="Calibri" panose="020F0502020204030204" pitchFamily="34" charset="0"/>
              </a:rPr>
              <a:t>				          </a:t>
            </a:r>
          </a:p>
        </p:txBody>
      </p:sp>
      <p:sp>
        <p:nvSpPr>
          <p:cNvPr id="30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sp>
        <p:nvSpPr>
          <p:cNvPr id="3079" name="Rectangle 4"/>
          <p:cNvSpPr txBox="1">
            <a:spLocks noChangeArrowheads="1"/>
          </p:cNvSpPr>
          <p:nvPr/>
        </p:nvSpPr>
        <p:spPr bwMode="auto">
          <a:xfrm>
            <a:off x="2133601" y="1066800"/>
            <a:ext cx="7591425" cy="447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Symbol" panose="05050102010706020507" pitchFamily="18" charset="2"/>
              </a:rPr>
              <a:t>Instead, take a different approach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Symbol" panose="05050102010706020507" pitchFamily="18" charset="2"/>
              </a:rPr>
              <a:t>Have one centralized set of circuits for data transfer – the </a:t>
            </a:r>
            <a:r>
              <a:rPr lang="en-US" altLang="ko-KR" b="1" u="sng" dirty="0">
                <a:solidFill>
                  <a:schemeClr val="tx2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bus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b="1" u="sng" dirty="0">
              <a:solidFill>
                <a:schemeClr val="tx2"/>
              </a:solidFill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BUS STRUCTURE CONSISTS OF SET OF COMMON LINES, ONE FOR EACH BIT OF A REGISTER THROUGH WHICH BINARY INFORMATION IS TRANSFERRED ONE AT A TIME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b="1" dirty="0">
              <a:solidFill>
                <a:schemeClr val="tx2"/>
              </a:solidFill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Symbol" panose="05050102010706020507" pitchFamily="18" charset="2"/>
              </a:rPr>
              <a:t>Have control circuits to select which register is the source, and which is the destination</a:t>
            </a:r>
          </a:p>
        </p:txBody>
      </p:sp>
    </p:spTree>
    <p:extLst>
      <p:ext uri="{BB962C8B-B14F-4D97-AF65-F5344CB8AC3E}">
        <p14:creationId xmlns:p14="http://schemas.microsoft.com/office/powerpoint/2010/main" val="1727448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C99F7588-95A7-487F-B1E6-3303313D0AC8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sp>
        <p:nvSpPr>
          <p:cNvPr id="410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pic>
        <p:nvPicPr>
          <p:cNvPr id="410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71600"/>
            <a:ext cx="85534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Rectangle 215"/>
          <p:cNvSpPr>
            <a:spLocks noChangeArrowheads="1"/>
          </p:cNvSpPr>
          <p:nvPr/>
        </p:nvSpPr>
        <p:spPr bwMode="auto">
          <a:xfrm>
            <a:off x="2362200" y="3810000"/>
            <a:ext cx="6934200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Symbol" panose="05050102010706020507" pitchFamily="18" charset="2"/>
              </a:rPr>
              <a:t> One way of constructing common bus system is with </a:t>
            </a:r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multiplexers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Calibri" panose="020F0502020204030204" pitchFamily="34" charset="0"/>
                <a:sym typeface="Symbol" panose="05050102010706020507" pitchFamily="18" charset="2"/>
              </a:rPr>
              <a:t> Multiplexer selects the source register whose binary information is kept on the bus.</a:t>
            </a:r>
          </a:p>
        </p:txBody>
      </p:sp>
      <p:sp>
        <p:nvSpPr>
          <p:cNvPr id="4105" name="Rectangle 216"/>
          <p:cNvSpPr>
            <a:spLocks noChangeArrowheads="1"/>
          </p:cNvSpPr>
          <p:nvPr/>
        </p:nvSpPr>
        <p:spPr bwMode="auto">
          <a:xfrm>
            <a:off x="2514600" y="5105400"/>
            <a:ext cx="6934200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 Construction of bus system for 4 register (Next Fig)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4 bit register X 4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four 4X1 multiplexer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latin typeface="Calibri" panose="020F0502020204030204" pitchFamily="34" charset="0"/>
                <a:sym typeface="Symbol" panose="05050102010706020507" pitchFamily="18" charset="2"/>
              </a:rPr>
              <a:t>Bus selection S0, S1</a:t>
            </a:r>
          </a:p>
        </p:txBody>
      </p:sp>
    </p:spTree>
    <p:extLst>
      <p:ext uri="{BB962C8B-B14F-4D97-AF65-F5344CB8AC3E}">
        <p14:creationId xmlns:p14="http://schemas.microsoft.com/office/powerpoint/2010/main" val="3489713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E386A7D8-5DC2-496C-9501-3E19105A6626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pic>
        <p:nvPicPr>
          <p:cNvPr id="5127" name="Picture 2" descr="C:\Users\Deepak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200150"/>
            <a:ext cx="8534400" cy="550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3" descr="C:\Users\Deepak\Desktop\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3048000"/>
            <a:ext cx="1905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9661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ystem Bus and Memory Transfer Computer Organization and Architecture -  Care4yo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3071"/>
            <a:ext cx="7939088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 descr="C:\Users\Deepak\Desktop\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5153608"/>
            <a:ext cx="1905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193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D7FC4D58-27AE-4C7C-A8B9-9B1FE27897A2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sp>
        <p:nvSpPr>
          <p:cNvPr id="71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sp>
        <p:nvSpPr>
          <p:cNvPr id="7175" name="TextBox 211"/>
          <p:cNvSpPr txBox="1">
            <a:spLocks noChangeArrowheads="1"/>
          </p:cNvSpPr>
          <p:nvPr/>
        </p:nvSpPr>
        <p:spPr bwMode="auto">
          <a:xfrm>
            <a:off x="2133600" y="1905001"/>
            <a:ext cx="7848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 For a bus system to multiplex </a:t>
            </a:r>
            <a:r>
              <a:rPr lang="en-US" altLang="en-US">
                <a:solidFill>
                  <a:srgbClr val="FF0000"/>
                </a:solidFill>
              </a:rPr>
              <a:t>k registers </a:t>
            </a:r>
            <a:r>
              <a:rPr lang="en-US" altLang="en-US"/>
              <a:t>of </a:t>
            </a:r>
            <a:r>
              <a:rPr lang="en-US" altLang="en-US">
                <a:solidFill>
                  <a:srgbClr val="FF0000"/>
                </a:solidFill>
              </a:rPr>
              <a:t>n bits</a:t>
            </a:r>
            <a:r>
              <a:rPr lang="en-US" altLang="en-US"/>
              <a:t> each</a:t>
            </a:r>
          </a:p>
          <a:p>
            <a:pPr lvl="1"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 No. of multiplexer = n = No. of bits in register (4 mux = 4 bits (0123))</a:t>
            </a:r>
          </a:p>
          <a:p>
            <a:pPr lvl="1"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Size of each multiplexer = k x 1, k data lines in each MUX 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/>
              <a:t>(No.of I/P in MUX = No. of register)</a:t>
            </a:r>
          </a:p>
        </p:txBody>
      </p:sp>
    </p:spTree>
    <p:extLst>
      <p:ext uri="{BB962C8B-B14F-4D97-AF65-F5344CB8AC3E}">
        <p14:creationId xmlns:p14="http://schemas.microsoft.com/office/powerpoint/2010/main" val="333436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4FD3FB65-2F04-49C3-8BA9-DBB0077F1E24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pic>
        <p:nvPicPr>
          <p:cNvPr id="8199" name="Picture 1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2438401"/>
            <a:ext cx="67913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133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7CE72045-4728-40B8-B373-E47A5DD03B9A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pic>
        <p:nvPicPr>
          <p:cNvPr id="922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46"/>
          <a:stretch/>
        </p:blipFill>
        <p:spPr bwMode="auto">
          <a:xfrm>
            <a:off x="1828800" y="2584320"/>
            <a:ext cx="8534400" cy="1517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78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7CE72045-4728-40B8-B373-E47A5DD03B9A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pic>
        <p:nvPicPr>
          <p:cNvPr id="922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09"/>
          <a:stretch/>
        </p:blipFill>
        <p:spPr bwMode="auto">
          <a:xfrm>
            <a:off x="1828800" y="1689618"/>
            <a:ext cx="8534400" cy="3911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2" descr="Tristate Buffers - YouT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57" t="13788" r="9412" b="22789"/>
          <a:stretch>
            <a:fillRect/>
          </a:stretch>
        </p:blipFill>
        <p:spPr bwMode="auto">
          <a:xfrm>
            <a:off x="9086462" y="3848100"/>
            <a:ext cx="1143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99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73" r="18750"/>
          <a:stretch>
            <a:fillRect/>
          </a:stretch>
        </p:blipFill>
        <p:spPr bwMode="auto">
          <a:xfrm>
            <a:off x="2133600" y="1600200"/>
            <a:ext cx="6934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2" descr="Tristate Buffers - YouT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57" t="13788" r="9412" b="22789"/>
          <a:stretch>
            <a:fillRect/>
          </a:stretch>
        </p:blipFill>
        <p:spPr bwMode="auto">
          <a:xfrm>
            <a:off x="5334000" y="3124200"/>
            <a:ext cx="1143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445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2" descr="Tristate Buffers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57" t="13788" r="9412" b="22789"/>
          <a:stretch>
            <a:fillRect/>
          </a:stretch>
        </p:blipFill>
        <p:spPr bwMode="auto">
          <a:xfrm>
            <a:off x="5334000" y="3124200"/>
            <a:ext cx="1143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Tristate Buffer - an overview | ScienceDirect Top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537" y="1531290"/>
            <a:ext cx="51149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015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267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2420BE77-0678-4734-B72D-3756020FCD92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r>
              <a:rPr lang="en-US" altLang="en-US">
                <a:latin typeface="Calibri" panose="020F0502020204030204" pitchFamily="34" charset="0"/>
              </a:rPr>
              <a:t>				        </a:t>
            </a:r>
          </a:p>
        </p:txBody>
      </p:sp>
      <p:sp>
        <p:nvSpPr>
          <p:cNvPr id="112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Connecting Registers - Bus Transfer</a:t>
            </a:r>
          </a:p>
        </p:txBody>
      </p:sp>
      <p:pic>
        <p:nvPicPr>
          <p:cNvPr id="112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66800"/>
            <a:ext cx="8534400" cy="544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3" descr="C:\Users\Deepak\Desktop\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971800"/>
            <a:ext cx="1905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7920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016EE783-92CA-42E7-A517-5CA9D4779717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- RAM</a:t>
            </a:r>
          </a:p>
        </p:txBody>
      </p:sp>
      <p:sp>
        <p:nvSpPr>
          <p:cNvPr id="12295" name="Rectangle 4"/>
          <p:cNvSpPr txBox="1">
            <a:spLocks noChangeArrowheads="1"/>
          </p:cNvSpPr>
          <p:nvPr/>
        </p:nvSpPr>
        <p:spPr bwMode="auto">
          <a:xfrm>
            <a:off x="1906588" y="1061941"/>
            <a:ext cx="75914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Memory (RAM) can be thought as a sequential circuits containing some number of registers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 Memory stores binary information in groups of bits called </a:t>
            </a: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words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These registers hold the </a:t>
            </a:r>
            <a:r>
              <a:rPr lang="en-US" altLang="ko-KR" sz="2000" b="1" i="1" dirty="0">
                <a:solidFill>
                  <a:srgbClr val="FF0000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words</a:t>
            </a: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 of memory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Each of the r registers is indicated by an </a:t>
            </a:r>
            <a:r>
              <a:rPr lang="en-US" altLang="ko-KR" sz="2000" b="1" i="1" dirty="0">
                <a:latin typeface="Calibri" panose="020F0502020204030204" pitchFamily="34" charset="0"/>
                <a:sym typeface="Symbol" panose="05050102010706020507" pitchFamily="18" charset="2"/>
              </a:rPr>
              <a:t>address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These addresses range from 0 to r-1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Each register (word) can hold n bits of data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31816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016EE783-92CA-42E7-A517-5CA9D4779717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r>
              <a:rPr lang="en-US" altLang="en-US">
                <a:latin typeface="Calibri" panose="020F0502020204030204" pitchFamily="34" charset="0"/>
              </a:rPr>
              <a:t>				     </a:t>
            </a:r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- RAM</a:t>
            </a:r>
          </a:p>
        </p:txBody>
      </p:sp>
      <p:sp>
        <p:nvSpPr>
          <p:cNvPr id="12295" name="Rectangle 4"/>
          <p:cNvSpPr txBox="1">
            <a:spLocks noChangeArrowheads="1"/>
          </p:cNvSpPr>
          <p:nvPr/>
        </p:nvSpPr>
        <p:spPr bwMode="auto">
          <a:xfrm>
            <a:off x="1905001" y="1066800"/>
            <a:ext cx="75914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Assume the RAM contains r = 2</a:t>
            </a:r>
            <a:r>
              <a:rPr lang="en-US" altLang="ko-KR" sz="2000" b="1" baseline="30000" dirty="0">
                <a:latin typeface="Calibri" panose="020F0502020204030204" pitchFamily="34" charset="0"/>
                <a:sym typeface="Symbol" panose="05050102010706020507" pitchFamily="18" charset="2"/>
              </a:rPr>
              <a:t>k</a:t>
            </a: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 words. It needs the following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n data input lines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n data output lines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k address lines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A Read control line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 dirty="0">
                <a:latin typeface="Calibri" panose="020F0502020204030204" pitchFamily="34" charset="0"/>
                <a:sym typeface="Symbol" panose="05050102010706020507" pitchFamily="18" charset="2"/>
              </a:rPr>
              <a:t>A Write control line</a:t>
            </a:r>
          </a:p>
        </p:txBody>
      </p:sp>
      <p:grpSp>
        <p:nvGrpSpPr>
          <p:cNvPr id="12296" name="Group 5"/>
          <p:cNvGrpSpPr>
            <a:grpSpLocks/>
          </p:cNvGrpSpPr>
          <p:nvPr/>
        </p:nvGrpSpPr>
        <p:grpSpPr bwMode="auto">
          <a:xfrm>
            <a:off x="4123531" y="3606281"/>
            <a:ext cx="3154363" cy="2667000"/>
            <a:chOff x="3044" y="2172"/>
            <a:chExt cx="1987" cy="1680"/>
          </a:xfrm>
        </p:grpSpPr>
        <p:sp>
          <p:nvSpPr>
            <p:cNvPr id="12297" name="Rectangle 6"/>
            <p:cNvSpPr>
              <a:spLocks noChangeArrowheads="1"/>
            </p:cNvSpPr>
            <p:nvPr/>
          </p:nvSpPr>
          <p:spPr bwMode="auto">
            <a:xfrm>
              <a:off x="4092" y="2766"/>
              <a:ext cx="918" cy="6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298" name="Line 7"/>
            <p:cNvSpPr>
              <a:spLocks noChangeShapeType="1"/>
            </p:cNvSpPr>
            <p:nvPr/>
          </p:nvSpPr>
          <p:spPr bwMode="auto">
            <a:xfrm>
              <a:off x="4566" y="2352"/>
              <a:ext cx="0" cy="4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99" name="Text Box 8"/>
            <p:cNvSpPr txBox="1">
              <a:spLocks noChangeArrowheads="1"/>
            </p:cNvSpPr>
            <p:nvPr/>
          </p:nvSpPr>
          <p:spPr bwMode="auto">
            <a:xfrm>
              <a:off x="4087" y="2172"/>
              <a:ext cx="84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400" b="1">
                  <a:latin typeface="Calibri" panose="020F0502020204030204" pitchFamily="34" charset="0"/>
                </a:rPr>
                <a:t>data input lines</a:t>
              </a:r>
            </a:p>
          </p:txBody>
        </p:sp>
        <p:sp>
          <p:nvSpPr>
            <p:cNvPr id="12300" name="Line 9"/>
            <p:cNvSpPr>
              <a:spLocks noChangeShapeType="1"/>
            </p:cNvSpPr>
            <p:nvPr/>
          </p:nvSpPr>
          <p:spPr bwMode="auto">
            <a:xfrm>
              <a:off x="4578" y="3426"/>
              <a:ext cx="0" cy="27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1" name="Text Box 10"/>
            <p:cNvSpPr txBox="1">
              <a:spLocks noChangeArrowheads="1"/>
            </p:cNvSpPr>
            <p:nvPr/>
          </p:nvSpPr>
          <p:spPr bwMode="auto">
            <a:xfrm>
              <a:off x="4115" y="3658"/>
              <a:ext cx="91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400" b="1">
                  <a:latin typeface="Calibri" panose="020F0502020204030204" pitchFamily="34" charset="0"/>
                </a:rPr>
                <a:t>data output lines</a:t>
              </a:r>
            </a:p>
          </p:txBody>
        </p:sp>
        <p:sp>
          <p:nvSpPr>
            <p:cNvPr id="12302" name="Line 11"/>
            <p:cNvSpPr>
              <a:spLocks noChangeShapeType="1"/>
            </p:cNvSpPr>
            <p:nvPr/>
          </p:nvSpPr>
          <p:spPr bwMode="auto">
            <a:xfrm flipH="1">
              <a:off x="4542" y="2520"/>
              <a:ext cx="48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3" name="Text Box 12"/>
            <p:cNvSpPr txBox="1">
              <a:spLocks noChangeArrowheads="1"/>
            </p:cNvSpPr>
            <p:nvPr/>
          </p:nvSpPr>
          <p:spPr bwMode="auto">
            <a:xfrm>
              <a:off x="4586" y="2448"/>
              <a:ext cx="17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n</a:t>
              </a:r>
            </a:p>
          </p:txBody>
        </p:sp>
        <p:sp>
          <p:nvSpPr>
            <p:cNvPr id="12304" name="Line 13"/>
            <p:cNvSpPr>
              <a:spLocks noChangeShapeType="1"/>
            </p:cNvSpPr>
            <p:nvPr/>
          </p:nvSpPr>
          <p:spPr bwMode="auto">
            <a:xfrm flipH="1">
              <a:off x="4552" y="3526"/>
              <a:ext cx="48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5" name="Text Box 14"/>
            <p:cNvSpPr txBox="1">
              <a:spLocks noChangeArrowheads="1"/>
            </p:cNvSpPr>
            <p:nvPr/>
          </p:nvSpPr>
          <p:spPr bwMode="auto">
            <a:xfrm>
              <a:off x="4596" y="3454"/>
              <a:ext cx="17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n</a:t>
              </a:r>
            </a:p>
          </p:txBody>
        </p:sp>
        <p:sp>
          <p:nvSpPr>
            <p:cNvPr id="12306" name="Line 15"/>
            <p:cNvSpPr>
              <a:spLocks noChangeShapeType="1"/>
            </p:cNvSpPr>
            <p:nvPr/>
          </p:nvSpPr>
          <p:spPr bwMode="auto">
            <a:xfrm>
              <a:off x="3468" y="2880"/>
              <a:ext cx="6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7" name="Line 16"/>
            <p:cNvSpPr>
              <a:spLocks noChangeShapeType="1"/>
            </p:cNvSpPr>
            <p:nvPr/>
          </p:nvSpPr>
          <p:spPr bwMode="auto">
            <a:xfrm flipH="1">
              <a:off x="3902" y="2852"/>
              <a:ext cx="48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8" name="Text Box 17"/>
            <p:cNvSpPr txBox="1">
              <a:spLocks noChangeArrowheads="1"/>
            </p:cNvSpPr>
            <p:nvPr/>
          </p:nvSpPr>
          <p:spPr bwMode="auto">
            <a:xfrm>
              <a:off x="3772" y="2864"/>
              <a:ext cx="17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k</a:t>
              </a:r>
            </a:p>
          </p:txBody>
        </p:sp>
        <p:sp>
          <p:nvSpPr>
            <p:cNvPr id="12309" name="Text Box 18"/>
            <p:cNvSpPr txBox="1">
              <a:spLocks noChangeArrowheads="1"/>
            </p:cNvSpPr>
            <p:nvPr/>
          </p:nvSpPr>
          <p:spPr bwMode="auto">
            <a:xfrm>
              <a:off x="3044" y="2706"/>
              <a:ext cx="72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address lines</a:t>
              </a:r>
            </a:p>
          </p:txBody>
        </p:sp>
        <p:sp>
          <p:nvSpPr>
            <p:cNvPr id="12310" name="Text Box 19"/>
            <p:cNvSpPr txBox="1">
              <a:spLocks noChangeArrowheads="1"/>
            </p:cNvSpPr>
            <p:nvPr/>
          </p:nvSpPr>
          <p:spPr bwMode="auto">
            <a:xfrm>
              <a:off x="3134" y="3006"/>
              <a:ext cx="35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Read</a:t>
              </a:r>
            </a:p>
          </p:txBody>
        </p:sp>
        <p:sp>
          <p:nvSpPr>
            <p:cNvPr id="12311" name="Text Box 20"/>
            <p:cNvSpPr txBox="1">
              <a:spLocks noChangeArrowheads="1"/>
            </p:cNvSpPr>
            <p:nvPr/>
          </p:nvSpPr>
          <p:spPr bwMode="auto">
            <a:xfrm>
              <a:off x="3134" y="3234"/>
              <a:ext cx="3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Write</a:t>
              </a:r>
            </a:p>
          </p:txBody>
        </p:sp>
        <p:sp>
          <p:nvSpPr>
            <p:cNvPr id="12312" name="Line 21"/>
            <p:cNvSpPr>
              <a:spLocks noChangeShapeType="1"/>
            </p:cNvSpPr>
            <p:nvPr/>
          </p:nvSpPr>
          <p:spPr bwMode="auto">
            <a:xfrm>
              <a:off x="3472" y="3130"/>
              <a:ext cx="6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13" name="Line 22"/>
            <p:cNvSpPr>
              <a:spLocks noChangeShapeType="1"/>
            </p:cNvSpPr>
            <p:nvPr/>
          </p:nvSpPr>
          <p:spPr bwMode="auto">
            <a:xfrm>
              <a:off x="3476" y="3350"/>
              <a:ext cx="6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14" name="Text Box 23"/>
            <p:cNvSpPr txBox="1">
              <a:spLocks noChangeArrowheads="1"/>
            </p:cNvSpPr>
            <p:nvPr/>
          </p:nvSpPr>
          <p:spPr bwMode="auto">
            <a:xfrm>
              <a:off x="4352" y="2893"/>
              <a:ext cx="41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b="1" dirty="0">
                  <a:latin typeface="Calibri" panose="020F0502020204030204" pitchFamily="34" charset="0"/>
                </a:rPr>
                <a:t>RAM</a:t>
              </a:r>
            </a:p>
            <a:p>
              <a:pPr algn="ctr" eaLnBrk="1" hangingPunct="1"/>
              <a:r>
                <a:rPr lang="en-US" altLang="ko-KR" b="1" dirty="0">
                  <a:latin typeface="Calibri" panose="020F0502020204030204" pitchFamily="34" charset="0"/>
                </a:rPr>
                <a:t>unit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7995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D8DA70D9-0728-4030-8F61-B8AEB22DB3DB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r>
              <a:rPr lang="en-US" altLang="en-US">
                <a:latin typeface="Calibri" panose="020F0502020204030204" pitchFamily="34" charset="0"/>
              </a:rPr>
              <a:t>				      </a:t>
            </a:r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Transfer</a:t>
            </a:r>
          </a:p>
        </p:txBody>
      </p:sp>
      <p:sp>
        <p:nvSpPr>
          <p:cNvPr id="13319" name="Rectangle 26"/>
          <p:cNvSpPr>
            <a:spLocks noChangeArrowheads="1"/>
          </p:cNvSpPr>
          <p:nvPr/>
        </p:nvSpPr>
        <p:spPr bwMode="auto">
          <a:xfrm>
            <a:off x="2133600" y="1295401"/>
            <a:ext cx="807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Memory is usually accessed in computer systems by putting the desired address in a special register, the</a:t>
            </a:r>
            <a:r>
              <a:rPr lang="en-US" altLang="ko-KR" sz="2000" b="1" u="sng">
                <a:solidFill>
                  <a:schemeClr val="tx2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Memory Address Register (MAR, or AR)</a:t>
            </a:r>
          </a:p>
        </p:txBody>
      </p:sp>
      <p:grpSp>
        <p:nvGrpSpPr>
          <p:cNvPr id="13320" name="Group 57"/>
          <p:cNvGrpSpPr>
            <a:grpSpLocks/>
          </p:cNvGrpSpPr>
          <p:nvPr/>
        </p:nvGrpSpPr>
        <p:grpSpPr bwMode="auto">
          <a:xfrm>
            <a:off x="3429001" y="2362200"/>
            <a:ext cx="4525963" cy="1544638"/>
            <a:chOff x="3081338" y="4775200"/>
            <a:chExt cx="4525962" cy="1544635"/>
          </a:xfrm>
        </p:grpSpPr>
        <p:grpSp>
          <p:nvGrpSpPr>
            <p:cNvPr id="13321" name="Group 36"/>
            <p:cNvGrpSpPr>
              <a:grpSpLocks/>
            </p:cNvGrpSpPr>
            <p:nvPr/>
          </p:nvGrpSpPr>
          <p:grpSpPr bwMode="auto">
            <a:xfrm>
              <a:off x="3081338" y="5065711"/>
              <a:ext cx="4525962" cy="1254124"/>
              <a:chOff x="1941" y="3191"/>
              <a:chExt cx="2851" cy="790"/>
            </a:xfrm>
          </p:grpSpPr>
          <p:sp>
            <p:nvSpPr>
              <p:cNvPr id="13323" name="Rectangle 23"/>
              <p:cNvSpPr>
                <a:spLocks noChangeArrowheads="1"/>
              </p:cNvSpPr>
              <p:nvPr/>
            </p:nvSpPr>
            <p:spPr bwMode="auto">
              <a:xfrm>
                <a:off x="1941" y="3320"/>
                <a:ext cx="454" cy="12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b="1">
                  <a:latin typeface="Calibri" panose="020F0502020204030204" pitchFamily="34" charset="0"/>
                </a:endParaRPr>
              </a:p>
            </p:txBody>
          </p:sp>
          <p:sp>
            <p:nvSpPr>
              <p:cNvPr id="13324" name="Rectangle 24"/>
              <p:cNvSpPr>
                <a:spLocks noChangeArrowheads="1"/>
              </p:cNvSpPr>
              <p:nvPr/>
            </p:nvSpPr>
            <p:spPr bwMode="auto">
              <a:xfrm>
                <a:off x="2050" y="3313"/>
                <a:ext cx="21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400" b="1">
                    <a:latin typeface="Calibri" panose="020F0502020204030204" pitchFamily="34" charset="0"/>
                  </a:rPr>
                  <a:t>AR</a:t>
                </a:r>
              </a:p>
            </p:txBody>
          </p:sp>
          <p:sp>
            <p:nvSpPr>
              <p:cNvPr id="13325" name="Line 25"/>
              <p:cNvSpPr>
                <a:spLocks noChangeShapeType="1"/>
              </p:cNvSpPr>
              <p:nvPr/>
            </p:nvSpPr>
            <p:spPr bwMode="auto">
              <a:xfrm>
                <a:off x="2399" y="3375"/>
                <a:ext cx="79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26" name="Rectangle 26"/>
              <p:cNvSpPr>
                <a:spLocks noChangeArrowheads="1"/>
              </p:cNvSpPr>
              <p:nvPr/>
            </p:nvSpPr>
            <p:spPr bwMode="auto">
              <a:xfrm>
                <a:off x="3208" y="3204"/>
                <a:ext cx="808" cy="38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b="1">
                  <a:latin typeface="Calibri" panose="020F0502020204030204" pitchFamily="34" charset="0"/>
                </a:endParaRPr>
              </a:p>
            </p:txBody>
          </p:sp>
          <p:sp>
            <p:nvSpPr>
              <p:cNvPr id="13327" name="Rectangle 27"/>
              <p:cNvSpPr>
                <a:spLocks noChangeArrowheads="1"/>
              </p:cNvSpPr>
              <p:nvPr/>
            </p:nvSpPr>
            <p:spPr bwMode="auto">
              <a:xfrm>
                <a:off x="3363" y="3246"/>
                <a:ext cx="483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1000"/>
                  </a:lnSpc>
                </a:pPr>
                <a:r>
                  <a:rPr lang="en-US" altLang="ko-KR" sz="1400" b="1">
                    <a:latin typeface="Calibri" panose="020F0502020204030204" pitchFamily="34" charset="0"/>
                  </a:rPr>
                  <a:t>Memory</a:t>
                </a:r>
              </a:p>
              <a:p>
                <a:pPr algn="ctr" eaLnBrk="1" hangingPunct="1">
                  <a:lnSpc>
                    <a:spcPct val="101000"/>
                  </a:lnSpc>
                </a:pPr>
                <a:r>
                  <a:rPr lang="en-US" altLang="ko-KR" sz="1400" b="1">
                    <a:latin typeface="Calibri" panose="020F0502020204030204" pitchFamily="34" charset="0"/>
                  </a:rPr>
                  <a:t>unit</a:t>
                </a:r>
              </a:p>
            </p:txBody>
          </p:sp>
          <p:sp>
            <p:nvSpPr>
              <p:cNvPr id="13328" name="Line 28"/>
              <p:cNvSpPr>
                <a:spLocks noChangeShapeType="1"/>
              </p:cNvSpPr>
              <p:nvPr/>
            </p:nvSpPr>
            <p:spPr bwMode="auto">
              <a:xfrm flipH="1">
                <a:off x="4016" y="3287"/>
                <a:ext cx="36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29" name="Line 29"/>
              <p:cNvSpPr>
                <a:spLocks noChangeShapeType="1"/>
              </p:cNvSpPr>
              <p:nvPr/>
            </p:nvSpPr>
            <p:spPr bwMode="auto">
              <a:xfrm flipH="1">
                <a:off x="4016" y="3486"/>
                <a:ext cx="36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30" name="Rectangle 30"/>
              <p:cNvSpPr>
                <a:spLocks noChangeArrowheads="1"/>
              </p:cNvSpPr>
              <p:nvPr/>
            </p:nvSpPr>
            <p:spPr bwMode="auto">
              <a:xfrm>
                <a:off x="4426" y="3191"/>
                <a:ext cx="315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1000"/>
                  </a:lnSpc>
                </a:pPr>
                <a:r>
                  <a:rPr lang="en-US" altLang="ko-KR" sz="1400" b="1">
                    <a:latin typeface="Calibri" panose="020F0502020204030204" pitchFamily="34" charset="0"/>
                  </a:rPr>
                  <a:t>Read</a:t>
                </a:r>
              </a:p>
            </p:txBody>
          </p:sp>
          <p:sp>
            <p:nvSpPr>
              <p:cNvPr id="13331" name="Rectangle 31"/>
              <p:cNvSpPr>
                <a:spLocks noChangeArrowheads="1"/>
              </p:cNvSpPr>
              <p:nvPr/>
            </p:nvSpPr>
            <p:spPr bwMode="auto">
              <a:xfrm>
                <a:off x="4448" y="3425"/>
                <a:ext cx="344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1000"/>
                  </a:lnSpc>
                </a:pPr>
                <a:r>
                  <a:rPr lang="en-US" altLang="ko-KR" sz="1400" b="1">
                    <a:latin typeface="Calibri" panose="020F0502020204030204" pitchFamily="34" charset="0"/>
                  </a:rPr>
                  <a:t>Write</a:t>
                </a:r>
              </a:p>
            </p:txBody>
          </p:sp>
          <p:sp>
            <p:nvSpPr>
              <p:cNvPr id="13332" name="Line 32"/>
              <p:cNvSpPr>
                <a:spLocks noChangeShapeType="1"/>
              </p:cNvSpPr>
              <p:nvPr/>
            </p:nvSpPr>
            <p:spPr bwMode="auto">
              <a:xfrm>
                <a:off x="3418" y="3602"/>
                <a:ext cx="0" cy="22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33" name="Line 33"/>
              <p:cNvSpPr>
                <a:spLocks noChangeShapeType="1"/>
              </p:cNvSpPr>
              <p:nvPr/>
            </p:nvSpPr>
            <p:spPr bwMode="auto">
              <a:xfrm flipV="1">
                <a:off x="3806" y="3586"/>
                <a:ext cx="0" cy="2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34" name="Rectangle 34"/>
              <p:cNvSpPr>
                <a:spLocks noChangeArrowheads="1"/>
              </p:cNvSpPr>
              <p:nvPr/>
            </p:nvSpPr>
            <p:spPr bwMode="auto">
              <a:xfrm>
                <a:off x="3796" y="3787"/>
                <a:ext cx="450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400" b="1">
                    <a:latin typeface="Calibri" panose="020F0502020204030204" pitchFamily="34" charset="0"/>
                  </a:rPr>
                  <a:t>Data in</a:t>
                </a:r>
              </a:p>
            </p:txBody>
          </p:sp>
          <p:sp>
            <p:nvSpPr>
              <p:cNvPr id="13335" name="Rectangle 35"/>
              <p:cNvSpPr>
                <a:spLocks noChangeArrowheads="1"/>
              </p:cNvSpPr>
              <p:nvPr/>
            </p:nvSpPr>
            <p:spPr bwMode="auto">
              <a:xfrm>
                <a:off x="3164" y="3787"/>
                <a:ext cx="52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400" b="1">
                    <a:latin typeface="Calibri" panose="020F0502020204030204" pitchFamily="34" charset="0"/>
                  </a:rPr>
                  <a:t>Data out</a:t>
                </a:r>
              </a:p>
            </p:txBody>
          </p:sp>
        </p:grpSp>
        <p:sp>
          <p:nvSpPr>
            <p:cNvPr id="13322" name="Text Box 37"/>
            <p:cNvSpPr txBox="1">
              <a:spLocks noChangeArrowheads="1"/>
            </p:cNvSpPr>
            <p:nvPr/>
          </p:nvSpPr>
          <p:spPr bwMode="auto">
            <a:xfrm>
              <a:off x="5603875" y="4775200"/>
              <a:ext cx="36420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Calibri" panose="020F0502020204030204" pitchFamily="34" charset="0"/>
                </a:rPr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2395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0472A66D-D426-4FE5-9204-64073A428B5C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r>
              <a:rPr lang="en-US" altLang="en-US">
                <a:latin typeface="Calibri" panose="020F0502020204030204" pitchFamily="34" charset="0"/>
              </a:rPr>
              <a:t>				       </a:t>
            </a:r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Read</a:t>
            </a:r>
          </a:p>
        </p:txBody>
      </p:sp>
      <p:sp>
        <p:nvSpPr>
          <p:cNvPr id="14343" name="Rectangle 22"/>
          <p:cNvSpPr txBox="1">
            <a:spLocks noChangeArrowheads="1"/>
          </p:cNvSpPr>
          <p:nvPr/>
        </p:nvSpPr>
        <p:spPr bwMode="auto">
          <a:xfrm>
            <a:off x="2333626" y="1590676"/>
            <a:ext cx="759142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To read a value from a location in memory and load it into a register, the register transfer language notation looks like this: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solidFill>
                <a:schemeClr val="bg2"/>
              </a:solidFill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This causes the following to occur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The contents of the MAR get sent to the memory address lines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A Read (= 1) gets sent to the memory unit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The contents of the specified address are put on the memory’s output data lines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These get sent over the bus to be loaded into register R1</a:t>
            </a:r>
          </a:p>
        </p:txBody>
      </p:sp>
      <p:sp>
        <p:nvSpPr>
          <p:cNvPr id="14344" name="Rectangle 23"/>
          <p:cNvSpPr>
            <a:spLocks noChangeArrowheads="1"/>
          </p:cNvSpPr>
          <p:nvPr/>
        </p:nvSpPr>
        <p:spPr bwMode="auto">
          <a:xfrm>
            <a:off x="4922839" y="2457450"/>
            <a:ext cx="1743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ko-KR" sz="2000" b="1">
                <a:solidFill>
                  <a:schemeClr val="tx2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R1  M[MAR]</a:t>
            </a:r>
          </a:p>
        </p:txBody>
      </p:sp>
    </p:spTree>
    <p:extLst>
      <p:ext uri="{BB962C8B-B14F-4D97-AF65-F5344CB8AC3E}">
        <p14:creationId xmlns:p14="http://schemas.microsoft.com/office/powerpoint/2010/main" val="1580794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Register Transfer and Micro-operations	               </a:t>
            </a:r>
            <a:fld id="{725036C7-3A1D-4E66-88BA-BCD4B8D1815D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r>
              <a:rPr lang="en-US" altLang="en-US">
                <a:latin typeface="Calibri" panose="020F0502020204030204" pitchFamily="34" charset="0"/>
              </a:rPr>
              <a:t>				    </a:t>
            </a:r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Write</a:t>
            </a:r>
          </a:p>
        </p:txBody>
      </p:sp>
      <p:sp>
        <p:nvSpPr>
          <p:cNvPr id="15367" name="Rectangle 4"/>
          <p:cNvSpPr txBox="1">
            <a:spLocks noChangeArrowheads="1"/>
          </p:cNvSpPr>
          <p:nvPr/>
        </p:nvSpPr>
        <p:spPr bwMode="auto">
          <a:xfrm>
            <a:off x="2333626" y="1651000"/>
            <a:ext cx="7591425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To write a value from a register to a location in memory looks like this in register transfer language: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solidFill>
                <a:schemeClr val="bg2"/>
              </a:solidFill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This causes the following to occur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The contents of the MAR get sent to the memory address lines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A Write (= 1) gets sent to the memory unit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The values in register R1 get sent over the bus to the data input lines of the memory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2000" b="1">
                <a:latin typeface="Calibri" panose="020F0502020204030204" pitchFamily="34" charset="0"/>
                <a:sym typeface="Symbol" panose="05050102010706020507" pitchFamily="18" charset="2"/>
              </a:rPr>
              <a:t>The values get loaded into the specified address in the memory</a:t>
            </a:r>
          </a:p>
        </p:txBody>
      </p:sp>
      <p:sp>
        <p:nvSpPr>
          <p:cNvPr id="15368" name="Rectangle 5"/>
          <p:cNvSpPr>
            <a:spLocks noChangeArrowheads="1"/>
          </p:cNvSpPr>
          <p:nvPr/>
        </p:nvSpPr>
        <p:spPr bwMode="auto">
          <a:xfrm>
            <a:off x="4248151" y="2536825"/>
            <a:ext cx="1743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ko-KR" sz="2000" b="1">
                <a:solidFill>
                  <a:schemeClr val="tx2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M[MAR]  R1</a:t>
            </a:r>
          </a:p>
        </p:txBody>
      </p:sp>
    </p:spTree>
    <p:extLst>
      <p:ext uri="{BB962C8B-B14F-4D97-AF65-F5344CB8AC3E}">
        <p14:creationId xmlns:p14="http://schemas.microsoft.com/office/powerpoint/2010/main" val="321220042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849</Words>
  <Application>Microsoft Office PowerPoint</Application>
  <PresentationFormat>Widescreen</PresentationFormat>
  <Paragraphs>121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Wingdings</vt:lpstr>
      <vt:lpstr>1_Office Theme</vt:lpstr>
      <vt:lpstr>Bus and Memory Transfers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Aarti Shar</cp:lastModifiedBy>
  <cp:revision>23</cp:revision>
  <dcterms:created xsi:type="dcterms:W3CDTF">2024-12-19T08:47:23Z</dcterms:created>
  <dcterms:modified xsi:type="dcterms:W3CDTF">2026-04-06T03:29:03Z</dcterms:modified>
</cp:coreProperties>
</file>