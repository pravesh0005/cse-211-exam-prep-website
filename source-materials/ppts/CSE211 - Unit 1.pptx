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Default Extension="jpeg" ContentType="image/jpeg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2"/>
  </p:notesMasterIdLst>
  <p:sldIdLst>
    <p:sldId id="4078" r:id="rId2"/>
    <p:sldId id="4074" r:id="rId3"/>
    <p:sldId id="4075" r:id="rId4"/>
    <p:sldId id="4076" r:id="rId5"/>
    <p:sldId id="4022" r:id="rId6"/>
    <p:sldId id="4023" r:id="rId7"/>
    <p:sldId id="4028" r:id="rId8"/>
    <p:sldId id="4085" r:id="rId9"/>
    <p:sldId id="4029" r:id="rId10"/>
    <p:sldId id="4030" r:id="rId11"/>
    <p:sldId id="4031" r:id="rId12"/>
    <p:sldId id="4032" r:id="rId13"/>
    <p:sldId id="4067" r:id="rId14"/>
    <p:sldId id="4033" r:id="rId15"/>
    <p:sldId id="4068" r:id="rId16"/>
    <p:sldId id="4034" r:id="rId17"/>
    <p:sldId id="4079" r:id="rId18"/>
    <p:sldId id="4035" r:id="rId19"/>
    <p:sldId id="4069" r:id="rId20"/>
    <p:sldId id="4036" r:id="rId21"/>
    <p:sldId id="4070" r:id="rId22"/>
    <p:sldId id="4080" r:id="rId23"/>
    <p:sldId id="4081" r:id="rId24"/>
    <p:sldId id="4083" r:id="rId25"/>
    <p:sldId id="4037" r:id="rId26"/>
    <p:sldId id="4084" r:id="rId27"/>
    <p:sldId id="4038" r:id="rId28"/>
    <p:sldId id="4039" r:id="rId29"/>
    <p:sldId id="4040" r:id="rId30"/>
    <p:sldId id="4041" r:id="rId31"/>
    <p:sldId id="4042" r:id="rId32"/>
    <p:sldId id="4071" r:id="rId33"/>
    <p:sldId id="4108" r:id="rId34"/>
    <p:sldId id="4109" r:id="rId35"/>
    <p:sldId id="4110" r:id="rId36"/>
    <p:sldId id="4043" r:id="rId37"/>
    <p:sldId id="4100" r:id="rId38"/>
    <p:sldId id="4101" r:id="rId39"/>
    <p:sldId id="4102" r:id="rId40"/>
    <p:sldId id="4103" r:id="rId41"/>
    <p:sldId id="4104" r:id="rId42"/>
    <p:sldId id="4105" r:id="rId43"/>
    <p:sldId id="4106" r:id="rId44"/>
    <p:sldId id="4107" r:id="rId45"/>
    <p:sldId id="4044" r:id="rId46"/>
    <p:sldId id="4045" r:id="rId47"/>
    <p:sldId id="4087" r:id="rId48"/>
    <p:sldId id="4088" r:id="rId49"/>
    <p:sldId id="4089" r:id="rId50"/>
    <p:sldId id="4090" r:id="rId51"/>
    <p:sldId id="4091" r:id="rId52"/>
    <p:sldId id="4092" r:id="rId53"/>
    <p:sldId id="4093" r:id="rId54"/>
    <p:sldId id="4094" r:id="rId55"/>
    <p:sldId id="4095" r:id="rId56"/>
    <p:sldId id="4096" r:id="rId57"/>
    <p:sldId id="4097" r:id="rId58"/>
    <p:sldId id="4098" r:id="rId59"/>
    <p:sldId id="4099" r:id="rId60"/>
    <p:sldId id="4046" r:id="rId61"/>
    <p:sldId id="4111" r:id="rId62"/>
    <p:sldId id="4112" r:id="rId63"/>
    <p:sldId id="4113" r:id="rId64"/>
    <p:sldId id="4114" r:id="rId65"/>
    <p:sldId id="4115" r:id="rId66"/>
    <p:sldId id="4116" r:id="rId67"/>
    <p:sldId id="4117" r:id="rId68"/>
    <p:sldId id="4118" r:id="rId69"/>
    <p:sldId id="4047" r:id="rId70"/>
    <p:sldId id="4048" r:id="rId71"/>
    <p:sldId id="4049" r:id="rId72"/>
    <p:sldId id="4050" r:id="rId73"/>
    <p:sldId id="4051" r:id="rId74"/>
    <p:sldId id="4052" r:id="rId75"/>
    <p:sldId id="4053" r:id="rId76"/>
    <p:sldId id="4054" r:id="rId77"/>
    <p:sldId id="4055" r:id="rId78"/>
    <p:sldId id="4056" r:id="rId79"/>
    <p:sldId id="4057" r:id="rId80"/>
    <p:sldId id="4058" r:id="rId81"/>
    <p:sldId id="4072" r:id="rId82"/>
    <p:sldId id="4059" r:id="rId83"/>
    <p:sldId id="4060" r:id="rId84"/>
    <p:sldId id="4073" r:id="rId85"/>
    <p:sldId id="4061" r:id="rId86"/>
    <p:sldId id="4062" r:id="rId87"/>
    <p:sldId id="4063" r:id="rId88"/>
    <p:sldId id="4064" r:id="rId89"/>
    <p:sldId id="4065" r:id="rId90"/>
    <p:sldId id="4066" r:id="rId9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-69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FE31F5-84D9-4761-9F2B-901DD312A571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641145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020CBA-A14D-461B-AD1D-E66BE2D05512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446258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30F667-FA70-49BF-A363-1918F7D8B4DC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784017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57F63C-92F4-4BFB-A9CA-E2B17FA85192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85075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57F63C-92F4-4BFB-A9CA-E2B17FA85192}" type="slidenum">
              <a:rPr lang="en-US" altLang="en-US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761467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C51C5D-F411-4074-AC46-4836454333FC}" type="slidenum">
              <a:rPr lang="en-US" altLang="en-US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2844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C51C5D-F411-4074-AC46-4836454333FC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05192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A18212-0930-44B3-842C-A003A4F8FB16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919797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D83B7D-78CF-4A51-B1FB-EFA9E9FD8439}" type="slidenum">
              <a:rPr lang="en-US" altLang="en-US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931793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D83B7D-78CF-4A51-B1FB-EFA9E9FD8439}" type="slidenum">
              <a:rPr lang="en-US" altLang="en-US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319661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3C5CA1-D727-4CDE-AFA0-B82644099179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331325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3C5CA1-D727-4CDE-AFA0-B82644099179}" type="slidenum">
              <a:rPr lang="en-US" altLang="en-US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54109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FE4774-FEA1-476E-91C4-FE984FABB224}" type="slidenum">
              <a:rPr lang="en-US" altLang="en-US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284558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DFC2E7-458D-494E-8008-50283EDE8210}" type="slidenum">
              <a:rPr lang="en-US" altLang="en-US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9484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9CE1AD-87D7-4B57-BDEB-C2F608E09F9D}" type="slidenum">
              <a:rPr lang="en-US" altLang="en-US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129883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B6CF24-EF45-49A2-994B-6CEA40E0101D}" type="slidenum">
              <a:rPr lang="en-US" altLang="en-US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932499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105D04-B7D6-4B42-ABD3-60E9D594C6E8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074168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97E976-9789-4E92-AC2E-4FE57E43764E}" type="slidenum">
              <a:rPr lang="en-US" altLang="en-US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484783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97E976-9789-4E92-AC2E-4FE57E43764E}" type="slidenum">
              <a:rPr lang="en-US" altLang="en-US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491815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BF14EF-AC68-43D0-8DCD-78285FCBA1E5}" type="slidenum">
              <a:rPr lang="en-US" altLang="en-US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596515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57F63C-92F4-4BFB-A9CA-E2B17FA85192}" type="slidenum">
              <a:rPr lang="en-US" altLang="en-US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7614676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B96F12-5145-446F-88E6-9DB102B1A8D4}" type="slidenum">
              <a:rPr lang="en-US" altLang="en-US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8264631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B9BC6C-87D8-4A45-A2EA-7E9707355327}" type="slidenum">
              <a:rPr lang="en-US" altLang="en-US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0009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40FE6-4BEA-46E1-A4C1-E0E6E7D2D291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40FE6-4BEA-46E1-A4C1-E0E6E7D2D291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9D05C3-8473-4DF3-ACFF-F5B7755A7F96}" type="slidenum">
              <a:rPr lang="en-US" altLang="en-US"/>
              <a:pPr/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6618162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2846BD-1C1A-4B2F-848F-CC0430004D16}" type="slidenum">
              <a:rPr lang="en-US" altLang="en-US"/>
              <a:pPr/>
              <a:t>69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8477932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B3CDA0-E15D-440A-A3AD-49B61FF565FE}" type="slidenum">
              <a:rPr lang="en-US" altLang="en-US"/>
              <a:pPr/>
              <a:t>70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4431746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034262-05B5-49BB-B205-929BA1ECC2F6}" type="slidenum">
              <a:rPr lang="en-US" altLang="en-US"/>
              <a:pPr/>
              <a:t>71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9301824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959ED4-E846-4C22-B572-79028C6E2170}" type="slidenum">
              <a:rPr lang="en-US" altLang="en-US"/>
              <a:pPr/>
              <a:t>72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9591766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6AFDD4-DCF7-44AA-8168-8E632CD52DA3}" type="slidenum">
              <a:rPr lang="en-US" altLang="en-US"/>
              <a:pPr/>
              <a:t>73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849475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868291-8D31-4589-8C06-F32CECEBF3E4}" type="slidenum">
              <a:rPr lang="en-US" altLang="en-US"/>
              <a:pPr/>
              <a:t>74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9958976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BFE09A-5A85-4DB5-8C99-5FA4F044A632}" type="slidenum">
              <a:rPr lang="en-US" altLang="en-US"/>
              <a:pPr/>
              <a:t>75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2858134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9DA207-F66E-4AE0-971B-45277575B389}" type="slidenum">
              <a:rPr lang="en-US" altLang="en-US"/>
              <a:pPr/>
              <a:t>76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0391485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D56A45-3590-44D3-A8FD-3B7F045EFA4B}" type="slidenum">
              <a:rPr lang="en-US" altLang="en-US"/>
              <a:pPr/>
              <a:t>77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720022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86EFAA-62DA-4F98-A7EE-84709EDB7AFE}" type="slidenum">
              <a:rPr lang="en-US" altLang="en-US"/>
              <a:pPr/>
              <a:t>78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5126207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37511F-5F68-44C6-BEE0-91753A44261E}" type="slidenum">
              <a:rPr lang="en-US" altLang="en-US"/>
              <a:pPr/>
              <a:t>79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1708294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94EFBE-C263-4C0A-ABBC-241E4A533787}" type="slidenum">
              <a:rPr lang="en-US" altLang="en-US"/>
              <a:pPr/>
              <a:t>80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7544874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94EFBE-C263-4C0A-ABBC-241E4A533787}" type="slidenum">
              <a:rPr lang="en-US" altLang="en-US"/>
              <a:pPr/>
              <a:t>81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9168613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0B9554-AD08-4199-839B-A57AB7FCB278}" type="slidenum">
              <a:rPr lang="en-US" altLang="en-US"/>
              <a:pPr/>
              <a:t>82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71879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C259A0-25F8-41E9-927C-E9A45715FDBE}" type="slidenum">
              <a:rPr lang="en-US" altLang="en-US"/>
              <a:pPr/>
              <a:t>83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9670610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C259A0-25F8-41E9-927C-E9A45715FDBE}" type="slidenum">
              <a:rPr lang="en-US" altLang="en-US"/>
              <a:pPr/>
              <a:t>84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6034797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A55922-DD2D-4E28-AB51-1D978BA67AB7}" type="slidenum">
              <a:rPr lang="en-US" altLang="en-US"/>
              <a:pPr/>
              <a:t>85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9432798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9F0F7A-89A2-4FF2-A718-C4741CBCCDC9}" type="slidenum">
              <a:rPr lang="en-US" altLang="en-US"/>
              <a:pPr/>
              <a:t>86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7112621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B56F21-D4FD-47D4-A3F8-23E3CA9247B0}" type="slidenum">
              <a:rPr lang="en-US" altLang="en-US"/>
              <a:pPr/>
              <a:t>87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9519283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2CF19A-4896-4B75-AB20-BD7DFE28FED5}" type="slidenum">
              <a:rPr lang="en-US" altLang="en-US"/>
              <a:pPr/>
              <a:t>88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7770156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52BE42-C753-492E-9C08-EE5D11910546}" type="slidenum">
              <a:rPr lang="en-US" altLang="en-US"/>
              <a:pPr/>
              <a:t>89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5971289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9DF922-A2D5-4BE3-9933-4F3F29749825}" type="slidenum">
              <a:rPr lang="en-US" altLang="en-US"/>
              <a:pPr/>
              <a:t>90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0548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xmlns="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Monotype Corsiva" pitchFamily="66" charset="0"/>
              </a:defRPr>
            </a:lvl1pPr>
          </a:lstStyle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solidFill>
                  <a:srgbClr val="FFFFFF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fld id="{811C33D4-119D-4620-929A-CF317D60C9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pPr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69" y="1001486"/>
            <a:ext cx="8991600" cy="381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B0006A-9E91-5DDB-2E29-E367AE1C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D7FE2A-1E16-7C49-C5BD-34D1D1DF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C521B0-9134-2CF1-95E9-99E7F233F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4964"/>
            <a:ext cx="11353800" cy="4403725"/>
          </a:xfrm>
          <a:noFill/>
        </p:spPr>
        <p:txBody>
          <a:bodyPr>
            <a:norm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tells us how exactly all the units in the system are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arranged and interconnected.</a:t>
            </a:r>
          </a:p>
          <a:p>
            <a:pPr fontAlgn="auto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deals with components of a connection in a system.</a:t>
            </a:r>
          </a:p>
          <a:p>
            <a:pPr marL="0" indent="0" fontAlgn="auto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to understand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 of a system.</a:t>
            </a: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19403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Click="0" advTm="2147255000"/>
    </mc:Choice>
    <mc:Fallback>
      <p:transition spd="slow" advClick="0" advTm="2147255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15A73C-DA2B-5189-2B83-72D4D41D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Computer Architecture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6C6CA7-AAE1-E35B-8028-EED46DD78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Computer Architecture</a:t>
            </a:r>
            <a:r>
              <a:rPr lang="en-US" dirty="0"/>
              <a:t> means </a:t>
            </a:r>
            <a:r>
              <a:rPr lang="en-US" b="1" dirty="0">
                <a:solidFill>
                  <a:srgbClr val="FF0000"/>
                </a:solidFill>
              </a:rPr>
              <a:t>what a computer can do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It describes: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Instruction set (ADD, SUB, MOV, etc.)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Data types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Addressing modes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Number of bits (8-bit, 32-bit, 64-bit)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How a programmer sees the computer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It is visible to the programmer.</a:t>
            </a: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09E90EB-F8DD-3D4E-C8DD-0D22B2E76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xmlns="" val="137809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038B9B-D045-453C-F61E-79CAA211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14458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Computer Organization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A4351-5DB9-53EC-E64E-8AC5E47DC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499"/>
            <a:ext cx="10515600" cy="50382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Computer Organization</a:t>
            </a:r>
            <a:r>
              <a:rPr lang="en-US" sz="2400" dirty="0"/>
              <a:t> means </a:t>
            </a:r>
            <a:r>
              <a:rPr lang="en-US" sz="2400" b="1" dirty="0">
                <a:solidFill>
                  <a:srgbClr val="FF0000"/>
                </a:solidFill>
              </a:rPr>
              <a:t>how the computer actually does it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It explains: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How registers are connected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How ALU works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How data moves on buses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Control unit and timing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Hardware implementation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It is visible to the hardware designer, not the programmer.</a:t>
            </a:r>
            <a:endParaRPr lang="en-US" dirty="0">
              <a:solidFill>
                <a:srgbClr val="FF0000"/>
              </a:solidFill>
            </a:endParaRPr>
          </a:p>
          <a:p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84E851C-9EC1-8FF5-7FCE-718C082B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xmlns="" val="342038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Organization of a Computer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Block Diagram Of Computer System-GoGlobalWay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12268" y="1604963"/>
            <a:ext cx="6602363" cy="440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99957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Click="0" advTm="2147255000"/>
    </mc:Choice>
    <mc:Fallback>
      <p:transition spd="slow" advClick="0" advTm="2147255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Unit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 (CPU)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(CU)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And Logic Unit (ALU)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Unit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)Primary memory (ii)Secondary memory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Block Diagram Of Computer System-GoGlobalWay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60862" y="759417"/>
            <a:ext cx="4492938" cy="3399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687875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Click="0" advTm="2147255000"/>
    </mc:Choice>
    <mc:Fallback>
      <p:transition spd="slow" advClick="0" advTm="2147255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685799" y="5744720"/>
            <a:ext cx="10515600" cy="863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Cycle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nstruction Cycle Explained | Fetch , Decode , Execute Cycle Step-By-Ste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0678"/>
          <a:stretch/>
        </p:blipFill>
        <p:spPr bwMode="auto">
          <a:xfrm>
            <a:off x="2247900" y="1690688"/>
            <a:ext cx="7696200" cy="387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4281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76" y="573440"/>
            <a:ext cx="8152109" cy="61140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Overview</a:t>
            </a:r>
          </a:p>
        </p:txBody>
      </p:sp>
      <p:sp>
        <p:nvSpPr>
          <p:cNvPr id="2055" name="Rectangle 3"/>
          <p:cNvSpPr>
            <a:spLocks noChangeArrowheads="1"/>
          </p:cNvSpPr>
          <p:nvPr/>
        </p:nvSpPr>
        <p:spPr bwMode="auto">
          <a:xfrm>
            <a:off x="2453747" y="1153168"/>
            <a:ext cx="5208587" cy="570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Instruction Codes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 Computer Registers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 </a:t>
            </a:r>
            <a:r>
              <a:rPr lang="en-US" altLang="ko-KR" sz="2400" dirty="0">
                <a:latin typeface="Calibri" panose="020F0502020204030204" pitchFamily="34" charset="0"/>
              </a:rPr>
              <a:t>Computer Instructions</a:t>
            </a:r>
          </a:p>
          <a:p>
            <a:pPr eaLnBrk="1" hangingPunct="1">
              <a:lnSpc>
                <a:spcPct val="85000"/>
              </a:lnSpc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Common Bus System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Timing and Control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Instruction Cycle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Memory Reference Instructions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Input-Output and Interrupt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Complete Computer Description</a:t>
            </a:r>
          </a:p>
          <a:p>
            <a:pPr eaLnBrk="1" hangingPunct="1">
              <a:lnSpc>
                <a:spcPct val="85000"/>
              </a:lnSpc>
            </a:pPr>
            <a:endParaRPr lang="en-US" altLang="ko-KR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50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3078" name="Rectangle 3"/>
          <p:cNvSpPr txBox="1">
            <a:spLocks noChangeArrowheads="1"/>
          </p:cNvSpPr>
          <p:nvPr/>
        </p:nvSpPr>
        <p:spPr bwMode="auto">
          <a:xfrm>
            <a:off x="1838326" y="1350964"/>
            <a:ext cx="8448675" cy="344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Every different processor type has its own design (</a:t>
            </a:r>
            <a:r>
              <a:rPr lang="en-US" altLang="ko-K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different registers, buses, microoperations, machine instructions</a:t>
            </a:r>
            <a:r>
              <a:rPr lang="en-US" altLang="ko-KR" sz="2000" b="1" dirty="0">
                <a:latin typeface="Calibri" panose="020F0502020204030204" pitchFamily="34" charset="0"/>
              </a:rPr>
              <a:t>, </a:t>
            </a:r>
            <a:r>
              <a:rPr lang="en-US" altLang="ko-KR" sz="2000" b="1" dirty="0" err="1">
                <a:latin typeface="Calibri" panose="020F0502020204030204" pitchFamily="34" charset="0"/>
              </a:rPr>
              <a:t>etc</a:t>
            </a:r>
            <a:r>
              <a:rPr lang="en-US" altLang="ko-KR" sz="2000" b="1" dirty="0">
                <a:latin typeface="Calibri" panose="020F0502020204030204" pitchFamily="34" charset="0"/>
              </a:rPr>
              <a:t>)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Modern processor is a very complex device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It contains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Many registers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Multiple arithmetic units, for both integer and floating point calculations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The ability to pipeline several consecutive instructions to speed execution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Etc.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However, to understand how processors work, we will start with a simplified processor model</a:t>
            </a:r>
          </a:p>
        </p:txBody>
      </p:sp>
    </p:spTree>
    <p:extLst>
      <p:ext uri="{BB962C8B-B14F-4D97-AF65-F5344CB8AC3E}">
        <p14:creationId xmlns:p14="http://schemas.microsoft.com/office/powerpoint/2010/main" xmlns="" val="120242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1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Basic Computer</a:t>
            </a:r>
          </a:p>
        </p:txBody>
      </p:sp>
      <p:grpSp>
        <p:nvGrpSpPr>
          <p:cNvPr id="4102" name="Group 19"/>
          <p:cNvGrpSpPr>
            <a:grpSpLocks/>
          </p:cNvGrpSpPr>
          <p:nvPr/>
        </p:nvGrpSpPr>
        <p:grpSpPr bwMode="auto">
          <a:xfrm>
            <a:off x="1800225" y="1508126"/>
            <a:ext cx="8229600" cy="4779963"/>
            <a:chOff x="276225" y="1533525"/>
            <a:chExt cx="8229600" cy="4780280"/>
          </a:xfrm>
        </p:grpSpPr>
        <p:sp>
          <p:nvSpPr>
            <p:cNvPr id="4104" name="Rectangle 3"/>
            <p:cNvSpPr txBox="1">
              <a:spLocks noChangeArrowheads="1"/>
            </p:cNvSpPr>
            <p:nvPr/>
          </p:nvSpPr>
          <p:spPr bwMode="auto">
            <a:xfrm>
              <a:off x="276225" y="1533525"/>
              <a:ext cx="8229600" cy="1987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>
                  <a:latin typeface="Calibri" panose="020F0502020204030204" pitchFamily="34" charset="0"/>
                </a:rPr>
                <a:t>The Basic Computer has two components, a processor and memory</a:t>
              </a:r>
            </a:p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>
                  <a:latin typeface="Calibri" panose="020F0502020204030204" pitchFamily="34" charset="0"/>
                </a:rPr>
                <a:t>The memory has 4096 words in it</a:t>
              </a:r>
            </a:p>
            <a:p>
              <a:pPr lvl="1" ea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</a:pPr>
              <a:r>
                <a:rPr lang="en-US" altLang="ko-KR" sz="2000" b="1">
                  <a:latin typeface="Calibri" panose="020F0502020204030204" pitchFamily="34" charset="0"/>
                </a:rPr>
                <a:t>4096 = 2</a:t>
              </a:r>
              <a:r>
                <a:rPr lang="en-US" altLang="ko-KR" sz="2000" b="1" baseline="30000">
                  <a:latin typeface="Calibri" panose="020F0502020204030204" pitchFamily="34" charset="0"/>
                </a:rPr>
                <a:t>12</a:t>
              </a:r>
              <a:r>
                <a:rPr lang="en-US" altLang="ko-KR" sz="2000" b="1">
                  <a:latin typeface="Calibri" panose="020F0502020204030204" pitchFamily="34" charset="0"/>
                </a:rPr>
                <a:t>, so it takes 12 bits to select a word in memory</a:t>
              </a:r>
            </a:p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>
                  <a:latin typeface="Calibri" panose="020F0502020204030204" pitchFamily="34" charset="0"/>
                </a:rPr>
                <a:t>Each word is 16 bits long</a:t>
              </a:r>
            </a:p>
          </p:txBody>
        </p:sp>
        <p:sp>
          <p:nvSpPr>
            <p:cNvPr id="4105" name="Rectangle 4"/>
            <p:cNvSpPr>
              <a:spLocks noChangeArrowheads="1"/>
            </p:cNvSpPr>
            <p:nvPr/>
          </p:nvSpPr>
          <p:spPr bwMode="auto">
            <a:xfrm>
              <a:off x="5219700" y="3789363"/>
              <a:ext cx="638175" cy="5143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 b="1">
                <a:latin typeface="Calibri" panose="020F0502020204030204" pitchFamily="34" charset="0"/>
              </a:endParaRPr>
            </a:p>
          </p:txBody>
        </p:sp>
        <p:sp>
          <p:nvSpPr>
            <p:cNvPr id="4106" name="Rectangle 5"/>
            <p:cNvSpPr>
              <a:spLocks noChangeArrowheads="1"/>
            </p:cNvSpPr>
            <p:nvPr/>
          </p:nvSpPr>
          <p:spPr bwMode="auto">
            <a:xfrm>
              <a:off x="6443663" y="3789363"/>
              <a:ext cx="792162" cy="23749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 b="1">
                <a:latin typeface="Calibri" panose="020F0502020204030204" pitchFamily="34" charset="0"/>
              </a:endParaRPr>
            </a:p>
          </p:txBody>
        </p:sp>
        <p:sp>
          <p:nvSpPr>
            <p:cNvPr id="4107" name="Text Box 6"/>
            <p:cNvSpPr txBox="1">
              <a:spLocks noChangeArrowheads="1"/>
            </p:cNvSpPr>
            <p:nvPr/>
          </p:nvSpPr>
          <p:spPr bwMode="auto">
            <a:xfrm>
              <a:off x="5233988" y="3422650"/>
              <a:ext cx="62388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CPU</a:t>
              </a:r>
            </a:p>
          </p:txBody>
        </p:sp>
        <p:sp>
          <p:nvSpPr>
            <p:cNvPr id="4108" name="Text Box 7"/>
            <p:cNvSpPr txBox="1">
              <a:spLocks noChangeArrowheads="1"/>
            </p:cNvSpPr>
            <p:nvPr/>
          </p:nvSpPr>
          <p:spPr bwMode="auto">
            <a:xfrm>
              <a:off x="6567488" y="3419475"/>
              <a:ext cx="7088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RAM</a:t>
              </a:r>
            </a:p>
          </p:txBody>
        </p:sp>
        <p:sp>
          <p:nvSpPr>
            <p:cNvPr id="4109" name="Text Box 9"/>
            <p:cNvSpPr txBox="1">
              <a:spLocks noChangeArrowheads="1"/>
            </p:cNvSpPr>
            <p:nvPr/>
          </p:nvSpPr>
          <p:spPr bwMode="auto">
            <a:xfrm>
              <a:off x="7216775" y="3759260"/>
              <a:ext cx="704039" cy="2554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0</a:t>
              </a: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4095</a:t>
              </a:r>
            </a:p>
          </p:txBody>
        </p:sp>
        <p:sp>
          <p:nvSpPr>
            <p:cNvPr id="4110" name="Line 11"/>
            <p:cNvSpPr>
              <a:spLocks noChangeShapeType="1"/>
            </p:cNvSpPr>
            <p:nvPr/>
          </p:nvSpPr>
          <p:spPr bwMode="auto">
            <a:xfrm>
              <a:off x="6443663" y="5511860"/>
              <a:ext cx="792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11" name="Text Box 12"/>
            <p:cNvSpPr txBox="1">
              <a:spLocks noChangeArrowheads="1"/>
            </p:cNvSpPr>
            <p:nvPr/>
          </p:nvSpPr>
          <p:spPr bwMode="auto">
            <a:xfrm>
              <a:off x="7019925" y="5229225"/>
              <a:ext cx="2888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4112" name="Text Box 13"/>
            <p:cNvSpPr txBox="1">
              <a:spLocks noChangeArrowheads="1"/>
            </p:cNvSpPr>
            <p:nvPr/>
          </p:nvSpPr>
          <p:spPr bwMode="auto">
            <a:xfrm>
              <a:off x="6372225" y="5229225"/>
              <a:ext cx="36740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15</a:t>
              </a:r>
            </a:p>
          </p:txBody>
        </p:sp>
      </p:grpSp>
      <p:sp>
        <p:nvSpPr>
          <p:cNvPr id="4103" name="Line 11"/>
          <p:cNvSpPr>
            <a:spLocks noChangeShapeType="1"/>
          </p:cNvSpPr>
          <p:nvPr/>
        </p:nvSpPr>
        <p:spPr bwMode="auto">
          <a:xfrm>
            <a:off x="7970838" y="5257800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4387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</a:t>
            </a:r>
          </a:p>
        </p:txBody>
      </p:sp>
      <p:sp>
        <p:nvSpPr>
          <p:cNvPr id="5127" name="Rectangle 37"/>
          <p:cNvSpPr txBox="1">
            <a:spLocks noChangeArrowheads="1"/>
          </p:cNvSpPr>
          <p:nvPr/>
        </p:nvSpPr>
        <p:spPr bwMode="auto">
          <a:xfrm>
            <a:off x="2000250" y="1317626"/>
            <a:ext cx="8362950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Program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sequence of (machine) instructions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(Machine) Instruction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</a:t>
            </a:r>
            <a:r>
              <a:rPr lang="en-US" altLang="ko-K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group of bits that tell the computer to </a:t>
            </a:r>
            <a:r>
              <a:rPr lang="en-US" altLang="ko-KR" sz="2000" b="1" i="1" dirty="0">
                <a:solidFill>
                  <a:srgbClr val="FF0000"/>
                </a:solidFill>
                <a:latin typeface="Calibri" panose="020F0502020204030204" pitchFamily="34" charset="0"/>
              </a:rPr>
              <a:t>perform a specific operation</a:t>
            </a:r>
            <a:r>
              <a:rPr lang="en-US" altLang="ko-K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altLang="ko-KR" sz="2000" b="1" dirty="0">
                <a:latin typeface="Calibri" panose="020F0502020204030204" pitchFamily="34" charset="0"/>
              </a:rPr>
              <a:t>(a sequence of micro-operation)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instructions of a program, along with any needed data are stored in memory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2009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</a:t>
            </a:r>
          </a:p>
        </p:txBody>
      </p:sp>
      <p:sp>
        <p:nvSpPr>
          <p:cNvPr id="5127" name="Rectangle 37"/>
          <p:cNvSpPr txBox="1">
            <a:spLocks noChangeArrowheads="1"/>
          </p:cNvSpPr>
          <p:nvPr/>
        </p:nvSpPr>
        <p:spPr bwMode="auto">
          <a:xfrm>
            <a:off x="2000250" y="1317626"/>
            <a:ext cx="8362950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CPU reads the next instruction from memory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It is placed in an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Instruction Register (IR)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Control circuitry in control unit then translates the instruction into the sequence of microoperations 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It is very necessary to implement it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8315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1562100" y="65135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Format</a:t>
            </a:r>
          </a:p>
        </p:txBody>
      </p:sp>
      <p:sp>
        <p:nvSpPr>
          <p:cNvPr id="6151" name="Rectangle 4"/>
          <p:cNvSpPr txBox="1">
            <a:spLocks noChangeArrowheads="1"/>
          </p:cNvSpPr>
          <p:nvPr/>
        </p:nvSpPr>
        <p:spPr bwMode="auto">
          <a:xfrm>
            <a:off x="1911350" y="857989"/>
            <a:ext cx="84582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computer instruction is often divided into two parts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An opcode (Operation Code) that specifies the operation for that instruction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An address that specifies the registers and/or locations in memory to use for that operation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Computer, since the memory contains 4096 (= 2</a:t>
            </a:r>
            <a:r>
              <a:rPr lang="en-US" altLang="ko-KR" sz="2000" b="1" baseline="30000" dirty="0">
                <a:latin typeface="Calibri" panose="020F0502020204030204" pitchFamily="34" charset="0"/>
              </a:rPr>
              <a:t>12</a:t>
            </a:r>
            <a:r>
              <a:rPr lang="en-US" altLang="ko-KR" sz="2000" b="1" dirty="0">
                <a:latin typeface="Calibri" panose="020F0502020204030204" pitchFamily="34" charset="0"/>
              </a:rPr>
              <a:t>) words,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we needs 12 bit to specify which memory address this instruction will use </a:t>
            </a:r>
          </a:p>
        </p:txBody>
      </p:sp>
      <p:grpSp>
        <p:nvGrpSpPr>
          <p:cNvPr id="6152" name="Group 20"/>
          <p:cNvGrpSpPr>
            <a:grpSpLocks/>
          </p:cNvGrpSpPr>
          <p:nvPr/>
        </p:nvGrpSpPr>
        <p:grpSpPr bwMode="auto">
          <a:xfrm>
            <a:off x="4814887" y="4668838"/>
            <a:ext cx="2638425" cy="1514475"/>
            <a:chOff x="1368" y="3165"/>
            <a:chExt cx="1662" cy="954"/>
          </a:xfrm>
        </p:grpSpPr>
        <p:sp>
          <p:nvSpPr>
            <p:cNvPr id="6153" name="Rectangle 5"/>
            <p:cNvSpPr>
              <a:spLocks noChangeArrowheads="1"/>
            </p:cNvSpPr>
            <p:nvPr/>
          </p:nvSpPr>
          <p:spPr bwMode="auto">
            <a:xfrm>
              <a:off x="1433" y="3549"/>
              <a:ext cx="1568" cy="15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6154" name="Rectangle 6"/>
            <p:cNvSpPr>
              <a:spLocks noChangeArrowheads="1"/>
            </p:cNvSpPr>
            <p:nvPr/>
          </p:nvSpPr>
          <p:spPr bwMode="auto">
            <a:xfrm>
              <a:off x="1527" y="3543"/>
              <a:ext cx="42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6155" name="Rectangle 7"/>
            <p:cNvSpPr>
              <a:spLocks noChangeArrowheads="1"/>
            </p:cNvSpPr>
            <p:nvPr/>
          </p:nvSpPr>
          <p:spPr bwMode="auto">
            <a:xfrm>
              <a:off x="2181" y="3546"/>
              <a:ext cx="4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6156" name="Rectangle 8"/>
            <p:cNvSpPr>
              <a:spLocks noChangeArrowheads="1"/>
            </p:cNvSpPr>
            <p:nvPr/>
          </p:nvSpPr>
          <p:spPr bwMode="auto">
            <a:xfrm>
              <a:off x="1627" y="3165"/>
              <a:ext cx="11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 dirty="0">
                  <a:solidFill>
                    <a:srgbClr val="000000"/>
                  </a:solidFill>
                  <a:latin typeface="Calibri" panose="020F0502020204030204" pitchFamily="34" charset="0"/>
                </a:rPr>
                <a:t>Instruction Format</a:t>
              </a:r>
            </a:p>
          </p:txBody>
        </p:sp>
        <p:sp>
          <p:nvSpPr>
            <p:cNvPr id="6157" name="Line 9"/>
            <p:cNvSpPr>
              <a:spLocks noChangeShapeType="1"/>
            </p:cNvSpPr>
            <p:nvPr/>
          </p:nvSpPr>
          <p:spPr bwMode="auto">
            <a:xfrm>
              <a:off x="2058" y="3549"/>
              <a:ext cx="0" cy="1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Rectangle 10"/>
            <p:cNvSpPr>
              <a:spLocks noChangeArrowheads="1"/>
            </p:cNvSpPr>
            <p:nvPr/>
          </p:nvSpPr>
          <p:spPr bwMode="auto">
            <a:xfrm>
              <a:off x="1368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6159" name="Rectangle 11"/>
            <p:cNvSpPr>
              <a:spLocks noChangeArrowheads="1"/>
            </p:cNvSpPr>
            <p:nvPr/>
          </p:nvSpPr>
          <p:spPr bwMode="auto">
            <a:xfrm>
              <a:off x="1536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</a:p>
          </p:txBody>
        </p:sp>
        <p:sp>
          <p:nvSpPr>
            <p:cNvPr id="6160" name="Rectangle 12"/>
            <p:cNvSpPr>
              <a:spLocks noChangeArrowheads="1"/>
            </p:cNvSpPr>
            <p:nvPr/>
          </p:nvSpPr>
          <p:spPr bwMode="auto">
            <a:xfrm>
              <a:off x="1837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</a:p>
          </p:txBody>
        </p:sp>
        <p:sp>
          <p:nvSpPr>
            <p:cNvPr id="6161" name="Rectangle 13"/>
            <p:cNvSpPr>
              <a:spLocks noChangeArrowheads="1"/>
            </p:cNvSpPr>
            <p:nvPr/>
          </p:nvSpPr>
          <p:spPr bwMode="auto">
            <a:xfrm>
              <a:off x="2865" y="3420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6162" name="Rectangle 14"/>
            <p:cNvSpPr>
              <a:spLocks noChangeArrowheads="1"/>
            </p:cNvSpPr>
            <p:nvPr/>
          </p:nvSpPr>
          <p:spPr bwMode="auto">
            <a:xfrm>
              <a:off x="1421" y="3553"/>
              <a:ext cx="14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6163" name="Line 15"/>
            <p:cNvSpPr>
              <a:spLocks noChangeShapeType="1"/>
            </p:cNvSpPr>
            <p:nvPr/>
          </p:nvSpPr>
          <p:spPr bwMode="auto">
            <a:xfrm>
              <a:off x="1552" y="3549"/>
              <a:ext cx="0" cy="15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Rectangle 16"/>
            <p:cNvSpPr>
              <a:spLocks noChangeArrowheads="1"/>
            </p:cNvSpPr>
            <p:nvPr/>
          </p:nvSpPr>
          <p:spPr bwMode="auto">
            <a:xfrm>
              <a:off x="1989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6165" name="Text Box 18"/>
            <p:cNvSpPr txBox="1">
              <a:spLocks noChangeArrowheads="1"/>
            </p:cNvSpPr>
            <p:nvPr/>
          </p:nvSpPr>
          <p:spPr bwMode="auto">
            <a:xfrm>
              <a:off x="1376" y="3828"/>
              <a:ext cx="5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Addressing </a:t>
              </a:r>
            </a:p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mode</a:t>
              </a:r>
            </a:p>
          </p:txBody>
        </p:sp>
        <p:sp>
          <p:nvSpPr>
            <p:cNvPr id="6166" name="Line 19"/>
            <p:cNvSpPr>
              <a:spLocks noChangeShapeType="1"/>
            </p:cNvSpPr>
            <p:nvPr/>
          </p:nvSpPr>
          <p:spPr bwMode="auto">
            <a:xfrm flipH="1" flipV="1">
              <a:off x="1494" y="3708"/>
              <a:ext cx="7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33749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1562100" y="65135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Format</a:t>
            </a:r>
          </a:p>
        </p:txBody>
      </p:sp>
      <p:sp>
        <p:nvSpPr>
          <p:cNvPr id="6151" name="Rectangle 4"/>
          <p:cNvSpPr txBox="1">
            <a:spLocks noChangeArrowheads="1"/>
          </p:cNvSpPr>
          <p:nvPr/>
        </p:nvSpPr>
        <p:spPr bwMode="auto">
          <a:xfrm>
            <a:off x="1905000" y="990600"/>
            <a:ext cx="84582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Computer, </a:t>
            </a:r>
          </a:p>
          <a:p>
            <a:pPr lvl="1" algn="just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15 bit of the instruction specifies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addressing mode</a:t>
            </a:r>
            <a:r>
              <a:rPr lang="en-US" altLang="ko-KR" sz="2000" b="1" dirty="0">
                <a:latin typeface="Calibri" panose="020F0502020204030204" pitchFamily="34" charset="0"/>
              </a:rPr>
              <a:t> </a:t>
            </a:r>
          </a:p>
          <a:p>
            <a:pPr lvl="1" algn="just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(0: direct addressing, 1: indirect addressing)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Since the memory words, and hence the instructions, are 16 bits long, that leaves 3 bits for the instruction’s opcode</a:t>
            </a:r>
          </a:p>
        </p:txBody>
      </p:sp>
      <p:grpSp>
        <p:nvGrpSpPr>
          <p:cNvPr id="6152" name="Group 20"/>
          <p:cNvGrpSpPr>
            <a:grpSpLocks/>
          </p:cNvGrpSpPr>
          <p:nvPr/>
        </p:nvGrpSpPr>
        <p:grpSpPr bwMode="auto">
          <a:xfrm>
            <a:off x="4814887" y="4972051"/>
            <a:ext cx="2638425" cy="1514475"/>
            <a:chOff x="1368" y="3165"/>
            <a:chExt cx="1662" cy="954"/>
          </a:xfrm>
        </p:grpSpPr>
        <p:sp>
          <p:nvSpPr>
            <p:cNvPr id="6153" name="Rectangle 5"/>
            <p:cNvSpPr>
              <a:spLocks noChangeArrowheads="1"/>
            </p:cNvSpPr>
            <p:nvPr/>
          </p:nvSpPr>
          <p:spPr bwMode="auto">
            <a:xfrm>
              <a:off x="1433" y="3549"/>
              <a:ext cx="1568" cy="15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6154" name="Rectangle 6"/>
            <p:cNvSpPr>
              <a:spLocks noChangeArrowheads="1"/>
            </p:cNvSpPr>
            <p:nvPr/>
          </p:nvSpPr>
          <p:spPr bwMode="auto">
            <a:xfrm>
              <a:off x="1527" y="3543"/>
              <a:ext cx="42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6155" name="Rectangle 7"/>
            <p:cNvSpPr>
              <a:spLocks noChangeArrowheads="1"/>
            </p:cNvSpPr>
            <p:nvPr/>
          </p:nvSpPr>
          <p:spPr bwMode="auto">
            <a:xfrm>
              <a:off x="2181" y="3546"/>
              <a:ext cx="4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6156" name="Rectangle 8"/>
            <p:cNvSpPr>
              <a:spLocks noChangeArrowheads="1"/>
            </p:cNvSpPr>
            <p:nvPr/>
          </p:nvSpPr>
          <p:spPr bwMode="auto">
            <a:xfrm>
              <a:off x="1627" y="3165"/>
              <a:ext cx="11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>
                  <a:solidFill>
                    <a:srgbClr val="000000"/>
                  </a:solidFill>
                  <a:latin typeface="Calibri" panose="020F0502020204030204" pitchFamily="34" charset="0"/>
                </a:rPr>
                <a:t>Instruction Format</a:t>
              </a:r>
            </a:p>
          </p:txBody>
        </p:sp>
        <p:sp>
          <p:nvSpPr>
            <p:cNvPr id="6157" name="Line 9"/>
            <p:cNvSpPr>
              <a:spLocks noChangeShapeType="1"/>
            </p:cNvSpPr>
            <p:nvPr/>
          </p:nvSpPr>
          <p:spPr bwMode="auto">
            <a:xfrm>
              <a:off x="2058" y="3549"/>
              <a:ext cx="0" cy="1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Rectangle 10"/>
            <p:cNvSpPr>
              <a:spLocks noChangeArrowheads="1"/>
            </p:cNvSpPr>
            <p:nvPr/>
          </p:nvSpPr>
          <p:spPr bwMode="auto">
            <a:xfrm>
              <a:off x="1368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6159" name="Rectangle 11"/>
            <p:cNvSpPr>
              <a:spLocks noChangeArrowheads="1"/>
            </p:cNvSpPr>
            <p:nvPr/>
          </p:nvSpPr>
          <p:spPr bwMode="auto">
            <a:xfrm>
              <a:off x="1536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</a:p>
          </p:txBody>
        </p:sp>
        <p:sp>
          <p:nvSpPr>
            <p:cNvPr id="6160" name="Rectangle 12"/>
            <p:cNvSpPr>
              <a:spLocks noChangeArrowheads="1"/>
            </p:cNvSpPr>
            <p:nvPr/>
          </p:nvSpPr>
          <p:spPr bwMode="auto">
            <a:xfrm>
              <a:off x="1837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</a:p>
          </p:txBody>
        </p:sp>
        <p:sp>
          <p:nvSpPr>
            <p:cNvPr id="6161" name="Rectangle 13"/>
            <p:cNvSpPr>
              <a:spLocks noChangeArrowheads="1"/>
            </p:cNvSpPr>
            <p:nvPr/>
          </p:nvSpPr>
          <p:spPr bwMode="auto">
            <a:xfrm>
              <a:off x="2865" y="3420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6162" name="Rectangle 14"/>
            <p:cNvSpPr>
              <a:spLocks noChangeArrowheads="1"/>
            </p:cNvSpPr>
            <p:nvPr/>
          </p:nvSpPr>
          <p:spPr bwMode="auto">
            <a:xfrm>
              <a:off x="1421" y="3553"/>
              <a:ext cx="14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6163" name="Line 15"/>
            <p:cNvSpPr>
              <a:spLocks noChangeShapeType="1"/>
            </p:cNvSpPr>
            <p:nvPr/>
          </p:nvSpPr>
          <p:spPr bwMode="auto">
            <a:xfrm>
              <a:off x="1552" y="3549"/>
              <a:ext cx="0" cy="15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Rectangle 16"/>
            <p:cNvSpPr>
              <a:spLocks noChangeArrowheads="1"/>
            </p:cNvSpPr>
            <p:nvPr/>
          </p:nvSpPr>
          <p:spPr bwMode="auto">
            <a:xfrm>
              <a:off x="1989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6165" name="Text Box 18"/>
            <p:cNvSpPr txBox="1">
              <a:spLocks noChangeArrowheads="1"/>
            </p:cNvSpPr>
            <p:nvPr/>
          </p:nvSpPr>
          <p:spPr bwMode="auto">
            <a:xfrm>
              <a:off x="1376" y="3828"/>
              <a:ext cx="5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Addressing </a:t>
              </a:r>
            </a:p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mode</a:t>
              </a:r>
            </a:p>
          </p:txBody>
        </p:sp>
        <p:sp>
          <p:nvSpPr>
            <p:cNvPr id="6166" name="Line 19"/>
            <p:cNvSpPr>
              <a:spLocks noChangeShapeType="1"/>
            </p:cNvSpPr>
            <p:nvPr/>
          </p:nvSpPr>
          <p:spPr bwMode="auto">
            <a:xfrm flipH="1" flipV="1">
              <a:off x="1494" y="3708"/>
              <a:ext cx="7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95659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Addressing Mode</a:t>
            </a:r>
          </a:p>
        </p:txBody>
      </p:sp>
      <p:sp>
        <p:nvSpPr>
          <p:cNvPr id="7175" name="Rectangle 4"/>
          <p:cNvSpPr txBox="1">
            <a:spLocks noChangeArrowheads="1"/>
          </p:cNvSpPr>
          <p:nvPr/>
        </p:nvSpPr>
        <p:spPr bwMode="auto">
          <a:xfrm>
            <a:off x="1800226" y="1174750"/>
            <a:ext cx="8639175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The address field of an instruction can represent either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Direct address: the address in memory of the data to use (the address of the operand), or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Indirect address: the address in memory of the address in memory of the data to use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Effective Address (EA)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The address, that can be directly used without modification to access an operand for a computation-type instruction, or as the target address for a branch-type instruction</a:t>
            </a:r>
          </a:p>
        </p:txBody>
      </p:sp>
      <p:grpSp>
        <p:nvGrpSpPr>
          <p:cNvPr id="7176" name="Group 80"/>
          <p:cNvGrpSpPr>
            <a:grpSpLocks/>
          </p:cNvGrpSpPr>
          <p:nvPr/>
        </p:nvGrpSpPr>
        <p:grpSpPr bwMode="auto">
          <a:xfrm>
            <a:off x="4918075" y="2041525"/>
            <a:ext cx="4972050" cy="3378200"/>
            <a:chOff x="830" y="1178"/>
            <a:chExt cx="3132" cy="2128"/>
          </a:xfrm>
        </p:grpSpPr>
        <p:sp>
          <p:nvSpPr>
            <p:cNvPr id="7177" name="Line 20"/>
            <p:cNvSpPr>
              <a:spLocks noChangeShapeType="1"/>
            </p:cNvSpPr>
            <p:nvPr/>
          </p:nvSpPr>
          <p:spPr bwMode="auto">
            <a:xfrm>
              <a:off x="1118" y="152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Rectangle 21"/>
            <p:cNvSpPr>
              <a:spLocks noChangeArrowheads="1"/>
            </p:cNvSpPr>
            <p:nvPr/>
          </p:nvSpPr>
          <p:spPr bwMode="auto">
            <a:xfrm>
              <a:off x="1100" y="1384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7179" name="Line 22"/>
            <p:cNvSpPr>
              <a:spLocks noChangeShapeType="1"/>
            </p:cNvSpPr>
            <p:nvPr/>
          </p:nvSpPr>
          <p:spPr bwMode="auto">
            <a:xfrm>
              <a:off x="1249" y="1416"/>
              <a:ext cx="0" cy="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Rectangle 23"/>
            <p:cNvSpPr>
              <a:spLocks noChangeArrowheads="1"/>
            </p:cNvSpPr>
            <p:nvPr/>
          </p:nvSpPr>
          <p:spPr bwMode="auto">
            <a:xfrm>
              <a:off x="1236" y="1384"/>
              <a:ext cx="2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ADD</a:t>
              </a:r>
            </a:p>
          </p:txBody>
        </p:sp>
        <p:sp>
          <p:nvSpPr>
            <p:cNvPr id="7181" name="Rectangle 24"/>
            <p:cNvSpPr>
              <a:spLocks noChangeArrowheads="1"/>
            </p:cNvSpPr>
            <p:nvPr/>
          </p:nvSpPr>
          <p:spPr bwMode="auto">
            <a:xfrm>
              <a:off x="1778" y="1390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457</a:t>
              </a:r>
            </a:p>
          </p:txBody>
        </p:sp>
        <p:sp>
          <p:nvSpPr>
            <p:cNvPr id="7182" name="Line 25"/>
            <p:cNvSpPr>
              <a:spLocks noChangeShapeType="1"/>
            </p:cNvSpPr>
            <p:nvPr/>
          </p:nvSpPr>
          <p:spPr bwMode="auto">
            <a:xfrm>
              <a:off x="1568" y="1416"/>
              <a:ext cx="0" cy="10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Rectangle 26"/>
            <p:cNvSpPr>
              <a:spLocks noChangeArrowheads="1"/>
            </p:cNvSpPr>
            <p:nvPr/>
          </p:nvSpPr>
          <p:spPr bwMode="auto">
            <a:xfrm>
              <a:off x="870" y="1414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22</a:t>
              </a:r>
            </a:p>
          </p:txBody>
        </p:sp>
        <p:sp>
          <p:nvSpPr>
            <p:cNvPr id="7184" name="Line 27"/>
            <p:cNvSpPr>
              <a:spLocks noChangeShapeType="1"/>
            </p:cNvSpPr>
            <p:nvPr/>
          </p:nvSpPr>
          <p:spPr bwMode="auto">
            <a:xfrm>
              <a:off x="1118" y="1957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28"/>
            <p:cNvSpPr>
              <a:spLocks noChangeShapeType="1"/>
            </p:cNvSpPr>
            <p:nvPr/>
          </p:nvSpPr>
          <p:spPr bwMode="auto">
            <a:xfrm>
              <a:off x="1118" y="2065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Rectangle 29"/>
            <p:cNvSpPr>
              <a:spLocks noChangeArrowheads="1"/>
            </p:cNvSpPr>
            <p:nvPr/>
          </p:nvSpPr>
          <p:spPr bwMode="auto">
            <a:xfrm>
              <a:off x="1367" y="1934"/>
              <a:ext cx="45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Operand</a:t>
              </a:r>
            </a:p>
          </p:txBody>
        </p:sp>
        <p:sp>
          <p:nvSpPr>
            <p:cNvPr id="7187" name="Rectangle 30"/>
            <p:cNvSpPr>
              <a:spLocks noChangeArrowheads="1"/>
            </p:cNvSpPr>
            <p:nvPr/>
          </p:nvSpPr>
          <p:spPr bwMode="auto">
            <a:xfrm>
              <a:off x="830" y="1958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457</a:t>
              </a:r>
            </a:p>
          </p:txBody>
        </p:sp>
        <p:grpSp>
          <p:nvGrpSpPr>
            <p:cNvPr id="7188" name="Group 31"/>
            <p:cNvGrpSpPr>
              <a:grpSpLocks/>
            </p:cNvGrpSpPr>
            <p:nvPr/>
          </p:nvGrpSpPr>
          <p:grpSpPr bwMode="auto">
            <a:xfrm>
              <a:off x="1118" y="2472"/>
              <a:ext cx="1115" cy="57"/>
              <a:chOff x="937" y="3785"/>
              <a:chExt cx="1119" cy="71"/>
            </a:xfrm>
          </p:grpSpPr>
          <p:sp>
            <p:nvSpPr>
              <p:cNvPr id="7233" name="Arc 32"/>
              <p:cNvSpPr>
                <a:spLocks/>
              </p:cNvSpPr>
              <p:nvPr/>
            </p:nvSpPr>
            <p:spPr bwMode="auto">
              <a:xfrm>
                <a:off x="937" y="3785"/>
                <a:ext cx="312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1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1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4" name="Arc 33"/>
              <p:cNvSpPr>
                <a:spLocks/>
              </p:cNvSpPr>
              <p:nvPr/>
            </p:nvSpPr>
            <p:spPr bwMode="auto">
              <a:xfrm>
                <a:off x="1247" y="3785"/>
                <a:ext cx="265" cy="36"/>
              </a:xfrm>
              <a:custGeom>
                <a:avLst/>
                <a:gdLst>
                  <a:gd name="T0" fmla="*/ 0 w 21682"/>
                  <a:gd name="T1" fmla="*/ 0 h 21600"/>
                  <a:gd name="T2" fmla="*/ 0 w 21682"/>
                  <a:gd name="T3" fmla="*/ 0 h 21600"/>
                  <a:gd name="T4" fmla="*/ 0 w 2168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82"/>
                  <a:gd name="T10" fmla="*/ 0 h 21600"/>
                  <a:gd name="T11" fmla="*/ 21682 w 2168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82" h="21600" fill="none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</a:path>
                  <a:path w="21682" h="21600" stroke="0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  <a:lnTo>
                      <a:pt x="82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5" name="Arc 34"/>
              <p:cNvSpPr>
                <a:spLocks/>
              </p:cNvSpPr>
              <p:nvPr/>
            </p:nvSpPr>
            <p:spPr bwMode="auto">
              <a:xfrm>
                <a:off x="1529" y="3820"/>
                <a:ext cx="264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6" name="Arc 35"/>
              <p:cNvSpPr>
                <a:spLocks/>
              </p:cNvSpPr>
              <p:nvPr/>
            </p:nvSpPr>
            <p:spPr bwMode="auto">
              <a:xfrm>
                <a:off x="1792" y="3820"/>
                <a:ext cx="264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7189" name="Line 36"/>
            <p:cNvSpPr>
              <a:spLocks noChangeShapeType="1"/>
            </p:cNvSpPr>
            <p:nvPr/>
          </p:nvSpPr>
          <p:spPr bwMode="auto">
            <a:xfrm>
              <a:off x="1113" y="1416"/>
              <a:ext cx="0" cy="10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Freeform 37"/>
            <p:cNvSpPr>
              <a:spLocks/>
            </p:cNvSpPr>
            <p:nvPr/>
          </p:nvSpPr>
          <p:spPr bwMode="auto">
            <a:xfrm>
              <a:off x="1110" y="1409"/>
              <a:ext cx="1131" cy="1089"/>
            </a:xfrm>
            <a:custGeom>
              <a:avLst/>
              <a:gdLst>
                <a:gd name="T0" fmla="*/ 0 w 1137"/>
                <a:gd name="T1" fmla="*/ 0 h 1361"/>
                <a:gd name="T2" fmla="*/ 1100 w 1137"/>
                <a:gd name="T3" fmla="*/ 0 h 1361"/>
                <a:gd name="T4" fmla="*/ 1100 w 1137"/>
                <a:gd name="T5" fmla="*/ 357 h 1361"/>
                <a:gd name="T6" fmla="*/ 0 60000 65536"/>
                <a:gd name="T7" fmla="*/ 0 60000 65536"/>
                <a:gd name="T8" fmla="*/ 0 60000 65536"/>
                <a:gd name="T9" fmla="*/ 0 w 1137"/>
                <a:gd name="T10" fmla="*/ 0 h 1361"/>
                <a:gd name="T11" fmla="*/ 1137 w 1137"/>
                <a:gd name="T12" fmla="*/ 1361 h 1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7" h="1361">
                  <a:moveTo>
                    <a:pt x="0" y="0"/>
                  </a:moveTo>
                  <a:lnTo>
                    <a:pt x="1136" y="0"/>
                  </a:lnTo>
                  <a:lnTo>
                    <a:pt x="1136" y="136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191" name="Line 38"/>
            <p:cNvSpPr>
              <a:spLocks noChangeShapeType="1"/>
            </p:cNvSpPr>
            <p:nvPr/>
          </p:nvSpPr>
          <p:spPr bwMode="auto">
            <a:xfrm>
              <a:off x="2838" y="152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Rectangle 39"/>
            <p:cNvSpPr>
              <a:spLocks noChangeArrowheads="1"/>
            </p:cNvSpPr>
            <p:nvPr/>
          </p:nvSpPr>
          <p:spPr bwMode="auto">
            <a:xfrm>
              <a:off x="2812" y="1384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7193" name="Line 40"/>
            <p:cNvSpPr>
              <a:spLocks noChangeShapeType="1"/>
            </p:cNvSpPr>
            <p:nvPr/>
          </p:nvSpPr>
          <p:spPr bwMode="auto">
            <a:xfrm>
              <a:off x="2969" y="1404"/>
              <a:ext cx="0" cy="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4" name="Rectangle 41"/>
            <p:cNvSpPr>
              <a:spLocks noChangeArrowheads="1"/>
            </p:cNvSpPr>
            <p:nvPr/>
          </p:nvSpPr>
          <p:spPr bwMode="auto">
            <a:xfrm>
              <a:off x="2948" y="1384"/>
              <a:ext cx="2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ADD</a:t>
              </a:r>
            </a:p>
          </p:txBody>
        </p:sp>
        <p:sp>
          <p:nvSpPr>
            <p:cNvPr id="7195" name="Rectangle 42"/>
            <p:cNvSpPr>
              <a:spLocks noChangeArrowheads="1"/>
            </p:cNvSpPr>
            <p:nvPr/>
          </p:nvSpPr>
          <p:spPr bwMode="auto">
            <a:xfrm>
              <a:off x="3490" y="1390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300</a:t>
              </a:r>
            </a:p>
          </p:txBody>
        </p:sp>
        <p:sp>
          <p:nvSpPr>
            <p:cNvPr id="7196" name="Line 43"/>
            <p:cNvSpPr>
              <a:spLocks noChangeShapeType="1"/>
            </p:cNvSpPr>
            <p:nvPr/>
          </p:nvSpPr>
          <p:spPr bwMode="auto">
            <a:xfrm>
              <a:off x="3280" y="1404"/>
              <a:ext cx="0" cy="1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Rectangle 44"/>
            <p:cNvSpPr>
              <a:spLocks noChangeArrowheads="1"/>
            </p:cNvSpPr>
            <p:nvPr/>
          </p:nvSpPr>
          <p:spPr bwMode="auto">
            <a:xfrm>
              <a:off x="2600" y="139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35</a:t>
              </a:r>
            </a:p>
          </p:txBody>
        </p:sp>
        <p:sp>
          <p:nvSpPr>
            <p:cNvPr id="7198" name="Line 45"/>
            <p:cNvSpPr>
              <a:spLocks noChangeShapeType="1"/>
            </p:cNvSpPr>
            <p:nvPr/>
          </p:nvSpPr>
          <p:spPr bwMode="auto">
            <a:xfrm>
              <a:off x="2838" y="1740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46"/>
            <p:cNvSpPr>
              <a:spLocks noChangeShapeType="1"/>
            </p:cNvSpPr>
            <p:nvPr/>
          </p:nvSpPr>
          <p:spPr bwMode="auto">
            <a:xfrm>
              <a:off x="2838" y="1848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Rectangle 47"/>
            <p:cNvSpPr>
              <a:spLocks noChangeArrowheads="1"/>
            </p:cNvSpPr>
            <p:nvPr/>
          </p:nvSpPr>
          <p:spPr bwMode="auto">
            <a:xfrm>
              <a:off x="3219" y="1717"/>
              <a:ext cx="31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1350</a:t>
              </a:r>
            </a:p>
          </p:txBody>
        </p:sp>
        <p:sp>
          <p:nvSpPr>
            <p:cNvPr id="7201" name="Rectangle 48"/>
            <p:cNvSpPr>
              <a:spLocks noChangeArrowheads="1"/>
            </p:cNvSpPr>
            <p:nvPr/>
          </p:nvSpPr>
          <p:spPr bwMode="auto">
            <a:xfrm>
              <a:off x="2541" y="1723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300</a:t>
              </a:r>
            </a:p>
          </p:txBody>
        </p:sp>
        <p:grpSp>
          <p:nvGrpSpPr>
            <p:cNvPr id="7202" name="Group 49"/>
            <p:cNvGrpSpPr>
              <a:grpSpLocks/>
            </p:cNvGrpSpPr>
            <p:nvPr/>
          </p:nvGrpSpPr>
          <p:grpSpPr bwMode="auto">
            <a:xfrm>
              <a:off x="2841" y="2472"/>
              <a:ext cx="1115" cy="57"/>
              <a:chOff x="2665" y="3785"/>
              <a:chExt cx="1119" cy="71"/>
            </a:xfrm>
          </p:grpSpPr>
          <p:sp>
            <p:nvSpPr>
              <p:cNvPr id="7229" name="Arc 50"/>
              <p:cNvSpPr>
                <a:spLocks/>
              </p:cNvSpPr>
              <p:nvPr/>
            </p:nvSpPr>
            <p:spPr bwMode="auto">
              <a:xfrm>
                <a:off x="2665" y="3785"/>
                <a:ext cx="30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0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0" name="Arc 51"/>
              <p:cNvSpPr>
                <a:spLocks/>
              </p:cNvSpPr>
              <p:nvPr/>
            </p:nvSpPr>
            <p:spPr bwMode="auto">
              <a:xfrm>
                <a:off x="2967" y="3785"/>
                <a:ext cx="265" cy="36"/>
              </a:xfrm>
              <a:custGeom>
                <a:avLst/>
                <a:gdLst>
                  <a:gd name="T0" fmla="*/ 0 w 21682"/>
                  <a:gd name="T1" fmla="*/ 0 h 21600"/>
                  <a:gd name="T2" fmla="*/ 0 w 21682"/>
                  <a:gd name="T3" fmla="*/ 0 h 21600"/>
                  <a:gd name="T4" fmla="*/ 0 w 2168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82"/>
                  <a:gd name="T10" fmla="*/ 0 h 21600"/>
                  <a:gd name="T11" fmla="*/ 21682 w 2168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82" h="21600" fill="none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</a:path>
                  <a:path w="21682" h="21600" stroke="0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  <a:lnTo>
                      <a:pt x="82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1" name="Arc 52"/>
              <p:cNvSpPr>
                <a:spLocks/>
              </p:cNvSpPr>
              <p:nvPr/>
            </p:nvSpPr>
            <p:spPr bwMode="auto">
              <a:xfrm>
                <a:off x="3249" y="3820"/>
                <a:ext cx="26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2" name="Arc 53"/>
              <p:cNvSpPr>
                <a:spLocks/>
              </p:cNvSpPr>
              <p:nvPr/>
            </p:nvSpPr>
            <p:spPr bwMode="auto">
              <a:xfrm>
                <a:off x="3516" y="3820"/>
                <a:ext cx="26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7203" name="Line 54"/>
            <p:cNvSpPr>
              <a:spLocks noChangeShapeType="1"/>
            </p:cNvSpPr>
            <p:nvPr/>
          </p:nvSpPr>
          <p:spPr bwMode="auto">
            <a:xfrm>
              <a:off x="2834" y="1416"/>
              <a:ext cx="0" cy="10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4" name="Freeform 55"/>
            <p:cNvSpPr>
              <a:spLocks/>
            </p:cNvSpPr>
            <p:nvPr/>
          </p:nvSpPr>
          <p:spPr bwMode="auto">
            <a:xfrm>
              <a:off x="2830" y="1409"/>
              <a:ext cx="1132" cy="1089"/>
            </a:xfrm>
            <a:custGeom>
              <a:avLst/>
              <a:gdLst>
                <a:gd name="T0" fmla="*/ 0 w 1137"/>
                <a:gd name="T1" fmla="*/ 0 h 1361"/>
                <a:gd name="T2" fmla="*/ 1106 w 1137"/>
                <a:gd name="T3" fmla="*/ 0 h 1361"/>
                <a:gd name="T4" fmla="*/ 1106 w 1137"/>
                <a:gd name="T5" fmla="*/ 357 h 1361"/>
                <a:gd name="T6" fmla="*/ 0 60000 65536"/>
                <a:gd name="T7" fmla="*/ 0 60000 65536"/>
                <a:gd name="T8" fmla="*/ 0 60000 65536"/>
                <a:gd name="T9" fmla="*/ 0 w 1137"/>
                <a:gd name="T10" fmla="*/ 0 h 1361"/>
                <a:gd name="T11" fmla="*/ 1137 w 1137"/>
                <a:gd name="T12" fmla="*/ 1361 h 1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7" h="1361">
                  <a:moveTo>
                    <a:pt x="0" y="0"/>
                  </a:moveTo>
                  <a:lnTo>
                    <a:pt x="1136" y="0"/>
                  </a:lnTo>
                  <a:lnTo>
                    <a:pt x="1136" y="136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05" name="Line 56"/>
            <p:cNvSpPr>
              <a:spLocks noChangeShapeType="1"/>
            </p:cNvSpPr>
            <p:nvPr/>
          </p:nvSpPr>
          <p:spPr bwMode="auto">
            <a:xfrm>
              <a:off x="2838" y="214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6" name="Line 57"/>
            <p:cNvSpPr>
              <a:spLocks noChangeShapeType="1"/>
            </p:cNvSpPr>
            <p:nvPr/>
          </p:nvSpPr>
          <p:spPr bwMode="auto">
            <a:xfrm>
              <a:off x="2838" y="225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7" name="Rectangle 58"/>
            <p:cNvSpPr>
              <a:spLocks noChangeArrowheads="1"/>
            </p:cNvSpPr>
            <p:nvPr/>
          </p:nvSpPr>
          <p:spPr bwMode="auto">
            <a:xfrm>
              <a:off x="3074" y="2125"/>
              <a:ext cx="45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Operand</a:t>
              </a:r>
            </a:p>
          </p:txBody>
        </p:sp>
        <p:sp>
          <p:nvSpPr>
            <p:cNvPr id="7208" name="Rectangle 59"/>
            <p:cNvSpPr>
              <a:spLocks noChangeArrowheads="1"/>
            </p:cNvSpPr>
            <p:nvPr/>
          </p:nvSpPr>
          <p:spPr bwMode="auto">
            <a:xfrm>
              <a:off x="2508" y="2125"/>
              <a:ext cx="31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1350</a:t>
              </a:r>
            </a:p>
          </p:txBody>
        </p:sp>
        <p:sp>
          <p:nvSpPr>
            <p:cNvPr id="7209" name="Oval 60"/>
            <p:cNvSpPr>
              <a:spLocks noChangeArrowheads="1"/>
            </p:cNvSpPr>
            <p:nvPr/>
          </p:nvSpPr>
          <p:spPr bwMode="auto">
            <a:xfrm>
              <a:off x="1571" y="2689"/>
              <a:ext cx="207" cy="16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0" name="Rectangle 61"/>
            <p:cNvSpPr>
              <a:spLocks noChangeArrowheads="1"/>
            </p:cNvSpPr>
            <p:nvPr/>
          </p:nvSpPr>
          <p:spPr bwMode="auto">
            <a:xfrm>
              <a:off x="1571" y="265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7211" name="Rectangle 62"/>
            <p:cNvSpPr>
              <a:spLocks noChangeArrowheads="1"/>
            </p:cNvSpPr>
            <p:nvPr/>
          </p:nvSpPr>
          <p:spPr bwMode="auto">
            <a:xfrm>
              <a:off x="1118" y="3054"/>
              <a:ext cx="1115" cy="12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2" name="Rectangle 63"/>
            <p:cNvSpPr>
              <a:spLocks noChangeArrowheads="1"/>
            </p:cNvSpPr>
            <p:nvPr/>
          </p:nvSpPr>
          <p:spPr bwMode="auto">
            <a:xfrm>
              <a:off x="1525" y="3028"/>
              <a:ext cx="22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7213" name="Freeform 64"/>
            <p:cNvSpPr>
              <a:spLocks/>
            </p:cNvSpPr>
            <p:nvPr/>
          </p:nvSpPr>
          <p:spPr bwMode="auto">
            <a:xfrm>
              <a:off x="905" y="3179"/>
              <a:ext cx="766" cy="110"/>
            </a:xfrm>
            <a:custGeom>
              <a:avLst/>
              <a:gdLst>
                <a:gd name="T0" fmla="*/ 750 w 769"/>
                <a:gd name="T1" fmla="*/ 0 h 137"/>
                <a:gd name="T2" fmla="*/ 750 w 769"/>
                <a:gd name="T3" fmla="*/ 37 h 137"/>
                <a:gd name="T4" fmla="*/ 0 w 769"/>
                <a:gd name="T5" fmla="*/ 37 h 137"/>
                <a:gd name="T6" fmla="*/ 0 60000 65536"/>
                <a:gd name="T7" fmla="*/ 0 60000 65536"/>
                <a:gd name="T8" fmla="*/ 0 60000 65536"/>
                <a:gd name="T9" fmla="*/ 0 w 769"/>
                <a:gd name="T10" fmla="*/ 0 h 137"/>
                <a:gd name="T11" fmla="*/ 769 w 769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9" h="137">
                  <a:moveTo>
                    <a:pt x="768" y="0"/>
                  </a:moveTo>
                  <a:lnTo>
                    <a:pt x="768" y="136"/>
                  </a:lnTo>
                  <a:lnTo>
                    <a:pt x="0" y="13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14" name="Line 65"/>
            <p:cNvSpPr>
              <a:spLocks noChangeShapeType="1"/>
            </p:cNvSpPr>
            <p:nvPr/>
          </p:nvSpPr>
          <p:spPr bwMode="auto">
            <a:xfrm>
              <a:off x="902" y="2797"/>
              <a:ext cx="0" cy="50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5" name="Line 66"/>
            <p:cNvSpPr>
              <a:spLocks noChangeShapeType="1"/>
            </p:cNvSpPr>
            <p:nvPr/>
          </p:nvSpPr>
          <p:spPr bwMode="auto">
            <a:xfrm>
              <a:off x="895" y="2794"/>
              <a:ext cx="66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6" name="Oval 67"/>
            <p:cNvSpPr>
              <a:spLocks noChangeArrowheads="1"/>
            </p:cNvSpPr>
            <p:nvPr/>
          </p:nvSpPr>
          <p:spPr bwMode="auto">
            <a:xfrm>
              <a:off x="3284" y="2689"/>
              <a:ext cx="215" cy="16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7" name="Rectangle 68"/>
            <p:cNvSpPr>
              <a:spLocks noChangeArrowheads="1"/>
            </p:cNvSpPr>
            <p:nvPr/>
          </p:nvSpPr>
          <p:spPr bwMode="auto">
            <a:xfrm>
              <a:off x="3297" y="265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7218" name="Rectangle 69"/>
            <p:cNvSpPr>
              <a:spLocks noChangeArrowheads="1"/>
            </p:cNvSpPr>
            <p:nvPr/>
          </p:nvSpPr>
          <p:spPr bwMode="auto">
            <a:xfrm>
              <a:off x="2838" y="3054"/>
              <a:ext cx="1115" cy="12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9" name="Rectangle 70"/>
            <p:cNvSpPr>
              <a:spLocks noChangeArrowheads="1"/>
            </p:cNvSpPr>
            <p:nvPr/>
          </p:nvSpPr>
          <p:spPr bwMode="auto">
            <a:xfrm>
              <a:off x="3267" y="3028"/>
              <a:ext cx="22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7220" name="Freeform 71"/>
            <p:cNvSpPr>
              <a:spLocks/>
            </p:cNvSpPr>
            <p:nvPr/>
          </p:nvSpPr>
          <p:spPr bwMode="auto">
            <a:xfrm>
              <a:off x="2617" y="3173"/>
              <a:ext cx="773" cy="110"/>
            </a:xfrm>
            <a:custGeom>
              <a:avLst/>
              <a:gdLst>
                <a:gd name="T0" fmla="*/ 752 w 777"/>
                <a:gd name="T1" fmla="*/ 0 h 137"/>
                <a:gd name="T2" fmla="*/ 752 w 777"/>
                <a:gd name="T3" fmla="*/ 37 h 137"/>
                <a:gd name="T4" fmla="*/ 0 w 777"/>
                <a:gd name="T5" fmla="*/ 37 h 137"/>
                <a:gd name="T6" fmla="*/ 0 60000 65536"/>
                <a:gd name="T7" fmla="*/ 0 60000 65536"/>
                <a:gd name="T8" fmla="*/ 0 60000 65536"/>
                <a:gd name="T9" fmla="*/ 0 w 777"/>
                <a:gd name="T10" fmla="*/ 0 h 137"/>
                <a:gd name="T11" fmla="*/ 777 w 777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77" h="137">
                  <a:moveTo>
                    <a:pt x="776" y="0"/>
                  </a:moveTo>
                  <a:lnTo>
                    <a:pt x="776" y="136"/>
                  </a:lnTo>
                  <a:lnTo>
                    <a:pt x="0" y="13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21" name="Line 72"/>
            <p:cNvSpPr>
              <a:spLocks noChangeShapeType="1"/>
            </p:cNvSpPr>
            <p:nvPr/>
          </p:nvSpPr>
          <p:spPr bwMode="auto">
            <a:xfrm>
              <a:off x="2609" y="2797"/>
              <a:ext cx="0" cy="4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2" name="Rectangle 73"/>
            <p:cNvSpPr>
              <a:spLocks noChangeArrowheads="1"/>
            </p:cNvSpPr>
            <p:nvPr/>
          </p:nvSpPr>
          <p:spPr bwMode="auto">
            <a:xfrm>
              <a:off x="1175" y="1178"/>
              <a:ext cx="92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Direct addressing</a:t>
              </a:r>
            </a:p>
          </p:txBody>
        </p:sp>
        <p:sp>
          <p:nvSpPr>
            <p:cNvPr id="7223" name="Rectangle 74"/>
            <p:cNvSpPr>
              <a:spLocks noChangeArrowheads="1"/>
            </p:cNvSpPr>
            <p:nvPr/>
          </p:nvSpPr>
          <p:spPr bwMode="auto">
            <a:xfrm>
              <a:off x="2889" y="1188"/>
              <a:ext cx="100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Indirect addressing</a:t>
              </a:r>
            </a:p>
          </p:txBody>
        </p:sp>
        <p:sp>
          <p:nvSpPr>
            <p:cNvPr id="7224" name="Line 75"/>
            <p:cNvSpPr>
              <a:spLocks noChangeShapeType="1"/>
            </p:cNvSpPr>
            <p:nvPr/>
          </p:nvSpPr>
          <p:spPr bwMode="auto">
            <a:xfrm>
              <a:off x="2611" y="2800"/>
              <a:ext cx="66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5" name="Line 76"/>
            <p:cNvSpPr>
              <a:spLocks noChangeShapeType="1"/>
            </p:cNvSpPr>
            <p:nvPr/>
          </p:nvSpPr>
          <p:spPr bwMode="auto">
            <a:xfrm>
              <a:off x="3384" y="2250"/>
              <a:ext cx="0" cy="4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Line 77"/>
            <p:cNvSpPr>
              <a:spLocks noChangeShapeType="1"/>
            </p:cNvSpPr>
            <p:nvPr/>
          </p:nvSpPr>
          <p:spPr bwMode="auto">
            <a:xfrm>
              <a:off x="1668" y="2076"/>
              <a:ext cx="0" cy="5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7" name="Line 78"/>
            <p:cNvSpPr>
              <a:spLocks noChangeShapeType="1"/>
            </p:cNvSpPr>
            <p:nvPr/>
          </p:nvSpPr>
          <p:spPr bwMode="auto">
            <a:xfrm>
              <a:off x="1674" y="2856"/>
              <a:ext cx="0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8" name="Line 79"/>
            <p:cNvSpPr>
              <a:spLocks noChangeShapeType="1"/>
            </p:cNvSpPr>
            <p:nvPr/>
          </p:nvSpPr>
          <p:spPr bwMode="auto">
            <a:xfrm>
              <a:off x="3390" y="2862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69" name="Straight Arrow Connector 68"/>
          <p:cNvCxnSpPr/>
          <p:nvPr/>
        </p:nvCxnSpPr>
        <p:spPr>
          <a:xfrm>
            <a:off x="4959620" y="2222259"/>
            <a:ext cx="431007" cy="2349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7700237" y="2188679"/>
            <a:ext cx="431007" cy="2349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395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11482" y="1476212"/>
            <a:ext cx="6743397" cy="3731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Processor </a:t>
            </a:r>
            <a:r>
              <a:rPr lang="en-US" altLang="en-US" sz="3200" dirty="0" smtClean="0">
                <a:latin typeface="Calibri" panose="020F0502020204030204" pitchFamily="34" charset="0"/>
              </a:rPr>
              <a:t>Registers</a:t>
            </a:r>
            <a:endParaRPr lang="en-US" altLang="en-US" sz="3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8199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11530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processor has many registers to hold instructions, addresses, data, </a:t>
            </a:r>
            <a:r>
              <a:rPr lang="en-US" altLang="ko-KR" sz="2000" b="1" dirty="0" err="1">
                <a:latin typeface="Calibri" panose="020F0502020204030204" pitchFamily="34" charset="0"/>
              </a:rPr>
              <a:t>etc</a:t>
            </a: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processor has a register,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Program Counter (PC)</a:t>
            </a:r>
            <a:r>
              <a:rPr lang="en-US" altLang="ko-KR" sz="2000" b="1" dirty="0">
                <a:latin typeface="Calibri" panose="020F0502020204030204" pitchFamily="34" charset="0"/>
              </a:rPr>
              <a:t> that holds the memory address of the next instruction to get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latin typeface="Calibri" panose="020F0502020204030204" pitchFamily="34" charset="0"/>
              </a:rPr>
              <a:t>Since </a:t>
            </a:r>
            <a:r>
              <a:rPr lang="en-US" altLang="ko-KR" sz="2000" b="1" dirty="0">
                <a:latin typeface="Calibri" panose="020F0502020204030204" pitchFamily="34" charset="0"/>
              </a:rPr>
              <a:t>the memory in the Basic Computer only has 4096 locations, the PC only needs 12 bits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u="sng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7445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8199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11530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a direct or indirect addressing, the processor needs to keep track of what locations in memory it is addressing: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Address Register (AR)</a:t>
            </a:r>
            <a:r>
              <a:rPr lang="en-US" altLang="ko-KR" sz="2000" b="1" dirty="0">
                <a:latin typeface="Calibri" panose="020F0502020204030204" pitchFamily="34" charset="0"/>
              </a:rPr>
              <a:t> is used for this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2000" b="1" dirty="0">
                <a:latin typeface="Calibri" panose="020F0502020204030204" pitchFamily="34" charset="0"/>
              </a:rPr>
              <a:t>	The AR is a 12 bit register in the Basic Computer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When an operand is found, using either direct or indirect addressing, it is placed in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Data Register (DR)</a:t>
            </a:r>
            <a:r>
              <a:rPr lang="en-US" altLang="ko-KR" sz="2000" b="1" dirty="0">
                <a:latin typeface="Calibri" panose="020F0502020204030204" pitchFamily="34" charset="0"/>
              </a:rPr>
              <a:t>.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processor then uses this value as data for its operation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Basic Computer has a single general purpose register –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Accumulator (AC)</a:t>
            </a:r>
          </a:p>
        </p:txBody>
      </p:sp>
    </p:spTree>
    <p:extLst>
      <p:ext uri="{BB962C8B-B14F-4D97-AF65-F5344CB8AC3E}">
        <p14:creationId xmlns:p14="http://schemas.microsoft.com/office/powerpoint/2010/main" xmlns="" val="288628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9223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4010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significance of a general purpose register is that it can be referred to in instructions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e.g. load AC with the contents of a specific memory location; store the contents of AC into a specified memory location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Often a processor will need a scratch register to store intermediate results or other temporary data;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 this is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Temporary Register (TR)</a:t>
            </a:r>
          </a:p>
        </p:txBody>
      </p:sp>
    </p:spTree>
    <p:extLst>
      <p:ext uri="{BB962C8B-B14F-4D97-AF65-F5344CB8AC3E}">
        <p14:creationId xmlns:p14="http://schemas.microsoft.com/office/powerpoint/2010/main" xmlns="" val="189880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9223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4010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Basic Computer uses a very simple model of input/output (I/O) operations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Input devices are considered to send 8 bits of character data to the processor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The processor can send 8 bits of character data to output devices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Input Register (INPR)</a:t>
            </a:r>
            <a:r>
              <a:rPr lang="en-US" altLang="ko-KR" sz="2000" b="1" dirty="0">
                <a:latin typeface="Calibri" panose="020F0502020204030204" pitchFamily="34" charset="0"/>
              </a:rPr>
              <a:t> holds an 8 bit character gotten from an input device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Output Register (OUTR)</a:t>
            </a:r>
            <a:r>
              <a:rPr lang="en-US" altLang="ko-KR" sz="2000" b="1" dirty="0">
                <a:latin typeface="Calibri" panose="020F0502020204030204" pitchFamily="34" charset="0"/>
              </a:rPr>
              <a:t> holds an 8 bit character to be send to an output device</a:t>
            </a:r>
          </a:p>
        </p:txBody>
      </p:sp>
    </p:spTree>
    <p:extLst>
      <p:ext uri="{BB962C8B-B14F-4D97-AF65-F5344CB8AC3E}">
        <p14:creationId xmlns:p14="http://schemas.microsoft.com/office/powerpoint/2010/main" xmlns="" val="375209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3370362" y="671615"/>
            <a:ext cx="5553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Internal architecture of the Intel 8085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7147" y="1163584"/>
            <a:ext cx="8457231" cy="5471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3370362" y="671615"/>
            <a:ext cx="5553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Internal architecture of the Intel 8085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9853" y="1450625"/>
            <a:ext cx="9971015" cy="442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3370362" y="671615"/>
            <a:ext cx="5553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Internal architecture of the Intel 8085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0286" y="2647626"/>
            <a:ext cx="10214306" cy="1722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991396" y="1725500"/>
            <a:ext cx="19447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Registers: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784" y="956617"/>
            <a:ext cx="10330764" cy="3382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87099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9230" y="1060585"/>
            <a:ext cx="10091040" cy="3914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33539" y="82550"/>
            <a:ext cx="8924925" cy="669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0406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grpSp>
        <p:nvGrpSpPr>
          <p:cNvPr id="12295" name="Group 57"/>
          <p:cNvGrpSpPr>
            <a:grpSpLocks/>
          </p:cNvGrpSpPr>
          <p:nvPr/>
        </p:nvGrpSpPr>
        <p:grpSpPr bwMode="auto">
          <a:xfrm>
            <a:off x="2133601" y="1066801"/>
            <a:ext cx="8125895" cy="5726113"/>
            <a:chOff x="622300" y="792163"/>
            <a:chExt cx="6712328" cy="5925272"/>
          </a:xfrm>
        </p:grpSpPr>
        <p:sp>
          <p:nvSpPr>
            <p:cNvPr id="12296" name="Rectangle 3"/>
            <p:cNvSpPr>
              <a:spLocks noChangeArrowheads="1"/>
            </p:cNvSpPr>
            <p:nvPr/>
          </p:nvSpPr>
          <p:spPr bwMode="auto">
            <a:xfrm>
              <a:off x="2971800" y="4210940"/>
              <a:ext cx="1583892" cy="296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b="1">
                  <a:latin typeface="Calibri" panose="020F0502020204030204" pitchFamily="34" charset="0"/>
                </a:rPr>
                <a:t>List of BC Registers</a:t>
              </a:r>
            </a:p>
          </p:txBody>
        </p:sp>
        <p:sp>
          <p:nvSpPr>
            <p:cNvPr id="12297" name="Rectangle 4"/>
            <p:cNvSpPr>
              <a:spLocks noChangeArrowheads="1"/>
            </p:cNvSpPr>
            <p:nvPr/>
          </p:nvSpPr>
          <p:spPr bwMode="auto">
            <a:xfrm>
              <a:off x="999966" y="4497685"/>
              <a:ext cx="5902325" cy="197102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298" name="Rectangle 5"/>
            <p:cNvSpPr>
              <a:spLocks noChangeArrowheads="1"/>
            </p:cNvSpPr>
            <p:nvPr/>
          </p:nvSpPr>
          <p:spPr bwMode="auto">
            <a:xfrm>
              <a:off x="857250" y="4497685"/>
              <a:ext cx="5081443" cy="221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DR            16        Data Register		 Holds memory operand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AR            12        Address Register        	 Holds address for memory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AC            16        Accumulator	 	 Processor register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IR	            16        Instruction Register     	Holds instruction code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PC            12        Program Counter		 Holds address of instruction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TR            16        Temporary Register    	 Holds temporary data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INPR         8         Input Register            	 Holds input character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OUTR       8	     Output Register          	 Holds output character</a:t>
              </a:r>
            </a:p>
            <a:p>
              <a:pPr eaLnBrk="1" latin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12299" name="Rectangle 7"/>
            <p:cNvSpPr>
              <a:spLocks noChangeArrowheads="1"/>
            </p:cNvSpPr>
            <p:nvPr/>
          </p:nvSpPr>
          <p:spPr bwMode="auto">
            <a:xfrm>
              <a:off x="622300" y="792163"/>
              <a:ext cx="2637702" cy="379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latin typeface="Calibri" panose="020F0502020204030204" pitchFamily="34" charset="0"/>
                </a:rPr>
                <a:t>Registers in the Basic Computer</a:t>
              </a:r>
            </a:p>
          </p:txBody>
        </p:sp>
        <p:sp>
          <p:nvSpPr>
            <p:cNvPr id="12300" name="Rectangle 8"/>
            <p:cNvSpPr>
              <a:spLocks noChangeArrowheads="1"/>
            </p:cNvSpPr>
            <p:nvPr/>
          </p:nvSpPr>
          <p:spPr bwMode="auto">
            <a:xfrm>
              <a:off x="2070100" y="1538288"/>
              <a:ext cx="1582738" cy="2238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1" name="Rectangle 9"/>
            <p:cNvSpPr>
              <a:spLocks noChangeArrowheads="1"/>
            </p:cNvSpPr>
            <p:nvPr/>
          </p:nvSpPr>
          <p:spPr bwMode="auto">
            <a:xfrm>
              <a:off x="1939925" y="1335088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12302" name="Rectangle 10"/>
            <p:cNvSpPr>
              <a:spLocks noChangeArrowheads="1"/>
            </p:cNvSpPr>
            <p:nvPr/>
          </p:nvSpPr>
          <p:spPr bwMode="auto">
            <a:xfrm>
              <a:off x="3494088" y="1335088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03" name="Rectangle 11"/>
            <p:cNvSpPr>
              <a:spLocks noChangeArrowheads="1"/>
            </p:cNvSpPr>
            <p:nvPr/>
          </p:nvSpPr>
          <p:spPr bwMode="auto">
            <a:xfrm>
              <a:off x="2682875" y="1519238"/>
              <a:ext cx="308527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PC</a:t>
              </a:r>
            </a:p>
          </p:txBody>
        </p:sp>
        <p:sp>
          <p:nvSpPr>
            <p:cNvPr id="12304" name="Rectangle 12"/>
            <p:cNvSpPr>
              <a:spLocks noChangeArrowheads="1"/>
            </p:cNvSpPr>
            <p:nvPr/>
          </p:nvSpPr>
          <p:spPr bwMode="auto">
            <a:xfrm>
              <a:off x="1500188" y="2624138"/>
              <a:ext cx="2152650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5" name="Rectangle 13"/>
            <p:cNvSpPr>
              <a:spLocks noChangeArrowheads="1"/>
            </p:cNvSpPr>
            <p:nvPr/>
          </p:nvSpPr>
          <p:spPr bwMode="auto">
            <a:xfrm>
              <a:off x="1384300" y="2430463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06" name="Rectangle 14"/>
            <p:cNvSpPr>
              <a:spLocks noChangeArrowheads="1"/>
            </p:cNvSpPr>
            <p:nvPr/>
          </p:nvSpPr>
          <p:spPr bwMode="auto">
            <a:xfrm>
              <a:off x="3494088" y="2430463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07" name="Rectangle 15"/>
            <p:cNvSpPr>
              <a:spLocks noChangeArrowheads="1"/>
            </p:cNvSpPr>
            <p:nvPr/>
          </p:nvSpPr>
          <p:spPr bwMode="auto">
            <a:xfrm>
              <a:off x="2282825" y="2605088"/>
              <a:ext cx="274100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IR</a:t>
              </a:r>
            </a:p>
          </p:txBody>
        </p:sp>
        <p:sp>
          <p:nvSpPr>
            <p:cNvPr id="12308" name="Rectangle 16"/>
            <p:cNvSpPr>
              <a:spLocks noChangeArrowheads="1"/>
            </p:cNvSpPr>
            <p:nvPr/>
          </p:nvSpPr>
          <p:spPr bwMode="auto">
            <a:xfrm>
              <a:off x="1500188" y="3165475"/>
              <a:ext cx="2152650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9" name="Rectangle 17"/>
            <p:cNvSpPr>
              <a:spLocks noChangeArrowheads="1"/>
            </p:cNvSpPr>
            <p:nvPr/>
          </p:nvSpPr>
          <p:spPr bwMode="auto">
            <a:xfrm>
              <a:off x="1384300" y="295275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10" name="Rectangle 18"/>
            <p:cNvSpPr>
              <a:spLocks noChangeArrowheads="1"/>
            </p:cNvSpPr>
            <p:nvPr/>
          </p:nvSpPr>
          <p:spPr bwMode="auto">
            <a:xfrm>
              <a:off x="3494088" y="29527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1" name="Rectangle 19"/>
            <p:cNvSpPr>
              <a:spLocks noChangeArrowheads="1"/>
            </p:cNvSpPr>
            <p:nvPr/>
          </p:nvSpPr>
          <p:spPr bwMode="auto">
            <a:xfrm>
              <a:off x="2282825" y="3146425"/>
              <a:ext cx="307203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TR</a:t>
              </a:r>
            </a:p>
          </p:txBody>
        </p:sp>
        <p:sp>
          <p:nvSpPr>
            <p:cNvPr id="12312" name="Rectangle 20"/>
            <p:cNvSpPr>
              <a:spLocks noChangeArrowheads="1"/>
            </p:cNvSpPr>
            <p:nvPr/>
          </p:nvSpPr>
          <p:spPr bwMode="auto">
            <a:xfrm>
              <a:off x="1500188" y="3709988"/>
              <a:ext cx="941387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13" name="Rectangle 21"/>
            <p:cNvSpPr>
              <a:spLocks noChangeArrowheads="1"/>
            </p:cNvSpPr>
            <p:nvPr/>
          </p:nvSpPr>
          <p:spPr bwMode="auto">
            <a:xfrm>
              <a:off x="1384300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2314" name="Rectangle 22"/>
            <p:cNvSpPr>
              <a:spLocks noChangeArrowheads="1"/>
            </p:cNvSpPr>
            <p:nvPr/>
          </p:nvSpPr>
          <p:spPr bwMode="auto">
            <a:xfrm>
              <a:off x="3494088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5" name="Rectangle 23"/>
            <p:cNvSpPr>
              <a:spLocks noChangeArrowheads="1"/>
            </p:cNvSpPr>
            <p:nvPr/>
          </p:nvSpPr>
          <p:spPr bwMode="auto">
            <a:xfrm>
              <a:off x="1625600" y="3687763"/>
              <a:ext cx="504502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OUTR</a:t>
              </a:r>
            </a:p>
          </p:txBody>
        </p:sp>
        <p:sp>
          <p:nvSpPr>
            <p:cNvPr id="12316" name="Rectangle 24"/>
            <p:cNvSpPr>
              <a:spLocks noChangeArrowheads="1"/>
            </p:cNvSpPr>
            <p:nvPr/>
          </p:nvSpPr>
          <p:spPr bwMode="auto">
            <a:xfrm>
              <a:off x="4410075" y="3165475"/>
              <a:ext cx="2154238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17" name="Rectangle 25"/>
            <p:cNvSpPr>
              <a:spLocks noChangeArrowheads="1"/>
            </p:cNvSpPr>
            <p:nvPr/>
          </p:nvSpPr>
          <p:spPr bwMode="auto">
            <a:xfrm>
              <a:off x="4294188" y="2943225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18" name="Rectangle 26"/>
            <p:cNvSpPr>
              <a:spLocks noChangeArrowheads="1"/>
            </p:cNvSpPr>
            <p:nvPr/>
          </p:nvSpPr>
          <p:spPr bwMode="auto">
            <a:xfrm>
              <a:off x="6405563" y="2943225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9" name="Rectangle 27"/>
            <p:cNvSpPr>
              <a:spLocks noChangeArrowheads="1"/>
            </p:cNvSpPr>
            <p:nvPr/>
          </p:nvSpPr>
          <p:spPr bwMode="auto">
            <a:xfrm>
              <a:off x="5191125" y="3146425"/>
              <a:ext cx="328390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DR</a:t>
              </a:r>
            </a:p>
          </p:txBody>
        </p:sp>
        <p:sp>
          <p:nvSpPr>
            <p:cNvPr id="12320" name="Rectangle 28"/>
            <p:cNvSpPr>
              <a:spLocks noChangeArrowheads="1"/>
            </p:cNvSpPr>
            <p:nvPr/>
          </p:nvSpPr>
          <p:spPr bwMode="auto">
            <a:xfrm>
              <a:off x="4410075" y="3709988"/>
              <a:ext cx="2154238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1" name="Rectangle 29"/>
            <p:cNvSpPr>
              <a:spLocks noChangeArrowheads="1"/>
            </p:cNvSpPr>
            <p:nvPr/>
          </p:nvSpPr>
          <p:spPr bwMode="auto">
            <a:xfrm>
              <a:off x="4294188" y="350520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22" name="Rectangle 30"/>
            <p:cNvSpPr>
              <a:spLocks noChangeArrowheads="1"/>
            </p:cNvSpPr>
            <p:nvPr/>
          </p:nvSpPr>
          <p:spPr bwMode="auto">
            <a:xfrm>
              <a:off x="6407150" y="350520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23" name="Rectangle 31"/>
            <p:cNvSpPr>
              <a:spLocks noChangeArrowheads="1"/>
            </p:cNvSpPr>
            <p:nvPr/>
          </p:nvSpPr>
          <p:spPr bwMode="auto">
            <a:xfrm>
              <a:off x="5191125" y="3687763"/>
              <a:ext cx="317373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12324" name="Rectangle 32"/>
            <p:cNvSpPr>
              <a:spLocks noChangeArrowheads="1"/>
            </p:cNvSpPr>
            <p:nvPr/>
          </p:nvSpPr>
          <p:spPr bwMode="auto">
            <a:xfrm>
              <a:off x="2070100" y="2079625"/>
              <a:ext cx="1582738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5" name="Rectangle 33"/>
            <p:cNvSpPr>
              <a:spLocks noChangeArrowheads="1"/>
            </p:cNvSpPr>
            <p:nvPr/>
          </p:nvSpPr>
          <p:spPr bwMode="auto">
            <a:xfrm>
              <a:off x="1939925" y="186690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12326" name="Rectangle 34"/>
            <p:cNvSpPr>
              <a:spLocks noChangeArrowheads="1"/>
            </p:cNvSpPr>
            <p:nvPr/>
          </p:nvSpPr>
          <p:spPr bwMode="auto">
            <a:xfrm>
              <a:off x="3494088" y="186690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27" name="Rectangle 35"/>
            <p:cNvSpPr>
              <a:spLocks noChangeArrowheads="1"/>
            </p:cNvSpPr>
            <p:nvPr/>
          </p:nvSpPr>
          <p:spPr bwMode="auto">
            <a:xfrm>
              <a:off x="2682875" y="2060575"/>
              <a:ext cx="324417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AR</a:t>
              </a:r>
            </a:p>
          </p:txBody>
        </p:sp>
        <p:sp>
          <p:nvSpPr>
            <p:cNvPr id="12328" name="Rectangle 36"/>
            <p:cNvSpPr>
              <a:spLocks noChangeArrowheads="1"/>
            </p:cNvSpPr>
            <p:nvPr/>
          </p:nvSpPr>
          <p:spPr bwMode="auto">
            <a:xfrm>
              <a:off x="2711450" y="3709988"/>
              <a:ext cx="941388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9" name="Rectangle 37"/>
            <p:cNvSpPr>
              <a:spLocks noChangeArrowheads="1"/>
            </p:cNvSpPr>
            <p:nvPr/>
          </p:nvSpPr>
          <p:spPr bwMode="auto">
            <a:xfrm>
              <a:off x="2767013" y="3687763"/>
              <a:ext cx="451536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INPR</a:t>
              </a:r>
            </a:p>
          </p:txBody>
        </p:sp>
        <p:sp>
          <p:nvSpPr>
            <p:cNvPr id="12330" name="Rectangle 38"/>
            <p:cNvSpPr>
              <a:spLocks noChangeArrowheads="1"/>
            </p:cNvSpPr>
            <p:nvPr/>
          </p:nvSpPr>
          <p:spPr bwMode="auto">
            <a:xfrm>
              <a:off x="2282825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31" name="Rectangle 39"/>
            <p:cNvSpPr>
              <a:spLocks noChangeArrowheads="1"/>
            </p:cNvSpPr>
            <p:nvPr/>
          </p:nvSpPr>
          <p:spPr bwMode="auto">
            <a:xfrm>
              <a:off x="2595563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2332" name="Rectangle 40"/>
            <p:cNvSpPr>
              <a:spLocks noChangeArrowheads="1"/>
            </p:cNvSpPr>
            <p:nvPr/>
          </p:nvSpPr>
          <p:spPr bwMode="auto">
            <a:xfrm>
              <a:off x="4410075" y="1439863"/>
              <a:ext cx="2154238" cy="10636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33" name="Rectangle 41"/>
            <p:cNvSpPr>
              <a:spLocks noChangeArrowheads="1"/>
            </p:cNvSpPr>
            <p:nvPr/>
          </p:nvSpPr>
          <p:spPr bwMode="auto">
            <a:xfrm>
              <a:off x="4964113" y="1663700"/>
              <a:ext cx="678600" cy="538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Memory</a:t>
              </a:r>
            </a:p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334" name="Rectangle 42"/>
            <p:cNvSpPr>
              <a:spLocks noChangeArrowheads="1"/>
            </p:cNvSpPr>
            <p:nvPr/>
          </p:nvSpPr>
          <p:spPr bwMode="auto">
            <a:xfrm>
              <a:off x="5359400" y="2166938"/>
              <a:ext cx="151007" cy="538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335" name="Rectangle 43"/>
            <p:cNvSpPr>
              <a:spLocks noChangeArrowheads="1"/>
            </p:cNvSpPr>
            <p:nvPr/>
          </p:nvSpPr>
          <p:spPr bwMode="auto">
            <a:xfrm>
              <a:off x="4965700" y="1957388"/>
              <a:ext cx="737551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4096 x 16</a:t>
              </a:r>
            </a:p>
          </p:txBody>
        </p:sp>
        <p:sp>
          <p:nvSpPr>
            <p:cNvPr id="12336" name="Line 46"/>
            <p:cNvSpPr>
              <a:spLocks noChangeShapeType="1"/>
            </p:cNvSpPr>
            <p:nvPr/>
          </p:nvSpPr>
          <p:spPr bwMode="auto">
            <a:xfrm>
              <a:off x="1171575" y="1200150"/>
              <a:ext cx="0" cy="2943225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7" name="Line 47"/>
            <p:cNvSpPr>
              <a:spLocks noChangeShapeType="1"/>
            </p:cNvSpPr>
            <p:nvPr/>
          </p:nvSpPr>
          <p:spPr bwMode="auto">
            <a:xfrm rot="-5400000">
              <a:off x="4078288" y="1316038"/>
              <a:ext cx="0" cy="579120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8" name="Line 48"/>
            <p:cNvSpPr>
              <a:spLocks noChangeShapeType="1"/>
            </p:cNvSpPr>
            <p:nvPr/>
          </p:nvSpPr>
          <p:spPr bwMode="auto">
            <a:xfrm rot="-5400000">
              <a:off x="2584450" y="-168275"/>
              <a:ext cx="0" cy="276225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9" name="Line 49"/>
            <p:cNvSpPr>
              <a:spLocks noChangeShapeType="1"/>
            </p:cNvSpPr>
            <p:nvPr/>
          </p:nvSpPr>
          <p:spPr bwMode="auto">
            <a:xfrm>
              <a:off x="3968750" y="1254125"/>
              <a:ext cx="0" cy="161925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0" name="Line 50"/>
            <p:cNvSpPr>
              <a:spLocks noChangeShapeType="1"/>
            </p:cNvSpPr>
            <p:nvPr/>
          </p:nvSpPr>
          <p:spPr bwMode="auto">
            <a:xfrm rot="-5400000">
              <a:off x="5456238" y="1417638"/>
              <a:ext cx="0" cy="293370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1" name="Line 51"/>
            <p:cNvSpPr>
              <a:spLocks noChangeShapeType="1"/>
            </p:cNvSpPr>
            <p:nvPr/>
          </p:nvSpPr>
          <p:spPr bwMode="auto">
            <a:xfrm>
              <a:off x="6940550" y="2892425"/>
              <a:ext cx="0" cy="1228725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2" name="Text Box 52"/>
            <p:cNvSpPr txBox="1">
              <a:spLocks noChangeArrowheads="1"/>
            </p:cNvSpPr>
            <p:nvPr/>
          </p:nvSpPr>
          <p:spPr bwMode="auto">
            <a:xfrm>
              <a:off x="6927850" y="2676525"/>
              <a:ext cx="406778" cy="318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2798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3319" name="Rectangle 166"/>
          <p:cNvSpPr txBox="1">
            <a:spLocks noChangeArrowheads="1"/>
          </p:cNvSpPr>
          <p:nvPr/>
        </p:nvSpPr>
        <p:spPr bwMode="auto">
          <a:xfrm>
            <a:off x="2173288" y="1654176"/>
            <a:ext cx="7656512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registers in the Basic Computer are connected using a bus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This </a:t>
            </a:r>
            <a:r>
              <a:rPr lang="en-US" altLang="ko-KR" sz="2000" b="1" dirty="0" smtClean="0">
                <a:latin typeface="Calibri" panose="020F0502020204030204" pitchFamily="34" charset="0"/>
              </a:rPr>
              <a:t>provide </a:t>
            </a:r>
            <a:r>
              <a:rPr lang="en-US" altLang="ko-KR" sz="2000" b="1" dirty="0">
                <a:latin typeface="Calibri" panose="020F0502020204030204" pitchFamily="34" charset="0"/>
              </a:rPr>
              <a:t>a </a:t>
            </a:r>
            <a:r>
              <a:rPr lang="en-US" altLang="ko-KR" sz="2000" b="1" dirty="0" smtClean="0">
                <a:latin typeface="Calibri" panose="020F0502020204030204" pitchFamily="34" charset="0"/>
              </a:rPr>
              <a:t>savings/optimization </a:t>
            </a:r>
            <a:r>
              <a:rPr lang="en-US" altLang="ko-KR" sz="2000" b="1" dirty="0">
                <a:latin typeface="Calibri" panose="020F0502020204030204" pitchFamily="34" charset="0"/>
              </a:rPr>
              <a:t>in circuitry over complete connections between registers</a:t>
            </a:r>
          </a:p>
        </p:txBody>
      </p:sp>
    </p:spTree>
    <p:extLst>
      <p:ext uri="{BB962C8B-B14F-4D97-AF65-F5344CB8AC3E}">
        <p14:creationId xmlns:p14="http://schemas.microsoft.com/office/powerpoint/2010/main" xmlns="" val="220478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grpSp>
        <p:nvGrpSpPr>
          <p:cNvPr id="14343" name="Group 156"/>
          <p:cNvGrpSpPr>
            <a:grpSpLocks/>
          </p:cNvGrpSpPr>
          <p:nvPr/>
        </p:nvGrpSpPr>
        <p:grpSpPr bwMode="auto">
          <a:xfrm>
            <a:off x="3744914" y="1128714"/>
            <a:ext cx="4256087" cy="5272087"/>
            <a:chOff x="1611313" y="823913"/>
            <a:chExt cx="4681537" cy="5670550"/>
          </a:xfrm>
        </p:grpSpPr>
        <p:sp>
          <p:nvSpPr>
            <p:cNvPr id="14344" name="Arc 4"/>
            <p:cNvSpPr>
              <a:spLocks/>
            </p:cNvSpPr>
            <p:nvPr/>
          </p:nvSpPr>
          <p:spPr bwMode="auto">
            <a:xfrm>
              <a:off x="5649913" y="828675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5" name="Line 5"/>
            <p:cNvSpPr>
              <a:spLocks noChangeShapeType="1"/>
            </p:cNvSpPr>
            <p:nvPr/>
          </p:nvSpPr>
          <p:spPr bwMode="auto">
            <a:xfrm>
              <a:off x="5507038" y="86677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6" name="Arc 6"/>
            <p:cNvSpPr>
              <a:spLocks/>
            </p:cNvSpPr>
            <p:nvPr/>
          </p:nvSpPr>
          <p:spPr bwMode="auto">
            <a:xfrm>
              <a:off x="5649913" y="939800"/>
              <a:ext cx="106362" cy="76200"/>
            </a:xfrm>
            <a:custGeom>
              <a:avLst/>
              <a:gdLst>
                <a:gd name="T0" fmla="*/ 122572509 w 21600"/>
                <a:gd name="T1" fmla="*/ 565190905 h 17255"/>
                <a:gd name="T2" fmla="*/ 129871225 w 21600"/>
                <a:gd name="T3" fmla="*/ 0 h 17255"/>
                <a:gd name="T4" fmla="*/ 1516291712 w 21600"/>
                <a:gd name="T5" fmla="*/ 28647343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7" name="Line 7"/>
            <p:cNvSpPr>
              <a:spLocks noChangeShapeType="1"/>
            </p:cNvSpPr>
            <p:nvPr/>
          </p:nvSpPr>
          <p:spPr bwMode="auto">
            <a:xfrm>
              <a:off x="5507038" y="982663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8" name="Arc 8"/>
            <p:cNvSpPr>
              <a:spLocks/>
            </p:cNvSpPr>
            <p:nvPr/>
          </p:nvSpPr>
          <p:spPr bwMode="auto">
            <a:xfrm>
              <a:off x="5649913" y="10477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9" name="Line 9"/>
            <p:cNvSpPr>
              <a:spLocks noChangeShapeType="1"/>
            </p:cNvSpPr>
            <p:nvPr/>
          </p:nvSpPr>
          <p:spPr bwMode="auto">
            <a:xfrm>
              <a:off x="5507038" y="108902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0" name="Rectangle 11"/>
            <p:cNvSpPr>
              <a:spLocks noChangeArrowheads="1"/>
            </p:cNvSpPr>
            <p:nvPr/>
          </p:nvSpPr>
          <p:spPr bwMode="auto">
            <a:xfrm>
              <a:off x="5138738" y="868363"/>
              <a:ext cx="354413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S1</a:t>
              </a:r>
            </a:p>
          </p:txBody>
        </p:sp>
        <p:sp>
          <p:nvSpPr>
            <p:cNvPr id="14351" name="Rectangle 12"/>
            <p:cNvSpPr>
              <a:spLocks noChangeArrowheads="1"/>
            </p:cNvSpPr>
            <p:nvPr/>
          </p:nvSpPr>
          <p:spPr bwMode="auto">
            <a:xfrm>
              <a:off x="5153025" y="976313"/>
              <a:ext cx="354413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S0</a:t>
              </a:r>
            </a:p>
          </p:txBody>
        </p:sp>
        <p:sp>
          <p:nvSpPr>
            <p:cNvPr id="14352" name="Line 13"/>
            <p:cNvSpPr>
              <a:spLocks noChangeShapeType="1"/>
            </p:cNvSpPr>
            <p:nvPr/>
          </p:nvSpPr>
          <p:spPr bwMode="auto">
            <a:xfrm>
              <a:off x="5761038" y="831850"/>
              <a:ext cx="5191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3" name="Freeform 14"/>
            <p:cNvSpPr>
              <a:spLocks/>
            </p:cNvSpPr>
            <p:nvPr/>
          </p:nvSpPr>
          <p:spPr bwMode="auto">
            <a:xfrm>
              <a:off x="5749925" y="1190625"/>
              <a:ext cx="176213" cy="5130800"/>
            </a:xfrm>
            <a:custGeom>
              <a:avLst/>
              <a:gdLst>
                <a:gd name="T0" fmla="*/ 0 w 125"/>
                <a:gd name="T1" fmla="*/ 0 h 4233"/>
                <a:gd name="T2" fmla="*/ 2147483647 w 125"/>
                <a:gd name="T3" fmla="*/ 0 h 4233"/>
                <a:gd name="T4" fmla="*/ 2147483647 w 125"/>
                <a:gd name="T5" fmla="*/ 2147483647 h 4233"/>
                <a:gd name="T6" fmla="*/ 0 60000 65536"/>
                <a:gd name="T7" fmla="*/ 0 60000 65536"/>
                <a:gd name="T8" fmla="*/ 0 60000 65536"/>
                <a:gd name="T9" fmla="*/ 0 w 125"/>
                <a:gd name="T10" fmla="*/ 0 h 4233"/>
                <a:gd name="T11" fmla="*/ 125 w 125"/>
                <a:gd name="T12" fmla="*/ 4233 h 42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" h="4233">
                  <a:moveTo>
                    <a:pt x="0" y="0"/>
                  </a:moveTo>
                  <a:lnTo>
                    <a:pt x="124" y="0"/>
                  </a:lnTo>
                  <a:lnTo>
                    <a:pt x="124" y="4232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4" name="Line 15"/>
            <p:cNvSpPr>
              <a:spLocks noChangeShapeType="1"/>
            </p:cNvSpPr>
            <p:nvPr/>
          </p:nvSpPr>
          <p:spPr bwMode="auto">
            <a:xfrm>
              <a:off x="6138863" y="1185863"/>
              <a:ext cx="0" cy="528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5" name="Freeform 16"/>
            <p:cNvSpPr>
              <a:spLocks/>
            </p:cNvSpPr>
            <p:nvPr/>
          </p:nvSpPr>
          <p:spPr bwMode="auto">
            <a:xfrm>
              <a:off x="6134100" y="830263"/>
              <a:ext cx="158750" cy="349250"/>
            </a:xfrm>
            <a:custGeom>
              <a:avLst/>
              <a:gdLst>
                <a:gd name="T0" fmla="*/ 0 w 113"/>
                <a:gd name="T1" fmla="*/ 2147483647 h 289"/>
                <a:gd name="T2" fmla="*/ 2147483647 w 113"/>
                <a:gd name="T3" fmla="*/ 2147483647 h 289"/>
                <a:gd name="T4" fmla="*/ 2147483647 w 113"/>
                <a:gd name="T5" fmla="*/ 0 h 289"/>
                <a:gd name="T6" fmla="*/ 0 60000 65536"/>
                <a:gd name="T7" fmla="*/ 0 60000 65536"/>
                <a:gd name="T8" fmla="*/ 0 60000 65536"/>
                <a:gd name="T9" fmla="*/ 0 w 113"/>
                <a:gd name="T10" fmla="*/ 0 h 289"/>
                <a:gd name="T11" fmla="*/ 113 w 113"/>
                <a:gd name="T12" fmla="*/ 289 h 2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" h="289">
                  <a:moveTo>
                    <a:pt x="0" y="288"/>
                  </a:moveTo>
                  <a:lnTo>
                    <a:pt x="112" y="288"/>
                  </a:lnTo>
                  <a:lnTo>
                    <a:pt x="112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6" name="Rectangle 17"/>
            <p:cNvSpPr>
              <a:spLocks noChangeArrowheads="1"/>
            </p:cNvSpPr>
            <p:nvPr/>
          </p:nvSpPr>
          <p:spPr bwMode="auto">
            <a:xfrm>
              <a:off x="5781675" y="868363"/>
              <a:ext cx="43199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Bus</a:t>
              </a:r>
            </a:p>
          </p:txBody>
        </p:sp>
        <p:sp>
          <p:nvSpPr>
            <p:cNvPr id="14357" name="Rectangle 18"/>
            <p:cNvSpPr>
              <a:spLocks noChangeArrowheads="1"/>
            </p:cNvSpPr>
            <p:nvPr/>
          </p:nvSpPr>
          <p:spPr bwMode="auto">
            <a:xfrm>
              <a:off x="3622675" y="1198563"/>
              <a:ext cx="1047368" cy="460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Memory unit</a:t>
              </a:r>
            </a:p>
            <a:p>
              <a:pPr eaLnBrk="1" latinLnBrk="1" hangingPunct="1"/>
              <a:endParaRPr lang="en-US" altLang="ko-KR" sz="11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358" name="Rectangle 19"/>
            <p:cNvSpPr>
              <a:spLocks noChangeArrowheads="1"/>
            </p:cNvSpPr>
            <p:nvPr/>
          </p:nvSpPr>
          <p:spPr bwMode="auto">
            <a:xfrm>
              <a:off x="3716338" y="1335088"/>
              <a:ext cx="81461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4096 x 16</a:t>
              </a:r>
            </a:p>
          </p:txBody>
        </p:sp>
        <p:sp>
          <p:nvSpPr>
            <p:cNvPr id="14359" name="Rectangle 20"/>
            <p:cNvSpPr>
              <a:spLocks noChangeArrowheads="1"/>
            </p:cNvSpPr>
            <p:nvPr/>
          </p:nvSpPr>
          <p:spPr bwMode="auto">
            <a:xfrm>
              <a:off x="3446463" y="1152525"/>
              <a:ext cx="1389062" cy="415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60" name="Rectangle 21"/>
            <p:cNvSpPr>
              <a:spLocks noChangeArrowheads="1"/>
            </p:cNvSpPr>
            <p:nvPr/>
          </p:nvSpPr>
          <p:spPr bwMode="auto">
            <a:xfrm>
              <a:off x="3535363" y="2255838"/>
              <a:ext cx="97154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INR  CLR</a:t>
              </a:r>
            </a:p>
          </p:txBody>
        </p:sp>
        <p:sp>
          <p:nvSpPr>
            <p:cNvPr id="14361" name="Arc 22"/>
            <p:cNvSpPr>
              <a:spLocks/>
            </p:cNvSpPr>
            <p:nvPr/>
          </p:nvSpPr>
          <p:spPr bwMode="auto">
            <a:xfrm>
              <a:off x="5830888" y="1266825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2" name="Line 23"/>
            <p:cNvSpPr>
              <a:spLocks noChangeShapeType="1"/>
            </p:cNvSpPr>
            <p:nvPr/>
          </p:nvSpPr>
          <p:spPr bwMode="auto">
            <a:xfrm>
              <a:off x="4840288" y="1311275"/>
              <a:ext cx="1000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3" name="Rectangle 24"/>
            <p:cNvSpPr>
              <a:spLocks noChangeArrowheads="1"/>
            </p:cNvSpPr>
            <p:nvPr/>
          </p:nvSpPr>
          <p:spPr bwMode="auto">
            <a:xfrm>
              <a:off x="4814888" y="1470025"/>
              <a:ext cx="7158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14364" name="Arc 25"/>
            <p:cNvSpPr>
              <a:spLocks/>
            </p:cNvSpPr>
            <p:nvPr/>
          </p:nvSpPr>
          <p:spPr bwMode="auto">
            <a:xfrm>
              <a:off x="4846638" y="1436688"/>
              <a:ext cx="106362" cy="73025"/>
            </a:xfrm>
            <a:custGeom>
              <a:avLst/>
              <a:gdLst>
                <a:gd name="T0" fmla="*/ 1383128427 w 21600"/>
                <a:gd name="T1" fmla="*/ 0 h 17464"/>
                <a:gd name="T2" fmla="*/ 1390568406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5" name="Freeform 26"/>
            <p:cNvSpPr>
              <a:spLocks/>
            </p:cNvSpPr>
            <p:nvPr/>
          </p:nvSpPr>
          <p:spPr bwMode="auto">
            <a:xfrm>
              <a:off x="4937125" y="1473200"/>
              <a:ext cx="611188" cy="582613"/>
            </a:xfrm>
            <a:custGeom>
              <a:avLst/>
              <a:gdLst>
                <a:gd name="T0" fmla="*/ 0 w 433"/>
                <a:gd name="T1" fmla="*/ 0 h 481"/>
                <a:gd name="T2" fmla="*/ 2147483647 w 433"/>
                <a:gd name="T3" fmla="*/ 0 h 481"/>
                <a:gd name="T4" fmla="*/ 2147483647 w 433"/>
                <a:gd name="T5" fmla="*/ 2147483647 h 481"/>
                <a:gd name="T6" fmla="*/ 0 60000 65536"/>
                <a:gd name="T7" fmla="*/ 0 60000 65536"/>
                <a:gd name="T8" fmla="*/ 0 60000 65536"/>
                <a:gd name="T9" fmla="*/ 0 w 433"/>
                <a:gd name="T10" fmla="*/ 0 h 481"/>
                <a:gd name="T11" fmla="*/ 433 w 433"/>
                <a:gd name="T12" fmla="*/ 481 h 4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3" h="481">
                  <a:moveTo>
                    <a:pt x="0" y="0"/>
                  </a:moveTo>
                  <a:lnTo>
                    <a:pt x="432" y="0"/>
                  </a:lnTo>
                  <a:lnTo>
                    <a:pt x="432" y="48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6" name="Line 27"/>
            <p:cNvSpPr>
              <a:spLocks noChangeShapeType="1"/>
            </p:cNvSpPr>
            <p:nvPr/>
          </p:nvSpPr>
          <p:spPr bwMode="auto">
            <a:xfrm>
              <a:off x="4468813" y="1574800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7" name="Rectangle 28"/>
            <p:cNvSpPr>
              <a:spLocks noChangeArrowheads="1"/>
            </p:cNvSpPr>
            <p:nvPr/>
          </p:nvSpPr>
          <p:spPr bwMode="auto">
            <a:xfrm>
              <a:off x="4192588" y="1693863"/>
              <a:ext cx="52544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Read</a:t>
              </a:r>
            </a:p>
          </p:txBody>
        </p:sp>
        <p:sp>
          <p:nvSpPr>
            <p:cNvPr id="14368" name="Rectangle 29"/>
            <p:cNvSpPr>
              <a:spLocks noChangeArrowheads="1"/>
            </p:cNvSpPr>
            <p:nvPr/>
          </p:nvSpPr>
          <p:spPr bwMode="auto">
            <a:xfrm>
              <a:off x="3478213" y="1693863"/>
              <a:ext cx="5677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Write</a:t>
              </a:r>
            </a:p>
          </p:txBody>
        </p:sp>
        <p:sp>
          <p:nvSpPr>
            <p:cNvPr id="14369" name="Rectangle 30"/>
            <p:cNvSpPr>
              <a:spLocks noChangeArrowheads="1"/>
            </p:cNvSpPr>
            <p:nvPr/>
          </p:nvSpPr>
          <p:spPr bwMode="auto">
            <a:xfrm>
              <a:off x="3598863" y="1960563"/>
              <a:ext cx="1252537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70" name="Line 31"/>
            <p:cNvSpPr>
              <a:spLocks noChangeShapeType="1"/>
            </p:cNvSpPr>
            <p:nvPr/>
          </p:nvSpPr>
          <p:spPr bwMode="auto">
            <a:xfrm flipH="1">
              <a:off x="4033838" y="2160588"/>
              <a:ext cx="0" cy="112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1" name="Line 32"/>
            <p:cNvSpPr>
              <a:spLocks noChangeShapeType="1"/>
            </p:cNvSpPr>
            <p:nvPr/>
          </p:nvSpPr>
          <p:spPr bwMode="auto">
            <a:xfrm>
              <a:off x="4360863" y="2155825"/>
              <a:ext cx="0" cy="117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2" name="Freeform 33"/>
            <p:cNvSpPr>
              <a:spLocks/>
            </p:cNvSpPr>
            <p:nvPr/>
          </p:nvSpPr>
          <p:spPr bwMode="auto">
            <a:xfrm>
              <a:off x="4670425" y="2165350"/>
              <a:ext cx="498475" cy="117475"/>
            </a:xfrm>
            <a:custGeom>
              <a:avLst/>
              <a:gdLst>
                <a:gd name="T0" fmla="*/ 0 w 353"/>
                <a:gd name="T1" fmla="*/ 0 h 97"/>
                <a:gd name="T2" fmla="*/ 0 w 353"/>
                <a:gd name="T3" fmla="*/ 2147483647 h 97"/>
                <a:gd name="T4" fmla="*/ 2147483647 w 353"/>
                <a:gd name="T5" fmla="*/ 2147483647 h 97"/>
                <a:gd name="T6" fmla="*/ 0 60000 65536"/>
                <a:gd name="T7" fmla="*/ 0 60000 65536"/>
                <a:gd name="T8" fmla="*/ 0 60000 65536"/>
                <a:gd name="T9" fmla="*/ 0 w 353"/>
                <a:gd name="T10" fmla="*/ 0 h 97"/>
                <a:gd name="T11" fmla="*/ 353 w 353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3" h="97">
                  <a:moveTo>
                    <a:pt x="0" y="0"/>
                  </a:moveTo>
                  <a:lnTo>
                    <a:pt x="0" y="96"/>
                  </a:lnTo>
                  <a:lnTo>
                    <a:pt x="352" y="9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3" name="Arc 34"/>
            <p:cNvSpPr>
              <a:spLocks/>
            </p:cNvSpPr>
            <p:nvPr/>
          </p:nvSpPr>
          <p:spPr bwMode="auto">
            <a:xfrm>
              <a:off x="5835650" y="20272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4" name="Line 35"/>
            <p:cNvSpPr>
              <a:spLocks noChangeShapeType="1"/>
            </p:cNvSpPr>
            <p:nvPr/>
          </p:nvSpPr>
          <p:spPr bwMode="auto">
            <a:xfrm>
              <a:off x="4875213" y="2063750"/>
              <a:ext cx="981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5" name="Rectangle 36"/>
            <p:cNvSpPr>
              <a:spLocks noChangeArrowheads="1"/>
            </p:cNvSpPr>
            <p:nvPr/>
          </p:nvSpPr>
          <p:spPr bwMode="auto">
            <a:xfrm>
              <a:off x="4016375" y="1933575"/>
              <a:ext cx="38262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AR</a:t>
              </a:r>
            </a:p>
          </p:txBody>
        </p:sp>
        <p:sp>
          <p:nvSpPr>
            <p:cNvPr id="14376" name="Freeform 37"/>
            <p:cNvSpPr>
              <a:spLocks/>
            </p:cNvSpPr>
            <p:nvPr/>
          </p:nvSpPr>
          <p:spPr bwMode="auto">
            <a:xfrm>
              <a:off x="4608513" y="2092325"/>
              <a:ext cx="138112" cy="50800"/>
            </a:xfrm>
            <a:custGeom>
              <a:avLst/>
              <a:gdLst>
                <a:gd name="T0" fmla="*/ 0 w 97"/>
                <a:gd name="T1" fmla="*/ 2147483647 h 41"/>
                <a:gd name="T2" fmla="*/ 2147483647 w 97"/>
                <a:gd name="T3" fmla="*/ 0 h 41"/>
                <a:gd name="T4" fmla="*/ 2147483647 w 97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97"/>
                <a:gd name="T10" fmla="*/ 0 h 41"/>
                <a:gd name="T11" fmla="*/ 97 w 97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1">
                  <a:moveTo>
                    <a:pt x="0" y="40"/>
                  </a:moveTo>
                  <a:lnTo>
                    <a:pt x="48" y="0"/>
                  </a:lnTo>
                  <a:lnTo>
                    <a:pt x="96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7" name="Rectangle 38"/>
            <p:cNvSpPr>
              <a:spLocks noChangeArrowheads="1"/>
            </p:cNvSpPr>
            <p:nvPr/>
          </p:nvSpPr>
          <p:spPr bwMode="auto">
            <a:xfrm>
              <a:off x="3548064" y="2811463"/>
              <a:ext cx="97154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INR  CLR</a:t>
              </a:r>
            </a:p>
          </p:txBody>
        </p:sp>
        <p:sp>
          <p:nvSpPr>
            <p:cNvPr id="14378" name="Rectangle 39"/>
            <p:cNvSpPr>
              <a:spLocks noChangeArrowheads="1"/>
            </p:cNvSpPr>
            <p:nvPr/>
          </p:nvSpPr>
          <p:spPr bwMode="auto">
            <a:xfrm>
              <a:off x="3598863" y="2519363"/>
              <a:ext cx="1252537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79" name="Line 40"/>
            <p:cNvSpPr>
              <a:spLocks noChangeShapeType="1"/>
            </p:cNvSpPr>
            <p:nvPr/>
          </p:nvSpPr>
          <p:spPr bwMode="auto">
            <a:xfrm>
              <a:off x="4033838" y="272732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0" name="Line 41"/>
            <p:cNvSpPr>
              <a:spLocks noChangeShapeType="1"/>
            </p:cNvSpPr>
            <p:nvPr/>
          </p:nvSpPr>
          <p:spPr bwMode="auto">
            <a:xfrm>
              <a:off x="4360863" y="272732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1" name="Freeform 42"/>
            <p:cNvSpPr>
              <a:spLocks/>
            </p:cNvSpPr>
            <p:nvPr/>
          </p:nvSpPr>
          <p:spPr bwMode="auto">
            <a:xfrm>
              <a:off x="4670425" y="2733675"/>
              <a:ext cx="487363" cy="106363"/>
            </a:xfrm>
            <a:custGeom>
              <a:avLst/>
              <a:gdLst>
                <a:gd name="T0" fmla="*/ 0 w 345"/>
                <a:gd name="T1" fmla="*/ 0 h 89"/>
                <a:gd name="T2" fmla="*/ 0 w 345"/>
                <a:gd name="T3" fmla="*/ 2147483647 h 89"/>
                <a:gd name="T4" fmla="*/ 2147483647 w 345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45"/>
                <a:gd name="T10" fmla="*/ 0 h 89"/>
                <a:gd name="T11" fmla="*/ 345 w 345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5" h="89">
                  <a:moveTo>
                    <a:pt x="0" y="0"/>
                  </a:moveTo>
                  <a:lnTo>
                    <a:pt x="0" y="88"/>
                  </a:lnTo>
                  <a:lnTo>
                    <a:pt x="344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2" name="Rectangle 43"/>
            <p:cNvSpPr>
              <a:spLocks noChangeArrowheads="1"/>
            </p:cNvSpPr>
            <p:nvPr/>
          </p:nvSpPr>
          <p:spPr bwMode="auto">
            <a:xfrm>
              <a:off x="4016375" y="2501900"/>
              <a:ext cx="363230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PC</a:t>
              </a:r>
            </a:p>
          </p:txBody>
        </p:sp>
        <p:sp>
          <p:nvSpPr>
            <p:cNvPr id="14383" name="Freeform 44"/>
            <p:cNvSpPr>
              <a:spLocks/>
            </p:cNvSpPr>
            <p:nvPr/>
          </p:nvSpPr>
          <p:spPr bwMode="auto">
            <a:xfrm>
              <a:off x="4603750" y="2659063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4" name="Rectangle 45"/>
            <p:cNvSpPr>
              <a:spLocks noChangeArrowheads="1"/>
            </p:cNvSpPr>
            <p:nvPr/>
          </p:nvSpPr>
          <p:spPr bwMode="auto">
            <a:xfrm>
              <a:off x="3424239" y="3433763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385" name="Rectangle 46"/>
            <p:cNvSpPr>
              <a:spLocks noChangeArrowheads="1"/>
            </p:cNvSpPr>
            <p:nvPr/>
          </p:nvSpPr>
          <p:spPr bwMode="auto">
            <a:xfrm>
              <a:off x="3389313" y="3119438"/>
              <a:ext cx="1446212" cy="2047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86" name="Line 47"/>
            <p:cNvSpPr>
              <a:spLocks noChangeShapeType="1"/>
            </p:cNvSpPr>
            <p:nvPr/>
          </p:nvSpPr>
          <p:spPr bwMode="auto">
            <a:xfrm>
              <a:off x="3576638" y="3333750"/>
              <a:ext cx="0" cy="968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7" name="Line 48"/>
            <p:cNvSpPr>
              <a:spLocks noChangeShapeType="1"/>
            </p:cNvSpPr>
            <p:nvPr/>
          </p:nvSpPr>
          <p:spPr bwMode="auto">
            <a:xfrm>
              <a:off x="4343400" y="3328988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8" name="Freeform 49"/>
            <p:cNvSpPr>
              <a:spLocks/>
            </p:cNvSpPr>
            <p:nvPr/>
          </p:nvSpPr>
          <p:spPr bwMode="auto">
            <a:xfrm>
              <a:off x="4654550" y="3333750"/>
              <a:ext cx="509588" cy="107950"/>
            </a:xfrm>
            <a:custGeom>
              <a:avLst/>
              <a:gdLst>
                <a:gd name="T0" fmla="*/ 0 w 361"/>
                <a:gd name="T1" fmla="*/ 0 h 89"/>
                <a:gd name="T2" fmla="*/ 0 w 361"/>
                <a:gd name="T3" fmla="*/ 2147483647 h 89"/>
                <a:gd name="T4" fmla="*/ 2147483647 w 361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1"/>
                <a:gd name="T10" fmla="*/ 0 h 89"/>
                <a:gd name="T11" fmla="*/ 361 w 361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89">
                  <a:moveTo>
                    <a:pt x="0" y="0"/>
                  </a:moveTo>
                  <a:lnTo>
                    <a:pt x="0" y="88"/>
                  </a:lnTo>
                  <a:lnTo>
                    <a:pt x="360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9" name="Rectangle 50"/>
            <p:cNvSpPr>
              <a:spLocks noChangeArrowheads="1"/>
            </p:cNvSpPr>
            <p:nvPr/>
          </p:nvSpPr>
          <p:spPr bwMode="auto">
            <a:xfrm>
              <a:off x="3892550" y="3101975"/>
              <a:ext cx="386152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DR</a:t>
              </a:r>
            </a:p>
          </p:txBody>
        </p:sp>
        <p:sp>
          <p:nvSpPr>
            <p:cNvPr id="14390" name="Freeform 51"/>
            <p:cNvSpPr>
              <a:spLocks/>
            </p:cNvSpPr>
            <p:nvPr/>
          </p:nvSpPr>
          <p:spPr bwMode="auto">
            <a:xfrm>
              <a:off x="4586288" y="3262313"/>
              <a:ext cx="136525" cy="57150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1" name="Rectangle 52"/>
            <p:cNvSpPr>
              <a:spLocks noChangeArrowheads="1"/>
            </p:cNvSpPr>
            <p:nvPr/>
          </p:nvSpPr>
          <p:spPr bwMode="auto">
            <a:xfrm>
              <a:off x="3405188" y="4198938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392" name="Rectangle 53"/>
            <p:cNvSpPr>
              <a:spLocks noChangeArrowheads="1"/>
            </p:cNvSpPr>
            <p:nvPr/>
          </p:nvSpPr>
          <p:spPr bwMode="auto">
            <a:xfrm>
              <a:off x="3371850" y="3895725"/>
              <a:ext cx="1446213" cy="204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93" name="Line 54"/>
            <p:cNvSpPr>
              <a:spLocks noChangeShapeType="1"/>
            </p:cNvSpPr>
            <p:nvPr/>
          </p:nvSpPr>
          <p:spPr bwMode="auto">
            <a:xfrm>
              <a:off x="3943350" y="4108450"/>
              <a:ext cx="0" cy="98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4" name="Line 55"/>
            <p:cNvSpPr>
              <a:spLocks noChangeShapeType="1"/>
            </p:cNvSpPr>
            <p:nvPr/>
          </p:nvSpPr>
          <p:spPr bwMode="auto">
            <a:xfrm>
              <a:off x="4325938" y="4100513"/>
              <a:ext cx="0" cy="1063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5" name="Freeform 56"/>
            <p:cNvSpPr>
              <a:spLocks/>
            </p:cNvSpPr>
            <p:nvPr/>
          </p:nvSpPr>
          <p:spPr bwMode="auto">
            <a:xfrm>
              <a:off x="4637088" y="4108450"/>
              <a:ext cx="509587" cy="109538"/>
            </a:xfrm>
            <a:custGeom>
              <a:avLst/>
              <a:gdLst>
                <a:gd name="T0" fmla="*/ 0 w 361"/>
                <a:gd name="T1" fmla="*/ 0 h 89"/>
                <a:gd name="T2" fmla="*/ 0 w 361"/>
                <a:gd name="T3" fmla="*/ 2147483647 h 89"/>
                <a:gd name="T4" fmla="*/ 2147483647 w 361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1"/>
                <a:gd name="T10" fmla="*/ 0 h 89"/>
                <a:gd name="T11" fmla="*/ 361 w 361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89">
                  <a:moveTo>
                    <a:pt x="0" y="0"/>
                  </a:moveTo>
                  <a:lnTo>
                    <a:pt x="0" y="88"/>
                  </a:lnTo>
                  <a:lnTo>
                    <a:pt x="360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6" name="Rectangle 57"/>
            <p:cNvSpPr>
              <a:spLocks noChangeArrowheads="1"/>
            </p:cNvSpPr>
            <p:nvPr/>
          </p:nvSpPr>
          <p:spPr bwMode="auto">
            <a:xfrm>
              <a:off x="3857625" y="3878263"/>
              <a:ext cx="37380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14397" name="Freeform 58"/>
            <p:cNvSpPr>
              <a:spLocks/>
            </p:cNvSpPr>
            <p:nvPr/>
          </p:nvSpPr>
          <p:spPr bwMode="auto">
            <a:xfrm>
              <a:off x="4570413" y="4040188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8" name="Line 59"/>
            <p:cNvSpPr>
              <a:spLocks noChangeShapeType="1"/>
            </p:cNvSpPr>
            <p:nvPr/>
          </p:nvSpPr>
          <p:spPr bwMode="auto">
            <a:xfrm>
              <a:off x="2085975" y="3725863"/>
              <a:ext cx="3425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9" name="Arc 60"/>
            <p:cNvSpPr>
              <a:spLocks/>
            </p:cNvSpPr>
            <p:nvPr/>
          </p:nvSpPr>
          <p:spPr bwMode="auto">
            <a:xfrm>
              <a:off x="5835650" y="2574925"/>
              <a:ext cx="107950" cy="74613"/>
            </a:xfrm>
            <a:custGeom>
              <a:avLst/>
              <a:gdLst>
                <a:gd name="T0" fmla="*/ 135965974 w 21600"/>
                <a:gd name="T1" fmla="*/ 487765997 h 17255"/>
                <a:gd name="T2" fmla="*/ 144069098 w 21600"/>
                <a:gd name="T3" fmla="*/ 0 h 17255"/>
                <a:gd name="T4" fmla="*/ 1682036950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0" name="Line 61"/>
            <p:cNvSpPr>
              <a:spLocks noChangeShapeType="1"/>
            </p:cNvSpPr>
            <p:nvPr/>
          </p:nvSpPr>
          <p:spPr bwMode="auto">
            <a:xfrm>
              <a:off x="4875213" y="2620963"/>
              <a:ext cx="981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1" name="Arc 62"/>
            <p:cNvSpPr>
              <a:spLocks/>
            </p:cNvSpPr>
            <p:nvPr/>
          </p:nvSpPr>
          <p:spPr bwMode="auto">
            <a:xfrm>
              <a:off x="5842000" y="3186113"/>
              <a:ext cx="106363" cy="74612"/>
            </a:xfrm>
            <a:custGeom>
              <a:avLst/>
              <a:gdLst>
                <a:gd name="T0" fmla="*/ 122578310 w 21600"/>
                <a:gd name="T1" fmla="*/ 487719609 h 17255"/>
                <a:gd name="T2" fmla="*/ 129880246 w 21600"/>
                <a:gd name="T3" fmla="*/ 0 h 17255"/>
                <a:gd name="T4" fmla="*/ 1516390428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2" name="Line 63"/>
            <p:cNvSpPr>
              <a:spLocks noChangeShapeType="1"/>
            </p:cNvSpPr>
            <p:nvPr/>
          </p:nvSpPr>
          <p:spPr bwMode="auto">
            <a:xfrm>
              <a:off x="4857750" y="3232150"/>
              <a:ext cx="9826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3" name="Arc 64"/>
            <p:cNvSpPr>
              <a:spLocks/>
            </p:cNvSpPr>
            <p:nvPr/>
          </p:nvSpPr>
          <p:spPr bwMode="auto">
            <a:xfrm>
              <a:off x="5824538" y="39576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4" name="Line 65"/>
            <p:cNvSpPr>
              <a:spLocks noChangeShapeType="1"/>
            </p:cNvSpPr>
            <p:nvPr/>
          </p:nvSpPr>
          <p:spPr bwMode="auto">
            <a:xfrm>
              <a:off x="4835525" y="3997325"/>
              <a:ext cx="987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5" name="Rectangle 66"/>
            <p:cNvSpPr>
              <a:spLocks noChangeArrowheads="1"/>
            </p:cNvSpPr>
            <p:nvPr/>
          </p:nvSpPr>
          <p:spPr bwMode="auto">
            <a:xfrm>
              <a:off x="2305050" y="3930650"/>
              <a:ext cx="460208" cy="35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ALU</a:t>
              </a:r>
            </a:p>
            <a:p>
              <a:pPr eaLnBrk="1" latinLnBrk="1" hangingPunct="1">
                <a:lnSpc>
                  <a:spcPct val="70000"/>
                </a:lnSpc>
              </a:pPr>
              <a:endParaRPr lang="en-US" altLang="ko-KR" sz="11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406" name="Rectangle 68"/>
            <p:cNvSpPr>
              <a:spLocks noChangeArrowheads="1"/>
            </p:cNvSpPr>
            <p:nvPr/>
          </p:nvSpPr>
          <p:spPr bwMode="auto">
            <a:xfrm>
              <a:off x="2278063" y="3789363"/>
              <a:ext cx="534987" cy="5334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07" name="Rectangle 69"/>
            <p:cNvSpPr>
              <a:spLocks noChangeArrowheads="1"/>
            </p:cNvSpPr>
            <p:nvPr/>
          </p:nvSpPr>
          <p:spPr bwMode="auto">
            <a:xfrm>
              <a:off x="2963863" y="3729038"/>
              <a:ext cx="276831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4408" name="Rectangle 70"/>
            <p:cNvSpPr>
              <a:spLocks noChangeArrowheads="1"/>
            </p:cNvSpPr>
            <p:nvPr/>
          </p:nvSpPr>
          <p:spPr bwMode="auto">
            <a:xfrm>
              <a:off x="2989263" y="3760788"/>
              <a:ext cx="225425" cy="1920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09" name="Arc 71"/>
            <p:cNvSpPr>
              <a:spLocks/>
            </p:cNvSpPr>
            <p:nvPr/>
          </p:nvSpPr>
          <p:spPr bwMode="auto">
            <a:xfrm>
              <a:off x="2878138" y="3792538"/>
              <a:ext cx="109537" cy="84137"/>
            </a:xfrm>
            <a:custGeom>
              <a:avLst/>
              <a:gdLst>
                <a:gd name="T0" fmla="*/ 268313056 w 21600"/>
                <a:gd name="T1" fmla="*/ 478583169 h 19914"/>
                <a:gd name="T2" fmla="*/ 159566831 w 21600"/>
                <a:gd name="T3" fmla="*/ 0 h 19914"/>
                <a:gd name="T4" fmla="*/ 1862957237 w 21600"/>
                <a:gd name="T5" fmla="*/ 210188458 h 199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914"/>
                <a:gd name="T11" fmla="*/ 21600 w 21600"/>
                <a:gd name="T12" fmla="*/ 19914 h 199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914" fill="none" extrusionOk="0">
                  <a:moveTo>
                    <a:pt x="3111" y="19913"/>
                  </a:moveTo>
                  <a:cubicBezTo>
                    <a:pt x="1075" y="16544"/>
                    <a:pt x="0" y="12682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9914" stroke="0" extrusionOk="0">
                  <a:moveTo>
                    <a:pt x="3111" y="19913"/>
                  </a:moveTo>
                  <a:cubicBezTo>
                    <a:pt x="1075" y="16544"/>
                    <a:pt x="0" y="12682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3111" y="199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0" name="Line 72"/>
            <p:cNvSpPr>
              <a:spLocks noChangeShapeType="1"/>
            </p:cNvSpPr>
            <p:nvPr/>
          </p:nvSpPr>
          <p:spPr bwMode="auto">
            <a:xfrm>
              <a:off x="2794000" y="3832225"/>
              <a:ext cx="101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1" name="Arc 73"/>
            <p:cNvSpPr>
              <a:spLocks/>
            </p:cNvSpPr>
            <p:nvPr/>
          </p:nvSpPr>
          <p:spPr bwMode="auto">
            <a:xfrm>
              <a:off x="3262313" y="3967163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2" name="Line 74"/>
            <p:cNvSpPr>
              <a:spLocks noChangeShapeType="1"/>
            </p:cNvSpPr>
            <p:nvPr/>
          </p:nvSpPr>
          <p:spPr bwMode="auto">
            <a:xfrm>
              <a:off x="2798763" y="3994150"/>
              <a:ext cx="481012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3" name="Arc 75"/>
            <p:cNvSpPr>
              <a:spLocks/>
            </p:cNvSpPr>
            <p:nvPr/>
          </p:nvSpPr>
          <p:spPr bwMode="auto">
            <a:xfrm>
              <a:off x="2176463" y="3854450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4" name="Line 76"/>
            <p:cNvSpPr>
              <a:spLocks noChangeShapeType="1"/>
            </p:cNvSpPr>
            <p:nvPr/>
          </p:nvSpPr>
          <p:spPr bwMode="auto">
            <a:xfrm>
              <a:off x="2085975" y="3892550"/>
              <a:ext cx="98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5" name="Arc 77"/>
            <p:cNvSpPr>
              <a:spLocks/>
            </p:cNvSpPr>
            <p:nvPr/>
          </p:nvSpPr>
          <p:spPr bwMode="auto">
            <a:xfrm>
              <a:off x="2176463" y="40195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6" name="Line 78"/>
            <p:cNvSpPr>
              <a:spLocks noChangeShapeType="1"/>
            </p:cNvSpPr>
            <p:nvPr/>
          </p:nvSpPr>
          <p:spPr bwMode="auto">
            <a:xfrm flipV="1">
              <a:off x="1955800" y="4056063"/>
              <a:ext cx="228600" cy="47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7" name="Arc 79"/>
            <p:cNvSpPr>
              <a:spLocks/>
            </p:cNvSpPr>
            <p:nvPr/>
          </p:nvSpPr>
          <p:spPr bwMode="auto">
            <a:xfrm>
              <a:off x="2176463" y="41846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8" name="Line 80"/>
            <p:cNvSpPr>
              <a:spLocks noChangeShapeType="1"/>
            </p:cNvSpPr>
            <p:nvPr/>
          </p:nvSpPr>
          <p:spPr bwMode="auto">
            <a:xfrm>
              <a:off x="2085975" y="4221163"/>
              <a:ext cx="98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9" name="Line 81"/>
            <p:cNvSpPr>
              <a:spLocks noChangeShapeType="1"/>
            </p:cNvSpPr>
            <p:nvPr/>
          </p:nvSpPr>
          <p:spPr bwMode="auto">
            <a:xfrm flipV="1">
              <a:off x="2074863" y="3711575"/>
              <a:ext cx="0" cy="1952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0" name="Line 82"/>
            <p:cNvSpPr>
              <a:spLocks noChangeShapeType="1"/>
            </p:cNvSpPr>
            <p:nvPr/>
          </p:nvSpPr>
          <p:spPr bwMode="auto">
            <a:xfrm flipV="1">
              <a:off x="2074863" y="4206875"/>
              <a:ext cx="0" cy="2413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1" name="Line 83"/>
            <p:cNvSpPr>
              <a:spLocks noChangeShapeType="1"/>
            </p:cNvSpPr>
            <p:nvPr/>
          </p:nvSpPr>
          <p:spPr bwMode="auto">
            <a:xfrm>
              <a:off x="2081213" y="4443413"/>
              <a:ext cx="34115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2" name="Line 84"/>
            <p:cNvSpPr>
              <a:spLocks noChangeShapeType="1"/>
            </p:cNvSpPr>
            <p:nvPr/>
          </p:nvSpPr>
          <p:spPr bwMode="auto">
            <a:xfrm>
              <a:off x="5168900" y="2058988"/>
              <a:ext cx="0" cy="41163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3" name="Line 85"/>
            <p:cNvSpPr>
              <a:spLocks noChangeShapeType="1"/>
            </p:cNvSpPr>
            <p:nvPr/>
          </p:nvSpPr>
          <p:spPr bwMode="auto">
            <a:xfrm>
              <a:off x="5500688" y="3236913"/>
              <a:ext cx="0" cy="493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4" name="Line 86"/>
            <p:cNvSpPr>
              <a:spLocks noChangeShapeType="1"/>
            </p:cNvSpPr>
            <p:nvPr/>
          </p:nvSpPr>
          <p:spPr bwMode="auto">
            <a:xfrm>
              <a:off x="5478463" y="4002088"/>
              <a:ext cx="0" cy="4365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5" name="Rectangle 87"/>
            <p:cNvSpPr>
              <a:spLocks noChangeArrowheads="1"/>
            </p:cNvSpPr>
            <p:nvPr/>
          </p:nvSpPr>
          <p:spPr bwMode="auto">
            <a:xfrm>
              <a:off x="3371850" y="4556125"/>
              <a:ext cx="869950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26" name="Rectangle 88"/>
            <p:cNvSpPr>
              <a:spLocks noChangeArrowheads="1"/>
            </p:cNvSpPr>
            <p:nvPr/>
          </p:nvSpPr>
          <p:spPr bwMode="auto">
            <a:xfrm>
              <a:off x="3543300" y="4538663"/>
              <a:ext cx="51486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INPR</a:t>
              </a:r>
            </a:p>
          </p:txBody>
        </p:sp>
        <p:sp>
          <p:nvSpPr>
            <p:cNvPr id="14427" name="Rectangle 89"/>
            <p:cNvSpPr>
              <a:spLocks noChangeArrowheads="1"/>
            </p:cNvSpPr>
            <p:nvPr/>
          </p:nvSpPr>
          <p:spPr bwMode="auto">
            <a:xfrm>
              <a:off x="3371850" y="4870450"/>
              <a:ext cx="1446213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28" name="Freeform 90"/>
            <p:cNvSpPr>
              <a:spLocks/>
            </p:cNvSpPr>
            <p:nvPr/>
          </p:nvSpPr>
          <p:spPr bwMode="auto">
            <a:xfrm>
              <a:off x="4637088" y="5084763"/>
              <a:ext cx="520700" cy="106362"/>
            </a:xfrm>
            <a:custGeom>
              <a:avLst/>
              <a:gdLst>
                <a:gd name="T0" fmla="*/ 0 w 369"/>
                <a:gd name="T1" fmla="*/ 0 h 89"/>
                <a:gd name="T2" fmla="*/ 0 w 369"/>
                <a:gd name="T3" fmla="*/ 2147483647 h 89"/>
                <a:gd name="T4" fmla="*/ 2147483647 w 369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9"/>
                <a:gd name="T10" fmla="*/ 0 h 89"/>
                <a:gd name="T11" fmla="*/ 369 w 369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9" h="89">
                  <a:moveTo>
                    <a:pt x="0" y="0"/>
                  </a:moveTo>
                  <a:lnTo>
                    <a:pt x="0" y="88"/>
                  </a:lnTo>
                  <a:lnTo>
                    <a:pt x="368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29" name="Rectangle 91"/>
            <p:cNvSpPr>
              <a:spLocks noChangeArrowheads="1"/>
            </p:cNvSpPr>
            <p:nvPr/>
          </p:nvSpPr>
          <p:spPr bwMode="auto">
            <a:xfrm>
              <a:off x="3857625" y="4852988"/>
              <a:ext cx="32972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IR</a:t>
              </a:r>
            </a:p>
          </p:txBody>
        </p:sp>
        <p:sp>
          <p:nvSpPr>
            <p:cNvPr id="14430" name="Freeform 92"/>
            <p:cNvSpPr>
              <a:spLocks/>
            </p:cNvSpPr>
            <p:nvPr/>
          </p:nvSpPr>
          <p:spPr bwMode="auto">
            <a:xfrm>
              <a:off x="4564063" y="5010150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1" name="Rectangle 93"/>
            <p:cNvSpPr>
              <a:spLocks noChangeArrowheads="1"/>
            </p:cNvSpPr>
            <p:nvPr/>
          </p:nvSpPr>
          <p:spPr bwMode="auto">
            <a:xfrm>
              <a:off x="3405188" y="5122863"/>
              <a:ext cx="3614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</a:t>
              </a:r>
            </a:p>
          </p:txBody>
        </p:sp>
        <p:sp>
          <p:nvSpPr>
            <p:cNvPr id="14432" name="Rectangle 94"/>
            <p:cNvSpPr>
              <a:spLocks noChangeArrowheads="1"/>
            </p:cNvSpPr>
            <p:nvPr/>
          </p:nvSpPr>
          <p:spPr bwMode="auto">
            <a:xfrm>
              <a:off x="3416300" y="5621337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433" name="Rectangle 95"/>
            <p:cNvSpPr>
              <a:spLocks noChangeArrowheads="1"/>
            </p:cNvSpPr>
            <p:nvPr/>
          </p:nvSpPr>
          <p:spPr bwMode="auto">
            <a:xfrm>
              <a:off x="3389313" y="5335588"/>
              <a:ext cx="1446212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34" name="Line 96"/>
            <p:cNvSpPr>
              <a:spLocks noChangeShapeType="1"/>
            </p:cNvSpPr>
            <p:nvPr/>
          </p:nvSpPr>
          <p:spPr bwMode="auto">
            <a:xfrm>
              <a:off x="3576638" y="553085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35" name="Line 97"/>
            <p:cNvSpPr>
              <a:spLocks noChangeShapeType="1"/>
            </p:cNvSpPr>
            <p:nvPr/>
          </p:nvSpPr>
          <p:spPr bwMode="auto">
            <a:xfrm flipH="1">
              <a:off x="4343400" y="5534025"/>
              <a:ext cx="0" cy="1127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36" name="Freeform 98"/>
            <p:cNvSpPr>
              <a:spLocks/>
            </p:cNvSpPr>
            <p:nvPr/>
          </p:nvSpPr>
          <p:spPr bwMode="auto">
            <a:xfrm>
              <a:off x="4654550" y="5538788"/>
              <a:ext cx="509588" cy="117475"/>
            </a:xfrm>
            <a:custGeom>
              <a:avLst/>
              <a:gdLst>
                <a:gd name="T0" fmla="*/ 0 w 361"/>
                <a:gd name="T1" fmla="*/ 0 h 97"/>
                <a:gd name="T2" fmla="*/ 0 w 361"/>
                <a:gd name="T3" fmla="*/ 2147483647 h 97"/>
                <a:gd name="T4" fmla="*/ 2147483647 w 361"/>
                <a:gd name="T5" fmla="*/ 2147483647 h 97"/>
                <a:gd name="T6" fmla="*/ 0 60000 65536"/>
                <a:gd name="T7" fmla="*/ 0 60000 65536"/>
                <a:gd name="T8" fmla="*/ 0 60000 65536"/>
                <a:gd name="T9" fmla="*/ 0 w 361"/>
                <a:gd name="T10" fmla="*/ 0 h 97"/>
                <a:gd name="T11" fmla="*/ 361 w 361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97">
                  <a:moveTo>
                    <a:pt x="0" y="0"/>
                  </a:moveTo>
                  <a:lnTo>
                    <a:pt x="0" y="96"/>
                  </a:lnTo>
                  <a:lnTo>
                    <a:pt x="360" y="9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7" name="Rectangle 99"/>
            <p:cNvSpPr>
              <a:spLocks noChangeArrowheads="1"/>
            </p:cNvSpPr>
            <p:nvPr/>
          </p:nvSpPr>
          <p:spPr bwMode="auto">
            <a:xfrm>
              <a:off x="3873500" y="5314950"/>
              <a:ext cx="36675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TR</a:t>
              </a:r>
            </a:p>
          </p:txBody>
        </p:sp>
        <p:sp>
          <p:nvSpPr>
            <p:cNvPr id="14438" name="Freeform 100"/>
            <p:cNvSpPr>
              <a:spLocks/>
            </p:cNvSpPr>
            <p:nvPr/>
          </p:nvSpPr>
          <p:spPr bwMode="auto">
            <a:xfrm>
              <a:off x="4586288" y="5470525"/>
              <a:ext cx="136525" cy="50800"/>
            </a:xfrm>
            <a:custGeom>
              <a:avLst/>
              <a:gdLst>
                <a:gd name="T0" fmla="*/ 0 w 97"/>
                <a:gd name="T1" fmla="*/ 2147483647 h 41"/>
                <a:gd name="T2" fmla="*/ 2147483647 w 97"/>
                <a:gd name="T3" fmla="*/ 0 h 41"/>
                <a:gd name="T4" fmla="*/ 2147483647 w 97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97"/>
                <a:gd name="T10" fmla="*/ 0 h 41"/>
                <a:gd name="T11" fmla="*/ 97 w 97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1">
                  <a:moveTo>
                    <a:pt x="0" y="40"/>
                  </a:moveTo>
                  <a:lnTo>
                    <a:pt x="48" y="0"/>
                  </a:lnTo>
                  <a:lnTo>
                    <a:pt x="96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9" name="Rectangle 101"/>
            <p:cNvSpPr>
              <a:spLocks noChangeArrowheads="1"/>
            </p:cNvSpPr>
            <p:nvPr/>
          </p:nvSpPr>
          <p:spPr bwMode="auto">
            <a:xfrm>
              <a:off x="3406775" y="5864225"/>
              <a:ext cx="869950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40" name="Rectangle 102"/>
            <p:cNvSpPr>
              <a:spLocks noChangeArrowheads="1"/>
            </p:cNvSpPr>
            <p:nvPr/>
          </p:nvSpPr>
          <p:spPr bwMode="auto">
            <a:xfrm>
              <a:off x="3517900" y="5845175"/>
              <a:ext cx="57305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OUTR</a:t>
              </a:r>
            </a:p>
          </p:txBody>
        </p:sp>
        <p:sp>
          <p:nvSpPr>
            <p:cNvPr id="14441" name="Line 103"/>
            <p:cNvSpPr>
              <a:spLocks noChangeShapeType="1"/>
            </p:cNvSpPr>
            <p:nvPr/>
          </p:nvSpPr>
          <p:spPr bwMode="auto">
            <a:xfrm>
              <a:off x="3592513" y="607377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2" name="Rectangle 104"/>
            <p:cNvSpPr>
              <a:spLocks noChangeArrowheads="1"/>
            </p:cNvSpPr>
            <p:nvPr/>
          </p:nvSpPr>
          <p:spPr bwMode="auto">
            <a:xfrm>
              <a:off x="3416300" y="6111875"/>
              <a:ext cx="3614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</a:t>
              </a:r>
            </a:p>
          </p:txBody>
        </p:sp>
        <p:sp>
          <p:nvSpPr>
            <p:cNvPr id="14443" name="Freeform 105"/>
            <p:cNvSpPr>
              <a:spLocks/>
            </p:cNvSpPr>
            <p:nvPr/>
          </p:nvSpPr>
          <p:spPr bwMode="auto">
            <a:xfrm>
              <a:off x="4164013" y="6076950"/>
              <a:ext cx="1208087" cy="107950"/>
            </a:xfrm>
            <a:custGeom>
              <a:avLst/>
              <a:gdLst>
                <a:gd name="T0" fmla="*/ 0 w 857"/>
                <a:gd name="T1" fmla="*/ 0 h 89"/>
                <a:gd name="T2" fmla="*/ 0 w 857"/>
                <a:gd name="T3" fmla="*/ 2147483647 h 89"/>
                <a:gd name="T4" fmla="*/ 2147483647 w 857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857"/>
                <a:gd name="T10" fmla="*/ 0 h 89"/>
                <a:gd name="T11" fmla="*/ 857 w 857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7" h="89">
                  <a:moveTo>
                    <a:pt x="0" y="0"/>
                  </a:moveTo>
                  <a:lnTo>
                    <a:pt x="0" y="88"/>
                  </a:lnTo>
                  <a:lnTo>
                    <a:pt x="856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4" name="Freeform 106"/>
            <p:cNvSpPr>
              <a:spLocks/>
            </p:cNvSpPr>
            <p:nvPr/>
          </p:nvSpPr>
          <p:spPr bwMode="auto">
            <a:xfrm>
              <a:off x="4095750" y="6005513"/>
              <a:ext cx="125413" cy="58737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8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5" name="Rectangle 107"/>
            <p:cNvSpPr>
              <a:spLocks noChangeArrowheads="1"/>
            </p:cNvSpPr>
            <p:nvPr/>
          </p:nvSpPr>
          <p:spPr bwMode="auto">
            <a:xfrm>
              <a:off x="5251450" y="5969000"/>
              <a:ext cx="61912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Clock</a:t>
              </a:r>
            </a:p>
          </p:txBody>
        </p:sp>
        <p:sp>
          <p:nvSpPr>
            <p:cNvPr id="14446" name="Line 108"/>
            <p:cNvSpPr>
              <a:spLocks noChangeShapeType="1"/>
            </p:cNvSpPr>
            <p:nvPr/>
          </p:nvSpPr>
          <p:spPr bwMode="auto">
            <a:xfrm flipH="1">
              <a:off x="1955800" y="4051300"/>
              <a:ext cx="0" cy="606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7" name="Line 109"/>
            <p:cNvSpPr>
              <a:spLocks noChangeShapeType="1"/>
            </p:cNvSpPr>
            <p:nvPr/>
          </p:nvSpPr>
          <p:spPr bwMode="auto">
            <a:xfrm flipH="1">
              <a:off x="1939925" y="4667250"/>
              <a:ext cx="143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8" name="Line 110"/>
            <p:cNvSpPr>
              <a:spLocks noChangeShapeType="1"/>
            </p:cNvSpPr>
            <p:nvPr/>
          </p:nvSpPr>
          <p:spPr bwMode="auto">
            <a:xfrm>
              <a:off x="1785938" y="6326188"/>
              <a:ext cx="41433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9" name="Line 111"/>
            <p:cNvSpPr>
              <a:spLocks noChangeShapeType="1"/>
            </p:cNvSpPr>
            <p:nvPr/>
          </p:nvSpPr>
          <p:spPr bwMode="auto">
            <a:xfrm>
              <a:off x="1611313" y="6489700"/>
              <a:ext cx="45116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0" name="Arc 113"/>
            <p:cNvSpPr>
              <a:spLocks/>
            </p:cNvSpPr>
            <p:nvPr/>
          </p:nvSpPr>
          <p:spPr bwMode="auto">
            <a:xfrm>
              <a:off x="4654550" y="6365875"/>
              <a:ext cx="107950" cy="73025"/>
            </a:xfrm>
            <a:custGeom>
              <a:avLst/>
              <a:gdLst>
                <a:gd name="T0" fmla="*/ 1534308948 w 21600"/>
                <a:gd name="T1" fmla="*/ 0 h 17464"/>
                <a:gd name="T2" fmla="*/ 1542567519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1" name="Line 114"/>
            <p:cNvSpPr>
              <a:spLocks noChangeShapeType="1"/>
            </p:cNvSpPr>
            <p:nvPr/>
          </p:nvSpPr>
          <p:spPr bwMode="auto">
            <a:xfrm>
              <a:off x="4756150" y="6402388"/>
              <a:ext cx="395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2" name="Arc 115"/>
            <p:cNvSpPr>
              <a:spLocks/>
            </p:cNvSpPr>
            <p:nvPr/>
          </p:nvSpPr>
          <p:spPr bwMode="auto">
            <a:xfrm>
              <a:off x="2289175" y="6365875"/>
              <a:ext cx="106363" cy="73025"/>
            </a:xfrm>
            <a:custGeom>
              <a:avLst/>
              <a:gdLst>
                <a:gd name="T0" fmla="*/ 1383218327 w 21600"/>
                <a:gd name="T1" fmla="*/ 0 h 17464"/>
                <a:gd name="T2" fmla="*/ 1390659637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3" name="Line 116"/>
            <p:cNvSpPr>
              <a:spLocks noChangeShapeType="1"/>
            </p:cNvSpPr>
            <p:nvPr/>
          </p:nvSpPr>
          <p:spPr bwMode="auto">
            <a:xfrm>
              <a:off x="2384425" y="6402388"/>
              <a:ext cx="4079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4" name="Line 117"/>
            <p:cNvSpPr>
              <a:spLocks noChangeShapeType="1"/>
            </p:cNvSpPr>
            <p:nvPr/>
          </p:nvSpPr>
          <p:spPr bwMode="auto">
            <a:xfrm>
              <a:off x="1611313" y="846138"/>
              <a:ext cx="3175" cy="56483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5" name="Arc 118"/>
            <p:cNvSpPr>
              <a:spLocks/>
            </p:cNvSpPr>
            <p:nvPr/>
          </p:nvSpPr>
          <p:spPr bwMode="auto">
            <a:xfrm>
              <a:off x="3335338" y="13144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6" name="Line 119"/>
            <p:cNvSpPr>
              <a:spLocks noChangeShapeType="1"/>
            </p:cNvSpPr>
            <p:nvPr/>
          </p:nvSpPr>
          <p:spPr bwMode="auto">
            <a:xfrm>
              <a:off x="1785938" y="1360488"/>
              <a:ext cx="15478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7" name="Arc 120"/>
            <p:cNvSpPr>
              <a:spLocks/>
            </p:cNvSpPr>
            <p:nvPr/>
          </p:nvSpPr>
          <p:spPr bwMode="auto">
            <a:xfrm>
              <a:off x="3487738" y="2017713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8" name="Line 121"/>
            <p:cNvSpPr>
              <a:spLocks noChangeShapeType="1"/>
            </p:cNvSpPr>
            <p:nvPr/>
          </p:nvSpPr>
          <p:spPr bwMode="auto">
            <a:xfrm>
              <a:off x="1803400" y="2063750"/>
              <a:ext cx="1682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9" name="Arc 122"/>
            <p:cNvSpPr>
              <a:spLocks/>
            </p:cNvSpPr>
            <p:nvPr/>
          </p:nvSpPr>
          <p:spPr bwMode="auto">
            <a:xfrm>
              <a:off x="3487738" y="2574925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0" name="Line 123"/>
            <p:cNvSpPr>
              <a:spLocks noChangeShapeType="1"/>
            </p:cNvSpPr>
            <p:nvPr/>
          </p:nvSpPr>
          <p:spPr bwMode="auto">
            <a:xfrm>
              <a:off x="1803400" y="2620963"/>
              <a:ext cx="1682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1" name="Arc 124"/>
            <p:cNvSpPr>
              <a:spLocks/>
            </p:cNvSpPr>
            <p:nvPr/>
          </p:nvSpPr>
          <p:spPr bwMode="auto">
            <a:xfrm>
              <a:off x="3278188" y="31861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2" name="Line 125"/>
            <p:cNvSpPr>
              <a:spLocks noChangeShapeType="1"/>
            </p:cNvSpPr>
            <p:nvPr/>
          </p:nvSpPr>
          <p:spPr bwMode="auto">
            <a:xfrm>
              <a:off x="1785938" y="3232150"/>
              <a:ext cx="14906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3" name="Arc 126"/>
            <p:cNvSpPr>
              <a:spLocks/>
            </p:cNvSpPr>
            <p:nvPr/>
          </p:nvSpPr>
          <p:spPr bwMode="auto">
            <a:xfrm>
              <a:off x="3262313" y="4926013"/>
              <a:ext cx="106362" cy="74612"/>
            </a:xfrm>
            <a:custGeom>
              <a:avLst/>
              <a:gdLst>
                <a:gd name="T0" fmla="*/ 122572509 w 21600"/>
                <a:gd name="T1" fmla="*/ 487719609 h 17255"/>
                <a:gd name="T2" fmla="*/ 129871225 w 21600"/>
                <a:gd name="T3" fmla="*/ 0 h 17255"/>
                <a:gd name="T4" fmla="*/ 1516291712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4" name="Line 127"/>
            <p:cNvSpPr>
              <a:spLocks noChangeShapeType="1"/>
            </p:cNvSpPr>
            <p:nvPr/>
          </p:nvSpPr>
          <p:spPr bwMode="auto">
            <a:xfrm>
              <a:off x="1785938" y="4972050"/>
              <a:ext cx="1474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5" name="Arc 128"/>
            <p:cNvSpPr>
              <a:spLocks/>
            </p:cNvSpPr>
            <p:nvPr/>
          </p:nvSpPr>
          <p:spPr bwMode="auto">
            <a:xfrm>
              <a:off x="3278188" y="53927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6" name="Line 129"/>
            <p:cNvSpPr>
              <a:spLocks noChangeShapeType="1"/>
            </p:cNvSpPr>
            <p:nvPr/>
          </p:nvSpPr>
          <p:spPr bwMode="auto">
            <a:xfrm>
              <a:off x="1785938" y="5437188"/>
              <a:ext cx="14906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7" name="Arc 130"/>
            <p:cNvSpPr>
              <a:spLocks/>
            </p:cNvSpPr>
            <p:nvPr/>
          </p:nvSpPr>
          <p:spPr bwMode="auto">
            <a:xfrm>
              <a:off x="3313113" y="5948363"/>
              <a:ext cx="106362" cy="74612"/>
            </a:xfrm>
            <a:custGeom>
              <a:avLst/>
              <a:gdLst>
                <a:gd name="T0" fmla="*/ 122572509 w 21600"/>
                <a:gd name="T1" fmla="*/ 487719609 h 17255"/>
                <a:gd name="T2" fmla="*/ 129871225 w 21600"/>
                <a:gd name="T3" fmla="*/ 0 h 17255"/>
                <a:gd name="T4" fmla="*/ 1516291712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8" name="Line 131"/>
            <p:cNvSpPr>
              <a:spLocks noChangeShapeType="1"/>
            </p:cNvSpPr>
            <p:nvPr/>
          </p:nvSpPr>
          <p:spPr bwMode="auto">
            <a:xfrm>
              <a:off x="1803400" y="5991225"/>
              <a:ext cx="151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9" name="Rectangle 132"/>
            <p:cNvSpPr>
              <a:spLocks noChangeArrowheads="1"/>
            </p:cNvSpPr>
            <p:nvPr/>
          </p:nvSpPr>
          <p:spPr bwMode="auto">
            <a:xfrm>
              <a:off x="5899150" y="1198563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4470" name="Rectangle 133"/>
            <p:cNvSpPr>
              <a:spLocks noChangeArrowheads="1"/>
            </p:cNvSpPr>
            <p:nvPr/>
          </p:nvSpPr>
          <p:spPr bwMode="auto">
            <a:xfrm>
              <a:off x="5899150" y="19494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14471" name="Rectangle 134"/>
            <p:cNvSpPr>
              <a:spLocks noChangeArrowheads="1"/>
            </p:cNvSpPr>
            <p:nvPr/>
          </p:nvSpPr>
          <p:spPr bwMode="auto">
            <a:xfrm>
              <a:off x="5899150" y="2506663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14472" name="Rectangle 135"/>
            <p:cNvSpPr>
              <a:spLocks noChangeArrowheads="1"/>
            </p:cNvSpPr>
            <p:nvPr/>
          </p:nvSpPr>
          <p:spPr bwMode="auto">
            <a:xfrm>
              <a:off x="5899150" y="31178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3</a:t>
              </a:r>
            </a:p>
          </p:txBody>
        </p:sp>
        <p:sp>
          <p:nvSpPr>
            <p:cNvPr id="14473" name="Rectangle 136"/>
            <p:cNvSpPr>
              <a:spLocks noChangeArrowheads="1"/>
            </p:cNvSpPr>
            <p:nvPr/>
          </p:nvSpPr>
          <p:spPr bwMode="auto">
            <a:xfrm>
              <a:off x="5899150" y="3894138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4</a:t>
              </a:r>
            </a:p>
          </p:txBody>
        </p:sp>
        <p:sp>
          <p:nvSpPr>
            <p:cNvPr id="14474" name="Arc 137"/>
            <p:cNvSpPr>
              <a:spLocks/>
            </p:cNvSpPr>
            <p:nvPr/>
          </p:nvSpPr>
          <p:spPr bwMode="auto">
            <a:xfrm>
              <a:off x="5824538" y="49260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75" name="Line 138"/>
            <p:cNvSpPr>
              <a:spLocks noChangeShapeType="1"/>
            </p:cNvSpPr>
            <p:nvPr/>
          </p:nvSpPr>
          <p:spPr bwMode="auto">
            <a:xfrm>
              <a:off x="4824413" y="4972050"/>
              <a:ext cx="9985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76" name="Arc 139"/>
            <p:cNvSpPr>
              <a:spLocks/>
            </p:cNvSpPr>
            <p:nvPr/>
          </p:nvSpPr>
          <p:spPr bwMode="auto">
            <a:xfrm>
              <a:off x="5835650" y="53959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77" name="Line 140"/>
            <p:cNvSpPr>
              <a:spLocks noChangeShapeType="1"/>
            </p:cNvSpPr>
            <p:nvPr/>
          </p:nvSpPr>
          <p:spPr bwMode="auto">
            <a:xfrm>
              <a:off x="4835525" y="5437188"/>
              <a:ext cx="1004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78" name="Rectangle 141"/>
            <p:cNvSpPr>
              <a:spLocks noChangeArrowheads="1"/>
            </p:cNvSpPr>
            <p:nvPr/>
          </p:nvSpPr>
          <p:spPr bwMode="auto">
            <a:xfrm>
              <a:off x="5899150" y="48577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5</a:t>
              </a:r>
            </a:p>
          </p:txBody>
        </p:sp>
        <p:sp>
          <p:nvSpPr>
            <p:cNvPr id="14479" name="Rectangle 142"/>
            <p:cNvSpPr>
              <a:spLocks noChangeArrowheads="1"/>
            </p:cNvSpPr>
            <p:nvPr/>
          </p:nvSpPr>
          <p:spPr bwMode="auto">
            <a:xfrm>
              <a:off x="5899150" y="5324475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6</a:t>
              </a:r>
            </a:p>
          </p:txBody>
        </p:sp>
        <p:sp>
          <p:nvSpPr>
            <p:cNvPr id="14480" name="Oval 143"/>
            <p:cNvSpPr>
              <a:spLocks noChangeArrowheads="1"/>
            </p:cNvSpPr>
            <p:nvPr/>
          </p:nvSpPr>
          <p:spPr bwMode="auto">
            <a:xfrm>
              <a:off x="1617663" y="823913"/>
              <a:ext cx="157162" cy="5556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81" name="Line 144"/>
            <p:cNvSpPr>
              <a:spLocks noChangeShapeType="1"/>
            </p:cNvSpPr>
            <p:nvPr/>
          </p:nvSpPr>
          <p:spPr bwMode="auto">
            <a:xfrm>
              <a:off x="1773238" y="865188"/>
              <a:ext cx="3175" cy="54768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2" name="Line 145"/>
            <p:cNvSpPr>
              <a:spLocks noChangeShapeType="1"/>
            </p:cNvSpPr>
            <p:nvPr/>
          </p:nvSpPr>
          <p:spPr bwMode="auto">
            <a:xfrm>
              <a:off x="5753100" y="825500"/>
              <a:ext cx="0" cy="3619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3" name="Line 146"/>
            <p:cNvSpPr>
              <a:spLocks noChangeShapeType="1"/>
            </p:cNvSpPr>
            <p:nvPr/>
          </p:nvSpPr>
          <p:spPr bwMode="auto">
            <a:xfrm>
              <a:off x="3729038" y="273367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4" name="Line 147"/>
            <p:cNvSpPr>
              <a:spLocks noChangeShapeType="1"/>
            </p:cNvSpPr>
            <p:nvPr/>
          </p:nvSpPr>
          <p:spPr bwMode="auto">
            <a:xfrm flipH="1">
              <a:off x="3722688" y="2160588"/>
              <a:ext cx="0" cy="112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5" name="Line 148"/>
            <p:cNvSpPr>
              <a:spLocks noChangeShapeType="1"/>
            </p:cNvSpPr>
            <p:nvPr/>
          </p:nvSpPr>
          <p:spPr bwMode="auto">
            <a:xfrm>
              <a:off x="3763963" y="1581150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6" name="Line 149"/>
            <p:cNvSpPr>
              <a:spLocks noChangeShapeType="1"/>
            </p:cNvSpPr>
            <p:nvPr/>
          </p:nvSpPr>
          <p:spPr bwMode="auto">
            <a:xfrm>
              <a:off x="3963988" y="553720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7" name="Line 150"/>
            <p:cNvSpPr>
              <a:spLocks noChangeShapeType="1"/>
            </p:cNvSpPr>
            <p:nvPr/>
          </p:nvSpPr>
          <p:spPr bwMode="auto">
            <a:xfrm>
              <a:off x="3575050" y="4114800"/>
              <a:ext cx="0" cy="98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8" name="Line 151"/>
            <p:cNvSpPr>
              <a:spLocks noChangeShapeType="1"/>
            </p:cNvSpPr>
            <p:nvPr/>
          </p:nvSpPr>
          <p:spPr bwMode="auto">
            <a:xfrm>
              <a:off x="3563938" y="507365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9" name="Line 152"/>
            <p:cNvSpPr>
              <a:spLocks noChangeShapeType="1"/>
            </p:cNvSpPr>
            <p:nvPr/>
          </p:nvSpPr>
          <p:spPr bwMode="auto">
            <a:xfrm>
              <a:off x="3932238" y="3327400"/>
              <a:ext cx="0" cy="968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380123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5367" name="Rectangle 4"/>
          <p:cNvSpPr txBox="1">
            <a:spLocks noChangeArrowheads="1"/>
          </p:cNvSpPr>
          <p:nvPr/>
        </p:nvSpPr>
        <p:spPr bwMode="auto">
          <a:xfrm>
            <a:off x="2097088" y="1052514"/>
            <a:ext cx="7656512" cy="550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Three control lines,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2</a:t>
            </a:r>
            <a:r>
              <a:rPr lang="en-US" altLang="ko-KR" sz="2000" b="1" dirty="0">
                <a:latin typeface="Calibri" panose="020F0502020204030204" pitchFamily="34" charset="0"/>
              </a:rPr>
              <a:t>,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1</a:t>
            </a:r>
            <a:r>
              <a:rPr lang="en-US" altLang="ko-KR" sz="2000" b="1" dirty="0">
                <a:latin typeface="Calibri" panose="020F0502020204030204" pitchFamily="34" charset="0"/>
              </a:rPr>
              <a:t>, and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0</a:t>
            </a:r>
            <a:r>
              <a:rPr lang="en-US" altLang="ko-KR" sz="2000" b="1" dirty="0">
                <a:latin typeface="Calibri" panose="020F0502020204030204" pitchFamily="34" charset="0"/>
              </a:rPr>
              <a:t> control which register the bus selects as its input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Either one of the registers will have its load signal activated, or the memory will have its read signal activated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Will determine where the data from the bus gets loaded</a:t>
            </a:r>
          </a:p>
        </p:txBody>
      </p:sp>
      <p:sp>
        <p:nvSpPr>
          <p:cNvPr id="15368" name="Text Box 11"/>
          <p:cNvSpPr txBox="1">
            <a:spLocks noChangeArrowheads="1"/>
          </p:cNvSpPr>
          <p:nvPr/>
        </p:nvSpPr>
        <p:spPr bwMode="auto">
          <a:xfrm>
            <a:off x="3263901" y="2043113"/>
            <a:ext cx="1839913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0   0	x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0   1	AR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1   0	PC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1   1	DR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0   0	AC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0   1	IR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1   0	TR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1   1	Memory</a:t>
            </a:r>
          </a:p>
        </p:txBody>
      </p:sp>
      <p:sp>
        <p:nvSpPr>
          <p:cNvPr id="15369" name="Rectangle 12"/>
          <p:cNvSpPr>
            <a:spLocks noChangeArrowheads="1"/>
          </p:cNvSpPr>
          <p:nvPr/>
        </p:nvSpPr>
        <p:spPr bwMode="auto">
          <a:xfrm>
            <a:off x="3211514" y="1811339"/>
            <a:ext cx="1793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S</a:t>
            </a:r>
            <a:r>
              <a:rPr lang="en-US" altLang="ko-KR" sz="1600" b="1" baseline="-25000">
                <a:latin typeface="Calibri" panose="020F0502020204030204" pitchFamily="34" charset="0"/>
              </a:rPr>
              <a:t>2</a:t>
            </a:r>
            <a:r>
              <a:rPr lang="en-US" altLang="ko-KR" sz="1600" b="1">
                <a:latin typeface="Calibri" panose="020F0502020204030204" pitchFamily="34" charset="0"/>
              </a:rPr>
              <a:t> S</a:t>
            </a:r>
            <a:r>
              <a:rPr lang="en-US" altLang="ko-KR" sz="1600" b="1" baseline="-25000">
                <a:latin typeface="Calibri" panose="020F0502020204030204" pitchFamily="34" charset="0"/>
              </a:rPr>
              <a:t>1</a:t>
            </a:r>
            <a:r>
              <a:rPr lang="en-US" altLang="ko-KR" sz="1600" b="1">
                <a:latin typeface="Calibri" panose="020F0502020204030204" pitchFamily="34" charset="0"/>
              </a:rPr>
              <a:t> S</a:t>
            </a:r>
            <a:r>
              <a:rPr lang="en-US" altLang="ko-KR" sz="1600" b="1" baseline="-25000">
                <a:latin typeface="Calibri" panose="020F0502020204030204" pitchFamily="34" charset="0"/>
              </a:rPr>
              <a:t>0 	</a:t>
            </a:r>
            <a:r>
              <a:rPr lang="en-US" altLang="ko-KR" sz="1600" b="1">
                <a:latin typeface="Calibri" panose="020F0502020204030204" pitchFamily="34" charset="0"/>
              </a:rPr>
              <a:t>Register</a:t>
            </a:r>
            <a:endParaRPr lang="en-US" altLang="ko-KR" sz="1600" b="1" baseline="-25000">
              <a:latin typeface="Calibri" panose="020F0502020204030204" pitchFamily="34" charset="0"/>
            </a:endParaRPr>
          </a:p>
        </p:txBody>
      </p:sp>
      <p:sp>
        <p:nvSpPr>
          <p:cNvPr id="15370" name="Rectangle 16"/>
          <p:cNvSpPr>
            <a:spLocks noChangeArrowheads="1"/>
          </p:cNvSpPr>
          <p:nvPr/>
        </p:nvSpPr>
        <p:spPr bwMode="auto">
          <a:xfrm>
            <a:off x="3038476" y="1809750"/>
            <a:ext cx="2066925" cy="2228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latin typeface="Calibri" panose="020F0502020204030204" pitchFamily="34" charset="0"/>
            </a:endParaRPr>
          </a:p>
        </p:txBody>
      </p:sp>
      <p:cxnSp>
        <p:nvCxnSpPr>
          <p:cNvPr id="164" name="Straight Connector 163"/>
          <p:cNvCxnSpPr/>
          <p:nvPr/>
        </p:nvCxnSpPr>
        <p:spPr>
          <a:xfrm>
            <a:off x="3048000" y="2132014"/>
            <a:ext cx="20574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>
            <a:stCxn id="15370" idx="0"/>
            <a:endCxn id="15370" idx="2"/>
          </p:cNvCxnSpPr>
          <p:nvPr/>
        </p:nvCxnSpPr>
        <p:spPr>
          <a:xfrm rot="16200000" flipH="1">
            <a:off x="2958307" y="2924970"/>
            <a:ext cx="222885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80641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5367" name="Rectangle 4"/>
          <p:cNvSpPr txBox="1">
            <a:spLocks noChangeArrowheads="1"/>
          </p:cNvSpPr>
          <p:nvPr/>
        </p:nvSpPr>
        <p:spPr bwMode="auto">
          <a:xfrm>
            <a:off x="2097088" y="1052514"/>
            <a:ext cx="7656512" cy="550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Either one of the registers will have its load signal activated, or the memory will have its read signal activated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Will determine where the data from the bus gets loaded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12-bit registers, AR and PC, have 0’s loaded onto the bus in the high order 4 bit positions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When the 8-bit register OUTR is loaded from the bus, the data comes from the low order 8 bits on the bus</a:t>
            </a:r>
          </a:p>
        </p:txBody>
      </p:sp>
    </p:spTree>
    <p:extLst>
      <p:ext uri="{BB962C8B-B14F-4D97-AF65-F5344CB8AC3E}">
        <p14:creationId xmlns:p14="http://schemas.microsoft.com/office/powerpoint/2010/main" xmlns="" val="229069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4051" y="816050"/>
            <a:ext cx="8053323" cy="5485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84966" y="979182"/>
            <a:ext cx="6086475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62275" y="1228725"/>
            <a:ext cx="626745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Basic Computer Instructions</a:t>
            </a:r>
          </a:p>
        </p:txBody>
      </p:sp>
      <p:grpSp>
        <p:nvGrpSpPr>
          <p:cNvPr id="16391" name="Group 68"/>
          <p:cNvGrpSpPr>
            <a:grpSpLocks/>
          </p:cNvGrpSpPr>
          <p:nvPr/>
        </p:nvGrpSpPr>
        <p:grpSpPr bwMode="auto">
          <a:xfrm>
            <a:off x="2209800" y="1379538"/>
            <a:ext cx="6546850" cy="4106862"/>
            <a:chOff x="439738" y="1233488"/>
            <a:chExt cx="6546211" cy="4106857"/>
          </a:xfrm>
        </p:grpSpPr>
        <p:sp>
          <p:nvSpPr>
            <p:cNvPr id="16392" name="Rectangle 3"/>
            <p:cNvSpPr>
              <a:spLocks noChangeArrowheads="1"/>
            </p:cNvSpPr>
            <p:nvPr/>
          </p:nvSpPr>
          <p:spPr bwMode="auto">
            <a:xfrm>
              <a:off x="439738" y="1233488"/>
              <a:ext cx="3830857" cy="365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2000"/>
                </a:lnSpc>
              </a:pPr>
              <a:r>
                <a:rPr lang="en-US" altLang="ko-KR" sz="2000" b="1">
                  <a:latin typeface="Calibri" panose="020F0502020204030204" pitchFamily="34" charset="0"/>
                </a:rPr>
                <a:t>Basic Computer Instruction Format</a:t>
              </a:r>
            </a:p>
          </p:txBody>
        </p:sp>
        <p:sp>
          <p:nvSpPr>
            <p:cNvPr id="16393" name="Rectangle 5"/>
            <p:cNvSpPr>
              <a:spLocks noChangeArrowheads="1"/>
            </p:cNvSpPr>
            <p:nvPr/>
          </p:nvSpPr>
          <p:spPr bwMode="auto">
            <a:xfrm>
              <a:off x="1895475" y="2754313"/>
              <a:ext cx="3586163" cy="2063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16394" name="Line 6"/>
            <p:cNvSpPr>
              <a:spLocks noChangeShapeType="1"/>
            </p:cNvSpPr>
            <p:nvPr/>
          </p:nvSpPr>
          <p:spPr bwMode="auto">
            <a:xfrm>
              <a:off x="2301875" y="2754313"/>
              <a:ext cx="0" cy="206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5" name="Line 7"/>
            <p:cNvSpPr>
              <a:spLocks noChangeShapeType="1"/>
            </p:cNvSpPr>
            <p:nvPr/>
          </p:nvSpPr>
          <p:spPr bwMode="auto">
            <a:xfrm>
              <a:off x="3097213" y="2754313"/>
              <a:ext cx="0" cy="206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6" name="Rectangle 8"/>
            <p:cNvSpPr>
              <a:spLocks noChangeArrowheads="1"/>
            </p:cNvSpPr>
            <p:nvPr/>
          </p:nvSpPr>
          <p:spPr bwMode="auto">
            <a:xfrm>
              <a:off x="1858963" y="2528888"/>
              <a:ext cx="6732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15     14</a:t>
              </a:r>
            </a:p>
          </p:txBody>
        </p:sp>
        <p:sp>
          <p:nvSpPr>
            <p:cNvPr id="16397" name="Rectangle 9"/>
            <p:cNvSpPr>
              <a:spLocks noChangeArrowheads="1"/>
            </p:cNvSpPr>
            <p:nvPr/>
          </p:nvSpPr>
          <p:spPr bwMode="auto">
            <a:xfrm>
              <a:off x="2776538" y="2528888"/>
              <a:ext cx="53219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12 11</a:t>
              </a:r>
            </a:p>
          </p:txBody>
        </p:sp>
        <p:sp>
          <p:nvSpPr>
            <p:cNvPr id="16398" name="Rectangle 10"/>
            <p:cNvSpPr>
              <a:spLocks noChangeArrowheads="1"/>
            </p:cNvSpPr>
            <p:nvPr/>
          </p:nvSpPr>
          <p:spPr bwMode="auto">
            <a:xfrm>
              <a:off x="5178425" y="2528888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6399" name="Rectangle 11"/>
            <p:cNvSpPr>
              <a:spLocks noChangeArrowheads="1"/>
            </p:cNvSpPr>
            <p:nvPr/>
          </p:nvSpPr>
          <p:spPr bwMode="auto">
            <a:xfrm>
              <a:off x="1973263" y="2749550"/>
              <a:ext cx="2244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16400" name="Rectangle 12"/>
            <p:cNvSpPr>
              <a:spLocks noChangeArrowheads="1"/>
            </p:cNvSpPr>
            <p:nvPr/>
          </p:nvSpPr>
          <p:spPr bwMode="auto">
            <a:xfrm>
              <a:off x="2347913" y="2736850"/>
              <a:ext cx="6773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16401" name="Rectangle 13"/>
            <p:cNvSpPr>
              <a:spLocks noChangeArrowheads="1"/>
            </p:cNvSpPr>
            <p:nvPr/>
          </p:nvSpPr>
          <p:spPr bwMode="auto">
            <a:xfrm>
              <a:off x="3697288" y="2740025"/>
              <a:ext cx="69397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16402" name="Rectangle 15"/>
            <p:cNvSpPr>
              <a:spLocks noChangeArrowheads="1"/>
            </p:cNvSpPr>
            <p:nvPr/>
          </p:nvSpPr>
          <p:spPr bwMode="auto">
            <a:xfrm>
              <a:off x="860425" y="2097088"/>
              <a:ext cx="6125524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alibri" panose="020F0502020204030204" pitchFamily="34" charset="0"/>
                </a:rPr>
                <a:t>1. Memory-Reference Instructions 	(OP-code = 000 ~ 110)</a:t>
              </a:r>
            </a:p>
            <a:p>
              <a:pPr eaLnBrk="1" hangingPunct="1"/>
              <a:endParaRPr lang="en-US" altLang="ko-KR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6403" name="Rectangle 23"/>
            <p:cNvSpPr>
              <a:spLocks noChangeArrowheads="1"/>
            </p:cNvSpPr>
            <p:nvPr/>
          </p:nvSpPr>
          <p:spPr bwMode="auto">
            <a:xfrm>
              <a:off x="860425" y="3273425"/>
              <a:ext cx="6064610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alibri" panose="020F0502020204030204" pitchFamily="34" charset="0"/>
                </a:rPr>
                <a:t>2. Register-Reference Instructions 	(OP-code = 111, I = 0)</a:t>
              </a:r>
            </a:p>
            <a:p>
              <a:pPr eaLnBrk="1" hangingPunct="1"/>
              <a:endParaRPr lang="en-US" altLang="ko-KR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6404" name="Rectangle 31"/>
            <p:cNvSpPr>
              <a:spLocks noChangeArrowheads="1"/>
            </p:cNvSpPr>
            <p:nvPr/>
          </p:nvSpPr>
          <p:spPr bwMode="auto">
            <a:xfrm>
              <a:off x="877888" y="4443413"/>
              <a:ext cx="6011711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alibri" panose="020F0502020204030204" pitchFamily="34" charset="0"/>
                </a:rPr>
                <a:t> 3. Input-Output Instructions		(OP-code =111, I = 1)</a:t>
              </a:r>
            </a:p>
          </p:txBody>
        </p:sp>
        <p:grpSp>
          <p:nvGrpSpPr>
            <p:cNvPr id="16405" name="Group 36"/>
            <p:cNvGrpSpPr>
              <a:grpSpLocks/>
            </p:cNvGrpSpPr>
            <p:nvPr/>
          </p:nvGrpSpPr>
          <p:grpSpPr bwMode="auto">
            <a:xfrm>
              <a:off x="1868488" y="3649667"/>
              <a:ext cx="3622675" cy="493713"/>
              <a:chOff x="1177" y="2203"/>
              <a:chExt cx="2282" cy="311"/>
            </a:xfrm>
          </p:grpSpPr>
          <p:sp>
            <p:nvSpPr>
              <p:cNvPr id="16414" name="Rectangle 16"/>
              <p:cNvSpPr>
                <a:spLocks noChangeArrowheads="1"/>
              </p:cNvSpPr>
              <p:nvPr/>
            </p:nvSpPr>
            <p:spPr bwMode="auto">
              <a:xfrm>
                <a:off x="1200" y="2344"/>
                <a:ext cx="2259" cy="130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200" b="1">
                  <a:latin typeface="Calibri" panose="020F0502020204030204" pitchFamily="34" charset="0"/>
                </a:endParaRPr>
              </a:p>
            </p:txBody>
          </p:sp>
          <p:sp>
            <p:nvSpPr>
              <p:cNvPr id="16415" name="Line 17"/>
              <p:cNvSpPr>
                <a:spLocks noChangeShapeType="1"/>
              </p:cNvSpPr>
              <p:nvPr/>
            </p:nvSpPr>
            <p:spPr bwMode="auto">
              <a:xfrm>
                <a:off x="1952" y="2338"/>
                <a:ext cx="0" cy="13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6" name="Rectangle 18"/>
              <p:cNvSpPr>
                <a:spLocks noChangeArrowheads="1"/>
              </p:cNvSpPr>
              <p:nvPr/>
            </p:nvSpPr>
            <p:spPr bwMode="auto">
              <a:xfrm>
                <a:off x="1177" y="2203"/>
                <a:ext cx="23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15 </a:t>
                </a:r>
              </a:p>
            </p:txBody>
          </p:sp>
          <p:sp>
            <p:nvSpPr>
              <p:cNvPr id="16417" name="Rectangle 19"/>
              <p:cNvSpPr>
                <a:spLocks noChangeArrowheads="1"/>
              </p:cNvSpPr>
              <p:nvPr/>
            </p:nvSpPr>
            <p:spPr bwMode="auto">
              <a:xfrm>
                <a:off x="1756" y="2203"/>
                <a:ext cx="33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12 11</a:t>
                </a:r>
              </a:p>
            </p:txBody>
          </p:sp>
          <p:sp>
            <p:nvSpPr>
              <p:cNvPr id="16418" name="Rectangle 20"/>
              <p:cNvSpPr>
                <a:spLocks noChangeArrowheads="1"/>
              </p:cNvSpPr>
              <p:nvPr/>
            </p:nvSpPr>
            <p:spPr bwMode="auto">
              <a:xfrm>
                <a:off x="3268" y="2203"/>
                <a:ext cx="1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</a:t>
                </a:r>
              </a:p>
            </p:txBody>
          </p:sp>
          <p:sp>
            <p:nvSpPr>
              <p:cNvPr id="16419" name="Rectangle 21"/>
              <p:cNvSpPr>
                <a:spLocks noChangeArrowheads="1"/>
              </p:cNvSpPr>
              <p:nvPr/>
            </p:nvSpPr>
            <p:spPr bwMode="auto">
              <a:xfrm>
                <a:off x="2060" y="2335"/>
                <a:ext cx="85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Register operation</a:t>
                </a:r>
              </a:p>
            </p:txBody>
          </p:sp>
          <p:sp>
            <p:nvSpPr>
              <p:cNvPr id="16420" name="Rectangle 32"/>
              <p:cNvSpPr>
                <a:spLocks noChangeArrowheads="1"/>
              </p:cNvSpPr>
              <p:nvPr/>
            </p:nvSpPr>
            <p:spPr bwMode="auto">
              <a:xfrm>
                <a:off x="1237" y="2341"/>
                <a:ext cx="58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0    1    1    1</a:t>
                </a:r>
              </a:p>
            </p:txBody>
          </p:sp>
        </p:grpSp>
        <p:grpSp>
          <p:nvGrpSpPr>
            <p:cNvPr id="16406" name="Group 37"/>
            <p:cNvGrpSpPr>
              <a:grpSpLocks/>
            </p:cNvGrpSpPr>
            <p:nvPr/>
          </p:nvGrpSpPr>
          <p:grpSpPr bwMode="auto">
            <a:xfrm>
              <a:off x="1868488" y="4845045"/>
              <a:ext cx="3624262" cy="495300"/>
              <a:chOff x="1232" y="2956"/>
              <a:chExt cx="2283" cy="312"/>
            </a:xfrm>
          </p:grpSpPr>
          <p:sp>
            <p:nvSpPr>
              <p:cNvPr id="16407" name="Rectangle 24"/>
              <p:cNvSpPr>
                <a:spLocks noChangeArrowheads="1"/>
              </p:cNvSpPr>
              <p:nvPr/>
            </p:nvSpPr>
            <p:spPr bwMode="auto">
              <a:xfrm>
                <a:off x="1256" y="3096"/>
                <a:ext cx="2259" cy="13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200" b="1">
                  <a:latin typeface="Calibri" panose="020F0502020204030204" pitchFamily="34" charset="0"/>
                </a:endParaRPr>
              </a:p>
            </p:txBody>
          </p:sp>
          <p:sp>
            <p:nvSpPr>
              <p:cNvPr id="16408" name="Rectangle 26"/>
              <p:cNvSpPr>
                <a:spLocks noChangeArrowheads="1"/>
              </p:cNvSpPr>
              <p:nvPr/>
            </p:nvSpPr>
            <p:spPr bwMode="auto">
              <a:xfrm>
                <a:off x="1232" y="2956"/>
                <a:ext cx="23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15 </a:t>
                </a:r>
              </a:p>
            </p:txBody>
          </p:sp>
          <p:sp>
            <p:nvSpPr>
              <p:cNvPr id="16409" name="Rectangle 27"/>
              <p:cNvSpPr>
                <a:spLocks noChangeArrowheads="1"/>
              </p:cNvSpPr>
              <p:nvPr/>
            </p:nvSpPr>
            <p:spPr bwMode="auto">
              <a:xfrm>
                <a:off x="1811" y="2956"/>
                <a:ext cx="33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12 11</a:t>
                </a:r>
              </a:p>
            </p:txBody>
          </p:sp>
          <p:sp>
            <p:nvSpPr>
              <p:cNvPr id="16410" name="Rectangle 28"/>
              <p:cNvSpPr>
                <a:spLocks noChangeArrowheads="1"/>
              </p:cNvSpPr>
              <p:nvPr/>
            </p:nvSpPr>
            <p:spPr bwMode="auto">
              <a:xfrm>
                <a:off x="3325" y="2956"/>
                <a:ext cx="1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</a:t>
                </a:r>
              </a:p>
            </p:txBody>
          </p:sp>
          <p:sp>
            <p:nvSpPr>
              <p:cNvPr id="16411" name="Rectangle 29"/>
              <p:cNvSpPr>
                <a:spLocks noChangeArrowheads="1"/>
              </p:cNvSpPr>
              <p:nvPr/>
            </p:nvSpPr>
            <p:spPr bwMode="auto">
              <a:xfrm>
                <a:off x="2295" y="3083"/>
                <a:ext cx="6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I/O operation</a:t>
                </a:r>
              </a:p>
            </p:txBody>
          </p:sp>
          <p:sp>
            <p:nvSpPr>
              <p:cNvPr id="16412" name="Rectangle 33"/>
              <p:cNvSpPr>
                <a:spLocks noChangeArrowheads="1"/>
              </p:cNvSpPr>
              <p:nvPr/>
            </p:nvSpPr>
            <p:spPr bwMode="auto">
              <a:xfrm>
                <a:off x="1264" y="3095"/>
                <a:ext cx="58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1    1    1    1</a:t>
                </a:r>
              </a:p>
            </p:txBody>
          </p:sp>
          <p:sp>
            <p:nvSpPr>
              <p:cNvPr id="16413" name="Line 35"/>
              <p:cNvSpPr>
                <a:spLocks noChangeShapeType="1"/>
              </p:cNvSpPr>
              <p:nvPr/>
            </p:nvSpPr>
            <p:spPr bwMode="auto">
              <a:xfrm>
                <a:off x="1997" y="3103"/>
                <a:ext cx="0" cy="13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325346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756F0EB-E7F7-DF06-568B-42F936AF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F2889CF-BCB1-EEE2-6A1B-D2999B38A90F}"/>
              </a:ext>
            </a:extLst>
          </p:cNvPr>
          <p:cNvSpPr txBox="1"/>
          <p:nvPr/>
        </p:nvSpPr>
        <p:spPr>
          <a:xfrm>
            <a:off x="1529443" y="590501"/>
            <a:ext cx="9133113" cy="613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Instruction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instruction is a group of bits (0s and 1s) that tells the computer what operation to perform.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instruction is written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form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the CPU can understand.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executed, one machine instruction is broken down into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of micro-operations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Micro-operations are small internal steps like: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Fetching data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data between registers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arithmetic or logic operations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ADD instruction internally performs multiple micro-operations such as loading operands, adding them, and storing the result.</a:t>
            </a:r>
          </a:p>
        </p:txBody>
      </p:sp>
    </p:spTree>
    <p:extLst>
      <p:ext uri="{BB962C8B-B14F-4D97-AF65-F5344CB8AC3E}">
        <p14:creationId xmlns:p14="http://schemas.microsoft.com/office/powerpoint/2010/main" xmlns="" val="112586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70857" y="304800"/>
            <a:ext cx="10678886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6656B5A-222B-7CFE-507C-A2231B2BA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3" y="1266720"/>
            <a:ext cx="10286999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CPU fetches the next instruction from the main memory.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fetched instruction is stored in the Instruction Register (IR).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Control Unit (CU) then decodes the instruction.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decoding, the control circuitry translates the instruction into a sequence of micro-operations.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micro-operations generate control signals that coordinate the CPU components to execute the instruction.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decoding, the control circuitry translates the instruction into a sequence of micro-operations.</a:t>
            </a:r>
          </a:p>
        </p:txBody>
      </p:sp>
    </p:spTree>
    <p:extLst>
      <p:ext uri="{BB962C8B-B14F-4D97-AF65-F5344CB8AC3E}">
        <p14:creationId xmlns:p14="http://schemas.microsoft.com/office/powerpoint/2010/main" xmlns="" val="428315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4EB8F80-5377-104D-FD0F-830689C8D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C71CBB-0E64-B06D-D2F5-445F8F41FC86}"/>
              </a:ext>
            </a:extLst>
          </p:cNvPr>
          <p:cNvSpPr txBox="1"/>
          <p:nvPr/>
        </p:nvSpPr>
        <p:spPr>
          <a:xfrm>
            <a:off x="435430" y="1145729"/>
            <a:ext cx="5388428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Opcode (Operation Code)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operation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computer has to perform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operations: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53E684A-8337-E01F-182F-975E800AA86D}"/>
              </a:ext>
            </a:extLst>
          </p:cNvPr>
          <p:cNvSpPr txBox="1"/>
          <p:nvPr/>
        </p:nvSpPr>
        <p:spPr>
          <a:xfrm>
            <a:off x="5921829" y="1145729"/>
            <a:ext cx="60960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Address (Operand / Address Field)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field specifies where the data is located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point to: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register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memory location</a:t>
            </a:r>
          </a:p>
        </p:txBody>
      </p:sp>
    </p:spTree>
    <p:extLst>
      <p:ext uri="{BB962C8B-B14F-4D97-AF65-F5344CB8AC3E}">
        <p14:creationId xmlns:p14="http://schemas.microsoft.com/office/powerpoint/2010/main" xmlns="" val="326002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Deepak\Desktop\Morris Mano PPT\1\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4475" y="544286"/>
            <a:ext cx="9163050" cy="6313714"/>
          </a:xfrm>
          <a:prstGeom prst="rect">
            <a:avLst/>
          </a:prstGeom>
          <a:noFill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1371600"/>
            <a:ext cx="7696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Deepak\Desktop\Morris Mano PPT\1\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4475" y="1"/>
            <a:ext cx="9163050" cy="6857999"/>
          </a:xfrm>
          <a:prstGeom prst="rect">
            <a:avLst/>
          </a:prstGeom>
          <a:noFill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371600"/>
            <a:ext cx="7772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5285" y="893734"/>
            <a:ext cx="10003665" cy="5057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B51FE4D-ADA3-B6B6-1CD2-83CADBA52AD9}"/>
              </a:ext>
            </a:extLst>
          </p:cNvPr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7" name="TextBox 4">
            <a:extLst>
              <a:ext uri="{FF2B5EF4-FFF2-40B4-BE49-F238E27FC236}">
                <a16:creationId xmlns:a16="http://schemas.microsoft.com/office/drawing/2014/main" xmlns="" id="{0AFB0174-A5FC-293A-EEF9-637E5FF36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1CD30C25-C824-4359-B74E-148EA86AED46}" type="slidenum">
              <a:rPr lang="en-US" altLang="en-US">
                <a:latin typeface="Calibri" panose="020F0502020204030204" pitchFamily="34" charset="0"/>
              </a:rPr>
              <a:pPr eaLnBrk="1" hangingPunct="1"/>
              <a:t>43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sp>
        <p:nvSpPr>
          <p:cNvPr id="6148" name="TextBox 5">
            <a:extLst>
              <a:ext uri="{FF2B5EF4-FFF2-40B4-BE49-F238E27FC236}">
                <a16:creationId xmlns:a16="http://schemas.microsoft.com/office/drawing/2014/main" xmlns="" id="{413E8B05-5E1A-9786-CF87-CB96B012D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		         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EBEF8FDE-2577-3D92-E548-E26360613710}"/>
              </a:ext>
            </a:extLst>
          </p:cNvPr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>
            <a:extLst>
              <a:ext uri="{FF2B5EF4-FFF2-40B4-BE49-F238E27FC236}">
                <a16:creationId xmlns:a16="http://schemas.microsoft.com/office/drawing/2014/main" xmlns="" id="{671C287F-A976-1B7B-0A6E-FBD6D8765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Connecting Registers - Bus Transfer</a:t>
            </a:r>
          </a:p>
        </p:txBody>
      </p:sp>
      <p:pic>
        <p:nvPicPr>
          <p:cNvPr id="6151" name="Picture 2">
            <a:extLst>
              <a:ext uri="{FF2B5EF4-FFF2-40B4-BE49-F238E27FC236}">
                <a16:creationId xmlns:a16="http://schemas.microsoft.com/office/drawing/2014/main" xmlns="" id="{5F2103D9-1FEB-5960-C64F-9BEE455E7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71600"/>
            <a:ext cx="85534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Rectangle 215">
            <a:extLst>
              <a:ext uri="{FF2B5EF4-FFF2-40B4-BE49-F238E27FC236}">
                <a16:creationId xmlns:a16="http://schemas.microsoft.com/office/drawing/2014/main" xmlns="" id="{30C0DA56-260D-EDCD-0154-AC5B39F67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810000"/>
            <a:ext cx="6934200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latin typeface="Calibri" panose="020F0502020204030204" pitchFamily="34" charset="0"/>
                <a:sym typeface="Symbol" panose="05050102010706020507" pitchFamily="18" charset="2"/>
              </a:rPr>
              <a:t> One way of constructing common bus system is with </a:t>
            </a:r>
            <a:r>
              <a:rPr lang="en-US" altLang="ko-KR" b="1">
                <a:solidFill>
                  <a:srgbClr val="FF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multiplexers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latin typeface="Calibri" panose="020F0502020204030204" pitchFamily="34" charset="0"/>
                <a:sym typeface="Symbol" panose="05050102010706020507" pitchFamily="18" charset="2"/>
              </a:rPr>
              <a:t> Multiplexer selects the source register whose binary information is kept on the bus.</a:t>
            </a:r>
          </a:p>
        </p:txBody>
      </p:sp>
      <p:sp>
        <p:nvSpPr>
          <p:cNvPr id="6153" name="Rectangle 216">
            <a:extLst>
              <a:ext uri="{FF2B5EF4-FFF2-40B4-BE49-F238E27FC236}">
                <a16:creationId xmlns:a16="http://schemas.microsoft.com/office/drawing/2014/main" xmlns="" id="{9AA4D198-E0A6-0BBB-EFEB-F6CD51859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105400"/>
            <a:ext cx="6934200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latin typeface="Calibri" panose="020F0502020204030204" pitchFamily="34" charset="0"/>
                <a:sym typeface="Symbol" panose="05050102010706020507" pitchFamily="18" charset="2"/>
              </a:rPr>
              <a:t> Construction of bus system for 4 register (Next Fig)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latin typeface="Calibri" panose="020F0502020204030204" pitchFamily="34" charset="0"/>
                <a:sym typeface="Symbol" panose="05050102010706020507" pitchFamily="18" charset="2"/>
              </a:rPr>
              <a:t>4 bit register X 4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latin typeface="Calibri" panose="020F0502020204030204" pitchFamily="34" charset="0"/>
                <a:sym typeface="Symbol" panose="05050102010706020507" pitchFamily="18" charset="2"/>
              </a:rPr>
              <a:t>four 4X1 multiplexer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latin typeface="Calibri" panose="020F0502020204030204" pitchFamily="34" charset="0"/>
                <a:sym typeface="Symbol" panose="05050102010706020507" pitchFamily="18" charset="2"/>
              </a:rPr>
              <a:t>Bus selection S0, S1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A51227E-ACF2-160B-D31A-55569883D654}"/>
              </a:ext>
            </a:extLst>
          </p:cNvPr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1" name="TextBox 4">
            <a:extLst>
              <a:ext uri="{FF2B5EF4-FFF2-40B4-BE49-F238E27FC236}">
                <a16:creationId xmlns:a16="http://schemas.microsoft.com/office/drawing/2014/main" xmlns="" id="{DA55FD95-3943-188F-D086-31D4C67D7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Register Transfer and Micro-operations	               </a:t>
            </a:r>
            <a:fld id="{14EB7559-28AB-424D-B39C-EE7D82E56A0C}" type="slidenum">
              <a:rPr lang="en-US" altLang="en-US">
                <a:latin typeface="Calibri" panose="020F0502020204030204" pitchFamily="34" charset="0"/>
              </a:rPr>
              <a:pPr eaLnBrk="1" hangingPunct="1"/>
              <a:t>44</a:t>
            </a:fld>
            <a:r>
              <a:rPr lang="en-US" altLang="en-US" dirty="0">
                <a:latin typeface="Calibri" panose="020F0502020204030204" pitchFamily="34" charset="0"/>
              </a:rPr>
              <a:t>				        </a:t>
            </a:r>
          </a:p>
        </p:txBody>
      </p:sp>
      <p:sp>
        <p:nvSpPr>
          <p:cNvPr id="7172" name="TextBox 5">
            <a:extLst>
              <a:ext uri="{FF2B5EF4-FFF2-40B4-BE49-F238E27FC236}">
                <a16:creationId xmlns:a16="http://schemas.microsoft.com/office/drawing/2014/main" xmlns="" id="{A46DFFA7-D34D-2235-CBA3-221BB39BF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		         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AB098E95-9D03-48D1-368B-6FD31F452EA9}"/>
              </a:ext>
            </a:extLst>
          </p:cNvPr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4" name="TextBox 8">
            <a:extLst>
              <a:ext uri="{FF2B5EF4-FFF2-40B4-BE49-F238E27FC236}">
                <a16:creationId xmlns:a16="http://schemas.microsoft.com/office/drawing/2014/main" xmlns="" id="{FA21E4A0-0B70-F865-05D0-25E09699D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Connecting Registers - Bus Transfer</a:t>
            </a:r>
          </a:p>
        </p:txBody>
      </p:sp>
      <p:pic>
        <p:nvPicPr>
          <p:cNvPr id="7175" name="Picture 2" descr="C:\Users\Deepak\Desktop\1.JPG">
            <a:extLst>
              <a:ext uri="{FF2B5EF4-FFF2-40B4-BE49-F238E27FC236}">
                <a16:creationId xmlns:a16="http://schemas.microsoft.com/office/drawing/2014/main" xmlns="" id="{F5EFEDE4-A920-D762-31B1-C34F1CF10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200150"/>
            <a:ext cx="8534400" cy="550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3" descr="C:\Users\Deepak\Desktop\2.JPG">
            <a:extLst>
              <a:ext uri="{FF2B5EF4-FFF2-40B4-BE49-F238E27FC236}">
                <a16:creationId xmlns:a16="http://schemas.microsoft.com/office/drawing/2014/main" xmlns="" id="{BE62D352-3383-63C3-FB48-D0F51754E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486900" y="2368550"/>
            <a:ext cx="1905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Basic Computer Instructions</a:t>
            </a:r>
          </a:p>
        </p:txBody>
      </p:sp>
      <p:grpSp>
        <p:nvGrpSpPr>
          <p:cNvPr id="17415" name="Group 98"/>
          <p:cNvGrpSpPr>
            <a:grpSpLocks/>
          </p:cNvGrpSpPr>
          <p:nvPr/>
        </p:nvGrpSpPr>
        <p:grpSpPr bwMode="auto">
          <a:xfrm>
            <a:off x="3093205" y="993204"/>
            <a:ext cx="7418699" cy="5864796"/>
            <a:chOff x="560388" y="808038"/>
            <a:chExt cx="7680414" cy="6263705"/>
          </a:xfrm>
        </p:grpSpPr>
        <p:sp>
          <p:nvSpPr>
            <p:cNvPr id="93" name="Rectangle 11"/>
            <p:cNvSpPr>
              <a:spLocks noChangeArrowheads="1"/>
            </p:cNvSpPr>
            <p:nvPr/>
          </p:nvSpPr>
          <p:spPr bwMode="auto">
            <a:xfrm>
              <a:off x="560388" y="1223431"/>
              <a:ext cx="7680414" cy="58483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AND        0xxx     8xxx       AND memory word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ADD        1xxx     9xxx       Add memory word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LDA         2xxx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Axxx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Load AC from memory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STA         3xxx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Bxxx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Store content of AC into memory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BUN        4xxx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Cxxx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 Branch unconditionally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BSA        5xxx 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Dxxx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Branch and save return address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ISZ          6xxx 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Exxx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Increment and skip if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CLA	   7800	          Clear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CLE	   7400	          Clear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CMA	   7200              Complement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CME	   7100	          Complement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CIR	   7080	          Circulate right AC and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CIL	   7040	          Circulate left AC and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INC	   7020	          Increment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SPA	   7010	          Skip next instr. if AC is positive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SNA	   7008	          Skip next instr. if AC is negative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SZA	   7004	          Skip next instr. if AC is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SZE	   7002	          Skip next instr. if E is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HLT	   7001	          Halt computer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INP	   F800	          Input character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OUT	   F400	          Output character from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SKI                F200	          Skip on input flag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SKO	   F100	          Skip on output flag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ION	   F080	          Interrupt on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IOF	   F040	          Interrupt off</a:t>
              </a:r>
            </a:p>
            <a:p>
              <a:pPr defTabSz="762000" latinLnBrk="1">
                <a:lnSpc>
                  <a:spcPct val="80000"/>
                </a:lnSpc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</p:txBody>
        </p:sp>
        <p:grpSp>
          <p:nvGrpSpPr>
            <p:cNvPr id="17417" name="Group 97"/>
            <p:cNvGrpSpPr>
              <a:grpSpLocks/>
            </p:cNvGrpSpPr>
            <p:nvPr/>
          </p:nvGrpSpPr>
          <p:grpSpPr bwMode="auto">
            <a:xfrm>
              <a:off x="1043578" y="808038"/>
              <a:ext cx="6408712" cy="6022337"/>
              <a:chOff x="1046753" y="808038"/>
              <a:chExt cx="6408712" cy="6022337"/>
            </a:xfrm>
          </p:grpSpPr>
          <p:sp>
            <p:nvSpPr>
              <p:cNvPr id="89" name="Rectangle 3"/>
              <p:cNvSpPr>
                <a:spLocks noChangeArrowheads="1"/>
              </p:cNvSpPr>
              <p:nvPr/>
            </p:nvSpPr>
            <p:spPr bwMode="auto">
              <a:xfrm>
                <a:off x="1096058" y="808038"/>
                <a:ext cx="6359407" cy="51498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3500" tIns="25400" rIns="63500" bIns="25400">
                <a:spAutoFit/>
              </a:bodyPr>
              <a:lstStyle/>
              <a:p>
                <a:pPr defTabSz="762000">
                  <a:defRPr/>
                </a:pPr>
                <a:r>
                  <a:rPr lang="en-US" altLang="ko-KR" sz="1400" b="1" i="1" kern="0" dirty="0">
                    <a:solidFill>
                      <a:sysClr val="windowText" lastClr="000000"/>
                    </a:solidFill>
                    <a:cs typeface="Arial" pitchFamily="34" charset="0"/>
                  </a:rPr>
                  <a:t>                    Hex Code</a:t>
                </a:r>
              </a:p>
              <a:p>
                <a:pPr defTabSz="762000">
                  <a:defRPr/>
                </a:pPr>
                <a:r>
                  <a:rPr lang="en-US" altLang="ko-KR" sz="1400" b="1" i="1" kern="0" dirty="0">
                    <a:solidFill>
                      <a:sysClr val="windowText" lastClr="000000"/>
                    </a:solidFill>
                    <a:cs typeface="Arial" pitchFamily="34" charset="0"/>
                  </a:rPr>
                  <a:t>Symbol    I = 0       I = 1                  Description</a:t>
                </a:r>
              </a:p>
            </p:txBody>
          </p:sp>
          <p:sp>
            <p:nvSpPr>
              <p:cNvPr id="90" name="Rectangle 4"/>
              <p:cNvSpPr>
                <a:spLocks noChangeArrowheads="1"/>
              </p:cNvSpPr>
              <p:nvPr/>
            </p:nvSpPr>
            <p:spPr bwMode="auto">
              <a:xfrm>
                <a:off x="1068119" y="914854"/>
                <a:ext cx="5412056" cy="591552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1" name="Line 7"/>
              <p:cNvSpPr>
                <a:spLocks noChangeShapeType="1"/>
              </p:cNvSpPr>
              <p:nvPr/>
            </p:nvSpPr>
            <p:spPr bwMode="auto">
              <a:xfrm>
                <a:off x="1906306" y="1019973"/>
                <a:ext cx="132137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2" name="Line 9"/>
              <p:cNvSpPr>
                <a:spLocks noChangeShapeType="1"/>
              </p:cNvSpPr>
              <p:nvPr/>
            </p:nvSpPr>
            <p:spPr bwMode="auto">
              <a:xfrm>
                <a:off x="1046753" y="1230212"/>
                <a:ext cx="540383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4" name="Line 13"/>
              <p:cNvSpPr>
                <a:spLocks noChangeShapeType="1"/>
              </p:cNvSpPr>
              <p:nvPr/>
            </p:nvSpPr>
            <p:spPr bwMode="auto">
              <a:xfrm flipH="1">
                <a:off x="1825774" y="847035"/>
                <a:ext cx="60810" cy="59019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5" name="Line 14"/>
              <p:cNvSpPr>
                <a:spLocks noChangeShapeType="1"/>
              </p:cNvSpPr>
              <p:nvPr/>
            </p:nvSpPr>
            <p:spPr bwMode="auto">
              <a:xfrm flipH="1">
                <a:off x="3166872" y="857207"/>
                <a:ext cx="52592" cy="59731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6" name="Line 15"/>
              <p:cNvSpPr>
                <a:spLocks noChangeShapeType="1"/>
              </p:cNvSpPr>
              <p:nvPr/>
            </p:nvSpPr>
            <p:spPr bwMode="auto">
              <a:xfrm>
                <a:off x="1056614" y="2667978"/>
                <a:ext cx="540219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7" name="Line 16"/>
              <p:cNvSpPr>
                <a:spLocks noChangeShapeType="1"/>
              </p:cNvSpPr>
              <p:nvPr/>
            </p:nvSpPr>
            <p:spPr bwMode="auto">
              <a:xfrm>
                <a:off x="1066475" y="5446865"/>
                <a:ext cx="540219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285665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Set Completeness</a:t>
            </a:r>
          </a:p>
        </p:txBody>
      </p:sp>
      <p:sp>
        <p:nvSpPr>
          <p:cNvPr id="18439" name="Rectangle 3"/>
          <p:cNvSpPr>
            <a:spLocks noChangeArrowheads="1"/>
          </p:cNvSpPr>
          <p:nvPr/>
        </p:nvSpPr>
        <p:spPr bwMode="auto">
          <a:xfrm>
            <a:off x="1752600" y="2227264"/>
            <a:ext cx="21796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5000"/>
              </a:lnSpc>
            </a:pPr>
            <a:r>
              <a:rPr lang="en-US" altLang="ko-KR" b="1" u="sng" dirty="0">
                <a:cs typeface="Arial" panose="020B0604020202020204" pitchFamily="34" charset="0"/>
              </a:rPr>
              <a:t> Instruction Types</a:t>
            </a:r>
          </a:p>
        </p:txBody>
      </p:sp>
      <p:sp>
        <p:nvSpPr>
          <p:cNvPr id="18440" name="Rectangle 5"/>
          <p:cNvSpPr>
            <a:spLocks noChangeArrowheads="1"/>
          </p:cNvSpPr>
          <p:nvPr/>
        </p:nvSpPr>
        <p:spPr bwMode="auto">
          <a:xfrm>
            <a:off x="1981201" y="1250950"/>
            <a:ext cx="8253413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ko-KR" b="1">
                <a:cs typeface="Arial" panose="020B0604020202020204" pitchFamily="34" charset="0"/>
              </a:rPr>
              <a:t>A computer should have a set of instructions so that the user can construct machine language programs to evaluate any function that is known to be computable.</a:t>
            </a:r>
          </a:p>
        </p:txBody>
      </p:sp>
      <p:sp>
        <p:nvSpPr>
          <p:cNvPr id="18441" name="Rectangle 6"/>
          <p:cNvSpPr>
            <a:spLocks noChangeArrowheads="1"/>
          </p:cNvSpPr>
          <p:nvPr/>
        </p:nvSpPr>
        <p:spPr bwMode="auto">
          <a:xfrm>
            <a:off x="1828800" y="2857500"/>
            <a:ext cx="86106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 Functional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- </a:t>
            </a:r>
            <a:r>
              <a:rPr lang="en-US" altLang="ko-KR" sz="1600" b="1">
                <a:cs typeface="Arial" panose="020B0604020202020204" pitchFamily="34" charset="0"/>
              </a:rPr>
              <a:t>Arithmetic, logic, and shift instructions		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ADD, CMA, INC, CIR, CIL, AND, CLA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Transfer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-</a:t>
            </a:r>
            <a:r>
              <a:rPr lang="en-US" altLang="ko-KR" sz="1600" b="1">
                <a:cs typeface="Arial" panose="020B0604020202020204" pitchFamily="34" charset="0"/>
              </a:rPr>
              <a:t> Data transfers between the main memory and the processor registers	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LDA, STA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Control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</a:t>
            </a:r>
            <a:r>
              <a:rPr lang="en-US" altLang="ko-KR" sz="1600" b="1">
                <a:cs typeface="Arial" panose="020B0604020202020204" pitchFamily="34" charset="0"/>
              </a:rPr>
              <a:t>- Program sequencing and control		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BUN, BSA, ISZ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Input/output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</a:t>
            </a:r>
            <a:r>
              <a:rPr lang="en-US" altLang="ko-KR" sz="1600" b="1">
                <a:cs typeface="Arial" panose="020B0604020202020204" pitchFamily="34" charset="0"/>
              </a:rPr>
              <a:t>- Input and output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INP, OUT</a:t>
            </a:r>
          </a:p>
          <a:p>
            <a:pPr algn="just" eaLnBrk="1" hangingPunct="1">
              <a:lnSpc>
                <a:spcPct val="66000"/>
              </a:lnSpc>
              <a:buFont typeface="Wingdings" panose="05000000000000000000" pitchFamily="2" charset="2"/>
              <a:buChar char="Ø"/>
            </a:pPr>
            <a:endParaRPr lang="en-US" altLang="ko-KR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7240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gray">
          <a:xfrm>
            <a:off x="1625600" y="914400"/>
            <a:ext cx="90424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Classification of Instruction Set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1" y="2286000"/>
            <a:ext cx="716734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Data transfer operation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Arithmetic and Logic operation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Logical operation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Branching operation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Machine-control operation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  Date Transfer or Copy Operations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20801" y="2823389"/>
            <a:ext cx="8513869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 smtClean="0"/>
              <a:t>MOV</a:t>
            </a:r>
            <a:r>
              <a:rPr lang="en-US" sz="2800" dirty="0" smtClean="0"/>
              <a:t>:</a:t>
            </a:r>
            <a:r>
              <a:rPr lang="en-US" sz="2400" dirty="0" smtClean="0"/>
              <a:t> Copy from source to destination</a:t>
            </a:r>
          </a:p>
          <a:p>
            <a:pPr marL="457200" indent="-457200"/>
            <a:r>
              <a:rPr lang="en-US" sz="2400" dirty="0" smtClean="0"/>
              <a:t>Examples:	</a:t>
            </a:r>
            <a:r>
              <a:rPr lang="en-US" sz="2400" dirty="0" err="1" smtClean="0"/>
              <a:t>mov</a:t>
            </a:r>
            <a:r>
              <a:rPr lang="en-US" sz="2400" dirty="0" smtClean="0"/>
              <a:t> B, A	;A is copied to B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mov</a:t>
            </a:r>
            <a:r>
              <a:rPr lang="en-US" sz="2400" dirty="0" smtClean="0"/>
              <a:t> M, B	;content of B is copied to address </a:t>
            </a:r>
          </a:p>
          <a:p>
            <a:pPr marL="457200" indent="-457200"/>
            <a:r>
              <a:rPr lang="en-US" sz="2400" dirty="0" smtClean="0"/>
              <a:t>					 location pointed by content of HL</a:t>
            </a:r>
          </a:p>
          <a:p>
            <a:pPr marL="457200" indent="-457200"/>
            <a:r>
              <a:rPr lang="en-US" sz="2400" dirty="0" smtClean="0"/>
              <a:t>					 pair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mov</a:t>
            </a:r>
            <a:r>
              <a:rPr lang="en-US" sz="2400" dirty="0" smtClean="0"/>
              <a:t> C, M	;content of address location </a:t>
            </a:r>
          </a:p>
          <a:p>
            <a:pPr marL="457200" indent="-457200"/>
            <a:r>
              <a:rPr lang="en-US" sz="2400" dirty="0" smtClean="0"/>
              <a:t>					 pointed by HL pair is copied to C</a:t>
            </a:r>
            <a:endParaRPr lang="en-US" sz="24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5084" y="1447800"/>
            <a:ext cx="4391659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0800" y="3886200"/>
            <a:ext cx="743825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b="1" dirty="0" smtClean="0"/>
              <a:t>LXI</a:t>
            </a:r>
            <a:r>
              <a:rPr lang="en-US" sz="2800" dirty="0" smtClean="0"/>
              <a:t>:</a:t>
            </a:r>
            <a:r>
              <a:rPr lang="en-US" sz="2400" dirty="0" smtClean="0"/>
              <a:t> Load register pair immediately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lxi</a:t>
            </a:r>
            <a:r>
              <a:rPr lang="en-US" sz="2400" dirty="0" smtClean="0"/>
              <a:t>  B, 1234h	;loads 12h in B &amp; 34h in C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8802" y="7260848"/>
            <a:ext cx="711746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7"/>
            </a:pPr>
            <a:r>
              <a:rPr lang="en-US" sz="2800" b="1" dirty="0" smtClean="0"/>
              <a:t>SHLD</a:t>
            </a:r>
            <a:r>
              <a:rPr lang="en-US" sz="2800" dirty="0" smtClean="0"/>
              <a:t>:</a:t>
            </a:r>
            <a:r>
              <a:rPr lang="en-US" sz="2400" dirty="0" smtClean="0"/>
              <a:t> Store HL register directly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shld</a:t>
            </a:r>
            <a:r>
              <a:rPr lang="en-US" sz="2400" dirty="0" smtClean="0"/>
              <a:t> 8500h	;L to 8500h &amp; H to 8501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gray">
          <a:xfrm>
            <a:off x="406400" y="914400"/>
            <a:ext cx="117856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  Date Transfer Operations (Conti….)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0801" y="1905000"/>
            <a:ext cx="856837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b="1" dirty="0" smtClean="0"/>
              <a:t>MVI</a:t>
            </a:r>
            <a:r>
              <a:rPr lang="en-US" sz="2800" dirty="0" smtClean="0"/>
              <a:t>:</a:t>
            </a:r>
            <a:r>
              <a:rPr lang="en-US" sz="2400" dirty="0" smtClean="0"/>
              <a:t> Move immediately 8-bit</a:t>
            </a:r>
          </a:p>
          <a:p>
            <a:pPr marL="457200" indent="-457200"/>
            <a:r>
              <a:rPr lang="en-US" sz="2400" dirty="0" smtClean="0"/>
              <a:t>Examples:	</a:t>
            </a:r>
            <a:r>
              <a:rPr lang="en-US" sz="2400" dirty="0" err="1" smtClean="0"/>
              <a:t>mvi</a:t>
            </a:r>
            <a:r>
              <a:rPr lang="en-US" sz="2400" dirty="0" smtClean="0"/>
              <a:t> B, 44h	;44h is copied to B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mvi</a:t>
            </a:r>
            <a:r>
              <a:rPr lang="en-US" sz="2400" dirty="0" smtClean="0"/>
              <a:t> M, A2h	;A2h is copied to address location </a:t>
            </a:r>
          </a:p>
          <a:p>
            <a:pPr marL="457200" indent="-457200"/>
            <a:r>
              <a:rPr lang="en-US" sz="2400" dirty="0" smtClean="0"/>
              <a:t>					 pointed by content of HL pair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gray">
          <a:xfrm>
            <a:off x="406400" y="914400"/>
            <a:ext cx="117856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  Date Transfer Operations (Conti….)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28802" y="2590800"/>
            <a:ext cx="8224367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800" b="1" dirty="0" smtClean="0"/>
              <a:t>STA</a:t>
            </a:r>
            <a:r>
              <a:rPr lang="en-US" sz="2800" dirty="0" smtClean="0"/>
              <a:t>:</a:t>
            </a:r>
            <a:r>
              <a:rPr lang="en-US" sz="2400" dirty="0" smtClean="0"/>
              <a:t> Store accumulator directly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sta</a:t>
            </a:r>
            <a:r>
              <a:rPr lang="en-US" sz="2400" dirty="0" smtClean="0"/>
              <a:t> 8501h	;A is copied to memory location </a:t>
            </a:r>
          </a:p>
          <a:p>
            <a:pPr marL="457200" indent="-457200"/>
            <a:r>
              <a:rPr lang="en-US" sz="2400" dirty="0" smtClean="0"/>
              <a:t>					 8501h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6803" y="3843516"/>
            <a:ext cx="798487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6"/>
            </a:pPr>
            <a:r>
              <a:rPr lang="en-US" sz="2800" b="1" dirty="0" smtClean="0"/>
              <a:t>LHLD</a:t>
            </a:r>
            <a:r>
              <a:rPr lang="en-US" sz="2800" dirty="0" smtClean="0"/>
              <a:t>:</a:t>
            </a:r>
            <a:r>
              <a:rPr lang="en-US" sz="2400" dirty="0" smtClean="0"/>
              <a:t> Load HL register directly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lhld</a:t>
            </a:r>
            <a:r>
              <a:rPr lang="en-US" sz="2400" dirty="0" smtClean="0"/>
              <a:t> 8500h	;content of 8500h is copied to </a:t>
            </a:r>
          </a:p>
          <a:p>
            <a:pPr marL="457200" indent="-457200"/>
            <a:r>
              <a:rPr lang="en-US" sz="2400" dirty="0" smtClean="0"/>
              <a:t>					 L &amp; 8501 to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0800" y="5029200"/>
            <a:ext cx="792377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7"/>
            </a:pPr>
            <a:r>
              <a:rPr lang="en-US" sz="2800" b="1" dirty="0" smtClean="0"/>
              <a:t>SHLD</a:t>
            </a:r>
            <a:r>
              <a:rPr lang="en-US" sz="2800" dirty="0" smtClean="0"/>
              <a:t>:</a:t>
            </a:r>
            <a:r>
              <a:rPr lang="en-US" sz="2400" dirty="0" smtClean="0"/>
              <a:t> Store HL register directly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shld</a:t>
            </a:r>
            <a:r>
              <a:rPr lang="en-US" sz="2400" dirty="0" smtClean="0"/>
              <a:t> 8550h	;L is copied to 8550h </a:t>
            </a:r>
            <a:r>
              <a:rPr lang="en-US" sz="2400" dirty="0" err="1" smtClean="0"/>
              <a:t>andH</a:t>
            </a:r>
            <a:r>
              <a:rPr lang="en-US" sz="2400" dirty="0" smtClean="0"/>
              <a:t> is </a:t>
            </a:r>
          </a:p>
          <a:p>
            <a:pPr marL="457200" indent="-457200"/>
            <a:r>
              <a:rPr lang="en-US" sz="2400" dirty="0" smtClean="0"/>
              <a:t>					 copied to 8551h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28802" y="1340584"/>
            <a:ext cx="8103500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800" b="1" dirty="0" smtClean="0"/>
              <a:t>LDA</a:t>
            </a:r>
            <a:r>
              <a:rPr lang="en-US" sz="2800" dirty="0" smtClean="0"/>
              <a:t>:</a:t>
            </a:r>
            <a:r>
              <a:rPr lang="en-US" sz="2400" dirty="0" smtClean="0"/>
              <a:t> Load accumulator directly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lda</a:t>
            </a:r>
            <a:r>
              <a:rPr lang="en-US" sz="2400" dirty="0" smtClean="0"/>
              <a:t> 8501h	;content of memory pointed by </a:t>
            </a:r>
          </a:p>
          <a:p>
            <a:pPr marL="457200" indent="-457200"/>
            <a:r>
              <a:rPr lang="en-US" sz="2400" dirty="0" smtClean="0"/>
              <a:t>					 8501h is copied to 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0800" y="1580852"/>
            <a:ext cx="9026830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US" sz="2800" b="1" dirty="0" smtClean="0"/>
              <a:t>LDAX</a:t>
            </a:r>
            <a:r>
              <a:rPr lang="en-US" sz="2800" dirty="0" smtClean="0"/>
              <a:t>:</a:t>
            </a:r>
            <a:r>
              <a:rPr lang="en-US" sz="2400" dirty="0" smtClean="0"/>
              <a:t> Load accumulator indirectly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ldax</a:t>
            </a:r>
            <a:r>
              <a:rPr lang="en-US" sz="2400" dirty="0" smtClean="0"/>
              <a:t>  B		;content of memory pointed by </a:t>
            </a:r>
          </a:p>
          <a:p>
            <a:pPr marL="457200" indent="-457200"/>
            <a:r>
              <a:rPr lang="en-US" sz="2400" dirty="0" smtClean="0"/>
              <a:t>					 content of BC is copied to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801" y="3005316"/>
            <a:ext cx="865493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sz="2800" b="1" dirty="0" smtClean="0"/>
              <a:t>STAX</a:t>
            </a:r>
            <a:r>
              <a:rPr lang="en-US" sz="2800" dirty="0" smtClean="0"/>
              <a:t>:</a:t>
            </a:r>
            <a:r>
              <a:rPr lang="en-US" sz="2400" dirty="0" smtClean="0"/>
              <a:t> Store accumulator indirectly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stax</a:t>
            </a:r>
            <a:r>
              <a:rPr lang="en-US" sz="2400" dirty="0" smtClean="0"/>
              <a:t> B		;content of A is copied to memory</a:t>
            </a:r>
          </a:p>
          <a:p>
            <a:pPr marL="457200" indent="-457200"/>
            <a:r>
              <a:rPr lang="en-US" sz="2400" dirty="0" smtClean="0"/>
              <a:t>					 pointed by address location made </a:t>
            </a:r>
          </a:p>
          <a:p>
            <a:pPr marL="457200" indent="-457200"/>
            <a:r>
              <a:rPr lang="en-US" sz="2400" dirty="0" smtClean="0"/>
              <a:t>					 of 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7490" y="4724400"/>
            <a:ext cx="7417415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10"/>
            </a:pPr>
            <a:r>
              <a:rPr lang="en-US" sz="2800" b="1" dirty="0" smtClean="0"/>
              <a:t> XCHG</a:t>
            </a:r>
            <a:r>
              <a:rPr lang="en-US" sz="2800" dirty="0" smtClean="0"/>
              <a:t>:</a:t>
            </a:r>
            <a:r>
              <a:rPr lang="en-US" sz="2400" dirty="0" smtClean="0"/>
              <a:t> Exchange HL with DE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xchg</a:t>
            </a:r>
            <a:r>
              <a:rPr lang="en-US" sz="2400" dirty="0" smtClean="0"/>
              <a:t>		;the content of H &amp; D and </a:t>
            </a:r>
          </a:p>
          <a:p>
            <a:pPr marL="457200" indent="-457200"/>
            <a:r>
              <a:rPr lang="en-US" sz="2400" dirty="0" smtClean="0"/>
              <a:t>					 L &amp; E are exchanged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gray">
          <a:xfrm>
            <a:off x="406400" y="914400"/>
            <a:ext cx="117856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  Date Transfer Operations (Conti….)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  Arithmetic Operations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0800" y="2712184"/>
            <a:ext cx="8153514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 smtClean="0"/>
              <a:t>ADD</a:t>
            </a:r>
            <a:r>
              <a:rPr lang="en-US" sz="2800" dirty="0" smtClean="0"/>
              <a:t>:</a:t>
            </a:r>
            <a:r>
              <a:rPr lang="en-US" sz="2400" dirty="0" smtClean="0"/>
              <a:t> Add register to accumulator</a:t>
            </a:r>
          </a:p>
          <a:p>
            <a:pPr marL="457200" indent="-457200"/>
            <a:r>
              <a:rPr lang="en-US" sz="2400" dirty="0" smtClean="0"/>
              <a:t>Examples:	add B		;B is added with A &amp; stored at A</a:t>
            </a:r>
          </a:p>
          <a:p>
            <a:pPr marL="457200" indent="-457200"/>
            <a:r>
              <a:rPr lang="en-US" sz="2400" dirty="0" smtClean="0"/>
              <a:t>			add M		;content of memory location</a:t>
            </a:r>
          </a:p>
          <a:p>
            <a:pPr marL="457200" indent="-457200"/>
            <a:r>
              <a:rPr lang="en-US" sz="2400" dirty="0" smtClean="0"/>
              <a:t>					 pointed by content of HL pair</a:t>
            </a:r>
          </a:p>
          <a:p>
            <a:pPr marL="457200" indent="-457200"/>
            <a:r>
              <a:rPr lang="en-US" sz="2400" dirty="0" smtClean="0"/>
              <a:t>					 is added with A &amp; stored at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8801" y="4898648"/>
            <a:ext cx="938622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b="1" dirty="0" smtClean="0"/>
              <a:t>ADI</a:t>
            </a:r>
            <a:r>
              <a:rPr lang="en-US" sz="2800" dirty="0" smtClean="0"/>
              <a:t>:</a:t>
            </a:r>
            <a:r>
              <a:rPr lang="en-US" sz="2400" dirty="0" smtClean="0"/>
              <a:t> Add immediately to accumulator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adi</a:t>
            </a:r>
            <a:r>
              <a:rPr lang="en-US" sz="2400" dirty="0" smtClean="0"/>
              <a:t> 22h		;22h is added with A &amp; stored at A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36018" y="1447800"/>
            <a:ext cx="3693583" cy="123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gray">
          <a:xfrm>
            <a:off x="406400" y="914400"/>
            <a:ext cx="117856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  Arithmetic Operations (Conti….)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0801" y="1678900"/>
            <a:ext cx="7863371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b="1" dirty="0" smtClean="0"/>
              <a:t>ADC</a:t>
            </a:r>
            <a:r>
              <a:rPr lang="en-US" sz="2800" dirty="0" smtClean="0"/>
              <a:t>:</a:t>
            </a:r>
            <a:r>
              <a:rPr lang="en-US" sz="2400" dirty="0" smtClean="0"/>
              <a:t> Add register to accumulator with carry</a:t>
            </a:r>
          </a:p>
          <a:p>
            <a:pPr marL="457200" indent="-457200"/>
            <a:r>
              <a:rPr lang="en-US" sz="2400" dirty="0" smtClean="0"/>
              <a:t>Examples:	</a:t>
            </a:r>
            <a:r>
              <a:rPr lang="en-US" sz="2400" dirty="0" err="1" smtClean="0"/>
              <a:t>adc</a:t>
            </a:r>
            <a:r>
              <a:rPr lang="en-US" sz="2400" dirty="0" smtClean="0"/>
              <a:t> B		;content of B and carry is </a:t>
            </a:r>
          </a:p>
          <a:p>
            <a:pPr marL="457200" indent="-457200"/>
            <a:r>
              <a:rPr lang="en-US" sz="2400" dirty="0" smtClean="0"/>
              <a:t>					 is added with A &amp; stored at A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adc</a:t>
            </a:r>
            <a:r>
              <a:rPr lang="en-US" sz="2400" dirty="0" smtClean="0"/>
              <a:t> M		;content of memory location </a:t>
            </a:r>
          </a:p>
          <a:p>
            <a:pPr marL="457200" indent="-457200"/>
            <a:r>
              <a:rPr lang="en-US" sz="2400" dirty="0" smtClean="0"/>
              <a:t>					 pointed by HL pair and carry</a:t>
            </a:r>
          </a:p>
          <a:p>
            <a:pPr marL="457200" indent="-457200"/>
            <a:r>
              <a:rPr lang="en-US" sz="2400" dirty="0" smtClean="0"/>
              <a:t>					 is added with A &amp; stored at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8801" y="4148316"/>
            <a:ext cx="8738290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800" b="1" dirty="0" smtClean="0"/>
              <a:t>ACI</a:t>
            </a:r>
            <a:r>
              <a:rPr lang="en-US" sz="2800" dirty="0" smtClean="0"/>
              <a:t>:</a:t>
            </a:r>
            <a:r>
              <a:rPr lang="en-US" sz="2400" dirty="0" smtClean="0"/>
              <a:t> Add immediately to accumulator with carry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aci</a:t>
            </a:r>
            <a:r>
              <a:rPr lang="en-US" sz="2400" dirty="0" smtClean="0"/>
              <a:t> 22h		;22h and carry is added with </a:t>
            </a:r>
          </a:p>
          <a:p>
            <a:pPr marL="457200" indent="-457200"/>
            <a:r>
              <a:rPr lang="en-US" sz="2400" dirty="0" smtClean="0"/>
              <a:t>					 A &amp; stored at A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0801" y="1604190"/>
            <a:ext cx="8188460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7"/>
            </a:pPr>
            <a:r>
              <a:rPr lang="en-US" sz="2800" b="1" dirty="0" smtClean="0"/>
              <a:t>SBB</a:t>
            </a:r>
            <a:r>
              <a:rPr lang="en-US" sz="2800" dirty="0" smtClean="0"/>
              <a:t>:</a:t>
            </a:r>
            <a:r>
              <a:rPr lang="en-US" sz="2400" dirty="0" smtClean="0"/>
              <a:t> Subtract source and borrow from accumulator</a:t>
            </a:r>
          </a:p>
          <a:p>
            <a:pPr marL="457200" indent="-457200"/>
            <a:r>
              <a:rPr lang="en-US" sz="2400" dirty="0" smtClean="0"/>
              <a:t>Examples:	</a:t>
            </a:r>
            <a:r>
              <a:rPr lang="en-US" sz="2400" dirty="0" err="1" smtClean="0"/>
              <a:t>sbb</a:t>
            </a:r>
            <a:r>
              <a:rPr lang="en-US" sz="2400" dirty="0" smtClean="0"/>
              <a:t> D		;D and borrow “Cy” subtracted </a:t>
            </a:r>
          </a:p>
          <a:p>
            <a:pPr marL="457200" indent="-457200"/>
            <a:r>
              <a:rPr lang="en-US" sz="2400" dirty="0" smtClean="0"/>
              <a:t>					 from A &amp; stored at A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sbb</a:t>
            </a:r>
            <a:r>
              <a:rPr lang="en-US" sz="2400" dirty="0" smtClean="0"/>
              <a:t> M		;content of memory location </a:t>
            </a:r>
          </a:p>
          <a:p>
            <a:pPr marL="457200" indent="-457200"/>
            <a:r>
              <a:rPr lang="en-US" sz="2400" dirty="0" smtClean="0"/>
              <a:t>					 pointed by HL pair and </a:t>
            </a:r>
          </a:p>
          <a:p>
            <a:pPr marL="457200" indent="-457200"/>
            <a:r>
              <a:rPr lang="en-US" sz="2400" dirty="0" smtClean="0"/>
              <a:t>					 borrow “Cy” is subtracted from </a:t>
            </a:r>
          </a:p>
          <a:p>
            <a:pPr marL="457200" indent="-457200"/>
            <a:r>
              <a:rPr lang="en-US" sz="2400" dirty="0" smtClean="0"/>
              <a:t>					 A &amp; stored at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1" y="4453116"/>
            <a:ext cx="9491701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US" sz="2800" b="1" dirty="0" smtClean="0"/>
              <a:t>SBI</a:t>
            </a:r>
            <a:r>
              <a:rPr lang="en-US" sz="2800" dirty="0" smtClean="0"/>
              <a:t>:</a:t>
            </a:r>
            <a:r>
              <a:rPr lang="en-US" sz="2400" dirty="0" smtClean="0"/>
              <a:t> Subtract immediately with borrow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sbi</a:t>
            </a:r>
            <a:r>
              <a:rPr lang="en-US" sz="2400" dirty="0" smtClean="0"/>
              <a:t> 22h		;22h and borrow ‘Cy” is subtracted</a:t>
            </a:r>
          </a:p>
          <a:p>
            <a:pPr marL="457200" indent="-457200"/>
            <a:r>
              <a:rPr lang="en-US" sz="2400" dirty="0" smtClean="0"/>
              <a:t>					 from A &amp; stored at A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gray">
          <a:xfrm>
            <a:off x="406400" y="914400"/>
            <a:ext cx="117856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  Arithmetic Operations (Conti….)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99643" y="3124200"/>
            <a:ext cx="846257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10"/>
            </a:pPr>
            <a:r>
              <a:rPr lang="en-US" sz="2800" b="1" dirty="0" smtClean="0"/>
              <a:t> DCR</a:t>
            </a:r>
            <a:r>
              <a:rPr lang="en-US" sz="2800" dirty="0" smtClean="0"/>
              <a:t>:</a:t>
            </a:r>
            <a:r>
              <a:rPr lang="en-US" sz="2400" dirty="0" smtClean="0"/>
              <a:t> Decrement source by 1</a:t>
            </a:r>
          </a:p>
          <a:p>
            <a:pPr marL="457200" indent="-457200"/>
            <a:r>
              <a:rPr lang="en-US" sz="2400" dirty="0" smtClean="0"/>
              <a:t>Examples:	</a:t>
            </a:r>
            <a:r>
              <a:rPr lang="en-US" sz="2400" dirty="0" err="1" smtClean="0"/>
              <a:t>dcr</a:t>
            </a:r>
            <a:r>
              <a:rPr lang="en-US" sz="2400" dirty="0" smtClean="0"/>
              <a:t> B		;content of B is decremented by 1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dcr</a:t>
            </a:r>
            <a:r>
              <a:rPr lang="en-US" sz="2400" dirty="0" smtClean="0"/>
              <a:t> M		;content of memory pointed by </a:t>
            </a:r>
          </a:p>
          <a:p>
            <a:pPr marL="457200" indent="-457200"/>
            <a:r>
              <a:rPr lang="en-US" sz="2400" dirty="0" smtClean="0"/>
              <a:t>					 HL pair is incremented by 1</a:t>
            </a: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gray">
          <a:xfrm>
            <a:off x="406400" y="914400"/>
            <a:ext cx="117856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  Arithmetic Operations (Conti….)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1641" y="4834116"/>
            <a:ext cx="8377614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11"/>
            </a:pPr>
            <a:r>
              <a:rPr lang="en-US" sz="2800" b="1" dirty="0" smtClean="0"/>
              <a:t> INX</a:t>
            </a:r>
            <a:r>
              <a:rPr lang="en-US" sz="2800" dirty="0" smtClean="0"/>
              <a:t>:</a:t>
            </a:r>
            <a:r>
              <a:rPr lang="en-US" sz="2400" dirty="0" smtClean="0"/>
              <a:t> Increment register pair by 1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inx</a:t>
            </a:r>
            <a:r>
              <a:rPr lang="en-US" sz="2400" dirty="0" smtClean="0"/>
              <a:t> B		;increment content of BC register</a:t>
            </a:r>
          </a:p>
          <a:p>
            <a:pPr marL="457200" indent="-457200"/>
            <a:r>
              <a:rPr lang="en-US" sz="2400" dirty="0" smtClean="0"/>
              <a:t>					 by 1 &amp; stored at same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802" y="1447800"/>
            <a:ext cx="805220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sz="2800" b="1" dirty="0" smtClean="0"/>
              <a:t>INR</a:t>
            </a:r>
            <a:r>
              <a:rPr lang="en-US" sz="2800" dirty="0" smtClean="0"/>
              <a:t>:</a:t>
            </a:r>
            <a:r>
              <a:rPr lang="en-US" sz="2400" dirty="0" smtClean="0"/>
              <a:t> Increment content of register/memory by 1</a:t>
            </a:r>
          </a:p>
          <a:p>
            <a:pPr marL="457200" indent="-457200"/>
            <a:r>
              <a:rPr lang="en-US" sz="2400" dirty="0" smtClean="0"/>
              <a:t>Examples:	</a:t>
            </a:r>
            <a:r>
              <a:rPr lang="en-US" sz="2400" dirty="0" err="1" smtClean="0"/>
              <a:t>inr</a:t>
            </a:r>
            <a:r>
              <a:rPr lang="en-US" sz="2400" dirty="0" smtClean="0"/>
              <a:t> E		;content of E incremented by 1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inr</a:t>
            </a:r>
            <a:r>
              <a:rPr lang="en-US" sz="2400" dirty="0" smtClean="0"/>
              <a:t> M		;content of memory pointed by</a:t>
            </a:r>
          </a:p>
          <a:p>
            <a:pPr marL="457200" indent="-457200"/>
            <a:r>
              <a:rPr lang="en-US" sz="2400" dirty="0" smtClean="0"/>
              <a:t>					 HL pair is incremented by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97248" y="2590800"/>
            <a:ext cx="8310288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13"/>
            </a:pPr>
            <a:r>
              <a:rPr lang="en-US" sz="2800" b="1" dirty="0" smtClean="0"/>
              <a:t> DAD</a:t>
            </a:r>
            <a:r>
              <a:rPr lang="en-US" sz="2800" dirty="0" smtClean="0"/>
              <a:t>:</a:t>
            </a:r>
            <a:r>
              <a:rPr lang="en-US" sz="2400" dirty="0" smtClean="0"/>
              <a:t> Add register pair to HL register pair</a:t>
            </a:r>
          </a:p>
          <a:p>
            <a:pPr marL="457200" indent="-457200"/>
            <a:r>
              <a:rPr lang="en-US" sz="2400" dirty="0" smtClean="0"/>
              <a:t>Example:	dad D		;content of DE pair is added with</a:t>
            </a:r>
          </a:p>
          <a:p>
            <a:pPr marL="457200" indent="-457200"/>
            <a:r>
              <a:rPr lang="en-US" sz="2400" dirty="0" smtClean="0"/>
              <a:t>					 content of HL pair &amp; stored </a:t>
            </a:r>
          </a:p>
          <a:p>
            <a:pPr marL="457200" indent="-457200"/>
            <a:r>
              <a:rPr lang="en-US" sz="2400" dirty="0" smtClean="0"/>
              <a:t>					 at HL pair</a:t>
            </a:r>
          </a:p>
          <a:p>
            <a:pPr marL="457200" indent="-457200"/>
            <a:r>
              <a:rPr lang="en-US" sz="2400" dirty="0" smtClean="0"/>
              <a:t>This is a 16-bit addition.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247" y="4572000"/>
            <a:ext cx="7675499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14"/>
            </a:pPr>
            <a:r>
              <a:rPr lang="en-US" sz="2800" b="1" dirty="0" smtClean="0"/>
              <a:t> DAA</a:t>
            </a:r>
            <a:r>
              <a:rPr lang="en-US" sz="2800" dirty="0" smtClean="0"/>
              <a:t>:</a:t>
            </a:r>
            <a:r>
              <a:rPr lang="en-US" sz="2400" dirty="0" smtClean="0"/>
              <a:t> Decimal adjust accumulator</a:t>
            </a:r>
          </a:p>
          <a:p>
            <a:pPr marL="457200" indent="-457200"/>
            <a:r>
              <a:rPr lang="en-US" sz="2400" dirty="0" smtClean="0"/>
              <a:t>Example:	add B		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daa</a:t>
            </a:r>
            <a:r>
              <a:rPr lang="en-US" sz="2400" dirty="0" smtClean="0"/>
              <a:t>		;converts binary format into </a:t>
            </a:r>
          </a:p>
          <a:p>
            <a:pPr marL="457200" indent="-457200"/>
            <a:r>
              <a:rPr lang="en-US" sz="2400" dirty="0" smtClean="0"/>
              <a:t>					 BCD format</a:t>
            </a:r>
          </a:p>
          <a:p>
            <a:pPr marL="457200" indent="-457200"/>
            <a:r>
              <a:rPr lang="en-US" sz="2400" dirty="0" smtClean="0"/>
              <a:t>It adds 0110 if forbidden bit arises.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gray">
          <a:xfrm>
            <a:off x="406400" y="914400"/>
            <a:ext cx="117856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  Arithmetic Operations (Conti….)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9643" y="1371600"/>
            <a:ext cx="8480207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12"/>
            </a:pPr>
            <a:r>
              <a:rPr lang="en-US" sz="2800" b="1" dirty="0" smtClean="0"/>
              <a:t> DCX</a:t>
            </a:r>
            <a:r>
              <a:rPr lang="en-US" sz="2800" dirty="0" smtClean="0"/>
              <a:t>:</a:t>
            </a:r>
            <a:r>
              <a:rPr lang="en-US" sz="2400" dirty="0" smtClean="0"/>
              <a:t> Decrement register pair by 1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dcx</a:t>
            </a:r>
            <a:r>
              <a:rPr lang="en-US" sz="2400" dirty="0" smtClean="0"/>
              <a:t> D		;decrement content of DE register</a:t>
            </a:r>
          </a:p>
          <a:p>
            <a:pPr marL="457200" indent="-457200"/>
            <a:r>
              <a:rPr lang="en-US" sz="2400" dirty="0" smtClean="0"/>
              <a:t>					 by 1 &amp; stored at same location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3.  Logical Operations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0800" y="2895600"/>
            <a:ext cx="854849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 smtClean="0"/>
              <a:t>ANA</a:t>
            </a:r>
            <a:r>
              <a:rPr lang="en-US" sz="2800" dirty="0" smtClean="0"/>
              <a:t>:</a:t>
            </a:r>
            <a:r>
              <a:rPr lang="en-US" sz="2400" dirty="0" smtClean="0"/>
              <a:t> Logical AND with accumulator</a:t>
            </a:r>
          </a:p>
          <a:p>
            <a:pPr marL="457200" indent="-457200"/>
            <a:r>
              <a:rPr lang="en-US" sz="2400" dirty="0" smtClean="0"/>
              <a:t>Examples:	</a:t>
            </a:r>
            <a:r>
              <a:rPr lang="en-US" sz="2400" dirty="0" err="1" smtClean="0"/>
              <a:t>ana</a:t>
            </a:r>
            <a:r>
              <a:rPr lang="en-US" sz="2400" dirty="0" smtClean="0"/>
              <a:t> B		;B and A is </a:t>
            </a:r>
            <a:r>
              <a:rPr lang="en-US" sz="2400" dirty="0" err="1" smtClean="0"/>
              <a:t>ANDed</a:t>
            </a:r>
            <a:r>
              <a:rPr lang="en-US" sz="2400" dirty="0" smtClean="0"/>
              <a:t> &amp; stored at A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ana</a:t>
            </a:r>
            <a:r>
              <a:rPr lang="en-US" sz="2400" dirty="0" smtClean="0"/>
              <a:t> M		;content of memory pointed by HL</a:t>
            </a:r>
          </a:p>
          <a:p>
            <a:pPr marL="457200" indent="-457200"/>
            <a:r>
              <a:rPr lang="en-US" sz="2400" dirty="0" smtClean="0"/>
              <a:t>					 pair and A is </a:t>
            </a:r>
            <a:r>
              <a:rPr lang="en-US" sz="2400" dirty="0" err="1" smtClean="0"/>
              <a:t>ANDed</a:t>
            </a:r>
            <a:r>
              <a:rPr lang="en-US" sz="2400" dirty="0" smtClean="0"/>
              <a:t> &amp; stored at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0800" y="4724400"/>
            <a:ext cx="947182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b="1" dirty="0" smtClean="0"/>
              <a:t>ANI</a:t>
            </a:r>
            <a:r>
              <a:rPr lang="en-US" sz="2800" dirty="0" smtClean="0"/>
              <a:t>:</a:t>
            </a:r>
            <a:r>
              <a:rPr lang="en-US" sz="2400" dirty="0" smtClean="0"/>
              <a:t> AND immediately with accumulator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ani</a:t>
            </a:r>
            <a:r>
              <a:rPr lang="en-US" sz="2400" dirty="0" smtClean="0"/>
              <a:t> 44h		;44h and A is </a:t>
            </a:r>
            <a:r>
              <a:rPr lang="en-US" sz="2400" dirty="0" err="1" smtClean="0"/>
              <a:t>ANDed</a:t>
            </a:r>
            <a:r>
              <a:rPr lang="en-US" sz="2400" dirty="0" smtClean="0"/>
              <a:t> &amp; stored at A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20685" y="1447800"/>
            <a:ext cx="3608916" cy="130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20800" y="1428452"/>
            <a:ext cx="8488029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b="1" dirty="0" smtClean="0"/>
              <a:t>XRA</a:t>
            </a:r>
            <a:r>
              <a:rPr lang="en-US" sz="2800" dirty="0" smtClean="0"/>
              <a:t>:</a:t>
            </a:r>
            <a:r>
              <a:rPr lang="en-US" sz="2400" dirty="0" smtClean="0"/>
              <a:t> Exclusive OR with accumulator</a:t>
            </a:r>
          </a:p>
          <a:p>
            <a:pPr marL="457200" indent="-457200"/>
            <a:r>
              <a:rPr lang="en-US" sz="2400" dirty="0" smtClean="0"/>
              <a:t>Examples:	</a:t>
            </a:r>
            <a:r>
              <a:rPr lang="en-US" sz="2400" dirty="0" err="1" smtClean="0"/>
              <a:t>xra</a:t>
            </a:r>
            <a:r>
              <a:rPr lang="en-US" sz="2400" dirty="0" smtClean="0"/>
              <a:t> D		;D and A is </a:t>
            </a:r>
            <a:r>
              <a:rPr lang="en-US" sz="2400" dirty="0" err="1" smtClean="0"/>
              <a:t>XORed</a:t>
            </a:r>
            <a:r>
              <a:rPr lang="en-US" sz="2400" dirty="0" smtClean="0"/>
              <a:t> &amp; stored at A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xra</a:t>
            </a:r>
            <a:r>
              <a:rPr lang="en-US" sz="2400" dirty="0" smtClean="0"/>
              <a:t> M		;content of memory location </a:t>
            </a:r>
          </a:p>
          <a:p>
            <a:pPr marL="457200" indent="-457200"/>
            <a:r>
              <a:rPr lang="en-US" sz="2400" dirty="0" smtClean="0"/>
              <a:t>					 pointed by HL pair is </a:t>
            </a:r>
            <a:r>
              <a:rPr lang="en-US" sz="2400" dirty="0" err="1" smtClean="0"/>
              <a:t>XORed</a:t>
            </a:r>
            <a:r>
              <a:rPr lang="en-US" sz="2400" dirty="0" smtClean="0"/>
              <a:t> with</a:t>
            </a:r>
          </a:p>
          <a:p>
            <a:pPr marL="457200" indent="-457200"/>
            <a:r>
              <a:rPr lang="en-US" sz="2400" dirty="0" smtClean="0"/>
              <a:t>					 A &amp; stored at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8801" y="3374648"/>
            <a:ext cx="9572172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800" b="1" dirty="0" smtClean="0"/>
              <a:t>XRI</a:t>
            </a:r>
            <a:r>
              <a:rPr lang="en-US" sz="2800" dirty="0" smtClean="0"/>
              <a:t>:</a:t>
            </a:r>
            <a:r>
              <a:rPr lang="en-US" sz="2400" dirty="0" smtClean="0"/>
              <a:t> </a:t>
            </a:r>
            <a:r>
              <a:rPr lang="en-US" sz="2400" dirty="0" err="1" smtClean="0"/>
              <a:t>Exlusive</a:t>
            </a:r>
            <a:r>
              <a:rPr lang="en-US" sz="2400" dirty="0" smtClean="0"/>
              <a:t> OR immediately with accumulator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xri</a:t>
            </a:r>
            <a:r>
              <a:rPr lang="en-US" sz="2400" dirty="0" smtClean="0"/>
              <a:t> </a:t>
            </a:r>
            <a:r>
              <a:rPr lang="en-US" sz="2400" dirty="0" err="1" smtClean="0"/>
              <a:t>AAh</a:t>
            </a:r>
            <a:r>
              <a:rPr lang="en-US" sz="2400" dirty="0" smtClean="0"/>
              <a:t>		;</a:t>
            </a:r>
            <a:r>
              <a:rPr lang="en-US" sz="2400" dirty="0" err="1" smtClean="0"/>
              <a:t>AAh</a:t>
            </a:r>
            <a:r>
              <a:rPr lang="en-US" sz="2400" dirty="0" smtClean="0"/>
              <a:t> and A is </a:t>
            </a:r>
            <a:r>
              <a:rPr lang="en-US" sz="2400" dirty="0" err="1" smtClean="0"/>
              <a:t>XORed</a:t>
            </a:r>
            <a:r>
              <a:rPr lang="en-US" sz="2400" dirty="0" smtClean="0"/>
              <a:t> &amp; stored at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8801" y="4324052"/>
            <a:ext cx="8282845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800" b="1" dirty="0" smtClean="0"/>
              <a:t>ORA</a:t>
            </a:r>
            <a:r>
              <a:rPr lang="en-US" sz="2800" dirty="0" smtClean="0"/>
              <a:t>:</a:t>
            </a:r>
            <a:r>
              <a:rPr lang="en-US" sz="2400" dirty="0" smtClean="0"/>
              <a:t> Logical OR with accumulator</a:t>
            </a:r>
          </a:p>
          <a:p>
            <a:pPr marL="457200" indent="-457200"/>
            <a:r>
              <a:rPr lang="en-US" sz="2400" dirty="0" smtClean="0"/>
              <a:t>Examples:	</a:t>
            </a:r>
            <a:r>
              <a:rPr lang="en-US" sz="2400" dirty="0" err="1" smtClean="0"/>
              <a:t>ora</a:t>
            </a:r>
            <a:r>
              <a:rPr lang="en-US" sz="2400" dirty="0" smtClean="0"/>
              <a:t> B		;B and A is </a:t>
            </a:r>
            <a:r>
              <a:rPr lang="en-US" sz="2400" dirty="0" err="1" smtClean="0"/>
              <a:t>ORed</a:t>
            </a:r>
            <a:r>
              <a:rPr lang="en-US" sz="2400" dirty="0" smtClean="0"/>
              <a:t> &amp; stored at A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ora</a:t>
            </a:r>
            <a:r>
              <a:rPr lang="en-US" sz="2400" dirty="0" smtClean="0"/>
              <a:t> M		;content of memory location </a:t>
            </a:r>
          </a:p>
          <a:p>
            <a:pPr marL="457200" indent="-457200"/>
            <a:r>
              <a:rPr lang="en-US" sz="2400" dirty="0" smtClean="0"/>
              <a:t>					 pointed by HL pair is </a:t>
            </a:r>
            <a:r>
              <a:rPr lang="en-US" sz="2400" dirty="0" err="1" smtClean="0"/>
              <a:t>ORed</a:t>
            </a:r>
            <a:r>
              <a:rPr lang="en-US" sz="2400" dirty="0" smtClean="0"/>
              <a:t> with</a:t>
            </a:r>
          </a:p>
          <a:p>
            <a:pPr marL="457200" indent="-457200"/>
            <a:r>
              <a:rPr lang="en-US" sz="2400" dirty="0" smtClean="0"/>
              <a:t>					 A &amp; stored at A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3.  Logical Operations (Conti……)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28801" y="2514600"/>
            <a:ext cx="8907247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7"/>
            </a:pPr>
            <a:r>
              <a:rPr lang="en-US" sz="2800" b="1" dirty="0" smtClean="0"/>
              <a:t>CMP</a:t>
            </a:r>
            <a:r>
              <a:rPr lang="en-US" sz="2800" dirty="0" smtClean="0"/>
              <a:t>:</a:t>
            </a:r>
            <a:r>
              <a:rPr lang="en-US" sz="2400" dirty="0" smtClean="0"/>
              <a:t> Compare with accumulator</a:t>
            </a:r>
          </a:p>
          <a:p>
            <a:pPr marL="457200" indent="-457200"/>
            <a:r>
              <a:rPr lang="en-US" sz="2400" dirty="0" smtClean="0"/>
              <a:t>Examples:	</a:t>
            </a:r>
            <a:r>
              <a:rPr lang="en-US" sz="2400" dirty="0" err="1" smtClean="0"/>
              <a:t>cmp</a:t>
            </a:r>
            <a:r>
              <a:rPr lang="en-US" sz="2400" dirty="0" smtClean="0"/>
              <a:t> B		;B is compared with A</a:t>
            </a:r>
          </a:p>
          <a:p>
            <a:pPr marL="457200" indent="-457200"/>
            <a:r>
              <a:rPr lang="en-US" sz="2400" dirty="0" smtClean="0"/>
              <a:t>					 if A&gt;B, Z=0, Cy=0</a:t>
            </a:r>
          </a:p>
          <a:p>
            <a:pPr marL="457200" indent="-457200"/>
            <a:r>
              <a:rPr lang="en-US" sz="2400" dirty="0" smtClean="0"/>
              <a:t>					 if A=B, Z=1, Cy=0</a:t>
            </a:r>
          </a:p>
          <a:p>
            <a:pPr marL="457200" indent="-457200"/>
            <a:r>
              <a:rPr lang="en-US" sz="2400" dirty="0" smtClean="0"/>
              <a:t>					 if A&lt;B, Z=0, Cy=1</a:t>
            </a:r>
          </a:p>
          <a:p>
            <a:pPr marL="457200" indent="-457200"/>
            <a:r>
              <a:rPr lang="en-US" sz="2400" dirty="0" smtClean="0"/>
              <a:t>			</a:t>
            </a:r>
            <a:r>
              <a:rPr lang="en-US" sz="2400" dirty="0" err="1" smtClean="0"/>
              <a:t>cmp</a:t>
            </a:r>
            <a:r>
              <a:rPr lang="en-US" sz="2400" dirty="0" smtClean="0"/>
              <a:t> M		;A is compared with content of</a:t>
            </a:r>
          </a:p>
          <a:p>
            <a:pPr marL="457200" indent="-457200"/>
            <a:r>
              <a:rPr lang="en-US" sz="2400" dirty="0" smtClean="0"/>
              <a:t>					 memory location pointed by HL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3.  Logical Operations (Conti……)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20800" y="5279648"/>
            <a:ext cx="807047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US" sz="2800" b="1" dirty="0" smtClean="0"/>
              <a:t>CPI</a:t>
            </a:r>
            <a:r>
              <a:rPr lang="en-US" sz="2800" dirty="0" smtClean="0"/>
              <a:t>:</a:t>
            </a:r>
            <a:r>
              <a:rPr lang="en-US" sz="2400" dirty="0" smtClean="0"/>
              <a:t> Compare immediately with accumulator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cpi</a:t>
            </a:r>
            <a:r>
              <a:rPr lang="en-US" sz="2400" dirty="0" smtClean="0"/>
              <a:t> 44h		;44h is compared with A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36803" y="1447800"/>
            <a:ext cx="899188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6"/>
            </a:pPr>
            <a:r>
              <a:rPr lang="en-US" sz="2800" b="1" dirty="0" smtClean="0"/>
              <a:t>ORI</a:t>
            </a:r>
            <a:r>
              <a:rPr lang="en-US" sz="2800" dirty="0" smtClean="0"/>
              <a:t>:</a:t>
            </a:r>
            <a:r>
              <a:rPr lang="en-US" sz="2400" dirty="0" smtClean="0"/>
              <a:t> Logically OR immediately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ori</a:t>
            </a:r>
            <a:r>
              <a:rPr lang="en-US" sz="2400" dirty="0" smtClean="0"/>
              <a:t> 44h		;44h and A </a:t>
            </a:r>
            <a:r>
              <a:rPr lang="en-US" sz="2400" dirty="0" err="1" smtClean="0"/>
              <a:t>ORed</a:t>
            </a:r>
            <a:r>
              <a:rPr lang="en-US" sz="2400" dirty="0" smtClean="0"/>
              <a:t> &amp; stored at 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60" name="TextBox 5"/>
          <p:cNvSpPr txBox="1">
            <a:spLocks noChangeArrowheads="1"/>
          </p:cNvSpPr>
          <p:nvPr/>
        </p:nvSpPr>
        <p:spPr bwMode="auto">
          <a:xfrm>
            <a:off x="1514475" y="65786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Control Unit</a:t>
            </a:r>
          </a:p>
        </p:txBody>
      </p:sp>
      <p:sp>
        <p:nvSpPr>
          <p:cNvPr id="19463" name="Rectangle 4"/>
          <p:cNvSpPr txBox="1">
            <a:spLocks noChangeArrowheads="1"/>
          </p:cNvSpPr>
          <p:nvPr/>
        </p:nvSpPr>
        <p:spPr bwMode="auto">
          <a:xfrm>
            <a:off x="2133601" y="1336676"/>
            <a:ext cx="7762875" cy="475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Control unit (CU) of a processor translates from machine instructions to the control signals for the microoperations that implement them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Control units are implemented in one of two ways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sz="2000" b="1">
                <a:solidFill>
                  <a:schemeClr val="tx2"/>
                </a:solidFill>
                <a:cs typeface="Arial" panose="020B0604020202020204" pitchFamily="34" charset="0"/>
              </a:rPr>
              <a:t>	Hardwired</a:t>
            </a:r>
            <a:r>
              <a:rPr lang="en-US" altLang="ko-KR" sz="2000" b="1">
                <a:cs typeface="Arial" panose="020B0604020202020204" pitchFamily="34" charset="0"/>
              </a:rPr>
              <a:t> Control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CU is made up of sequential and combinational circuits to generate the control signals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sz="2000" b="1">
                <a:solidFill>
                  <a:schemeClr val="tx2"/>
                </a:solidFill>
                <a:cs typeface="Arial" panose="020B0604020202020204" pitchFamily="34" charset="0"/>
              </a:rPr>
              <a:t>	Microprogrammed</a:t>
            </a:r>
            <a:r>
              <a:rPr lang="en-US" altLang="ko-KR" sz="2000" b="1">
                <a:cs typeface="Arial" panose="020B0604020202020204" pitchFamily="34" charset="0"/>
              </a:rPr>
              <a:t> Control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A control memory on the processor contains microprograms that activate the necessary control signals</a:t>
            </a:r>
          </a:p>
          <a:p>
            <a:pPr lvl="1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16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We will consider a hardwired implementation of the control unit for the Basic Computer</a:t>
            </a:r>
          </a:p>
        </p:txBody>
      </p:sp>
    </p:spTree>
    <p:extLst>
      <p:ext uri="{BB962C8B-B14F-4D97-AF65-F5344CB8AC3E}">
        <p14:creationId xmlns:p14="http://schemas.microsoft.com/office/powerpoint/2010/main" xmlns="" val="361030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4.  Branching  Operations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5005" y="1447800"/>
            <a:ext cx="54393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Alter the sequence of execution either </a:t>
            </a:r>
          </a:p>
          <a:p>
            <a:pPr algn="ctr"/>
            <a:r>
              <a:rPr lang="en-US" sz="2400" dirty="0" smtClean="0"/>
              <a:t>conditionally or unconditionally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60800" y="2438400"/>
            <a:ext cx="481188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1320800" y="3810000"/>
            <a:ext cx="786625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 smtClean="0"/>
              <a:t>JMP</a:t>
            </a:r>
            <a:r>
              <a:rPr lang="en-US" sz="2800" dirty="0" smtClean="0"/>
              <a:t>:</a:t>
            </a:r>
            <a:r>
              <a:rPr lang="en-US" sz="2400" dirty="0" smtClean="0"/>
              <a:t> Jump unconditionally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jmp</a:t>
            </a:r>
            <a:r>
              <a:rPr lang="en-US" sz="2400" dirty="0" smtClean="0"/>
              <a:t> 95A1h	;program sequence jumps to </a:t>
            </a:r>
          </a:p>
          <a:p>
            <a:pPr marL="457200" indent="-457200"/>
            <a:r>
              <a:rPr lang="en-US" sz="2400" dirty="0" smtClean="0"/>
              <a:t>					 95A1h memory location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0800" y="1371600"/>
            <a:ext cx="853310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b="1" dirty="0" smtClean="0"/>
              <a:t>CALL</a:t>
            </a:r>
            <a:r>
              <a:rPr lang="en-US" sz="2800" dirty="0" smtClean="0"/>
              <a:t>:</a:t>
            </a:r>
            <a:r>
              <a:rPr lang="en-US" sz="2400" dirty="0" smtClean="0"/>
              <a:t> Unconditional sub-routine call</a:t>
            </a:r>
          </a:p>
          <a:p>
            <a:pPr marL="457200" indent="-457200"/>
            <a:r>
              <a:rPr lang="en-US" sz="2400" dirty="0" smtClean="0"/>
              <a:t>Example:	call 8520h	;call sub-routine starts from 8520h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802" y="2188535"/>
            <a:ext cx="3438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800" b="1" dirty="0" smtClean="0"/>
              <a:t>Conditional Call</a:t>
            </a:r>
            <a:endParaRPr lang="en-US" sz="2400" dirty="0" smtClean="0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4.  Branching  Operations (Conti….)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22400" y="2658140"/>
          <a:ext cx="914400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22400"/>
                <a:gridCol w="4064000"/>
                <a:gridCol w="1422400"/>
                <a:gridCol w="1320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S.N.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Opcode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Description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Flag status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Hex code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CC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Call on Carry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Cy=1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DC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CNC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Call on No Carry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Cy=0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D4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CP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Call on Positive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S=0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F4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4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CM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Call on Minus</a:t>
                      </a:r>
                      <a:r>
                        <a:rPr lang="en-US" sz="2000" baseline="0" dirty="0" smtClean="0"/>
                        <a:t> or negative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S=1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FC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5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CPE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Call on Parity Even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P=1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EC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6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CPO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Call on Parity Odd 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P=0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E4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CZ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Call on Zero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Z=1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CC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8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CNZ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Call on No</a:t>
                      </a:r>
                      <a:r>
                        <a:rPr lang="en-US" sz="2000" baseline="0" dirty="0" smtClean="0"/>
                        <a:t> Zero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Z=0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C4</a:t>
                      </a:r>
                      <a:endParaRPr lang="en-US" sz="2000" dirty="0"/>
                    </a:p>
                  </a:txBody>
                  <a:tcPr marL="121920" marR="12192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8802" y="1329070"/>
            <a:ext cx="852752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800" b="1" dirty="0" smtClean="0"/>
              <a:t>RET</a:t>
            </a:r>
            <a:r>
              <a:rPr lang="en-US" sz="2800" dirty="0" smtClean="0"/>
              <a:t>:</a:t>
            </a:r>
            <a:r>
              <a:rPr lang="en-US" sz="2400" dirty="0" smtClean="0"/>
              <a:t> Return from sub-routine unconditionally</a:t>
            </a:r>
          </a:p>
          <a:p>
            <a:pPr marL="457200" indent="-457200"/>
            <a:r>
              <a:rPr lang="en-US" sz="2400" dirty="0" smtClean="0"/>
              <a:t>Example:	ret		;sub-routine returns to SP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6803" y="2167853"/>
            <a:ext cx="4296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6"/>
            </a:pPr>
            <a:r>
              <a:rPr lang="en-US" sz="2800" b="1" dirty="0" smtClean="0"/>
              <a:t>Return Conditionally</a:t>
            </a:r>
            <a:endParaRPr lang="en-US" sz="2400" dirty="0" smtClean="0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4.  Branching  Operations (Conti….)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22400" y="2658140"/>
          <a:ext cx="914400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22400"/>
                <a:gridCol w="4064000"/>
                <a:gridCol w="1422400"/>
                <a:gridCol w="1320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S.N.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Opcode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Description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Flag status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Hex code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RC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Return on Carry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Cy=1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D8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RNC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Return on No Carry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Cy=0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D0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RP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Return on Positive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S=0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F0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4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RM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Return on Minus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S=1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F8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5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RPE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Return on Parity Even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P=1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E8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6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RPO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Return on Parity Odd 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P=0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E0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RZ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Return on Zero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Z=1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C8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8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RNZ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Return on No</a:t>
                      </a:r>
                      <a:r>
                        <a:rPr lang="en-US" sz="2000" baseline="0" dirty="0" smtClean="0"/>
                        <a:t> Zero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Z=0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C0</a:t>
                      </a:r>
                      <a:endParaRPr lang="en-US" sz="2000" dirty="0"/>
                    </a:p>
                  </a:txBody>
                  <a:tcPr marL="121920" marR="12192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8802" y="1371600"/>
            <a:ext cx="855535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7"/>
            </a:pPr>
            <a:r>
              <a:rPr lang="en-US" sz="2800" b="1" dirty="0" smtClean="0"/>
              <a:t>PCHL</a:t>
            </a:r>
            <a:r>
              <a:rPr lang="en-US" sz="2800" dirty="0" smtClean="0"/>
              <a:t>:</a:t>
            </a:r>
            <a:r>
              <a:rPr lang="en-US" sz="2400" dirty="0" smtClean="0"/>
              <a:t> Load program counter with HL content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pchl</a:t>
            </a:r>
            <a:r>
              <a:rPr lang="en-US" sz="2400" dirty="0" smtClean="0"/>
              <a:t>		;content of HL pair is loaded to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1" y="2133600"/>
            <a:ext cx="3813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US" sz="2800" b="1" dirty="0" smtClean="0"/>
              <a:t>RST</a:t>
            </a:r>
            <a:r>
              <a:rPr lang="en-US" sz="2800" dirty="0" smtClean="0"/>
              <a:t>:</a:t>
            </a:r>
            <a:r>
              <a:rPr lang="en-US" sz="2400" dirty="0" smtClean="0"/>
              <a:t> Restart interrupt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22399" y="2667000"/>
          <a:ext cx="9144001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361"/>
                <a:gridCol w="2262433"/>
                <a:gridCol w="499620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Restart Instruction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Vector Address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Computation of vector address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RST0</a:t>
                      </a:r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0000h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0x8 = (0) = 0000h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RST1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0008h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1x8 = (8) = 0008h</a:t>
                      </a:r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RST2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0010h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2x8 = (16) = 0010h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RST3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0018h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3x8 = (24) = 0018h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RST4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0020h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4x8 = (32) = 0020h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RST5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0028h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5x8 = (40) = 0028h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RST6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0030h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6x8 = (48) = 0030h</a:t>
                      </a:r>
                      <a:endParaRPr lang="en-US" sz="2000" dirty="0"/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RST7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0038h</a:t>
                      </a:r>
                      <a:endParaRPr lang="en-US" sz="20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7x8 = (56) = 0038h</a:t>
                      </a:r>
                      <a:endParaRPr lang="en-US" sz="2000" dirty="0"/>
                    </a:p>
                  </a:txBody>
                  <a:tcPr marL="121920" marR="121920"/>
                </a:tc>
              </a:tr>
            </a:tbl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4.  Branching  Operations (Conti….)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5.  Machine-control Operations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1" y="1447801"/>
            <a:ext cx="5439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It controls machine or external devices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20801" y="3124200"/>
            <a:ext cx="9385903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 smtClean="0"/>
              <a:t>PUSH</a:t>
            </a:r>
            <a:r>
              <a:rPr lang="en-US" sz="2800" dirty="0" smtClean="0"/>
              <a:t>:</a:t>
            </a:r>
            <a:r>
              <a:rPr lang="en-US" sz="2400" dirty="0" smtClean="0"/>
              <a:t> Push register pair into stack 		(mach2.cod)</a:t>
            </a:r>
          </a:p>
          <a:p>
            <a:pPr marL="457200" indent="-457200"/>
            <a:r>
              <a:rPr lang="en-US" sz="2400" dirty="0" smtClean="0"/>
              <a:t>Example:	push B		;pushes content of B &amp; C pair into</a:t>
            </a:r>
          </a:p>
          <a:p>
            <a:pPr marL="457200" indent="-457200"/>
            <a:r>
              <a:rPr lang="en-US" sz="2400" dirty="0" smtClean="0"/>
              <a:t>					 decremented values of SP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4000" y="1905001"/>
            <a:ext cx="4811183" cy="1262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320800" y="4724400"/>
            <a:ext cx="855958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b="1" dirty="0" smtClean="0"/>
              <a:t>POP</a:t>
            </a:r>
            <a:r>
              <a:rPr lang="en-US" sz="2800" dirty="0" smtClean="0"/>
              <a:t>:</a:t>
            </a:r>
            <a:r>
              <a:rPr lang="en-US" sz="2400" dirty="0" smtClean="0"/>
              <a:t> Pop-off stack to register pair</a:t>
            </a:r>
          </a:p>
          <a:p>
            <a:pPr marL="457200" indent="-457200"/>
            <a:r>
              <a:rPr lang="en-US" sz="2400" dirty="0" smtClean="0"/>
              <a:t>Example:	pop D		;memory content pointed by SP is </a:t>
            </a:r>
          </a:p>
          <a:p>
            <a:pPr marL="457200" indent="-457200"/>
            <a:r>
              <a:rPr lang="en-US" sz="2400" dirty="0" smtClean="0"/>
              <a:t>					 copied to D &amp; SP is incremented </a:t>
            </a:r>
          </a:p>
          <a:p>
            <a:pPr marL="457200" indent="-457200"/>
            <a:r>
              <a:rPr lang="en-US" sz="2400" dirty="0" smtClean="0"/>
              <a:t>					by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0800" y="1428453"/>
            <a:ext cx="8576387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b="1" dirty="0" smtClean="0"/>
              <a:t>XTHL</a:t>
            </a:r>
            <a:r>
              <a:rPr lang="en-US" sz="2800" dirty="0" smtClean="0"/>
              <a:t>:</a:t>
            </a:r>
            <a:r>
              <a:rPr lang="en-US" sz="2400" dirty="0" smtClean="0"/>
              <a:t> Exchange H &amp; L with top of stack pointer</a:t>
            </a:r>
          </a:p>
          <a:p>
            <a:pPr marL="457200" indent="-457200"/>
            <a:r>
              <a:rPr lang="en-US" sz="2400" dirty="0" smtClean="0"/>
              <a:t>Examples:	</a:t>
            </a:r>
            <a:r>
              <a:rPr lang="en-US" sz="2400" dirty="0" err="1" smtClean="0"/>
              <a:t>xthl</a:t>
            </a:r>
            <a:r>
              <a:rPr lang="en-US" sz="2400" dirty="0" smtClean="0"/>
              <a:t>		;memory content pointed by SP is</a:t>
            </a:r>
          </a:p>
          <a:p>
            <a:pPr marL="457200" indent="-457200"/>
            <a:r>
              <a:rPr lang="en-US" sz="2400" dirty="0" smtClean="0"/>
              <a:t>					 copied to L &amp; content of L to </a:t>
            </a:r>
          </a:p>
          <a:p>
            <a:pPr marL="457200" indent="-457200"/>
            <a:r>
              <a:rPr lang="en-US" sz="2400" dirty="0" smtClean="0"/>
              <a:t>					 memory location pointed by SP &amp;</a:t>
            </a:r>
          </a:p>
          <a:p>
            <a:pPr marL="457200" indent="-457200"/>
            <a:r>
              <a:rPr lang="en-US" sz="2400" dirty="0" smtClean="0"/>
              <a:t>					 memory content pointed by SP+1</a:t>
            </a:r>
          </a:p>
          <a:p>
            <a:pPr marL="457200" indent="-457200"/>
            <a:r>
              <a:rPr lang="en-US" sz="2400" dirty="0" smtClean="0"/>
              <a:t>					 is copied to H &amp; content of H to</a:t>
            </a:r>
          </a:p>
          <a:p>
            <a:pPr marL="457200" indent="-457200"/>
            <a:r>
              <a:rPr lang="en-US" sz="2400" dirty="0" smtClean="0"/>
              <a:t>					 </a:t>
            </a:r>
            <a:r>
              <a:rPr lang="en-US" sz="2400" dirty="0" err="1" smtClean="0"/>
              <a:t>momery</a:t>
            </a:r>
            <a:r>
              <a:rPr lang="en-US" sz="2400" dirty="0" smtClean="0"/>
              <a:t> location pointed by SP+1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802" y="4191000"/>
            <a:ext cx="852008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800" b="1" dirty="0" smtClean="0"/>
              <a:t>SPHL</a:t>
            </a:r>
            <a:r>
              <a:rPr lang="en-US" sz="2800" dirty="0" smtClean="0"/>
              <a:t>:</a:t>
            </a:r>
            <a:r>
              <a:rPr lang="en-US" sz="2400" dirty="0" smtClean="0"/>
              <a:t> Copy H &amp; L to stack pointer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sphl</a:t>
            </a:r>
            <a:r>
              <a:rPr lang="en-US" sz="2400" dirty="0" smtClean="0"/>
              <a:t>		;content of HL pair is copied to SP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5.  Machine-control Operations (Conti…)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" y="6260068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(mach1.cod)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8802" y="3452336"/>
            <a:ext cx="8276625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7"/>
            </a:pPr>
            <a:r>
              <a:rPr lang="en-US" sz="2800" b="1" dirty="0" smtClean="0"/>
              <a:t>EI</a:t>
            </a:r>
            <a:r>
              <a:rPr lang="en-US" sz="2800" dirty="0" smtClean="0"/>
              <a:t>:</a:t>
            </a:r>
            <a:r>
              <a:rPr lang="en-US" sz="2400" dirty="0" smtClean="0"/>
              <a:t> Enable interrupts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ei</a:t>
            </a:r>
            <a:r>
              <a:rPr lang="en-US" sz="2400" dirty="0" smtClean="0"/>
              <a:t>		;interrupt enable flip-flop is set &amp;</a:t>
            </a:r>
          </a:p>
          <a:p>
            <a:pPr marL="457200" indent="-457200"/>
            <a:r>
              <a:rPr lang="en-US" sz="2400" dirty="0" smtClean="0"/>
              <a:t>					 all interrupts are enabled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" y="4617184"/>
            <a:ext cx="833676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US" sz="2800" b="1" dirty="0" smtClean="0"/>
              <a:t>DI</a:t>
            </a:r>
            <a:r>
              <a:rPr lang="en-US" sz="2800" dirty="0" smtClean="0"/>
              <a:t>:</a:t>
            </a:r>
            <a:r>
              <a:rPr lang="en-US" sz="2400" dirty="0" smtClean="0"/>
              <a:t> Disable interrupts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di</a:t>
            </a:r>
            <a:r>
              <a:rPr lang="en-US" sz="2400" dirty="0" smtClean="0"/>
              <a:t>		;interrupt enable flip-flop is reset</a:t>
            </a:r>
          </a:p>
          <a:p>
            <a:pPr marL="457200" indent="-457200"/>
            <a:r>
              <a:rPr lang="en-US" sz="2400" dirty="0" smtClean="0"/>
              <a:t>					 &amp; all the interrupts except TRAP</a:t>
            </a:r>
          </a:p>
          <a:p>
            <a:pPr marL="457200" indent="-457200"/>
            <a:r>
              <a:rPr lang="en-US" sz="2400" dirty="0" smtClean="0"/>
              <a:t>					 are disabled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gray">
          <a:xfrm>
            <a:off x="10538047" y="6172200"/>
            <a:ext cx="1625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Conti…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5.  Machine-control Operations (Conti…)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36803" y="2385536"/>
            <a:ext cx="789799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6"/>
            </a:pPr>
            <a:r>
              <a:rPr lang="en-US" sz="2800" b="1" dirty="0" smtClean="0"/>
              <a:t>OUT</a:t>
            </a:r>
            <a:r>
              <a:rPr lang="en-US" sz="2800" dirty="0" smtClean="0"/>
              <a:t>:</a:t>
            </a:r>
            <a:r>
              <a:rPr lang="en-US" sz="2400" dirty="0" smtClean="0"/>
              <a:t> Output data from A to Port with 8-bit address</a:t>
            </a:r>
          </a:p>
          <a:p>
            <a:pPr marL="457200" indent="-457200"/>
            <a:r>
              <a:rPr lang="en-US" sz="2400" dirty="0" smtClean="0"/>
              <a:t>Example:	out 81h	;content of A is copied to 81h </a:t>
            </a:r>
          </a:p>
          <a:p>
            <a:pPr marL="457200" indent="-457200"/>
            <a:r>
              <a:rPr lang="en-US" sz="2400" dirty="0" smtClean="0"/>
              <a:t>					 port 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8801" y="1371600"/>
            <a:ext cx="8464177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800" b="1" dirty="0" smtClean="0"/>
              <a:t>IN</a:t>
            </a:r>
            <a:r>
              <a:rPr lang="en-US" sz="2800" dirty="0" smtClean="0"/>
              <a:t>:</a:t>
            </a:r>
            <a:r>
              <a:rPr lang="en-US" sz="2400" dirty="0" smtClean="0"/>
              <a:t> Input data to A from Port with 8-bit address</a:t>
            </a:r>
          </a:p>
          <a:p>
            <a:pPr marL="457200" indent="-457200"/>
            <a:r>
              <a:rPr lang="en-US" sz="2400" dirty="0" smtClean="0"/>
              <a:t>Example:	in 75h		;8-bit data from port 75h is copied</a:t>
            </a:r>
          </a:p>
          <a:p>
            <a:pPr marL="457200" indent="-457200"/>
            <a:r>
              <a:rPr lang="en-US" sz="2400" dirty="0" smtClean="0"/>
              <a:t>					 to 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1783-796E-4379-9850-4ED1FC0502F2}" type="datetime4">
              <a:rPr lang="en-US" smtClean="0"/>
              <a:pPr/>
              <a:t>February 4,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33D4-119D-4620-929A-CF317D60C93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gray">
          <a:xfrm>
            <a:off x="812800" y="914400"/>
            <a:ext cx="109728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defRPr/>
            </a:pPr>
            <a:r>
              <a:rPr lang="en-US" sz="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5.  Machine-control Operations (Conti…)</a:t>
            </a:r>
            <a:endParaRPr lang="en-US" sz="3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9247" y="3657600"/>
            <a:ext cx="572464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arabicPeriod" startAt="11"/>
            </a:pPr>
            <a:r>
              <a:rPr lang="en-US" sz="2800" b="1" dirty="0" smtClean="0"/>
              <a:t> RIM</a:t>
            </a:r>
            <a:r>
              <a:rPr lang="en-US" sz="2800" dirty="0" smtClean="0"/>
              <a:t>:</a:t>
            </a:r>
            <a:r>
              <a:rPr lang="en-US" sz="2400" dirty="0" smtClean="0"/>
              <a:t> Read interrupt mask</a:t>
            </a:r>
          </a:p>
          <a:p>
            <a:pPr marL="457200" indent="-457200"/>
            <a:r>
              <a:rPr lang="en-US" sz="2400" dirty="0" smtClean="0"/>
              <a:t>Example:</a:t>
            </a:r>
            <a:r>
              <a:rPr lang="en-US" sz="2400" smtClean="0"/>
              <a:t>	rim		 </a:t>
            </a:r>
            <a:r>
              <a:rPr lang="en-US" sz="2400" dirty="0" smtClean="0"/>
              <a:t>		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48" y="4724400"/>
            <a:ext cx="412324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12"/>
            </a:pPr>
            <a:r>
              <a:rPr lang="en-US" sz="2800" b="1" dirty="0" smtClean="0"/>
              <a:t> SIM</a:t>
            </a:r>
            <a:r>
              <a:rPr lang="en-US" sz="2800" dirty="0" smtClean="0"/>
              <a:t>:</a:t>
            </a:r>
            <a:r>
              <a:rPr lang="en-US" sz="2400" dirty="0" smtClean="0"/>
              <a:t> Set interrupt mask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sim</a:t>
            </a:r>
            <a:r>
              <a:rPr lang="en-US" sz="2400" dirty="0" smtClean="0"/>
              <a:t> 		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8" y="2593762"/>
            <a:ext cx="875752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10"/>
            </a:pPr>
            <a:r>
              <a:rPr lang="en-US" sz="2800" b="1" dirty="0" smtClean="0"/>
              <a:t> NOP</a:t>
            </a:r>
            <a:r>
              <a:rPr lang="en-US" sz="2800" dirty="0" smtClean="0"/>
              <a:t>:</a:t>
            </a:r>
            <a:r>
              <a:rPr lang="en-US" sz="2400" dirty="0" smtClean="0"/>
              <a:t> No operation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nop</a:t>
            </a:r>
            <a:r>
              <a:rPr lang="en-US" sz="2400" dirty="0" smtClean="0"/>
              <a:t> 		;no operation, introduces time delay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8802" y="1600200"/>
            <a:ext cx="706154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sz="2800" b="1" dirty="0" smtClean="0"/>
              <a:t>HLT</a:t>
            </a:r>
            <a:r>
              <a:rPr lang="en-US" sz="2800" dirty="0" smtClean="0"/>
              <a:t>:</a:t>
            </a:r>
            <a:r>
              <a:rPr lang="en-US" sz="2400" dirty="0" smtClean="0"/>
              <a:t> Halt and enter wait state</a:t>
            </a:r>
          </a:p>
          <a:p>
            <a:pPr marL="457200" indent="-457200"/>
            <a:r>
              <a:rPr lang="en-US" sz="2400" dirty="0" smtClean="0"/>
              <a:t>Example:	</a:t>
            </a:r>
            <a:r>
              <a:rPr lang="en-US" sz="2400" dirty="0" err="1" smtClean="0"/>
              <a:t>hlt</a:t>
            </a:r>
            <a:r>
              <a:rPr lang="en-US" sz="2400" dirty="0" smtClean="0"/>
              <a:t> 		;halts current execution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Timing and Control</a:t>
            </a:r>
          </a:p>
        </p:txBody>
      </p:sp>
      <p:grpSp>
        <p:nvGrpSpPr>
          <p:cNvPr id="20487" name="Group 121"/>
          <p:cNvGrpSpPr>
            <a:grpSpLocks/>
          </p:cNvGrpSpPr>
          <p:nvPr/>
        </p:nvGrpSpPr>
        <p:grpSpPr bwMode="auto">
          <a:xfrm>
            <a:off x="1981200" y="1165226"/>
            <a:ext cx="7384308" cy="5254625"/>
            <a:chOff x="457200" y="1165225"/>
            <a:chExt cx="7384346" cy="5254625"/>
          </a:xfrm>
        </p:grpSpPr>
        <p:sp>
          <p:nvSpPr>
            <p:cNvPr id="20488" name="Rectangle 4"/>
            <p:cNvSpPr>
              <a:spLocks noChangeArrowheads="1"/>
            </p:cNvSpPr>
            <p:nvPr/>
          </p:nvSpPr>
          <p:spPr bwMode="auto">
            <a:xfrm>
              <a:off x="457200" y="1165225"/>
              <a:ext cx="3173946" cy="260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 u="sng">
                  <a:cs typeface="Arial" panose="020B0604020202020204" pitchFamily="34" charset="0"/>
                </a:rPr>
                <a:t>Control unit of Basic Computer</a:t>
              </a: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1984383" y="1973263"/>
              <a:ext cx="2970228" cy="1762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524136" y="1752600"/>
              <a:ext cx="218650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 register (IR)</a:t>
              </a: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2330460" y="1973263"/>
              <a:ext cx="0" cy="1857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973271" y="1941513"/>
              <a:ext cx="343046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2446348" y="1936750"/>
              <a:ext cx="1304852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14    13    12</a:t>
              </a:r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3475054" y="1973263"/>
              <a:ext cx="0" cy="1857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3886218" y="1941513"/>
              <a:ext cx="66364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11 - 0</a:t>
              </a:r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2413010" y="2711450"/>
              <a:ext cx="1258895" cy="542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2752737" y="2757488"/>
              <a:ext cx="58349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3 x 8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613036" y="2895600"/>
              <a:ext cx="74379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decoder</a:t>
              </a: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2386023" y="3055938"/>
              <a:ext cx="162545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7  6 5 4 3  2 1 0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2544774" y="3265488"/>
              <a:ext cx="0" cy="504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4" name="Arc 18"/>
            <p:cNvSpPr>
              <a:spLocks/>
            </p:cNvSpPr>
            <p:nvPr/>
          </p:nvSpPr>
          <p:spPr bwMode="auto">
            <a:xfrm>
              <a:off x="2649549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695587" y="3265488"/>
              <a:ext cx="0" cy="138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6" name="Arc 20"/>
            <p:cNvSpPr>
              <a:spLocks/>
            </p:cNvSpPr>
            <p:nvPr/>
          </p:nvSpPr>
          <p:spPr bwMode="auto">
            <a:xfrm>
              <a:off x="2787662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>
              <a:off x="2833700" y="3265488"/>
              <a:ext cx="0" cy="1428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8" name="Arc 22"/>
            <p:cNvSpPr>
              <a:spLocks/>
            </p:cNvSpPr>
            <p:nvPr/>
          </p:nvSpPr>
          <p:spPr bwMode="auto">
            <a:xfrm>
              <a:off x="2924188" y="3394075"/>
              <a:ext cx="96839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2971813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0" name="Arc 24"/>
            <p:cNvSpPr>
              <a:spLocks/>
            </p:cNvSpPr>
            <p:nvPr/>
          </p:nvSpPr>
          <p:spPr bwMode="auto">
            <a:xfrm>
              <a:off x="3076589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3124214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2" name="Arc 26"/>
            <p:cNvSpPr>
              <a:spLocks/>
            </p:cNvSpPr>
            <p:nvPr/>
          </p:nvSpPr>
          <p:spPr bwMode="auto">
            <a:xfrm>
              <a:off x="3214702" y="3394075"/>
              <a:ext cx="96838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3255978" y="3260725"/>
              <a:ext cx="0" cy="1539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4" name="Arc 28"/>
            <p:cNvSpPr>
              <a:spLocks/>
            </p:cNvSpPr>
            <p:nvPr/>
          </p:nvSpPr>
          <p:spPr bwMode="auto">
            <a:xfrm>
              <a:off x="3352815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3400440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H="1">
              <a:off x="3544904" y="3254375"/>
              <a:ext cx="0" cy="244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7" name="Arc 31"/>
            <p:cNvSpPr>
              <a:spLocks/>
            </p:cNvSpPr>
            <p:nvPr/>
          </p:nvSpPr>
          <p:spPr bwMode="auto">
            <a:xfrm>
              <a:off x="2573349" y="2601913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8" name="Line 32"/>
            <p:cNvSpPr>
              <a:spLocks noChangeShapeType="1"/>
            </p:cNvSpPr>
            <p:nvPr/>
          </p:nvSpPr>
          <p:spPr bwMode="auto">
            <a:xfrm>
              <a:off x="2620974" y="2154238"/>
              <a:ext cx="0" cy="457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9" name="Arc 33"/>
            <p:cNvSpPr>
              <a:spLocks/>
            </p:cNvSpPr>
            <p:nvPr/>
          </p:nvSpPr>
          <p:spPr bwMode="auto">
            <a:xfrm>
              <a:off x="2924188" y="2601913"/>
              <a:ext cx="96839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0" name="Line 34"/>
            <p:cNvSpPr>
              <a:spLocks noChangeShapeType="1"/>
            </p:cNvSpPr>
            <p:nvPr/>
          </p:nvSpPr>
          <p:spPr bwMode="auto">
            <a:xfrm>
              <a:off x="2971813" y="2139950"/>
              <a:ext cx="0" cy="471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1" name="Arc 35"/>
            <p:cNvSpPr>
              <a:spLocks/>
            </p:cNvSpPr>
            <p:nvPr/>
          </p:nvSpPr>
          <p:spPr bwMode="auto">
            <a:xfrm>
              <a:off x="3290903" y="2601913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2" name="Line 36"/>
            <p:cNvSpPr>
              <a:spLocks noChangeShapeType="1"/>
            </p:cNvSpPr>
            <p:nvPr/>
          </p:nvSpPr>
          <p:spPr bwMode="auto">
            <a:xfrm>
              <a:off x="3336940" y="2154238"/>
              <a:ext cx="0" cy="447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4903811" y="2828925"/>
              <a:ext cx="1258894" cy="18811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2041533" y="3443288"/>
              <a:ext cx="177801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2020896" y="34305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46" name="Arc 44"/>
            <p:cNvSpPr>
              <a:spLocks/>
            </p:cNvSpPr>
            <p:nvPr/>
          </p:nvSpPr>
          <p:spPr bwMode="auto">
            <a:xfrm>
              <a:off x="2070108" y="3335338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2108209" y="2154238"/>
              <a:ext cx="0" cy="1219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8" name="Arc 46"/>
            <p:cNvSpPr>
              <a:spLocks/>
            </p:cNvSpPr>
            <p:nvPr/>
          </p:nvSpPr>
          <p:spPr bwMode="auto">
            <a:xfrm>
              <a:off x="4779985" y="3451225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3557604" y="3498850"/>
              <a:ext cx="122079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0" name="Arc 48"/>
            <p:cNvSpPr>
              <a:spLocks/>
            </p:cNvSpPr>
            <p:nvPr/>
          </p:nvSpPr>
          <p:spPr bwMode="auto">
            <a:xfrm>
              <a:off x="4779985" y="3729038"/>
              <a:ext cx="119063" cy="74612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2551124" y="3775075"/>
              <a:ext cx="222727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2" name="Arc 51"/>
            <p:cNvSpPr>
              <a:spLocks/>
            </p:cNvSpPr>
            <p:nvPr/>
          </p:nvSpPr>
          <p:spPr bwMode="auto">
            <a:xfrm>
              <a:off x="4779985" y="3956050"/>
              <a:ext cx="119063" cy="74613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>
              <a:off x="2117734" y="4002088"/>
              <a:ext cx="26606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4021157" y="3243263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</a:t>
              </a: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4141807" y="3292475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56" name="Arc 55"/>
            <p:cNvSpPr>
              <a:spLocks/>
            </p:cNvSpPr>
            <p:nvPr/>
          </p:nvSpPr>
          <p:spPr bwMode="auto">
            <a:xfrm>
              <a:off x="4779985" y="4173538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2551124" y="4221163"/>
              <a:ext cx="222727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 flipH="1">
              <a:off x="2544774" y="4225925"/>
              <a:ext cx="0" cy="5000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9" name="Arc 58"/>
            <p:cNvSpPr>
              <a:spLocks/>
            </p:cNvSpPr>
            <p:nvPr/>
          </p:nvSpPr>
          <p:spPr bwMode="auto">
            <a:xfrm>
              <a:off x="4779985" y="4459288"/>
              <a:ext cx="119063" cy="7778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3771917" y="4508500"/>
              <a:ext cx="10064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>
              <a:off x="3765567" y="4508500"/>
              <a:ext cx="0" cy="217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2413010" y="4729163"/>
              <a:ext cx="1546233" cy="5461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2371735" y="4729163"/>
              <a:ext cx="218650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15   14  . . . .  2  1  0</a:t>
              </a:r>
            </a:p>
          </p:txBody>
        </p:sp>
        <p:sp>
          <p:nvSpPr>
            <p:cNvPr id="64" name="Arc 63"/>
            <p:cNvSpPr>
              <a:spLocks/>
            </p:cNvSpPr>
            <p:nvPr/>
          </p:nvSpPr>
          <p:spPr bwMode="auto">
            <a:xfrm>
              <a:off x="2787662" y="4497388"/>
              <a:ext cx="952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 flipV="1">
              <a:off x="2833700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6" name="Arc 65"/>
            <p:cNvSpPr>
              <a:spLocks/>
            </p:cNvSpPr>
            <p:nvPr/>
          </p:nvSpPr>
          <p:spPr bwMode="auto">
            <a:xfrm>
              <a:off x="3427428" y="4497388"/>
              <a:ext cx="96838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 flipV="1">
              <a:off x="3475054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8" name="Arc 67"/>
            <p:cNvSpPr>
              <a:spLocks/>
            </p:cNvSpPr>
            <p:nvPr/>
          </p:nvSpPr>
          <p:spPr bwMode="auto">
            <a:xfrm>
              <a:off x="3567129" y="4497388"/>
              <a:ext cx="96838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9" name="Line 68"/>
            <p:cNvSpPr>
              <a:spLocks noChangeShapeType="1"/>
            </p:cNvSpPr>
            <p:nvPr/>
          </p:nvSpPr>
          <p:spPr bwMode="auto">
            <a:xfrm flipV="1">
              <a:off x="3614754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2776550" y="4887913"/>
              <a:ext cx="66364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4 x 16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2687650" y="5029200"/>
              <a:ext cx="74379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decoder</a:t>
              </a: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2838462" y="5559425"/>
              <a:ext cx="58349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4-bit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2624149" y="5700713"/>
              <a:ext cx="823949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sequence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2711462" y="5835650"/>
              <a:ext cx="743798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counter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2825762" y="5975350"/>
              <a:ext cx="50334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(SC)</a:t>
              </a:r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2551124" y="5583238"/>
              <a:ext cx="1120781" cy="5921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7" name="Arc 76"/>
            <p:cNvSpPr>
              <a:spLocks/>
            </p:cNvSpPr>
            <p:nvPr/>
          </p:nvSpPr>
          <p:spPr bwMode="auto">
            <a:xfrm>
              <a:off x="2711462" y="5280025"/>
              <a:ext cx="96839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8" name="Line 77"/>
            <p:cNvSpPr>
              <a:spLocks noChangeShapeType="1"/>
            </p:cNvSpPr>
            <p:nvPr/>
          </p:nvSpPr>
          <p:spPr bwMode="auto">
            <a:xfrm flipV="1">
              <a:off x="2759087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9" name="Arc 78"/>
            <p:cNvSpPr>
              <a:spLocks/>
            </p:cNvSpPr>
            <p:nvPr/>
          </p:nvSpPr>
          <p:spPr bwMode="auto">
            <a:xfrm>
              <a:off x="2924188" y="5280025"/>
              <a:ext cx="96839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0" name="Arc 80"/>
            <p:cNvSpPr>
              <a:spLocks/>
            </p:cNvSpPr>
            <p:nvPr/>
          </p:nvSpPr>
          <p:spPr bwMode="auto">
            <a:xfrm>
              <a:off x="3140089" y="5280025"/>
              <a:ext cx="95250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1" name="Line 81"/>
            <p:cNvSpPr>
              <a:spLocks noChangeShapeType="1"/>
            </p:cNvSpPr>
            <p:nvPr/>
          </p:nvSpPr>
          <p:spPr bwMode="auto">
            <a:xfrm flipV="1">
              <a:off x="3186127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2" name="Arc 82"/>
            <p:cNvSpPr>
              <a:spLocks/>
            </p:cNvSpPr>
            <p:nvPr/>
          </p:nvSpPr>
          <p:spPr bwMode="auto">
            <a:xfrm>
              <a:off x="3352815" y="5280025"/>
              <a:ext cx="95250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3" name="Line 83"/>
            <p:cNvSpPr>
              <a:spLocks noChangeShapeType="1"/>
            </p:cNvSpPr>
            <p:nvPr/>
          </p:nvSpPr>
          <p:spPr bwMode="auto">
            <a:xfrm flipV="1">
              <a:off x="3400440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4" name="Arc 84"/>
            <p:cNvSpPr>
              <a:spLocks/>
            </p:cNvSpPr>
            <p:nvPr/>
          </p:nvSpPr>
          <p:spPr bwMode="auto">
            <a:xfrm>
              <a:off x="3689367" y="5643563"/>
              <a:ext cx="120651" cy="76200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5" name="Line 85"/>
            <p:cNvSpPr>
              <a:spLocks noChangeShapeType="1"/>
            </p:cNvSpPr>
            <p:nvPr/>
          </p:nvSpPr>
          <p:spPr bwMode="auto">
            <a:xfrm>
              <a:off x="3795730" y="5686425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6" name="Rectangle 86"/>
            <p:cNvSpPr>
              <a:spLocks noChangeArrowheads="1"/>
            </p:cNvSpPr>
            <p:nvPr/>
          </p:nvSpPr>
          <p:spPr bwMode="auto">
            <a:xfrm>
              <a:off x="4329133" y="5532438"/>
              <a:ext cx="1385003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Increment (INR)</a:t>
              </a:r>
            </a:p>
          </p:txBody>
        </p:sp>
        <p:sp>
          <p:nvSpPr>
            <p:cNvPr id="87" name="Arc 87"/>
            <p:cNvSpPr>
              <a:spLocks/>
            </p:cNvSpPr>
            <p:nvPr/>
          </p:nvSpPr>
          <p:spPr bwMode="auto">
            <a:xfrm>
              <a:off x="3689367" y="5811838"/>
              <a:ext cx="120651" cy="76200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8" name="Line 88"/>
            <p:cNvSpPr>
              <a:spLocks noChangeShapeType="1"/>
            </p:cNvSpPr>
            <p:nvPr/>
          </p:nvSpPr>
          <p:spPr bwMode="auto">
            <a:xfrm>
              <a:off x="3795730" y="5854700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89"/>
            <p:cNvSpPr>
              <a:spLocks noChangeArrowheads="1"/>
            </p:cNvSpPr>
            <p:nvPr/>
          </p:nvSpPr>
          <p:spPr bwMode="auto">
            <a:xfrm>
              <a:off x="4318020" y="5732463"/>
              <a:ext cx="1064401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Clear (CLR)</a:t>
              </a:r>
            </a:p>
          </p:txBody>
        </p:sp>
        <p:sp>
          <p:nvSpPr>
            <p:cNvPr id="90" name="Arc 90"/>
            <p:cNvSpPr>
              <a:spLocks/>
            </p:cNvSpPr>
            <p:nvPr/>
          </p:nvSpPr>
          <p:spPr bwMode="auto">
            <a:xfrm>
              <a:off x="3689367" y="6040438"/>
              <a:ext cx="120651" cy="74612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1" name="Line 91"/>
            <p:cNvSpPr>
              <a:spLocks noChangeShapeType="1"/>
            </p:cNvSpPr>
            <p:nvPr/>
          </p:nvSpPr>
          <p:spPr bwMode="auto">
            <a:xfrm>
              <a:off x="3795730" y="6081713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2" name="Rectangle 92"/>
            <p:cNvSpPr>
              <a:spLocks noChangeArrowheads="1"/>
            </p:cNvSpPr>
            <p:nvPr/>
          </p:nvSpPr>
          <p:spPr bwMode="auto">
            <a:xfrm>
              <a:off x="4324370" y="5959475"/>
              <a:ext cx="58349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Clock</a:t>
              </a:r>
            </a:p>
          </p:txBody>
        </p:sp>
        <p:sp>
          <p:nvSpPr>
            <p:cNvPr id="93" name="Freeform 93"/>
            <p:cNvSpPr>
              <a:spLocks/>
            </p:cNvSpPr>
            <p:nvPr/>
          </p:nvSpPr>
          <p:spPr bwMode="auto">
            <a:xfrm>
              <a:off x="3525854" y="6016625"/>
              <a:ext cx="141288" cy="111125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0" y="48"/>
                </a:cxn>
                <a:cxn ang="0">
                  <a:pos x="88" y="88"/>
                </a:cxn>
              </a:cxnLst>
              <a:rect l="0" t="0" r="r" b="b"/>
              <a:pathLst>
                <a:path w="89" h="89">
                  <a:moveTo>
                    <a:pt x="88" y="0"/>
                  </a:moveTo>
                  <a:lnTo>
                    <a:pt x="0" y="48"/>
                  </a:lnTo>
                  <a:lnTo>
                    <a:pt x="88" y="8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4" name="Arc 94"/>
            <p:cNvSpPr>
              <a:spLocks/>
            </p:cNvSpPr>
            <p:nvPr/>
          </p:nvSpPr>
          <p:spPr bwMode="auto">
            <a:xfrm>
              <a:off x="5492776" y="2722563"/>
              <a:ext cx="96839" cy="9207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5" name="Line 95"/>
            <p:cNvSpPr>
              <a:spLocks noChangeShapeType="1"/>
            </p:cNvSpPr>
            <p:nvPr/>
          </p:nvSpPr>
          <p:spPr bwMode="auto">
            <a:xfrm flipV="1">
              <a:off x="5540401" y="2230438"/>
              <a:ext cx="0" cy="5207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Rectangle 96"/>
            <p:cNvSpPr>
              <a:spLocks noChangeArrowheads="1"/>
            </p:cNvSpPr>
            <p:nvPr/>
          </p:nvSpPr>
          <p:spPr bwMode="auto">
            <a:xfrm>
              <a:off x="5083199" y="2003425"/>
              <a:ext cx="1144551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Other inputs</a:t>
              </a:r>
            </a:p>
          </p:txBody>
        </p:sp>
        <p:sp>
          <p:nvSpPr>
            <p:cNvPr id="97" name="Arc 97"/>
            <p:cNvSpPr>
              <a:spLocks/>
            </p:cNvSpPr>
            <p:nvPr/>
          </p:nvSpPr>
          <p:spPr bwMode="auto">
            <a:xfrm>
              <a:off x="7046947" y="3668713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8" name="Line 98"/>
            <p:cNvSpPr>
              <a:spLocks noChangeShapeType="1"/>
            </p:cNvSpPr>
            <p:nvPr/>
          </p:nvSpPr>
          <p:spPr bwMode="auto">
            <a:xfrm>
              <a:off x="6162705" y="3711575"/>
              <a:ext cx="91281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9" name="Rectangle 99"/>
            <p:cNvSpPr>
              <a:spLocks noChangeArrowheads="1"/>
            </p:cNvSpPr>
            <p:nvPr/>
          </p:nvSpPr>
          <p:spPr bwMode="auto">
            <a:xfrm>
              <a:off x="7097748" y="3538538"/>
              <a:ext cx="743798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80000"/>
                </a:lnSpc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Control</a:t>
              </a:r>
            </a:p>
            <a:p>
              <a:pPr defTabSz="762000">
                <a:lnSpc>
                  <a:spcPct val="80000"/>
                </a:lnSpc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signals</a:t>
              </a:r>
            </a:p>
            <a:p>
              <a:pPr defTabSz="762000">
                <a:lnSpc>
                  <a:spcPct val="80000"/>
                </a:lnSpc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20577" name="Group 104"/>
            <p:cNvGrpSpPr>
              <a:grpSpLocks/>
            </p:cNvGrpSpPr>
            <p:nvPr/>
          </p:nvGrpSpPr>
          <p:grpSpPr bwMode="auto">
            <a:xfrm>
              <a:off x="4435470" y="3490913"/>
              <a:ext cx="195138" cy="358244"/>
              <a:chOff x="2222" y="2510"/>
              <a:chExt cx="124" cy="290"/>
            </a:xfrm>
          </p:grpSpPr>
          <p:sp>
            <p:nvSpPr>
              <p:cNvPr id="101" name="Rectangle 101"/>
              <p:cNvSpPr>
                <a:spLocks noChangeArrowheads="1"/>
              </p:cNvSpPr>
              <p:nvPr/>
            </p:nvSpPr>
            <p:spPr bwMode="auto">
              <a:xfrm>
                <a:off x="2230" y="2510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2" name="Rectangle 102"/>
              <p:cNvSpPr>
                <a:spLocks noChangeArrowheads="1"/>
              </p:cNvSpPr>
              <p:nvPr/>
            </p:nvSpPr>
            <p:spPr bwMode="auto">
              <a:xfrm>
                <a:off x="2222" y="2558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3" name="Rectangle 103"/>
              <p:cNvSpPr>
                <a:spLocks noChangeArrowheads="1"/>
              </p:cNvSpPr>
              <p:nvPr/>
            </p:nvSpPr>
            <p:spPr bwMode="auto">
              <a:xfrm>
                <a:off x="2230" y="2597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20578" name="Group 108"/>
            <p:cNvGrpSpPr>
              <a:grpSpLocks/>
            </p:cNvGrpSpPr>
            <p:nvPr/>
          </p:nvGrpSpPr>
          <p:grpSpPr bwMode="auto">
            <a:xfrm>
              <a:off x="4435470" y="4224346"/>
              <a:ext cx="195138" cy="357903"/>
              <a:chOff x="2222" y="3102"/>
              <a:chExt cx="124" cy="291"/>
            </a:xfrm>
          </p:grpSpPr>
          <p:sp>
            <p:nvSpPr>
              <p:cNvPr id="105" name="Rectangle 105"/>
              <p:cNvSpPr>
                <a:spLocks noChangeArrowheads="1"/>
              </p:cNvSpPr>
              <p:nvPr/>
            </p:nvSpPr>
            <p:spPr bwMode="auto">
              <a:xfrm>
                <a:off x="2230" y="3102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6" name="Rectangle 106"/>
              <p:cNvSpPr>
                <a:spLocks noChangeArrowheads="1"/>
              </p:cNvSpPr>
              <p:nvPr/>
            </p:nvSpPr>
            <p:spPr bwMode="auto">
              <a:xfrm>
                <a:off x="2222" y="3146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7" name="Rectangle 107"/>
              <p:cNvSpPr>
                <a:spLocks noChangeArrowheads="1"/>
              </p:cNvSpPr>
              <p:nvPr/>
            </p:nvSpPr>
            <p:spPr bwMode="auto">
              <a:xfrm>
                <a:off x="2230" y="3187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08" name="Rectangle 109"/>
            <p:cNvSpPr>
              <a:spLocks noChangeArrowheads="1"/>
            </p:cNvSpPr>
            <p:nvPr/>
          </p:nvSpPr>
          <p:spPr bwMode="auto">
            <a:xfrm>
              <a:off x="4021157" y="35321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</a:t>
              </a:r>
            </a:p>
          </p:txBody>
        </p:sp>
        <p:sp>
          <p:nvSpPr>
            <p:cNvPr id="109" name="Rectangle 110"/>
            <p:cNvSpPr>
              <a:spLocks noChangeArrowheads="1"/>
            </p:cNvSpPr>
            <p:nvPr/>
          </p:nvSpPr>
          <p:spPr bwMode="auto">
            <a:xfrm>
              <a:off x="4017982" y="4016375"/>
              <a:ext cx="265113" cy="2508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</a:t>
              </a:r>
            </a:p>
          </p:txBody>
        </p:sp>
        <p:sp>
          <p:nvSpPr>
            <p:cNvPr id="110" name="Rectangle 111"/>
            <p:cNvSpPr>
              <a:spLocks noChangeArrowheads="1"/>
            </p:cNvSpPr>
            <p:nvPr/>
          </p:nvSpPr>
          <p:spPr bwMode="auto">
            <a:xfrm>
              <a:off x="4008456" y="4283075"/>
              <a:ext cx="265113" cy="2508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</a:t>
              </a:r>
            </a:p>
          </p:txBody>
        </p:sp>
        <p:sp>
          <p:nvSpPr>
            <p:cNvPr id="111" name="Rectangle 112"/>
            <p:cNvSpPr>
              <a:spLocks noChangeArrowheads="1"/>
            </p:cNvSpPr>
            <p:nvPr/>
          </p:nvSpPr>
          <p:spPr bwMode="auto">
            <a:xfrm>
              <a:off x="4141807" y="3581400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7</a:t>
              </a:r>
            </a:p>
          </p:txBody>
        </p:sp>
        <p:sp>
          <p:nvSpPr>
            <p:cNvPr id="112" name="Rectangle 113"/>
            <p:cNvSpPr>
              <a:spLocks noChangeArrowheads="1"/>
            </p:cNvSpPr>
            <p:nvPr/>
          </p:nvSpPr>
          <p:spPr bwMode="auto">
            <a:xfrm>
              <a:off x="4097357" y="4037013"/>
              <a:ext cx="343046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</a:t>
              </a:r>
            </a:p>
          </p:txBody>
        </p:sp>
        <p:sp>
          <p:nvSpPr>
            <p:cNvPr id="113" name="Rectangle 114"/>
            <p:cNvSpPr>
              <a:spLocks noChangeArrowheads="1"/>
            </p:cNvSpPr>
            <p:nvPr/>
          </p:nvSpPr>
          <p:spPr bwMode="auto">
            <a:xfrm>
              <a:off x="4097357" y="43322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114" name="Line 117"/>
            <p:cNvSpPr>
              <a:spLocks noChangeShapeType="1"/>
            </p:cNvSpPr>
            <p:nvPr/>
          </p:nvSpPr>
          <p:spPr bwMode="auto">
            <a:xfrm>
              <a:off x="2114559" y="3629025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5" name="Line 118"/>
            <p:cNvSpPr>
              <a:spLocks noChangeShapeType="1"/>
            </p:cNvSpPr>
            <p:nvPr/>
          </p:nvSpPr>
          <p:spPr bwMode="auto">
            <a:xfrm flipV="1">
              <a:off x="2976576" y="534670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6" name="Text Box 119"/>
            <p:cNvSpPr txBox="1">
              <a:spLocks noChangeArrowheads="1"/>
            </p:cNvSpPr>
            <p:nvPr/>
          </p:nvSpPr>
          <p:spPr bwMode="auto">
            <a:xfrm>
              <a:off x="4863589" y="3400425"/>
              <a:ext cx="1226625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Combinational</a:t>
              </a:r>
            </a:p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Control</a:t>
              </a:r>
            </a:p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logic</a:t>
              </a:r>
            </a:p>
          </p:txBody>
        </p:sp>
        <p:sp>
          <p:nvSpPr>
            <p:cNvPr id="117" name="Line 125"/>
            <p:cNvSpPr>
              <a:spLocks noChangeShapeType="1"/>
            </p:cNvSpPr>
            <p:nvPr/>
          </p:nvSpPr>
          <p:spPr bwMode="auto">
            <a:xfrm>
              <a:off x="6257955" y="3657600"/>
              <a:ext cx="9525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Line 126"/>
            <p:cNvSpPr>
              <a:spLocks noChangeShapeType="1"/>
            </p:cNvSpPr>
            <p:nvPr/>
          </p:nvSpPr>
          <p:spPr bwMode="auto">
            <a:xfrm>
              <a:off x="5495951" y="2619375"/>
              <a:ext cx="85725" cy="38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9" name="Line 127"/>
            <p:cNvSpPr>
              <a:spLocks noChangeShapeType="1"/>
            </p:cNvSpPr>
            <p:nvPr/>
          </p:nvSpPr>
          <p:spPr bwMode="auto">
            <a:xfrm>
              <a:off x="4200544" y="2152650"/>
              <a:ext cx="0" cy="904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0" name="Line 129"/>
            <p:cNvSpPr>
              <a:spLocks noChangeShapeType="1"/>
            </p:cNvSpPr>
            <p:nvPr/>
          </p:nvSpPr>
          <p:spPr bwMode="auto">
            <a:xfrm>
              <a:off x="4200544" y="3048000"/>
              <a:ext cx="6858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1" name="Rectangle 130"/>
            <p:cNvSpPr>
              <a:spLocks noChangeArrowheads="1"/>
            </p:cNvSpPr>
            <p:nvPr/>
          </p:nvSpPr>
          <p:spPr bwMode="auto">
            <a:xfrm>
              <a:off x="1219204" y="2343150"/>
              <a:ext cx="5438803" cy="4076700"/>
            </a:xfrm>
            <a:prstGeom prst="rect">
              <a:avLst/>
            </a:prstGeom>
            <a:noFill/>
            <a:ln w="3810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962816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Timing Signals</a:t>
            </a:r>
          </a:p>
        </p:txBody>
      </p:sp>
      <p:pic>
        <p:nvPicPr>
          <p:cNvPr id="21511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11476" y="2667000"/>
            <a:ext cx="6632575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Rectangle 4"/>
          <p:cNvSpPr>
            <a:spLocks noChangeArrowheads="1"/>
          </p:cNvSpPr>
          <p:nvPr/>
        </p:nvSpPr>
        <p:spPr bwMode="auto">
          <a:xfrm>
            <a:off x="1990725" y="1157288"/>
            <a:ext cx="8008938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Generated by 4-bit sequence counter and 4</a:t>
            </a:r>
            <a:r>
              <a:rPr lang="en-US" altLang="ko-KR" sz="1400" b="1"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ko-KR" sz="1400" b="1">
                <a:cs typeface="Arial" panose="020B0604020202020204" pitchFamily="34" charset="0"/>
              </a:rPr>
              <a:t>16 decoder</a:t>
            </a: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The SC can be incremented or cleared.</a:t>
            </a:r>
          </a:p>
          <a:p>
            <a:pPr eaLnBrk="1" hangingPunct="1"/>
            <a:endParaRPr lang="en-US" altLang="ko-KR" sz="14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Example:   T</a:t>
            </a:r>
            <a:r>
              <a:rPr lang="en-US" altLang="ko-KR" sz="1400" b="1" baseline="-25000">
                <a:cs typeface="Arial" panose="020B0604020202020204" pitchFamily="34" charset="0"/>
              </a:rPr>
              <a:t>0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1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2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3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4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0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1</a:t>
            </a:r>
            <a:r>
              <a:rPr lang="en-US" altLang="ko-KR" sz="1400" b="1">
                <a:cs typeface="Arial" panose="020B0604020202020204" pitchFamily="34" charset="0"/>
              </a:rPr>
              <a:t>, . . .</a:t>
            </a: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       Assume: At time T</a:t>
            </a:r>
            <a:r>
              <a:rPr lang="en-US" altLang="ko-KR" sz="1400" b="1" baseline="-25000">
                <a:cs typeface="Arial" panose="020B0604020202020204" pitchFamily="34" charset="0"/>
              </a:rPr>
              <a:t>4</a:t>
            </a:r>
            <a:r>
              <a:rPr lang="en-US" altLang="ko-KR" sz="1400" b="1">
                <a:cs typeface="Arial" panose="020B0604020202020204" pitchFamily="34" charset="0"/>
              </a:rPr>
              <a:t>, SC is cleared to 0 if decoder output D3 is active.</a:t>
            </a:r>
          </a:p>
        </p:txBody>
      </p:sp>
      <p:sp>
        <p:nvSpPr>
          <p:cNvPr id="21513" name="Rectangle 5"/>
          <p:cNvSpPr>
            <a:spLocks noChangeArrowheads="1"/>
          </p:cNvSpPr>
          <p:nvPr/>
        </p:nvSpPr>
        <p:spPr bwMode="auto">
          <a:xfrm>
            <a:off x="4664076" y="2387600"/>
            <a:ext cx="1590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ko-KR" sz="1400" b="1" baseline="-25000">
                <a:solidFill>
                  <a:srgbClr val="000000"/>
                </a:solidFill>
                <a:cs typeface="Arial" panose="020B0604020202020204" pitchFamily="34" charset="0"/>
              </a:rPr>
              <a:t>3</a:t>
            </a:r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</a:rPr>
              <a:t>T</a:t>
            </a:r>
            <a:r>
              <a:rPr lang="en-US" altLang="ko-KR" sz="1400" b="1" baseline="-25000">
                <a:solidFill>
                  <a:srgbClr val="000000"/>
                </a:solidFill>
                <a:cs typeface="Arial" panose="020B0604020202020204" pitchFamily="34" charset="0"/>
              </a:rPr>
              <a:t>4</a:t>
            </a:r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</a:rPr>
              <a:t>: SC </a:t>
            </a:r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4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596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Cycle</a:t>
            </a:r>
          </a:p>
        </p:txBody>
      </p:sp>
      <p:sp>
        <p:nvSpPr>
          <p:cNvPr id="22535" name="Rectangle 3"/>
          <p:cNvSpPr txBox="1">
            <a:spLocks noChangeArrowheads="1"/>
          </p:cNvSpPr>
          <p:nvPr/>
        </p:nvSpPr>
        <p:spPr bwMode="auto">
          <a:xfrm>
            <a:off x="1981200" y="13414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In Basic Computer, a machine instruction is executed in the following cycle: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Fetch an instruction from memory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Decode the instruction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Read the effective address from memory if the instruction has an indirect address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Execute the instruction</a:t>
            </a:r>
          </a:p>
          <a:p>
            <a:pPr lvl="1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16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After an instruction is executed, the cycle starts again at step 1, for the next instruction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ko-KR" b="1" i="1">
                <a:solidFill>
                  <a:schemeClr val="tx2"/>
                </a:solidFill>
                <a:cs typeface="Arial" panose="020B0604020202020204" pitchFamily="34" charset="0"/>
              </a:rPr>
              <a:t>Note</a:t>
            </a:r>
            <a:r>
              <a:rPr lang="en-US" altLang="ko-KR" b="1">
                <a:solidFill>
                  <a:schemeClr val="tx2"/>
                </a:solidFill>
                <a:cs typeface="Arial" panose="020B0604020202020204" pitchFamily="34" charset="0"/>
              </a:rPr>
              <a:t>: Every different processor has its own (different) instruction cycle 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71794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Fetch and Decode</a:t>
            </a:r>
          </a:p>
        </p:txBody>
      </p:sp>
      <p:grpSp>
        <p:nvGrpSpPr>
          <p:cNvPr id="23559" name="Group 332"/>
          <p:cNvGrpSpPr>
            <a:grpSpLocks/>
          </p:cNvGrpSpPr>
          <p:nvPr/>
        </p:nvGrpSpPr>
        <p:grpSpPr bwMode="auto">
          <a:xfrm>
            <a:off x="1933576" y="1063626"/>
            <a:ext cx="7929563" cy="5256213"/>
            <a:chOff x="409575" y="1063625"/>
            <a:chExt cx="7929563" cy="5256495"/>
          </a:xfrm>
        </p:grpSpPr>
        <p:sp>
          <p:nvSpPr>
            <p:cNvPr id="23560" name="Rectangle 4"/>
            <p:cNvSpPr>
              <a:spLocks noChangeArrowheads="1"/>
            </p:cNvSpPr>
            <p:nvPr/>
          </p:nvSpPr>
          <p:spPr bwMode="auto">
            <a:xfrm>
              <a:off x="1627188" y="1328738"/>
              <a:ext cx="34925" cy="15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561" name="Rectangle 6"/>
            <p:cNvSpPr>
              <a:spLocks noChangeArrowheads="1"/>
            </p:cNvSpPr>
            <p:nvPr/>
          </p:nvSpPr>
          <p:spPr bwMode="auto">
            <a:xfrm>
              <a:off x="409575" y="1063625"/>
              <a:ext cx="2338782" cy="312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2000" b="1" u="sng">
                  <a:cs typeface="Arial" panose="020B0604020202020204" pitchFamily="34" charset="0"/>
                </a:rPr>
                <a:t>Fetch and Decode</a:t>
              </a:r>
            </a:p>
          </p:txBody>
        </p:sp>
        <p:sp>
          <p:nvSpPr>
            <p:cNvPr id="23562" name="Rectangle 7"/>
            <p:cNvSpPr>
              <a:spLocks noChangeArrowheads="1"/>
            </p:cNvSpPr>
            <p:nvPr/>
          </p:nvSpPr>
          <p:spPr bwMode="auto">
            <a:xfrm>
              <a:off x="3027363" y="1084263"/>
              <a:ext cx="5284588" cy="67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T0: AR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PC  (S</a:t>
              </a:r>
              <a:r>
                <a:rPr lang="en-US" altLang="ko-KR" sz="14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400" b="1">
                  <a:cs typeface="Arial" panose="020B0604020202020204" pitchFamily="34" charset="0"/>
                </a:rPr>
                <a:t>S</a:t>
              </a:r>
              <a:r>
                <a:rPr lang="en-US" altLang="ko-KR" sz="14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400" b="1">
                  <a:cs typeface="Arial" panose="020B0604020202020204" pitchFamily="34" charset="0"/>
                </a:rPr>
                <a:t>S</a:t>
              </a:r>
              <a:r>
                <a:rPr lang="en-US" altLang="ko-KR" sz="14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400" b="1">
                  <a:cs typeface="Arial" panose="020B0604020202020204" pitchFamily="34" charset="0"/>
                </a:rPr>
                <a:t>=010, T0=1)</a:t>
              </a: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T1: IR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M [AR],  PC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PC + 1   (S0S1S2=111, T1=1)</a:t>
              </a: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T2: D0, . . . , D7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Decode IR(12-14), AR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IR(0-11), I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IR(15)</a:t>
              </a:r>
            </a:p>
          </p:txBody>
        </p:sp>
        <p:sp>
          <p:nvSpPr>
            <p:cNvPr id="23563" name="Arc 8"/>
            <p:cNvSpPr>
              <a:spLocks/>
            </p:cNvSpPr>
            <p:nvPr/>
          </p:nvSpPr>
          <p:spPr bwMode="auto">
            <a:xfrm>
              <a:off x="5475288" y="2044700"/>
              <a:ext cx="112712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64" name="Line 9"/>
            <p:cNvSpPr>
              <a:spLocks noChangeShapeType="1"/>
            </p:cNvSpPr>
            <p:nvPr/>
          </p:nvSpPr>
          <p:spPr bwMode="auto">
            <a:xfrm>
              <a:off x="5232400" y="2098675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Line 10"/>
            <p:cNvSpPr>
              <a:spLocks noChangeShapeType="1"/>
            </p:cNvSpPr>
            <p:nvPr/>
          </p:nvSpPr>
          <p:spPr bwMode="auto">
            <a:xfrm flipH="1">
              <a:off x="2411413" y="2030413"/>
              <a:ext cx="2530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6" name="Line 11"/>
            <p:cNvSpPr>
              <a:spLocks noChangeShapeType="1"/>
            </p:cNvSpPr>
            <p:nvPr/>
          </p:nvSpPr>
          <p:spPr bwMode="auto">
            <a:xfrm flipH="1">
              <a:off x="4824413" y="2098675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7" name="Line 12"/>
            <p:cNvSpPr>
              <a:spLocks noChangeShapeType="1"/>
            </p:cNvSpPr>
            <p:nvPr/>
          </p:nvSpPr>
          <p:spPr bwMode="auto">
            <a:xfrm flipH="1" flipV="1">
              <a:off x="4824413" y="2170113"/>
              <a:ext cx="128587" cy="47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68" name="Group 19"/>
            <p:cNvGrpSpPr>
              <a:grpSpLocks/>
            </p:cNvGrpSpPr>
            <p:nvPr/>
          </p:nvGrpSpPr>
          <p:grpSpPr bwMode="auto">
            <a:xfrm>
              <a:off x="4906963" y="1971675"/>
              <a:ext cx="320675" cy="255588"/>
              <a:chOff x="2608" y="2732"/>
              <a:chExt cx="217" cy="176"/>
            </a:xfrm>
          </p:grpSpPr>
          <p:sp>
            <p:nvSpPr>
              <p:cNvPr id="23715" name="Arc 13"/>
              <p:cNvSpPr>
                <a:spLocks/>
              </p:cNvSpPr>
              <p:nvPr/>
            </p:nvSpPr>
            <p:spPr bwMode="auto">
              <a:xfrm>
                <a:off x="2644" y="2737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6" name="Arc 14"/>
              <p:cNvSpPr>
                <a:spLocks/>
              </p:cNvSpPr>
              <p:nvPr/>
            </p:nvSpPr>
            <p:spPr bwMode="auto">
              <a:xfrm>
                <a:off x="2644" y="2816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7" name="Line 15"/>
              <p:cNvSpPr>
                <a:spLocks noChangeShapeType="1"/>
              </p:cNvSpPr>
              <p:nvPr/>
            </p:nvSpPr>
            <p:spPr bwMode="auto">
              <a:xfrm>
                <a:off x="2616" y="2732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8" name="Line 16"/>
              <p:cNvSpPr>
                <a:spLocks noChangeShapeType="1"/>
              </p:cNvSpPr>
              <p:nvPr/>
            </p:nvSpPr>
            <p:spPr bwMode="auto">
              <a:xfrm>
                <a:off x="2616" y="2908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9" name="Arc 17"/>
              <p:cNvSpPr>
                <a:spLocks/>
              </p:cNvSpPr>
              <p:nvPr/>
            </p:nvSpPr>
            <p:spPr bwMode="auto">
              <a:xfrm>
                <a:off x="2608" y="2737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20" name="Arc 18"/>
              <p:cNvSpPr>
                <a:spLocks/>
              </p:cNvSpPr>
              <p:nvPr/>
            </p:nvSpPr>
            <p:spPr bwMode="auto">
              <a:xfrm>
                <a:off x="2608" y="2816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69" name="Arc 20"/>
            <p:cNvSpPr>
              <a:spLocks/>
            </p:cNvSpPr>
            <p:nvPr/>
          </p:nvSpPr>
          <p:spPr bwMode="auto">
            <a:xfrm>
              <a:off x="5475288" y="2370138"/>
              <a:ext cx="112712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0" name="Line 21"/>
            <p:cNvSpPr>
              <a:spLocks noChangeShapeType="1"/>
            </p:cNvSpPr>
            <p:nvPr/>
          </p:nvSpPr>
          <p:spPr bwMode="auto">
            <a:xfrm>
              <a:off x="5237163" y="2424113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1" name="Line 22"/>
            <p:cNvSpPr>
              <a:spLocks noChangeShapeType="1"/>
            </p:cNvSpPr>
            <p:nvPr/>
          </p:nvSpPr>
          <p:spPr bwMode="auto">
            <a:xfrm flipH="1">
              <a:off x="4694238" y="2366963"/>
              <a:ext cx="2651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Line 23"/>
            <p:cNvSpPr>
              <a:spLocks noChangeShapeType="1"/>
            </p:cNvSpPr>
            <p:nvPr/>
          </p:nvSpPr>
          <p:spPr bwMode="auto">
            <a:xfrm flipH="1">
              <a:off x="2411413" y="2424113"/>
              <a:ext cx="25415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Line 24"/>
            <p:cNvSpPr>
              <a:spLocks noChangeShapeType="1"/>
            </p:cNvSpPr>
            <p:nvPr/>
          </p:nvSpPr>
          <p:spPr bwMode="auto">
            <a:xfrm flipH="1" flipV="1">
              <a:off x="4824413" y="2495550"/>
              <a:ext cx="123825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74" name="Group 31"/>
            <p:cNvGrpSpPr>
              <a:grpSpLocks/>
            </p:cNvGrpSpPr>
            <p:nvPr/>
          </p:nvGrpSpPr>
          <p:grpSpPr bwMode="auto">
            <a:xfrm>
              <a:off x="4906963" y="2297113"/>
              <a:ext cx="320675" cy="268287"/>
              <a:chOff x="2608" y="2956"/>
              <a:chExt cx="217" cy="184"/>
            </a:xfrm>
          </p:grpSpPr>
          <p:sp>
            <p:nvSpPr>
              <p:cNvPr id="23709" name="Arc 25"/>
              <p:cNvSpPr>
                <a:spLocks/>
              </p:cNvSpPr>
              <p:nvPr/>
            </p:nvSpPr>
            <p:spPr bwMode="auto">
              <a:xfrm>
                <a:off x="2644" y="2961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0" name="Arc 26"/>
              <p:cNvSpPr>
                <a:spLocks/>
              </p:cNvSpPr>
              <p:nvPr/>
            </p:nvSpPr>
            <p:spPr bwMode="auto">
              <a:xfrm>
                <a:off x="2644" y="3044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1" name="Line 27"/>
              <p:cNvSpPr>
                <a:spLocks noChangeShapeType="1"/>
              </p:cNvSpPr>
              <p:nvPr/>
            </p:nvSpPr>
            <p:spPr bwMode="auto">
              <a:xfrm>
                <a:off x="2616" y="295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2" name="Line 28"/>
              <p:cNvSpPr>
                <a:spLocks noChangeShapeType="1"/>
              </p:cNvSpPr>
              <p:nvPr/>
            </p:nvSpPr>
            <p:spPr bwMode="auto">
              <a:xfrm>
                <a:off x="2616" y="314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3" name="Arc 29"/>
              <p:cNvSpPr>
                <a:spLocks/>
              </p:cNvSpPr>
              <p:nvPr/>
            </p:nvSpPr>
            <p:spPr bwMode="auto">
              <a:xfrm>
                <a:off x="2608" y="2961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4" name="Arc 30"/>
              <p:cNvSpPr>
                <a:spLocks/>
              </p:cNvSpPr>
              <p:nvPr/>
            </p:nvSpPr>
            <p:spPr bwMode="auto">
              <a:xfrm>
                <a:off x="2608" y="3044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75" name="Arc 32"/>
            <p:cNvSpPr>
              <a:spLocks/>
            </p:cNvSpPr>
            <p:nvPr/>
          </p:nvSpPr>
          <p:spPr bwMode="auto">
            <a:xfrm>
              <a:off x="5475288" y="2711450"/>
              <a:ext cx="112712" cy="90488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6" name="Line 33"/>
            <p:cNvSpPr>
              <a:spLocks noChangeShapeType="1"/>
            </p:cNvSpPr>
            <p:nvPr/>
          </p:nvSpPr>
          <p:spPr bwMode="auto">
            <a:xfrm>
              <a:off x="5232400" y="2762250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Line 34"/>
            <p:cNvSpPr>
              <a:spLocks noChangeShapeType="1"/>
            </p:cNvSpPr>
            <p:nvPr/>
          </p:nvSpPr>
          <p:spPr bwMode="auto">
            <a:xfrm flipH="1">
              <a:off x="4694238" y="2692400"/>
              <a:ext cx="2476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8" name="Line 35"/>
            <p:cNvSpPr>
              <a:spLocks noChangeShapeType="1"/>
            </p:cNvSpPr>
            <p:nvPr/>
          </p:nvSpPr>
          <p:spPr bwMode="auto">
            <a:xfrm flipH="1">
              <a:off x="4824413" y="2762250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Line 36"/>
            <p:cNvSpPr>
              <a:spLocks noChangeShapeType="1"/>
            </p:cNvSpPr>
            <p:nvPr/>
          </p:nvSpPr>
          <p:spPr bwMode="auto">
            <a:xfrm flipH="1">
              <a:off x="4824413" y="2820988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80" name="Group 43"/>
            <p:cNvGrpSpPr>
              <a:grpSpLocks/>
            </p:cNvGrpSpPr>
            <p:nvPr/>
          </p:nvGrpSpPr>
          <p:grpSpPr bwMode="auto">
            <a:xfrm>
              <a:off x="4906963" y="2624138"/>
              <a:ext cx="320675" cy="266700"/>
              <a:chOff x="2608" y="3180"/>
              <a:chExt cx="217" cy="184"/>
            </a:xfrm>
          </p:grpSpPr>
          <p:sp>
            <p:nvSpPr>
              <p:cNvPr id="23703" name="Arc 37"/>
              <p:cNvSpPr>
                <a:spLocks/>
              </p:cNvSpPr>
              <p:nvPr/>
            </p:nvSpPr>
            <p:spPr bwMode="auto">
              <a:xfrm>
                <a:off x="2644" y="3185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4" name="Arc 38"/>
              <p:cNvSpPr>
                <a:spLocks/>
              </p:cNvSpPr>
              <p:nvPr/>
            </p:nvSpPr>
            <p:spPr bwMode="auto">
              <a:xfrm>
                <a:off x="2644" y="3268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5" name="Line 39"/>
              <p:cNvSpPr>
                <a:spLocks noChangeShapeType="1"/>
              </p:cNvSpPr>
              <p:nvPr/>
            </p:nvSpPr>
            <p:spPr bwMode="auto">
              <a:xfrm>
                <a:off x="2616" y="318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6" name="Line 40"/>
              <p:cNvSpPr>
                <a:spLocks noChangeShapeType="1"/>
              </p:cNvSpPr>
              <p:nvPr/>
            </p:nvSpPr>
            <p:spPr bwMode="auto">
              <a:xfrm>
                <a:off x="2616" y="3364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7" name="Arc 41"/>
              <p:cNvSpPr>
                <a:spLocks/>
              </p:cNvSpPr>
              <p:nvPr/>
            </p:nvSpPr>
            <p:spPr bwMode="auto">
              <a:xfrm>
                <a:off x="2608" y="3185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8" name="Arc 42"/>
              <p:cNvSpPr>
                <a:spLocks/>
              </p:cNvSpPr>
              <p:nvPr/>
            </p:nvSpPr>
            <p:spPr bwMode="auto">
              <a:xfrm>
                <a:off x="2608" y="3268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81" name="Line 44"/>
            <p:cNvSpPr>
              <a:spLocks noChangeShapeType="1"/>
            </p:cNvSpPr>
            <p:nvPr/>
          </p:nvSpPr>
          <p:spPr bwMode="auto">
            <a:xfrm>
              <a:off x="5580063" y="1895475"/>
              <a:ext cx="0" cy="1073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2" name="Rectangle 45"/>
            <p:cNvSpPr>
              <a:spLocks noChangeArrowheads="1"/>
            </p:cNvSpPr>
            <p:nvPr/>
          </p:nvSpPr>
          <p:spPr bwMode="auto">
            <a:xfrm>
              <a:off x="5527675" y="1968500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583" name="Rectangle 46"/>
            <p:cNvSpPr>
              <a:spLocks noChangeArrowheads="1"/>
            </p:cNvSpPr>
            <p:nvPr/>
          </p:nvSpPr>
          <p:spPr bwMode="auto">
            <a:xfrm>
              <a:off x="5534025" y="2306638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584" name="Rectangle 47"/>
            <p:cNvSpPr>
              <a:spLocks noChangeArrowheads="1"/>
            </p:cNvSpPr>
            <p:nvPr/>
          </p:nvSpPr>
          <p:spPr bwMode="auto">
            <a:xfrm>
              <a:off x="5540375" y="2646363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585" name="Line 48"/>
            <p:cNvSpPr>
              <a:spLocks noChangeShapeType="1"/>
            </p:cNvSpPr>
            <p:nvPr/>
          </p:nvSpPr>
          <p:spPr bwMode="auto">
            <a:xfrm>
              <a:off x="5592763" y="1901825"/>
              <a:ext cx="8128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6" name="Rectangle 49"/>
            <p:cNvSpPr>
              <a:spLocks noChangeArrowheads="1"/>
            </p:cNvSpPr>
            <p:nvPr/>
          </p:nvSpPr>
          <p:spPr bwMode="auto">
            <a:xfrm>
              <a:off x="5830888" y="2274888"/>
              <a:ext cx="45044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Bus</a:t>
              </a:r>
            </a:p>
          </p:txBody>
        </p:sp>
        <p:sp>
          <p:nvSpPr>
            <p:cNvPr id="23587" name="Line 50"/>
            <p:cNvSpPr>
              <a:spLocks noChangeShapeType="1"/>
            </p:cNvSpPr>
            <p:nvPr/>
          </p:nvSpPr>
          <p:spPr bwMode="auto">
            <a:xfrm>
              <a:off x="6397625" y="1895475"/>
              <a:ext cx="0" cy="1066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8" name="Line 51"/>
            <p:cNvSpPr>
              <a:spLocks noChangeShapeType="1"/>
            </p:cNvSpPr>
            <p:nvPr/>
          </p:nvSpPr>
          <p:spPr bwMode="auto">
            <a:xfrm>
              <a:off x="5586413" y="2959100"/>
              <a:ext cx="3270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9" name="Line 52"/>
            <p:cNvSpPr>
              <a:spLocks noChangeShapeType="1"/>
            </p:cNvSpPr>
            <p:nvPr/>
          </p:nvSpPr>
          <p:spPr bwMode="auto">
            <a:xfrm>
              <a:off x="6054725" y="2959100"/>
              <a:ext cx="355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0" name="Line 53"/>
            <p:cNvSpPr>
              <a:spLocks noChangeShapeType="1"/>
            </p:cNvSpPr>
            <p:nvPr/>
          </p:nvSpPr>
          <p:spPr bwMode="auto">
            <a:xfrm>
              <a:off x="5918200" y="2965450"/>
              <a:ext cx="0" cy="3165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1" name="Rectangle 54"/>
            <p:cNvSpPr>
              <a:spLocks noChangeArrowheads="1"/>
            </p:cNvSpPr>
            <p:nvPr/>
          </p:nvSpPr>
          <p:spPr bwMode="auto">
            <a:xfrm>
              <a:off x="5857875" y="29860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3592" name="Line 55"/>
            <p:cNvSpPr>
              <a:spLocks noChangeShapeType="1"/>
            </p:cNvSpPr>
            <p:nvPr/>
          </p:nvSpPr>
          <p:spPr bwMode="auto">
            <a:xfrm>
              <a:off x="6048375" y="2965450"/>
              <a:ext cx="0" cy="3303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3" name="Rectangle 56"/>
            <p:cNvSpPr>
              <a:spLocks noChangeArrowheads="1"/>
            </p:cNvSpPr>
            <p:nvPr/>
          </p:nvSpPr>
          <p:spPr bwMode="auto">
            <a:xfrm>
              <a:off x="3440113" y="2825750"/>
              <a:ext cx="1123950" cy="569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594" name="Rectangle 57"/>
            <p:cNvSpPr>
              <a:spLocks noChangeArrowheads="1"/>
            </p:cNvSpPr>
            <p:nvPr/>
          </p:nvSpPr>
          <p:spPr bwMode="auto">
            <a:xfrm>
              <a:off x="3570288" y="2873375"/>
              <a:ext cx="722956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Memory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595" name="Rectangle 58"/>
            <p:cNvSpPr>
              <a:spLocks noChangeArrowheads="1"/>
            </p:cNvSpPr>
            <p:nvPr/>
          </p:nvSpPr>
          <p:spPr bwMode="auto">
            <a:xfrm>
              <a:off x="3746500" y="3048000"/>
              <a:ext cx="44082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23596" name="Line 59"/>
            <p:cNvSpPr>
              <a:spLocks noChangeShapeType="1"/>
            </p:cNvSpPr>
            <p:nvPr/>
          </p:nvSpPr>
          <p:spPr bwMode="auto">
            <a:xfrm>
              <a:off x="4711700" y="2036763"/>
              <a:ext cx="0" cy="6556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Arc 60"/>
            <p:cNvSpPr>
              <a:spLocks/>
            </p:cNvSpPr>
            <p:nvPr/>
          </p:nvSpPr>
          <p:spPr bwMode="auto">
            <a:xfrm>
              <a:off x="5807075" y="3033713"/>
              <a:ext cx="112713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98" name="Line 61"/>
            <p:cNvSpPr>
              <a:spLocks noChangeShapeType="1"/>
            </p:cNvSpPr>
            <p:nvPr/>
          </p:nvSpPr>
          <p:spPr bwMode="auto">
            <a:xfrm>
              <a:off x="4575175" y="3087688"/>
              <a:ext cx="1230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Arc 62"/>
            <p:cNvSpPr>
              <a:spLocks/>
            </p:cNvSpPr>
            <p:nvPr/>
          </p:nvSpPr>
          <p:spPr bwMode="auto">
            <a:xfrm>
              <a:off x="4581525" y="3230563"/>
              <a:ext cx="112713" cy="87312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0" name="Line 63"/>
            <p:cNvSpPr>
              <a:spLocks noChangeShapeType="1"/>
            </p:cNvSpPr>
            <p:nvPr/>
          </p:nvSpPr>
          <p:spPr bwMode="auto">
            <a:xfrm>
              <a:off x="4683125" y="3284538"/>
              <a:ext cx="7747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Rectangle 64"/>
            <p:cNvSpPr>
              <a:spLocks noChangeArrowheads="1"/>
            </p:cNvSpPr>
            <p:nvPr/>
          </p:nvSpPr>
          <p:spPr bwMode="auto">
            <a:xfrm>
              <a:off x="4633913" y="3255963"/>
              <a:ext cx="74860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3602" name="Arc 65"/>
            <p:cNvSpPr>
              <a:spLocks/>
            </p:cNvSpPr>
            <p:nvPr/>
          </p:nvSpPr>
          <p:spPr bwMode="auto">
            <a:xfrm>
              <a:off x="3992563" y="3402013"/>
              <a:ext cx="90487" cy="109537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3" name="Line 66"/>
            <p:cNvSpPr>
              <a:spLocks noChangeShapeType="1"/>
            </p:cNvSpPr>
            <p:nvPr/>
          </p:nvSpPr>
          <p:spPr bwMode="auto">
            <a:xfrm>
              <a:off x="4037013" y="3511550"/>
              <a:ext cx="0" cy="1746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Rectangle 67"/>
            <p:cNvSpPr>
              <a:spLocks noChangeArrowheads="1"/>
            </p:cNvSpPr>
            <p:nvPr/>
          </p:nvSpPr>
          <p:spPr bwMode="auto">
            <a:xfrm>
              <a:off x="4003675" y="3435350"/>
              <a:ext cx="52899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Read</a:t>
              </a:r>
            </a:p>
          </p:txBody>
        </p:sp>
        <p:sp>
          <p:nvSpPr>
            <p:cNvPr id="23605" name="Arc 68"/>
            <p:cNvSpPr>
              <a:spLocks/>
            </p:cNvSpPr>
            <p:nvPr/>
          </p:nvSpPr>
          <p:spPr bwMode="auto">
            <a:xfrm>
              <a:off x="3322638" y="3033713"/>
              <a:ext cx="112712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6" name="Line 69"/>
            <p:cNvSpPr>
              <a:spLocks noChangeShapeType="1"/>
            </p:cNvSpPr>
            <p:nvPr/>
          </p:nvSpPr>
          <p:spPr bwMode="auto">
            <a:xfrm>
              <a:off x="2032000" y="3087688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7" name="Line 70"/>
            <p:cNvSpPr>
              <a:spLocks noChangeShapeType="1"/>
            </p:cNvSpPr>
            <p:nvPr/>
          </p:nvSpPr>
          <p:spPr bwMode="auto">
            <a:xfrm>
              <a:off x="2700338" y="2430463"/>
              <a:ext cx="0" cy="20399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8" name="Line 71"/>
            <p:cNvSpPr>
              <a:spLocks noChangeShapeType="1"/>
            </p:cNvSpPr>
            <p:nvPr/>
          </p:nvSpPr>
          <p:spPr bwMode="auto">
            <a:xfrm>
              <a:off x="2901950" y="2036763"/>
              <a:ext cx="0" cy="38227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Line 72"/>
            <p:cNvSpPr>
              <a:spLocks noChangeShapeType="1"/>
            </p:cNvSpPr>
            <p:nvPr/>
          </p:nvSpPr>
          <p:spPr bwMode="auto">
            <a:xfrm flipH="1">
              <a:off x="3014663" y="3681413"/>
              <a:ext cx="130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0" name="Line 73"/>
            <p:cNvSpPr>
              <a:spLocks noChangeShapeType="1"/>
            </p:cNvSpPr>
            <p:nvPr/>
          </p:nvSpPr>
          <p:spPr bwMode="auto">
            <a:xfrm flipH="1">
              <a:off x="2884488" y="3751263"/>
              <a:ext cx="260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11" name="Group 80"/>
            <p:cNvGrpSpPr>
              <a:grpSpLocks/>
            </p:cNvGrpSpPr>
            <p:nvPr/>
          </p:nvGrpSpPr>
          <p:grpSpPr bwMode="auto">
            <a:xfrm>
              <a:off x="3097213" y="3552825"/>
              <a:ext cx="320675" cy="254000"/>
              <a:chOff x="1384" y="3820"/>
              <a:chExt cx="217" cy="176"/>
            </a:xfrm>
          </p:grpSpPr>
          <p:sp>
            <p:nvSpPr>
              <p:cNvPr id="23697" name="Arc 74"/>
              <p:cNvSpPr>
                <a:spLocks/>
              </p:cNvSpPr>
              <p:nvPr/>
            </p:nvSpPr>
            <p:spPr bwMode="auto">
              <a:xfrm>
                <a:off x="1420" y="3825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8" name="Arc 75"/>
              <p:cNvSpPr>
                <a:spLocks/>
              </p:cNvSpPr>
              <p:nvPr/>
            </p:nvSpPr>
            <p:spPr bwMode="auto">
              <a:xfrm>
                <a:off x="1420" y="3904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9" name="Line 76"/>
              <p:cNvSpPr>
                <a:spLocks noChangeShapeType="1"/>
              </p:cNvSpPr>
              <p:nvPr/>
            </p:nvSpPr>
            <p:spPr bwMode="auto">
              <a:xfrm>
                <a:off x="1392" y="382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0" name="Line 77"/>
              <p:cNvSpPr>
                <a:spLocks noChangeShapeType="1"/>
              </p:cNvSpPr>
              <p:nvPr/>
            </p:nvSpPr>
            <p:spPr bwMode="auto">
              <a:xfrm>
                <a:off x="1392" y="399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1" name="Arc 78"/>
              <p:cNvSpPr>
                <a:spLocks/>
              </p:cNvSpPr>
              <p:nvPr/>
            </p:nvSpPr>
            <p:spPr bwMode="auto">
              <a:xfrm>
                <a:off x="1384" y="3825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2" name="Arc 79"/>
              <p:cNvSpPr>
                <a:spLocks/>
              </p:cNvSpPr>
              <p:nvPr/>
            </p:nvSpPr>
            <p:spPr bwMode="auto">
              <a:xfrm>
                <a:off x="1384" y="3904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12" name="Line 81"/>
            <p:cNvSpPr>
              <a:spLocks noChangeShapeType="1"/>
            </p:cNvSpPr>
            <p:nvPr/>
          </p:nvSpPr>
          <p:spPr bwMode="auto">
            <a:xfrm flipH="1" flipV="1">
              <a:off x="3014663" y="3609975"/>
              <a:ext cx="1238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3" name="Line 83"/>
            <p:cNvSpPr>
              <a:spLocks noChangeShapeType="1"/>
            </p:cNvSpPr>
            <p:nvPr/>
          </p:nvSpPr>
          <p:spPr bwMode="auto">
            <a:xfrm flipH="1">
              <a:off x="2695575" y="4464050"/>
              <a:ext cx="449263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14" name="Group 90"/>
            <p:cNvGrpSpPr>
              <a:grpSpLocks/>
            </p:cNvGrpSpPr>
            <p:nvPr/>
          </p:nvGrpSpPr>
          <p:grpSpPr bwMode="auto">
            <a:xfrm>
              <a:off x="3097213" y="4273550"/>
              <a:ext cx="320675" cy="266700"/>
              <a:chOff x="1384" y="4316"/>
              <a:chExt cx="217" cy="184"/>
            </a:xfrm>
          </p:grpSpPr>
          <p:sp>
            <p:nvSpPr>
              <p:cNvPr id="23691" name="Arc 84"/>
              <p:cNvSpPr>
                <a:spLocks/>
              </p:cNvSpPr>
              <p:nvPr/>
            </p:nvSpPr>
            <p:spPr bwMode="auto">
              <a:xfrm>
                <a:off x="1420" y="4321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2" name="Arc 85"/>
              <p:cNvSpPr>
                <a:spLocks/>
              </p:cNvSpPr>
              <p:nvPr/>
            </p:nvSpPr>
            <p:spPr bwMode="auto">
              <a:xfrm>
                <a:off x="1420" y="4404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3" name="Line 86"/>
              <p:cNvSpPr>
                <a:spLocks noChangeShapeType="1"/>
              </p:cNvSpPr>
              <p:nvPr/>
            </p:nvSpPr>
            <p:spPr bwMode="auto">
              <a:xfrm>
                <a:off x="1392" y="431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94" name="Line 87"/>
              <p:cNvSpPr>
                <a:spLocks noChangeShapeType="1"/>
              </p:cNvSpPr>
              <p:nvPr/>
            </p:nvSpPr>
            <p:spPr bwMode="auto">
              <a:xfrm>
                <a:off x="1392" y="450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95" name="Arc 88"/>
              <p:cNvSpPr>
                <a:spLocks/>
              </p:cNvSpPr>
              <p:nvPr/>
            </p:nvSpPr>
            <p:spPr bwMode="auto">
              <a:xfrm>
                <a:off x="1384" y="4321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6" name="Arc 89"/>
              <p:cNvSpPr>
                <a:spLocks/>
              </p:cNvSpPr>
              <p:nvPr/>
            </p:nvSpPr>
            <p:spPr bwMode="auto">
              <a:xfrm>
                <a:off x="1384" y="4404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15" name="Line 91"/>
            <p:cNvSpPr>
              <a:spLocks noChangeShapeType="1"/>
            </p:cNvSpPr>
            <p:nvPr/>
          </p:nvSpPr>
          <p:spPr bwMode="auto">
            <a:xfrm flipH="1">
              <a:off x="3014663" y="4341813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6" name="Line 92"/>
            <p:cNvSpPr>
              <a:spLocks noChangeShapeType="1"/>
            </p:cNvSpPr>
            <p:nvPr/>
          </p:nvSpPr>
          <p:spPr bwMode="auto">
            <a:xfrm>
              <a:off x="3427413" y="3681413"/>
              <a:ext cx="6048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7" name="Rectangle 93"/>
            <p:cNvSpPr>
              <a:spLocks noChangeArrowheads="1"/>
            </p:cNvSpPr>
            <p:nvPr/>
          </p:nvSpPr>
          <p:spPr bwMode="auto">
            <a:xfrm>
              <a:off x="3711575" y="3954463"/>
              <a:ext cx="852488" cy="2301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18" name="Rectangle 94"/>
            <p:cNvSpPr>
              <a:spLocks noChangeArrowheads="1"/>
            </p:cNvSpPr>
            <p:nvPr/>
          </p:nvSpPr>
          <p:spPr bwMode="auto">
            <a:xfrm>
              <a:off x="3941763" y="3935413"/>
              <a:ext cx="38792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AR</a:t>
              </a:r>
            </a:p>
          </p:txBody>
        </p:sp>
        <p:sp>
          <p:nvSpPr>
            <p:cNvPr id="23619" name="Arc 95"/>
            <p:cNvSpPr>
              <a:spLocks/>
            </p:cNvSpPr>
            <p:nvPr/>
          </p:nvSpPr>
          <p:spPr bwMode="auto">
            <a:xfrm>
              <a:off x="5807075" y="4021138"/>
              <a:ext cx="112713" cy="8890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0" name="Line 96"/>
            <p:cNvSpPr>
              <a:spLocks noChangeShapeType="1"/>
            </p:cNvSpPr>
            <p:nvPr/>
          </p:nvSpPr>
          <p:spPr bwMode="auto">
            <a:xfrm>
              <a:off x="4556125" y="4076700"/>
              <a:ext cx="12493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1" name="Line 97"/>
            <p:cNvSpPr>
              <a:spLocks noChangeShapeType="1"/>
            </p:cNvSpPr>
            <p:nvPr/>
          </p:nvSpPr>
          <p:spPr bwMode="auto">
            <a:xfrm>
              <a:off x="5445125" y="3290888"/>
              <a:ext cx="0" cy="768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2" name="Arc 98"/>
            <p:cNvSpPr>
              <a:spLocks/>
            </p:cNvSpPr>
            <p:nvPr/>
          </p:nvSpPr>
          <p:spPr bwMode="auto">
            <a:xfrm>
              <a:off x="3595688" y="4021138"/>
              <a:ext cx="111125" cy="8890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3" name="Line 99"/>
            <p:cNvSpPr>
              <a:spLocks noChangeShapeType="1"/>
            </p:cNvSpPr>
            <p:nvPr/>
          </p:nvSpPr>
          <p:spPr bwMode="auto">
            <a:xfrm>
              <a:off x="2032000" y="4076700"/>
              <a:ext cx="15938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4" name="Line 100"/>
            <p:cNvSpPr>
              <a:spLocks noChangeShapeType="1"/>
            </p:cNvSpPr>
            <p:nvPr/>
          </p:nvSpPr>
          <p:spPr bwMode="auto">
            <a:xfrm flipV="1">
              <a:off x="3427413" y="4400550"/>
              <a:ext cx="4032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5" name="Arc 101"/>
            <p:cNvSpPr>
              <a:spLocks/>
            </p:cNvSpPr>
            <p:nvPr/>
          </p:nvSpPr>
          <p:spPr bwMode="auto">
            <a:xfrm>
              <a:off x="3792538" y="4191000"/>
              <a:ext cx="90487" cy="1111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6" name="Line 102"/>
            <p:cNvSpPr>
              <a:spLocks noChangeShapeType="1"/>
            </p:cNvSpPr>
            <p:nvPr/>
          </p:nvSpPr>
          <p:spPr bwMode="auto">
            <a:xfrm flipV="1">
              <a:off x="3836988" y="4279900"/>
              <a:ext cx="0" cy="127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7" name="Rectangle 103"/>
            <p:cNvSpPr>
              <a:spLocks noChangeArrowheads="1"/>
            </p:cNvSpPr>
            <p:nvPr/>
          </p:nvSpPr>
          <p:spPr bwMode="auto">
            <a:xfrm>
              <a:off x="3756025" y="4351338"/>
              <a:ext cx="37189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</a:t>
              </a:r>
            </a:p>
          </p:txBody>
        </p:sp>
        <p:sp>
          <p:nvSpPr>
            <p:cNvPr id="23628" name="Line 104"/>
            <p:cNvSpPr>
              <a:spLocks noChangeShapeType="1"/>
            </p:cNvSpPr>
            <p:nvPr/>
          </p:nvSpPr>
          <p:spPr bwMode="auto">
            <a:xfrm>
              <a:off x="4440238" y="4191000"/>
              <a:ext cx="0" cy="20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9" name="Freeform 105"/>
            <p:cNvSpPr>
              <a:spLocks/>
            </p:cNvSpPr>
            <p:nvPr/>
          </p:nvSpPr>
          <p:spPr bwMode="auto">
            <a:xfrm>
              <a:off x="4368800" y="4122738"/>
              <a:ext cx="131763" cy="58737"/>
            </a:xfrm>
            <a:custGeom>
              <a:avLst/>
              <a:gdLst>
                <a:gd name="T0" fmla="*/ 0 w 89"/>
                <a:gd name="T1" fmla="*/ 2147483647 h 41"/>
                <a:gd name="T2" fmla="*/ 2147483647 w 89"/>
                <a:gd name="T3" fmla="*/ 0 h 41"/>
                <a:gd name="T4" fmla="*/ 2147483647 w 89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89"/>
                <a:gd name="T10" fmla="*/ 0 h 41"/>
                <a:gd name="T11" fmla="*/ 89 w 89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1">
                  <a:moveTo>
                    <a:pt x="0" y="40"/>
                  </a:moveTo>
                  <a:lnTo>
                    <a:pt x="40" y="0"/>
                  </a:lnTo>
                  <a:lnTo>
                    <a:pt x="88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30" name="Line 106"/>
            <p:cNvSpPr>
              <a:spLocks noChangeShapeType="1"/>
            </p:cNvSpPr>
            <p:nvPr/>
          </p:nvSpPr>
          <p:spPr bwMode="auto">
            <a:xfrm flipH="1">
              <a:off x="3014663" y="4400550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1" name="Line 107"/>
            <p:cNvSpPr>
              <a:spLocks noChangeShapeType="1"/>
            </p:cNvSpPr>
            <p:nvPr/>
          </p:nvSpPr>
          <p:spPr bwMode="auto">
            <a:xfrm flipH="1">
              <a:off x="3014663" y="5064125"/>
              <a:ext cx="130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2" name="Line 108"/>
            <p:cNvSpPr>
              <a:spLocks noChangeShapeType="1"/>
            </p:cNvSpPr>
            <p:nvPr/>
          </p:nvSpPr>
          <p:spPr bwMode="auto">
            <a:xfrm flipH="1">
              <a:off x="2884488" y="5127625"/>
              <a:ext cx="241300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33" name="Group 115"/>
            <p:cNvGrpSpPr>
              <a:grpSpLocks/>
            </p:cNvGrpSpPr>
            <p:nvPr/>
          </p:nvGrpSpPr>
          <p:grpSpPr bwMode="auto">
            <a:xfrm>
              <a:off x="3097213" y="4935538"/>
              <a:ext cx="320675" cy="257175"/>
              <a:chOff x="1384" y="4772"/>
              <a:chExt cx="217" cy="176"/>
            </a:xfrm>
          </p:grpSpPr>
          <p:sp>
            <p:nvSpPr>
              <p:cNvPr id="23685" name="Arc 109"/>
              <p:cNvSpPr>
                <a:spLocks/>
              </p:cNvSpPr>
              <p:nvPr/>
            </p:nvSpPr>
            <p:spPr bwMode="auto">
              <a:xfrm>
                <a:off x="1420" y="4777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86" name="Arc 110"/>
              <p:cNvSpPr>
                <a:spLocks/>
              </p:cNvSpPr>
              <p:nvPr/>
            </p:nvSpPr>
            <p:spPr bwMode="auto">
              <a:xfrm>
                <a:off x="1420" y="4856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87" name="Line 111"/>
              <p:cNvSpPr>
                <a:spLocks noChangeShapeType="1"/>
              </p:cNvSpPr>
              <p:nvPr/>
            </p:nvSpPr>
            <p:spPr bwMode="auto">
              <a:xfrm>
                <a:off x="1392" y="4772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88" name="Line 112"/>
              <p:cNvSpPr>
                <a:spLocks noChangeShapeType="1"/>
              </p:cNvSpPr>
              <p:nvPr/>
            </p:nvSpPr>
            <p:spPr bwMode="auto">
              <a:xfrm>
                <a:off x="1392" y="4948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89" name="Arc 113"/>
              <p:cNvSpPr>
                <a:spLocks/>
              </p:cNvSpPr>
              <p:nvPr/>
            </p:nvSpPr>
            <p:spPr bwMode="auto">
              <a:xfrm>
                <a:off x="1384" y="4777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0" name="Arc 114"/>
              <p:cNvSpPr>
                <a:spLocks/>
              </p:cNvSpPr>
              <p:nvPr/>
            </p:nvSpPr>
            <p:spPr bwMode="auto">
              <a:xfrm>
                <a:off x="1384" y="4856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34" name="Line 116"/>
            <p:cNvSpPr>
              <a:spLocks noChangeShapeType="1"/>
            </p:cNvSpPr>
            <p:nvPr/>
          </p:nvSpPr>
          <p:spPr bwMode="auto">
            <a:xfrm flipH="1">
              <a:off x="3014663" y="4992688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5" name="Rectangle 117"/>
            <p:cNvSpPr>
              <a:spLocks noChangeArrowheads="1"/>
            </p:cNvSpPr>
            <p:nvPr/>
          </p:nvSpPr>
          <p:spPr bwMode="auto">
            <a:xfrm>
              <a:off x="3711575" y="4605338"/>
              <a:ext cx="852488" cy="2428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36" name="Rectangle 118"/>
            <p:cNvSpPr>
              <a:spLocks noChangeArrowheads="1"/>
            </p:cNvSpPr>
            <p:nvPr/>
          </p:nvSpPr>
          <p:spPr bwMode="auto">
            <a:xfrm>
              <a:off x="3941763" y="4595813"/>
              <a:ext cx="37991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23637" name="Arc 119"/>
            <p:cNvSpPr>
              <a:spLocks/>
            </p:cNvSpPr>
            <p:nvPr/>
          </p:nvSpPr>
          <p:spPr bwMode="auto">
            <a:xfrm>
              <a:off x="5807075" y="4683125"/>
              <a:ext cx="112713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38" name="Line 120"/>
            <p:cNvSpPr>
              <a:spLocks noChangeShapeType="1"/>
            </p:cNvSpPr>
            <p:nvPr/>
          </p:nvSpPr>
          <p:spPr bwMode="auto">
            <a:xfrm>
              <a:off x="4562475" y="4738688"/>
              <a:ext cx="12430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9" name="Arc 121"/>
            <p:cNvSpPr>
              <a:spLocks/>
            </p:cNvSpPr>
            <p:nvPr/>
          </p:nvSpPr>
          <p:spPr bwMode="auto">
            <a:xfrm>
              <a:off x="3595688" y="4683125"/>
              <a:ext cx="111125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0" name="Line 122"/>
            <p:cNvSpPr>
              <a:spLocks noChangeShapeType="1"/>
            </p:cNvSpPr>
            <p:nvPr/>
          </p:nvSpPr>
          <p:spPr bwMode="auto">
            <a:xfrm>
              <a:off x="2032000" y="4738688"/>
              <a:ext cx="15875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1" name="Line 123"/>
            <p:cNvSpPr>
              <a:spLocks noChangeShapeType="1"/>
            </p:cNvSpPr>
            <p:nvPr/>
          </p:nvSpPr>
          <p:spPr bwMode="auto">
            <a:xfrm>
              <a:off x="3422650" y="5064125"/>
              <a:ext cx="555625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2" name="Arc 124"/>
            <p:cNvSpPr>
              <a:spLocks/>
            </p:cNvSpPr>
            <p:nvPr/>
          </p:nvSpPr>
          <p:spPr bwMode="auto">
            <a:xfrm>
              <a:off x="3933825" y="4854575"/>
              <a:ext cx="88900" cy="1111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3" name="Line 125"/>
            <p:cNvSpPr>
              <a:spLocks noChangeShapeType="1"/>
            </p:cNvSpPr>
            <p:nvPr/>
          </p:nvSpPr>
          <p:spPr bwMode="auto">
            <a:xfrm flipV="1">
              <a:off x="3978275" y="4940300"/>
              <a:ext cx="0" cy="128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4" name="Rectangle 126"/>
            <p:cNvSpPr>
              <a:spLocks noChangeArrowheads="1"/>
            </p:cNvSpPr>
            <p:nvPr/>
          </p:nvSpPr>
          <p:spPr bwMode="auto">
            <a:xfrm>
              <a:off x="3883025" y="5041900"/>
              <a:ext cx="42640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INR</a:t>
              </a:r>
            </a:p>
          </p:txBody>
        </p:sp>
        <p:sp>
          <p:nvSpPr>
            <p:cNvPr id="23645" name="Line 127"/>
            <p:cNvSpPr>
              <a:spLocks noChangeShapeType="1"/>
            </p:cNvSpPr>
            <p:nvPr/>
          </p:nvSpPr>
          <p:spPr bwMode="auto">
            <a:xfrm>
              <a:off x="4440238" y="4854575"/>
              <a:ext cx="0" cy="20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6" name="Freeform 128"/>
            <p:cNvSpPr>
              <a:spLocks/>
            </p:cNvSpPr>
            <p:nvPr/>
          </p:nvSpPr>
          <p:spPr bwMode="auto">
            <a:xfrm>
              <a:off x="4375150" y="4765675"/>
              <a:ext cx="131763" cy="71438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0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7" name="Rectangle 129"/>
            <p:cNvSpPr>
              <a:spLocks noChangeArrowheads="1"/>
            </p:cNvSpPr>
            <p:nvPr/>
          </p:nvSpPr>
          <p:spPr bwMode="auto">
            <a:xfrm>
              <a:off x="3440113" y="5394325"/>
              <a:ext cx="1123950" cy="2444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48" name="Rectangle 130"/>
            <p:cNvSpPr>
              <a:spLocks noChangeArrowheads="1"/>
            </p:cNvSpPr>
            <p:nvPr/>
          </p:nvSpPr>
          <p:spPr bwMode="auto">
            <a:xfrm>
              <a:off x="3814763" y="5387975"/>
              <a:ext cx="3238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IR</a:t>
              </a:r>
            </a:p>
          </p:txBody>
        </p:sp>
        <p:sp>
          <p:nvSpPr>
            <p:cNvPr id="23649" name="Arc 131"/>
            <p:cNvSpPr>
              <a:spLocks/>
            </p:cNvSpPr>
            <p:nvPr/>
          </p:nvSpPr>
          <p:spPr bwMode="auto">
            <a:xfrm>
              <a:off x="5807075" y="5473700"/>
              <a:ext cx="112713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0" name="Line 132"/>
            <p:cNvSpPr>
              <a:spLocks noChangeShapeType="1"/>
            </p:cNvSpPr>
            <p:nvPr/>
          </p:nvSpPr>
          <p:spPr bwMode="auto">
            <a:xfrm>
              <a:off x="4556125" y="5527675"/>
              <a:ext cx="12493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1" name="Line 133"/>
            <p:cNvSpPr>
              <a:spLocks noChangeShapeType="1"/>
            </p:cNvSpPr>
            <p:nvPr/>
          </p:nvSpPr>
          <p:spPr bwMode="auto">
            <a:xfrm>
              <a:off x="2889250" y="5853113"/>
              <a:ext cx="7461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2" name="Arc 134"/>
            <p:cNvSpPr>
              <a:spLocks/>
            </p:cNvSpPr>
            <p:nvPr/>
          </p:nvSpPr>
          <p:spPr bwMode="auto">
            <a:xfrm>
              <a:off x="3590925" y="5645150"/>
              <a:ext cx="90488" cy="109538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3" name="Line 135"/>
            <p:cNvSpPr>
              <a:spLocks noChangeShapeType="1"/>
            </p:cNvSpPr>
            <p:nvPr/>
          </p:nvSpPr>
          <p:spPr bwMode="auto">
            <a:xfrm flipV="1">
              <a:off x="3635375" y="5732463"/>
              <a:ext cx="0" cy="127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4" name="Rectangle 136"/>
            <p:cNvSpPr>
              <a:spLocks noChangeArrowheads="1"/>
            </p:cNvSpPr>
            <p:nvPr/>
          </p:nvSpPr>
          <p:spPr bwMode="auto">
            <a:xfrm>
              <a:off x="3621088" y="5788025"/>
              <a:ext cx="37189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</a:t>
              </a:r>
            </a:p>
          </p:txBody>
        </p:sp>
        <p:sp>
          <p:nvSpPr>
            <p:cNvPr id="23655" name="Line 137"/>
            <p:cNvSpPr>
              <a:spLocks noChangeShapeType="1"/>
            </p:cNvSpPr>
            <p:nvPr/>
          </p:nvSpPr>
          <p:spPr bwMode="auto">
            <a:xfrm>
              <a:off x="4440238" y="5649913"/>
              <a:ext cx="0" cy="3254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6" name="Freeform 138"/>
            <p:cNvSpPr>
              <a:spLocks/>
            </p:cNvSpPr>
            <p:nvPr/>
          </p:nvSpPr>
          <p:spPr bwMode="auto">
            <a:xfrm>
              <a:off x="4379913" y="5557838"/>
              <a:ext cx="131762" cy="71437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0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7" name="Line 139"/>
            <p:cNvSpPr>
              <a:spLocks noChangeShapeType="1"/>
            </p:cNvSpPr>
            <p:nvPr/>
          </p:nvSpPr>
          <p:spPr bwMode="auto">
            <a:xfrm>
              <a:off x="4445000" y="4400550"/>
              <a:ext cx="538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8" name="Line 140"/>
            <p:cNvSpPr>
              <a:spLocks noChangeShapeType="1"/>
            </p:cNvSpPr>
            <p:nvPr/>
          </p:nvSpPr>
          <p:spPr bwMode="auto">
            <a:xfrm>
              <a:off x="4425950" y="5064125"/>
              <a:ext cx="539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9" name="Line 141"/>
            <p:cNvSpPr>
              <a:spLocks noChangeShapeType="1"/>
            </p:cNvSpPr>
            <p:nvPr/>
          </p:nvSpPr>
          <p:spPr bwMode="auto">
            <a:xfrm>
              <a:off x="4983163" y="4406900"/>
              <a:ext cx="0" cy="15573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0" name="Line 142"/>
            <p:cNvSpPr>
              <a:spLocks noChangeShapeType="1"/>
            </p:cNvSpPr>
            <p:nvPr/>
          </p:nvSpPr>
          <p:spPr bwMode="auto">
            <a:xfrm>
              <a:off x="4445000" y="5981700"/>
              <a:ext cx="650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1" name="Rectangle 143"/>
            <p:cNvSpPr>
              <a:spLocks noChangeArrowheads="1"/>
            </p:cNvSpPr>
            <p:nvPr/>
          </p:nvSpPr>
          <p:spPr bwMode="auto">
            <a:xfrm>
              <a:off x="5151438" y="5853113"/>
              <a:ext cx="56746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Clock</a:t>
              </a:r>
            </a:p>
          </p:txBody>
        </p:sp>
        <p:sp>
          <p:nvSpPr>
            <p:cNvPr id="23662" name="Rectangle 144"/>
            <p:cNvSpPr>
              <a:spLocks noChangeArrowheads="1"/>
            </p:cNvSpPr>
            <p:nvPr/>
          </p:nvSpPr>
          <p:spPr bwMode="auto">
            <a:xfrm>
              <a:off x="5842000" y="39624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663" name="Rectangle 145"/>
            <p:cNvSpPr>
              <a:spLocks noChangeArrowheads="1"/>
            </p:cNvSpPr>
            <p:nvPr/>
          </p:nvSpPr>
          <p:spPr bwMode="auto">
            <a:xfrm>
              <a:off x="5853113" y="46243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664" name="Rectangle 146"/>
            <p:cNvSpPr>
              <a:spLocks noChangeArrowheads="1"/>
            </p:cNvSpPr>
            <p:nvPr/>
          </p:nvSpPr>
          <p:spPr bwMode="auto">
            <a:xfrm>
              <a:off x="5861050" y="54149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3665" name="Line 147"/>
            <p:cNvSpPr>
              <a:spLocks noChangeShapeType="1"/>
            </p:cNvSpPr>
            <p:nvPr/>
          </p:nvSpPr>
          <p:spPr bwMode="auto">
            <a:xfrm flipH="1">
              <a:off x="2017713" y="6121400"/>
              <a:ext cx="39163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6" name="Rectangle 148"/>
            <p:cNvSpPr>
              <a:spLocks noChangeArrowheads="1"/>
            </p:cNvSpPr>
            <p:nvPr/>
          </p:nvSpPr>
          <p:spPr bwMode="auto">
            <a:xfrm>
              <a:off x="3484563" y="6061075"/>
              <a:ext cx="10852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Common bus</a:t>
              </a:r>
            </a:p>
          </p:txBody>
        </p:sp>
        <p:sp>
          <p:nvSpPr>
            <p:cNvPr id="23667" name="Line 149"/>
            <p:cNvSpPr>
              <a:spLocks noChangeShapeType="1"/>
            </p:cNvSpPr>
            <p:nvPr/>
          </p:nvSpPr>
          <p:spPr bwMode="auto">
            <a:xfrm flipH="1">
              <a:off x="1897063" y="6249988"/>
              <a:ext cx="41767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8" name="Line 150"/>
            <p:cNvSpPr>
              <a:spLocks noChangeShapeType="1"/>
            </p:cNvSpPr>
            <p:nvPr/>
          </p:nvSpPr>
          <p:spPr bwMode="auto">
            <a:xfrm>
              <a:off x="2027238" y="2897188"/>
              <a:ext cx="0" cy="32305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9" name="Line 151"/>
            <p:cNvSpPr>
              <a:spLocks noChangeShapeType="1"/>
            </p:cNvSpPr>
            <p:nvPr/>
          </p:nvSpPr>
          <p:spPr bwMode="auto">
            <a:xfrm>
              <a:off x="1895475" y="2897188"/>
              <a:ext cx="0" cy="3365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70" name="Oval 152"/>
            <p:cNvSpPr>
              <a:spLocks noChangeArrowheads="1"/>
            </p:cNvSpPr>
            <p:nvPr/>
          </p:nvSpPr>
          <p:spPr bwMode="auto">
            <a:xfrm>
              <a:off x="1901825" y="2854325"/>
              <a:ext cx="117475" cy="71438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1" name="Rectangle 153"/>
            <p:cNvSpPr>
              <a:spLocks noChangeArrowheads="1"/>
            </p:cNvSpPr>
            <p:nvPr/>
          </p:nvSpPr>
          <p:spPr bwMode="auto">
            <a:xfrm>
              <a:off x="2068513" y="1906588"/>
              <a:ext cx="3478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T1</a:t>
              </a:r>
            </a:p>
          </p:txBody>
        </p:sp>
        <p:sp>
          <p:nvSpPr>
            <p:cNvPr id="23672" name="Rectangle 154"/>
            <p:cNvSpPr>
              <a:spLocks noChangeArrowheads="1"/>
            </p:cNvSpPr>
            <p:nvPr/>
          </p:nvSpPr>
          <p:spPr bwMode="auto">
            <a:xfrm>
              <a:off x="2068513" y="2287588"/>
              <a:ext cx="3478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T0</a:t>
              </a:r>
            </a:p>
          </p:txBody>
        </p:sp>
        <p:sp>
          <p:nvSpPr>
            <p:cNvPr id="23673" name="Arc 155"/>
            <p:cNvSpPr>
              <a:spLocks/>
            </p:cNvSpPr>
            <p:nvPr/>
          </p:nvSpPr>
          <p:spPr bwMode="auto">
            <a:xfrm>
              <a:off x="3322638" y="5473700"/>
              <a:ext cx="112712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74" name="Line 156"/>
            <p:cNvSpPr>
              <a:spLocks noChangeShapeType="1"/>
            </p:cNvSpPr>
            <p:nvPr/>
          </p:nvSpPr>
          <p:spPr bwMode="auto">
            <a:xfrm>
              <a:off x="2032000" y="5527675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75" name="Oval 157"/>
            <p:cNvSpPr>
              <a:spLocks noChangeArrowheads="1"/>
            </p:cNvSpPr>
            <p:nvPr/>
          </p:nvSpPr>
          <p:spPr bwMode="auto">
            <a:xfrm>
              <a:off x="4683125" y="2012950"/>
              <a:ext cx="46038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6" name="Oval 158"/>
            <p:cNvSpPr>
              <a:spLocks noChangeArrowheads="1"/>
            </p:cNvSpPr>
            <p:nvPr/>
          </p:nvSpPr>
          <p:spPr bwMode="auto">
            <a:xfrm>
              <a:off x="4683125" y="2349500"/>
              <a:ext cx="46038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7" name="Oval 159"/>
            <p:cNvSpPr>
              <a:spLocks noChangeArrowheads="1"/>
            </p:cNvSpPr>
            <p:nvPr/>
          </p:nvSpPr>
          <p:spPr bwMode="auto">
            <a:xfrm>
              <a:off x="2871788" y="3732213"/>
              <a:ext cx="47625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8" name="Oval 160"/>
            <p:cNvSpPr>
              <a:spLocks noChangeArrowheads="1"/>
            </p:cNvSpPr>
            <p:nvPr/>
          </p:nvSpPr>
          <p:spPr bwMode="auto">
            <a:xfrm>
              <a:off x="2884488" y="5116513"/>
              <a:ext cx="46037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9" name="Oval 161"/>
            <p:cNvSpPr>
              <a:spLocks noChangeArrowheads="1"/>
            </p:cNvSpPr>
            <p:nvPr/>
          </p:nvSpPr>
          <p:spPr bwMode="auto">
            <a:xfrm>
              <a:off x="2878138" y="2012950"/>
              <a:ext cx="47625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0" name="Oval 162"/>
            <p:cNvSpPr>
              <a:spLocks noChangeArrowheads="1"/>
            </p:cNvSpPr>
            <p:nvPr/>
          </p:nvSpPr>
          <p:spPr bwMode="auto">
            <a:xfrm>
              <a:off x="2682875" y="2408238"/>
              <a:ext cx="47625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1" name="Oval 163"/>
            <p:cNvSpPr>
              <a:spLocks noChangeArrowheads="1"/>
            </p:cNvSpPr>
            <p:nvPr/>
          </p:nvSpPr>
          <p:spPr bwMode="auto">
            <a:xfrm>
              <a:off x="5421313" y="4059238"/>
              <a:ext cx="47625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2" name="Oval 164"/>
            <p:cNvSpPr>
              <a:spLocks noChangeArrowheads="1"/>
            </p:cNvSpPr>
            <p:nvPr/>
          </p:nvSpPr>
          <p:spPr bwMode="auto">
            <a:xfrm>
              <a:off x="4953000" y="5054600"/>
              <a:ext cx="49213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3" name="Oval 165"/>
            <p:cNvSpPr>
              <a:spLocks noChangeArrowheads="1"/>
            </p:cNvSpPr>
            <p:nvPr/>
          </p:nvSpPr>
          <p:spPr bwMode="auto">
            <a:xfrm>
              <a:off x="4953000" y="5964238"/>
              <a:ext cx="49213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4" name="Rectangle 167"/>
            <p:cNvSpPr>
              <a:spLocks noChangeArrowheads="1"/>
            </p:cNvSpPr>
            <p:nvPr/>
          </p:nvSpPr>
          <p:spPr bwMode="auto">
            <a:xfrm>
              <a:off x="3011488" y="1089025"/>
              <a:ext cx="5327650" cy="6937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3229756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58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Flow Chart (Instruction Cycle)</a:t>
            </a:r>
          </a:p>
        </p:txBody>
      </p:sp>
      <p:grpSp>
        <p:nvGrpSpPr>
          <p:cNvPr id="24583" name="Group 131"/>
          <p:cNvGrpSpPr>
            <a:grpSpLocks/>
          </p:cNvGrpSpPr>
          <p:nvPr/>
        </p:nvGrpSpPr>
        <p:grpSpPr bwMode="auto">
          <a:xfrm>
            <a:off x="2913064" y="1323976"/>
            <a:ext cx="6435681" cy="5229225"/>
            <a:chOff x="1389063" y="857250"/>
            <a:chExt cx="5953080" cy="4848225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1389063" y="5547989"/>
              <a:ext cx="35243" cy="1574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" name="Rectangle 98"/>
            <p:cNvSpPr>
              <a:spLocks noChangeArrowheads="1"/>
            </p:cNvSpPr>
            <p:nvPr/>
          </p:nvSpPr>
          <p:spPr bwMode="auto">
            <a:xfrm>
              <a:off x="6283426" y="3427074"/>
              <a:ext cx="105871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(direct)</a:t>
              </a: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3687196" y="857250"/>
              <a:ext cx="762159" cy="29296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70000"/>
                </a:lnSpc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Start</a:t>
              </a:r>
            </a:p>
            <a:p>
              <a:pPr defTabSz="762000">
                <a:lnSpc>
                  <a:spcPct val="70000"/>
                </a:lnSpc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SC &lt;-- 0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3588810" y="869025"/>
              <a:ext cx="801777" cy="28995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3488955" y="143126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3797331" y="143126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4041094" y="143126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</a:t>
              </a:r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3453712" y="1444513"/>
              <a:ext cx="1020576" cy="2031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Arc 13"/>
            <p:cNvSpPr>
              <a:spLocks/>
            </p:cNvSpPr>
            <p:nvPr/>
          </p:nvSpPr>
          <p:spPr bwMode="auto">
            <a:xfrm>
              <a:off x="3954455" y="1335597"/>
              <a:ext cx="93981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3999978" y="1153089"/>
              <a:ext cx="0" cy="19133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2" name="Arc 15"/>
            <p:cNvSpPr>
              <a:spLocks/>
            </p:cNvSpPr>
            <p:nvPr/>
          </p:nvSpPr>
          <p:spPr bwMode="auto">
            <a:xfrm>
              <a:off x="3537414" y="1335597"/>
              <a:ext cx="92513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V="1">
              <a:off x="3582936" y="1253174"/>
              <a:ext cx="0" cy="11185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4436109" y="1320879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T0</a:t>
              </a: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2935347" y="1886063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</a:t>
              </a:r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3168832" y="188753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27" name="Rectangle 20"/>
            <p:cNvSpPr>
              <a:spLocks noChangeArrowheads="1"/>
            </p:cNvSpPr>
            <p:nvPr/>
          </p:nvSpPr>
          <p:spPr bwMode="auto">
            <a:xfrm>
              <a:off x="3414063" y="1886063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M[AR],</a:t>
              </a:r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3980887" y="1886063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</a:t>
              </a:r>
            </a:p>
          </p:txBody>
        </p:sp>
        <p:sp>
          <p:nvSpPr>
            <p:cNvPr id="29" name="Rectangle 22"/>
            <p:cNvSpPr>
              <a:spLocks noChangeArrowheads="1"/>
            </p:cNvSpPr>
            <p:nvPr/>
          </p:nvSpPr>
          <p:spPr bwMode="auto">
            <a:xfrm>
              <a:off x="4233462" y="188753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30" name="Rectangle 23"/>
            <p:cNvSpPr>
              <a:spLocks noChangeArrowheads="1"/>
            </p:cNvSpPr>
            <p:nvPr/>
          </p:nvSpPr>
          <p:spPr bwMode="auto">
            <a:xfrm>
              <a:off x="4461073" y="1886063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+ 1</a:t>
              </a:r>
            </a:p>
          </p:txBody>
        </p:sp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2961779" y="1899309"/>
              <a:ext cx="2201216" cy="2134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2" name="Arc 25"/>
            <p:cNvSpPr>
              <a:spLocks/>
            </p:cNvSpPr>
            <p:nvPr/>
          </p:nvSpPr>
          <p:spPr bwMode="auto">
            <a:xfrm>
              <a:off x="3954455" y="178892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3999978" y="1666759"/>
              <a:ext cx="0" cy="13246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4" name="Rectangle 27"/>
            <p:cNvSpPr>
              <a:spLocks noChangeArrowheads="1"/>
            </p:cNvSpPr>
            <p:nvPr/>
          </p:nvSpPr>
          <p:spPr bwMode="auto">
            <a:xfrm>
              <a:off x="5101320" y="1713858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T1</a:t>
              </a:r>
            </a:p>
          </p:txBody>
        </p:sp>
        <p:sp>
          <p:nvSpPr>
            <p:cNvPr id="35" name="Rectangle 28"/>
            <p:cNvSpPr>
              <a:spLocks noChangeArrowheads="1"/>
            </p:cNvSpPr>
            <p:nvPr/>
          </p:nvSpPr>
          <p:spPr bwMode="auto">
            <a:xfrm>
              <a:off x="2935347" y="2514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36" name="Rectangle 29"/>
            <p:cNvSpPr>
              <a:spLocks noChangeArrowheads="1"/>
            </p:cNvSpPr>
            <p:nvPr/>
          </p:nvSpPr>
          <p:spPr bwMode="auto">
            <a:xfrm>
              <a:off x="3207011" y="2514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37" name="Rectangle 30"/>
            <p:cNvSpPr>
              <a:spLocks noChangeArrowheads="1"/>
            </p:cNvSpPr>
            <p:nvPr/>
          </p:nvSpPr>
          <p:spPr bwMode="auto">
            <a:xfrm>
              <a:off x="3414063" y="2514536"/>
              <a:ext cx="83629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IR(0-11),</a:t>
              </a:r>
            </a:p>
          </p:txBody>
        </p:sp>
        <p:sp>
          <p:nvSpPr>
            <p:cNvPr id="38" name="Rectangle 31"/>
            <p:cNvSpPr>
              <a:spLocks noChangeArrowheads="1"/>
            </p:cNvSpPr>
            <p:nvPr/>
          </p:nvSpPr>
          <p:spPr bwMode="auto">
            <a:xfrm>
              <a:off x="4176192" y="2514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39" name="Rectangle 32"/>
            <p:cNvSpPr>
              <a:spLocks noChangeArrowheads="1"/>
            </p:cNvSpPr>
            <p:nvPr/>
          </p:nvSpPr>
          <p:spPr bwMode="auto">
            <a:xfrm>
              <a:off x="4259894" y="250570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4461073" y="2514536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IR(15)</a:t>
              </a:r>
            </a:p>
          </p:txBody>
        </p:sp>
        <p:sp>
          <p:nvSpPr>
            <p:cNvPr id="41" name="Rectangle 34"/>
            <p:cNvSpPr>
              <a:spLocks noChangeArrowheads="1"/>
            </p:cNvSpPr>
            <p:nvPr/>
          </p:nvSpPr>
          <p:spPr bwMode="auto">
            <a:xfrm>
              <a:off x="2800249" y="2352635"/>
              <a:ext cx="2170815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 Opcode in IR(12-14),</a:t>
              </a:r>
            </a:p>
          </p:txBody>
        </p:sp>
        <p:sp>
          <p:nvSpPr>
            <p:cNvPr id="42" name="Rectangle 35"/>
            <p:cNvSpPr>
              <a:spLocks noChangeArrowheads="1"/>
            </p:cNvSpPr>
            <p:nvPr/>
          </p:nvSpPr>
          <p:spPr bwMode="auto">
            <a:xfrm>
              <a:off x="2753258" y="2355578"/>
              <a:ext cx="2556582" cy="38267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3" name="Arc 36"/>
            <p:cNvSpPr>
              <a:spLocks/>
            </p:cNvSpPr>
            <p:nvPr/>
          </p:nvSpPr>
          <p:spPr bwMode="auto">
            <a:xfrm>
              <a:off x="3954455" y="2245191"/>
              <a:ext cx="93981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Line 37"/>
            <p:cNvSpPr>
              <a:spLocks noChangeShapeType="1"/>
            </p:cNvSpPr>
            <p:nvPr/>
          </p:nvSpPr>
          <p:spPr bwMode="auto">
            <a:xfrm>
              <a:off x="3999978" y="2133332"/>
              <a:ext cx="0" cy="12069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38"/>
            <p:cNvSpPr>
              <a:spLocks noChangeArrowheads="1"/>
            </p:cNvSpPr>
            <p:nvPr/>
          </p:nvSpPr>
          <p:spPr bwMode="auto">
            <a:xfrm>
              <a:off x="5234949" y="2171599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T2</a:t>
              </a:r>
            </a:p>
          </p:txBody>
        </p:sp>
        <p:sp>
          <p:nvSpPr>
            <p:cNvPr id="46" name="Arc 39"/>
            <p:cNvSpPr>
              <a:spLocks/>
            </p:cNvSpPr>
            <p:nvPr/>
          </p:nvSpPr>
          <p:spPr bwMode="auto">
            <a:xfrm>
              <a:off x="3967672" y="2932538"/>
              <a:ext cx="92512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4013193" y="2750030"/>
              <a:ext cx="0" cy="2119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grpSp>
          <p:nvGrpSpPr>
            <p:cNvPr id="24620" name="Group 127"/>
            <p:cNvGrpSpPr>
              <a:grpSpLocks/>
            </p:cNvGrpSpPr>
            <p:nvPr/>
          </p:nvGrpSpPr>
          <p:grpSpPr bwMode="auto">
            <a:xfrm>
              <a:off x="3730625" y="3006725"/>
              <a:ext cx="515938" cy="420688"/>
              <a:chOff x="1696" y="3024"/>
              <a:chExt cx="376" cy="368"/>
            </a:xfrm>
          </p:grpSpPr>
          <p:sp>
            <p:nvSpPr>
              <p:cNvPr id="49" name="Line 41"/>
              <p:cNvSpPr>
                <a:spLocks noChangeShapeType="1"/>
              </p:cNvSpPr>
              <p:nvPr/>
            </p:nvSpPr>
            <p:spPr bwMode="auto">
              <a:xfrm flipH="1">
                <a:off x="1696" y="3021"/>
                <a:ext cx="208" cy="17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0" name="Line 42"/>
              <p:cNvSpPr>
                <a:spLocks noChangeShapeType="1"/>
              </p:cNvSpPr>
              <p:nvPr/>
            </p:nvSpPr>
            <p:spPr bwMode="auto">
              <a:xfrm>
                <a:off x="1900" y="3021"/>
                <a:ext cx="180" cy="17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1" name="Line 43"/>
              <p:cNvSpPr>
                <a:spLocks noChangeShapeType="1"/>
              </p:cNvSpPr>
              <p:nvPr/>
            </p:nvSpPr>
            <p:spPr bwMode="auto">
              <a:xfrm flipH="1" flipV="1">
                <a:off x="1696" y="3183"/>
                <a:ext cx="208" cy="2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2" name="Line 44"/>
              <p:cNvSpPr>
                <a:spLocks noChangeShapeType="1"/>
              </p:cNvSpPr>
              <p:nvPr/>
            </p:nvSpPr>
            <p:spPr bwMode="auto">
              <a:xfrm flipV="1">
                <a:off x="1900" y="3183"/>
                <a:ext cx="180" cy="2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53" name="Rectangle 45"/>
            <p:cNvSpPr>
              <a:spLocks noChangeArrowheads="1"/>
            </p:cNvSpPr>
            <p:nvPr/>
          </p:nvSpPr>
          <p:spPr bwMode="auto">
            <a:xfrm>
              <a:off x="3797331" y="3100327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D7</a:t>
              </a:r>
            </a:p>
          </p:txBody>
        </p:sp>
        <p:sp>
          <p:nvSpPr>
            <p:cNvPr id="54" name="Line 46"/>
            <p:cNvSpPr>
              <a:spLocks noChangeShapeType="1"/>
            </p:cNvSpPr>
            <p:nvPr/>
          </p:nvSpPr>
          <p:spPr bwMode="auto">
            <a:xfrm flipV="1">
              <a:off x="4252552" y="3204828"/>
              <a:ext cx="1745994" cy="44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5" name="Line 47"/>
            <p:cNvSpPr>
              <a:spLocks noChangeShapeType="1"/>
            </p:cNvSpPr>
            <p:nvPr/>
          </p:nvSpPr>
          <p:spPr bwMode="auto">
            <a:xfrm>
              <a:off x="3035202" y="3209243"/>
              <a:ext cx="701922" cy="441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6" name="Rectangle 48"/>
            <p:cNvSpPr>
              <a:spLocks noChangeArrowheads="1"/>
            </p:cNvSpPr>
            <p:nvPr/>
          </p:nvSpPr>
          <p:spPr bwMode="auto">
            <a:xfrm>
              <a:off x="4262831" y="2979636"/>
              <a:ext cx="1800116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(Memory-reference)</a:t>
              </a:r>
            </a:p>
          </p:txBody>
        </p:sp>
        <p:sp>
          <p:nvSpPr>
            <p:cNvPr id="57" name="Rectangle 49"/>
            <p:cNvSpPr>
              <a:spLocks noChangeArrowheads="1"/>
            </p:cNvSpPr>
            <p:nvPr/>
          </p:nvSpPr>
          <p:spPr bwMode="auto">
            <a:xfrm>
              <a:off x="2098327" y="2979636"/>
              <a:ext cx="1725976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(Register or I/O) = 1</a:t>
              </a:r>
            </a:p>
          </p:txBody>
        </p:sp>
        <p:sp>
          <p:nvSpPr>
            <p:cNvPr id="58" name="Line 50"/>
            <p:cNvSpPr>
              <a:spLocks noChangeShapeType="1"/>
            </p:cNvSpPr>
            <p:nvPr/>
          </p:nvSpPr>
          <p:spPr bwMode="auto">
            <a:xfrm flipH="1">
              <a:off x="5729819" y="3446209"/>
              <a:ext cx="305439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9" name="Line 51"/>
            <p:cNvSpPr>
              <a:spLocks noChangeShapeType="1"/>
            </p:cNvSpPr>
            <p:nvPr/>
          </p:nvSpPr>
          <p:spPr bwMode="auto">
            <a:xfrm>
              <a:off x="6024978" y="3446209"/>
              <a:ext cx="268728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0" name="Line 52"/>
            <p:cNvSpPr>
              <a:spLocks noChangeShapeType="1"/>
            </p:cNvSpPr>
            <p:nvPr/>
          </p:nvSpPr>
          <p:spPr bwMode="auto">
            <a:xfrm flipH="1" flipV="1">
              <a:off x="5729819" y="3659624"/>
              <a:ext cx="305439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1" name="Line 53"/>
            <p:cNvSpPr>
              <a:spLocks noChangeShapeType="1"/>
            </p:cNvSpPr>
            <p:nvPr/>
          </p:nvSpPr>
          <p:spPr bwMode="auto">
            <a:xfrm flipV="1">
              <a:off x="6024978" y="3659624"/>
              <a:ext cx="268728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2" name="Rectangle 54"/>
            <p:cNvSpPr>
              <a:spLocks noChangeArrowheads="1"/>
            </p:cNvSpPr>
            <p:nvPr/>
          </p:nvSpPr>
          <p:spPr bwMode="auto">
            <a:xfrm>
              <a:off x="5879601" y="3571314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63" name="Line 55"/>
            <p:cNvSpPr>
              <a:spLocks noChangeShapeType="1"/>
            </p:cNvSpPr>
            <p:nvPr/>
          </p:nvSpPr>
          <p:spPr bwMode="auto">
            <a:xfrm flipH="1">
              <a:off x="2726826" y="3446209"/>
              <a:ext cx="321592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4" name="Line 56"/>
            <p:cNvSpPr>
              <a:spLocks noChangeShapeType="1"/>
            </p:cNvSpPr>
            <p:nvPr/>
          </p:nvSpPr>
          <p:spPr bwMode="auto">
            <a:xfrm>
              <a:off x="3035202" y="3446209"/>
              <a:ext cx="258448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5" name="Line 57"/>
            <p:cNvSpPr>
              <a:spLocks noChangeShapeType="1"/>
            </p:cNvSpPr>
            <p:nvPr/>
          </p:nvSpPr>
          <p:spPr bwMode="auto">
            <a:xfrm flipH="1" flipV="1">
              <a:off x="2726826" y="3659624"/>
              <a:ext cx="321592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6" name="Line 58"/>
            <p:cNvSpPr>
              <a:spLocks noChangeShapeType="1"/>
            </p:cNvSpPr>
            <p:nvPr/>
          </p:nvSpPr>
          <p:spPr bwMode="auto">
            <a:xfrm flipV="1">
              <a:off x="3035202" y="3659624"/>
              <a:ext cx="258448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7" name="Rectangle 59"/>
            <p:cNvSpPr>
              <a:spLocks noChangeArrowheads="1"/>
            </p:cNvSpPr>
            <p:nvPr/>
          </p:nvSpPr>
          <p:spPr bwMode="auto">
            <a:xfrm>
              <a:off x="2904510" y="3575730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68" name="Rectangle 60"/>
            <p:cNvSpPr>
              <a:spLocks noChangeArrowheads="1"/>
            </p:cNvSpPr>
            <p:nvPr/>
          </p:nvSpPr>
          <p:spPr bwMode="auto">
            <a:xfrm>
              <a:off x="3562378" y="4071738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69" name="Rectangle 61"/>
            <p:cNvSpPr>
              <a:spLocks noChangeArrowheads="1"/>
            </p:cNvSpPr>
            <p:nvPr/>
          </p:nvSpPr>
          <p:spPr bwMode="auto">
            <a:xfrm>
              <a:off x="3168832" y="4211563"/>
              <a:ext cx="150355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register-reference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0" name="Rectangle 62"/>
            <p:cNvSpPr>
              <a:spLocks noChangeArrowheads="1"/>
            </p:cNvSpPr>
            <p:nvPr/>
          </p:nvSpPr>
          <p:spPr bwMode="auto">
            <a:xfrm>
              <a:off x="3463991" y="4354330"/>
              <a:ext cx="98457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1" name="Rectangle 63"/>
            <p:cNvSpPr>
              <a:spLocks noChangeArrowheads="1"/>
            </p:cNvSpPr>
            <p:nvPr/>
          </p:nvSpPr>
          <p:spPr bwMode="auto">
            <a:xfrm>
              <a:off x="3549161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72" name="Rectangle 64"/>
            <p:cNvSpPr>
              <a:spLocks noChangeArrowheads="1"/>
            </p:cNvSpPr>
            <p:nvPr/>
          </p:nvSpPr>
          <p:spPr bwMode="auto">
            <a:xfrm>
              <a:off x="3841384" y="4526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73" name="Rectangle 65"/>
            <p:cNvSpPr>
              <a:spLocks noChangeArrowheads="1"/>
            </p:cNvSpPr>
            <p:nvPr/>
          </p:nvSpPr>
          <p:spPr bwMode="auto">
            <a:xfrm>
              <a:off x="4115985" y="4526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74" name="Rectangle 66"/>
            <p:cNvSpPr>
              <a:spLocks noChangeArrowheads="1"/>
            </p:cNvSpPr>
            <p:nvPr/>
          </p:nvSpPr>
          <p:spPr bwMode="auto">
            <a:xfrm>
              <a:off x="2038121" y="4071738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5" name="Rectangle 67"/>
            <p:cNvSpPr>
              <a:spLocks noChangeArrowheads="1"/>
            </p:cNvSpPr>
            <p:nvPr/>
          </p:nvSpPr>
          <p:spPr bwMode="auto">
            <a:xfrm>
              <a:off x="1878058" y="4211563"/>
              <a:ext cx="105871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input-output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6" name="Rectangle 68"/>
            <p:cNvSpPr>
              <a:spLocks noChangeArrowheads="1"/>
            </p:cNvSpPr>
            <p:nvPr/>
          </p:nvSpPr>
          <p:spPr bwMode="auto">
            <a:xfrm>
              <a:off x="1939734" y="4354330"/>
              <a:ext cx="98457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7" name="Rectangle 69"/>
            <p:cNvSpPr>
              <a:spLocks noChangeArrowheads="1"/>
            </p:cNvSpPr>
            <p:nvPr/>
          </p:nvSpPr>
          <p:spPr bwMode="auto">
            <a:xfrm>
              <a:off x="2023436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78" name="Rectangle 70"/>
            <p:cNvSpPr>
              <a:spLocks noChangeArrowheads="1"/>
            </p:cNvSpPr>
            <p:nvPr/>
          </p:nvSpPr>
          <p:spPr bwMode="auto">
            <a:xfrm>
              <a:off x="2303911" y="4526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79" name="Rectangle 71"/>
            <p:cNvSpPr>
              <a:spLocks noChangeArrowheads="1"/>
            </p:cNvSpPr>
            <p:nvPr/>
          </p:nvSpPr>
          <p:spPr bwMode="auto">
            <a:xfrm>
              <a:off x="2578512" y="4526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80" name="Rectangle 72"/>
            <p:cNvSpPr>
              <a:spLocks noChangeArrowheads="1"/>
            </p:cNvSpPr>
            <p:nvPr/>
          </p:nvSpPr>
          <p:spPr bwMode="auto">
            <a:xfrm>
              <a:off x="5333336" y="4071738"/>
              <a:ext cx="53973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M[AR]</a:t>
              </a:r>
            </a:p>
          </p:txBody>
        </p:sp>
        <p:sp>
          <p:nvSpPr>
            <p:cNvPr id="81" name="Rectangle 73"/>
            <p:cNvSpPr>
              <a:spLocks noChangeArrowheads="1"/>
            </p:cNvSpPr>
            <p:nvPr/>
          </p:nvSpPr>
          <p:spPr bwMode="auto">
            <a:xfrm>
              <a:off x="5142436" y="4071738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82" name="Rectangle 74"/>
            <p:cNvSpPr>
              <a:spLocks noChangeArrowheads="1"/>
            </p:cNvSpPr>
            <p:nvPr/>
          </p:nvSpPr>
          <p:spPr bwMode="auto">
            <a:xfrm>
              <a:off x="4878114" y="4071738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83" name="Rectangle 75"/>
            <p:cNvSpPr>
              <a:spLocks noChangeArrowheads="1"/>
            </p:cNvSpPr>
            <p:nvPr/>
          </p:nvSpPr>
          <p:spPr bwMode="auto">
            <a:xfrm>
              <a:off x="6199725" y="4062907"/>
              <a:ext cx="68801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Nothing</a:t>
              </a:r>
            </a:p>
          </p:txBody>
        </p:sp>
        <p:sp>
          <p:nvSpPr>
            <p:cNvPr id="84" name="Arc 76"/>
            <p:cNvSpPr>
              <a:spLocks/>
            </p:cNvSpPr>
            <p:nvPr/>
          </p:nvSpPr>
          <p:spPr bwMode="auto">
            <a:xfrm>
              <a:off x="2982337" y="3381448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5" name="Line 77"/>
            <p:cNvSpPr>
              <a:spLocks noChangeShapeType="1"/>
            </p:cNvSpPr>
            <p:nvPr/>
          </p:nvSpPr>
          <p:spPr bwMode="auto">
            <a:xfrm flipV="1">
              <a:off x="3035202" y="3223961"/>
              <a:ext cx="0" cy="17220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6" name="Arc 78"/>
            <p:cNvSpPr>
              <a:spLocks/>
            </p:cNvSpPr>
            <p:nvPr/>
          </p:nvSpPr>
          <p:spPr bwMode="auto">
            <a:xfrm>
              <a:off x="5972114" y="3357898"/>
              <a:ext cx="93981" cy="94197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7" name="Line 79"/>
            <p:cNvSpPr>
              <a:spLocks noChangeShapeType="1"/>
            </p:cNvSpPr>
            <p:nvPr/>
          </p:nvSpPr>
          <p:spPr bwMode="auto">
            <a:xfrm flipV="1">
              <a:off x="6011762" y="3198940"/>
              <a:ext cx="0" cy="17073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8" name="Rectangle 80"/>
            <p:cNvSpPr>
              <a:spLocks noChangeArrowheads="1"/>
            </p:cNvSpPr>
            <p:nvPr/>
          </p:nvSpPr>
          <p:spPr bwMode="auto">
            <a:xfrm>
              <a:off x="1916238" y="4073210"/>
              <a:ext cx="1020577" cy="68293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81"/>
            <p:cNvSpPr>
              <a:spLocks noChangeArrowheads="1"/>
            </p:cNvSpPr>
            <p:nvPr/>
          </p:nvSpPr>
          <p:spPr bwMode="auto">
            <a:xfrm>
              <a:off x="3170300" y="4073210"/>
              <a:ext cx="1512510" cy="67410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0" name="Rectangle 82"/>
            <p:cNvSpPr>
              <a:spLocks noChangeArrowheads="1"/>
            </p:cNvSpPr>
            <p:nvPr/>
          </p:nvSpPr>
          <p:spPr bwMode="auto">
            <a:xfrm>
              <a:off x="4916294" y="4073210"/>
              <a:ext cx="1020576" cy="21194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1" name="Rectangle 83"/>
            <p:cNvSpPr>
              <a:spLocks noChangeArrowheads="1"/>
            </p:cNvSpPr>
            <p:nvPr/>
          </p:nvSpPr>
          <p:spPr bwMode="auto">
            <a:xfrm>
              <a:off x="6171824" y="4073210"/>
              <a:ext cx="812057" cy="21194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2" name="Arc 84"/>
            <p:cNvSpPr>
              <a:spLocks/>
            </p:cNvSpPr>
            <p:nvPr/>
          </p:nvSpPr>
          <p:spPr bwMode="auto">
            <a:xfrm>
              <a:off x="2355307" y="3964294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3" name="Line 85"/>
            <p:cNvSpPr>
              <a:spLocks noChangeShapeType="1"/>
            </p:cNvSpPr>
            <p:nvPr/>
          </p:nvSpPr>
          <p:spPr bwMode="auto">
            <a:xfrm flipV="1">
              <a:off x="2402298" y="3668455"/>
              <a:ext cx="0" cy="3238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4" name="Arc 86"/>
            <p:cNvSpPr>
              <a:spLocks/>
            </p:cNvSpPr>
            <p:nvPr/>
          </p:nvSpPr>
          <p:spPr bwMode="auto">
            <a:xfrm>
              <a:off x="3954455" y="3964294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5" name="Line 87"/>
            <p:cNvSpPr>
              <a:spLocks noChangeShapeType="1"/>
            </p:cNvSpPr>
            <p:nvPr/>
          </p:nvSpPr>
          <p:spPr bwMode="auto">
            <a:xfrm flipV="1">
              <a:off x="3999978" y="3678758"/>
              <a:ext cx="0" cy="313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Arc 88"/>
            <p:cNvSpPr>
              <a:spLocks/>
            </p:cNvSpPr>
            <p:nvPr/>
          </p:nvSpPr>
          <p:spPr bwMode="auto">
            <a:xfrm>
              <a:off x="5345083" y="3964294"/>
              <a:ext cx="92512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7" name="Line 89"/>
            <p:cNvSpPr>
              <a:spLocks noChangeShapeType="1"/>
            </p:cNvSpPr>
            <p:nvPr/>
          </p:nvSpPr>
          <p:spPr bwMode="auto">
            <a:xfrm flipV="1">
              <a:off x="5389137" y="3678758"/>
              <a:ext cx="0" cy="313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8" name="Arc 90"/>
            <p:cNvSpPr>
              <a:spLocks/>
            </p:cNvSpPr>
            <p:nvPr/>
          </p:nvSpPr>
          <p:spPr bwMode="auto">
            <a:xfrm>
              <a:off x="6612360" y="3964294"/>
              <a:ext cx="91044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9" name="Line 91"/>
            <p:cNvSpPr>
              <a:spLocks noChangeShapeType="1"/>
            </p:cNvSpPr>
            <p:nvPr/>
          </p:nvSpPr>
          <p:spPr bwMode="auto">
            <a:xfrm flipV="1">
              <a:off x="6656414" y="3659624"/>
              <a:ext cx="0" cy="33263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0" name="Line 92"/>
            <p:cNvSpPr>
              <a:spLocks noChangeShapeType="1"/>
            </p:cNvSpPr>
            <p:nvPr/>
          </p:nvSpPr>
          <p:spPr bwMode="auto">
            <a:xfrm>
              <a:off x="2408171" y="3672871"/>
              <a:ext cx="3377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1" name="Line 93"/>
            <p:cNvSpPr>
              <a:spLocks noChangeShapeType="1"/>
            </p:cNvSpPr>
            <p:nvPr/>
          </p:nvSpPr>
          <p:spPr bwMode="auto">
            <a:xfrm>
              <a:off x="3287776" y="3672871"/>
              <a:ext cx="7136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2" name="Line 94"/>
            <p:cNvSpPr>
              <a:spLocks noChangeShapeType="1"/>
            </p:cNvSpPr>
            <p:nvPr/>
          </p:nvSpPr>
          <p:spPr bwMode="auto">
            <a:xfrm>
              <a:off x="5397948" y="3672871"/>
              <a:ext cx="3318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3" name="Line 95"/>
            <p:cNvSpPr>
              <a:spLocks noChangeShapeType="1"/>
            </p:cNvSpPr>
            <p:nvPr/>
          </p:nvSpPr>
          <p:spPr bwMode="auto">
            <a:xfrm>
              <a:off x="6287832" y="3664040"/>
              <a:ext cx="3876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4" name="Rectangle 96"/>
            <p:cNvSpPr>
              <a:spLocks noChangeArrowheads="1"/>
            </p:cNvSpPr>
            <p:nvPr/>
          </p:nvSpPr>
          <p:spPr bwMode="auto">
            <a:xfrm>
              <a:off x="3289245" y="3446209"/>
              <a:ext cx="120699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(register)</a:t>
              </a:r>
            </a:p>
          </p:txBody>
        </p:sp>
        <p:sp>
          <p:nvSpPr>
            <p:cNvPr id="105" name="Rectangle 97"/>
            <p:cNvSpPr>
              <a:spLocks noChangeArrowheads="1"/>
            </p:cNvSpPr>
            <p:nvPr/>
          </p:nvSpPr>
          <p:spPr bwMode="auto">
            <a:xfrm>
              <a:off x="2033715" y="3437377"/>
              <a:ext cx="83629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(I/O) = 1</a:t>
              </a:r>
            </a:p>
          </p:txBody>
        </p:sp>
        <p:sp>
          <p:nvSpPr>
            <p:cNvPr id="106" name="Rectangle 99"/>
            <p:cNvSpPr>
              <a:spLocks noChangeArrowheads="1"/>
            </p:cNvSpPr>
            <p:nvPr/>
          </p:nvSpPr>
          <p:spPr bwMode="auto">
            <a:xfrm>
              <a:off x="4681341" y="3446209"/>
              <a:ext cx="120699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(indirect) = 1</a:t>
              </a:r>
            </a:p>
          </p:txBody>
        </p:sp>
        <p:sp>
          <p:nvSpPr>
            <p:cNvPr id="107" name="Rectangle 100"/>
            <p:cNvSpPr>
              <a:spLocks noChangeArrowheads="1"/>
            </p:cNvSpPr>
            <p:nvPr/>
          </p:nvSpPr>
          <p:spPr bwMode="auto">
            <a:xfrm>
              <a:off x="2653403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08" name="Rectangle 101"/>
            <p:cNvSpPr>
              <a:spLocks noChangeArrowheads="1"/>
            </p:cNvSpPr>
            <p:nvPr/>
          </p:nvSpPr>
          <p:spPr bwMode="auto">
            <a:xfrm>
              <a:off x="4399398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09" name="Rectangle 102"/>
            <p:cNvSpPr>
              <a:spLocks noChangeArrowheads="1"/>
            </p:cNvSpPr>
            <p:nvPr/>
          </p:nvSpPr>
          <p:spPr bwMode="auto">
            <a:xfrm>
              <a:off x="5653459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10" name="Rectangle 103"/>
            <p:cNvSpPr>
              <a:spLocks noChangeArrowheads="1"/>
            </p:cNvSpPr>
            <p:nvPr/>
          </p:nvSpPr>
          <p:spPr bwMode="auto">
            <a:xfrm>
              <a:off x="6772422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11" name="Rectangle 104"/>
            <p:cNvSpPr>
              <a:spLocks noChangeArrowheads="1"/>
            </p:cNvSpPr>
            <p:nvPr/>
          </p:nvSpPr>
          <p:spPr bwMode="auto">
            <a:xfrm>
              <a:off x="5653459" y="4526536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2" name="Rectangle 105"/>
            <p:cNvSpPr>
              <a:spLocks noChangeArrowheads="1"/>
            </p:cNvSpPr>
            <p:nvPr/>
          </p:nvSpPr>
          <p:spPr bwMode="auto">
            <a:xfrm>
              <a:off x="5248165" y="4669303"/>
              <a:ext cx="135527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memory-reference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3" name="Rectangle 106"/>
            <p:cNvSpPr>
              <a:spLocks noChangeArrowheads="1"/>
            </p:cNvSpPr>
            <p:nvPr/>
          </p:nvSpPr>
          <p:spPr bwMode="auto">
            <a:xfrm>
              <a:off x="5555072" y="4809128"/>
              <a:ext cx="9845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</p:txBody>
        </p:sp>
        <p:sp>
          <p:nvSpPr>
            <p:cNvPr id="114" name="Rectangle 107"/>
            <p:cNvSpPr>
              <a:spLocks noChangeArrowheads="1"/>
            </p:cNvSpPr>
            <p:nvPr/>
          </p:nvSpPr>
          <p:spPr bwMode="auto">
            <a:xfrm>
              <a:off x="5640242" y="4971030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115" name="Rectangle 108"/>
            <p:cNvSpPr>
              <a:spLocks noChangeArrowheads="1"/>
            </p:cNvSpPr>
            <p:nvPr/>
          </p:nvSpPr>
          <p:spPr bwMode="auto">
            <a:xfrm>
              <a:off x="5960366" y="4971030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116" name="Rectangle 109"/>
            <p:cNvSpPr>
              <a:spLocks noChangeArrowheads="1"/>
            </p:cNvSpPr>
            <p:nvPr/>
          </p:nvSpPr>
          <p:spPr bwMode="auto">
            <a:xfrm>
              <a:off x="6207066" y="4971030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117" name="Rectangle 110"/>
            <p:cNvSpPr>
              <a:spLocks noChangeArrowheads="1"/>
            </p:cNvSpPr>
            <p:nvPr/>
          </p:nvSpPr>
          <p:spPr bwMode="auto">
            <a:xfrm>
              <a:off x="5187958" y="4538310"/>
              <a:ext cx="1669635" cy="66379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Arc 111"/>
            <p:cNvSpPr>
              <a:spLocks/>
            </p:cNvSpPr>
            <p:nvPr/>
          </p:nvSpPr>
          <p:spPr bwMode="auto">
            <a:xfrm>
              <a:off x="5345083" y="4429394"/>
              <a:ext cx="92512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9" name="Line 112"/>
            <p:cNvSpPr>
              <a:spLocks noChangeShapeType="1"/>
            </p:cNvSpPr>
            <p:nvPr/>
          </p:nvSpPr>
          <p:spPr bwMode="auto">
            <a:xfrm flipV="1">
              <a:off x="5389137" y="4285155"/>
              <a:ext cx="0" cy="1722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0" name="Arc 113"/>
            <p:cNvSpPr>
              <a:spLocks/>
            </p:cNvSpPr>
            <p:nvPr/>
          </p:nvSpPr>
          <p:spPr bwMode="auto">
            <a:xfrm>
              <a:off x="6612360" y="4429394"/>
              <a:ext cx="91044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1" name="Line 114"/>
            <p:cNvSpPr>
              <a:spLocks noChangeShapeType="1"/>
            </p:cNvSpPr>
            <p:nvPr/>
          </p:nvSpPr>
          <p:spPr bwMode="auto">
            <a:xfrm flipV="1">
              <a:off x="6656414" y="4285155"/>
              <a:ext cx="0" cy="1722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2" name="Arc 115"/>
            <p:cNvSpPr>
              <a:spLocks/>
            </p:cNvSpPr>
            <p:nvPr/>
          </p:nvSpPr>
          <p:spPr bwMode="auto">
            <a:xfrm>
              <a:off x="5972114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3" name="Line 116"/>
            <p:cNvSpPr>
              <a:spLocks noChangeShapeType="1"/>
            </p:cNvSpPr>
            <p:nvPr/>
          </p:nvSpPr>
          <p:spPr bwMode="auto">
            <a:xfrm flipV="1">
              <a:off x="6017636" y="5212411"/>
              <a:ext cx="0" cy="104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4" name="Line 117"/>
            <p:cNvSpPr>
              <a:spLocks noChangeShapeType="1"/>
            </p:cNvSpPr>
            <p:nvPr/>
          </p:nvSpPr>
          <p:spPr bwMode="auto">
            <a:xfrm flipH="1">
              <a:off x="1682754" y="5393446"/>
              <a:ext cx="434222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5" name="Arc 118"/>
            <p:cNvSpPr>
              <a:spLocks/>
            </p:cNvSpPr>
            <p:nvPr/>
          </p:nvSpPr>
          <p:spPr bwMode="auto">
            <a:xfrm>
              <a:off x="2355307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6" name="Line 119"/>
            <p:cNvSpPr>
              <a:spLocks noChangeShapeType="1"/>
            </p:cNvSpPr>
            <p:nvPr/>
          </p:nvSpPr>
          <p:spPr bwMode="auto">
            <a:xfrm flipV="1">
              <a:off x="2402298" y="4764973"/>
              <a:ext cx="0" cy="5519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7" name="Arc 120"/>
            <p:cNvSpPr>
              <a:spLocks/>
            </p:cNvSpPr>
            <p:nvPr/>
          </p:nvSpPr>
          <p:spPr bwMode="auto">
            <a:xfrm>
              <a:off x="3881032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8" name="Line 121"/>
            <p:cNvSpPr>
              <a:spLocks noChangeShapeType="1"/>
            </p:cNvSpPr>
            <p:nvPr/>
          </p:nvSpPr>
          <p:spPr bwMode="auto">
            <a:xfrm flipV="1">
              <a:off x="3928023" y="4747311"/>
              <a:ext cx="0" cy="569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9" name="Line 122"/>
            <p:cNvSpPr>
              <a:spLocks noChangeShapeType="1"/>
            </p:cNvSpPr>
            <p:nvPr/>
          </p:nvSpPr>
          <p:spPr bwMode="auto">
            <a:xfrm>
              <a:off x="1700376" y="1273780"/>
              <a:ext cx="0" cy="41049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0" name="Line 123"/>
            <p:cNvSpPr>
              <a:spLocks noChangeShapeType="1"/>
            </p:cNvSpPr>
            <p:nvPr/>
          </p:nvSpPr>
          <p:spPr bwMode="auto">
            <a:xfrm flipH="1">
              <a:off x="1682754" y="1259061"/>
              <a:ext cx="19060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1" name="Rectangle 126"/>
            <p:cNvSpPr>
              <a:spLocks noChangeArrowheads="1"/>
            </p:cNvSpPr>
            <p:nvPr/>
          </p:nvSpPr>
          <p:spPr bwMode="auto">
            <a:xfrm>
              <a:off x="6884025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8665553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Determining Type of Instruction</a:t>
            </a:r>
          </a:p>
        </p:txBody>
      </p:sp>
      <p:sp>
        <p:nvSpPr>
          <p:cNvPr id="25607" name="Rectangle 124"/>
          <p:cNvSpPr>
            <a:spLocks noChangeArrowheads="1"/>
          </p:cNvSpPr>
          <p:nvPr/>
        </p:nvSpPr>
        <p:spPr bwMode="auto">
          <a:xfrm>
            <a:off x="2209801" y="1676400"/>
            <a:ext cx="7104063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D'7IT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AR </a:t>
            </a:r>
            <a:r>
              <a:rPr lang="en-US" altLang="ko-KR" sz="2400" b="1">
                <a:latin typeface="Symbol" panose="05050102010706020507" pitchFamily="18" charset="2"/>
              </a:rPr>
              <a:t></a:t>
            </a:r>
            <a:r>
              <a:rPr lang="en-US" altLang="ko-KR" sz="2400" b="1">
                <a:latin typeface="Calibri" panose="020F0502020204030204" pitchFamily="34" charset="0"/>
              </a:rPr>
              <a:t>M[AR]</a:t>
            </a: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>
              <a:latin typeface="Calibri" panose="020F0502020204030204" pitchFamily="34" charset="0"/>
            </a:endParaRP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D'</a:t>
            </a:r>
            <a:r>
              <a:rPr lang="en-US" altLang="ko-KR" b="1">
                <a:latin typeface="Calibri" panose="020F0502020204030204" pitchFamily="34" charset="0"/>
              </a:rPr>
              <a:t>7</a:t>
            </a:r>
            <a:r>
              <a:rPr lang="en-US" altLang="ko-KR" sz="2400" b="1">
                <a:latin typeface="Calibri" panose="020F0502020204030204" pitchFamily="34" charset="0"/>
              </a:rPr>
              <a:t>I'T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Nothing</a:t>
            </a: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>
              <a:latin typeface="Calibri" panose="020F0502020204030204" pitchFamily="34" charset="0"/>
            </a:endParaRP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</a:t>
            </a:r>
            <a:r>
              <a:rPr lang="en-US" altLang="ko-KR" b="1">
                <a:latin typeface="Calibri" panose="020F0502020204030204" pitchFamily="34" charset="0"/>
              </a:rPr>
              <a:t>7</a:t>
            </a:r>
            <a:r>
              <a:rPr lang="en-US" altLang="ko-KR" sz="2400" b="1">
                <a:latin typeface="Calibri" panose="020F0502020204030204" pitchFamily="34" charset="0"/>
              </a:rPr>
              <a:t>I'T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Execute a register-reference instr.</a:t>
            </a: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>
              <a:latin typeface="Calibri" panose="020F0502020204030204" pitchFamily="34" charset="0"/>
            </a:endParaRP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</a:t>
            </a:r>
            <a:r>
              <a:rPr lang="en-US" altLang="ko-KR" b="1">
                <a:latin typeface="Calibri" panose="020F0502020204030204" pitchFamily="34" charset="0"/>
              </a:rPr>
              <a:t>7</a:t>
            </a:r>
            <a:r>
              <a:rPr lang="en-US" altLang="ko-KR" sz="2400" b="1">
                <a:latin typeface="Calibri" panose="020F0502020204030204" pitchFamily="34" charset="0"/>
              </a:rPr>
              <a:t>IT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Execute an input-output instr.</a:t>
            </a:r>
          </a:p>
        </p:txBody>
      </p:sp>
    </p:spTree>
    <p:extLst>
      <p:ext uri="{BB962C8B-B14F-4D97-AF65-F5344CB8AC3E}">
        <p14:creationId xmlns:p14="http://schemas.microsoft.com/office/powerpoint/2010/main" xmlns="" val="20165085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Register Reference Instruction</a:t>
            </a:r>
          </a:p>
        </p:txBody>
      </p:sp>
      <p:sp>
        <p:nvSpPr>
          <p:cNvPr id="26631" name="Rectangle 3"/>
          <p:cNvSpPr>
            <a:spLocks noChangeArrowheads="1"/>
          </p:cNvSpPr>
          <p:nvPr/>
        </p:nvSpPr>
        <p:spPr bwMode="auto">
          <a:xfrm>
            <a:off x="2524126" y="2492376"/>
            <a:ext cx="449262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r = D</a:t>
            </a:r>
            <a:r>
              <a:rPr lang="en-US" altLang="ko-KR" sz="1600" b="1" baseline="-25000">
                <a:cs typeface="Arial" panose="020B0604020202020204" pitchFamily="34" charset="0"/>
              </a:rPr>
              <a:t>7</a:t>
            </a:r>
            <a:r>
              <a:rPr lang="en-US" altLang="ko-KR" sz="1600" b="1">
                <a:cs typeface="Arial" panose="020B0604020202020204" pitchFamily="34" charset="0"/>
              </a:rPr>
              <a:t> I</a:t>
            </a:r>
            <a:r>
              <a:rPr lang="en-US" altLang="ko-KR" sz="16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600" b="1">
                <a:cs typeface="Arial" panose="020B0604020202020204" pitchFamily="34" charset="0"/>
              </a:rPr>
              <a:t>T</a:t>
            </a:r>
            <a:r>
              <a:rPr lang="en-US" altLang="ko-KR" sz="1600" b="1" baseline="-25000">
                <a:cs typeface="Arial" panose="020B0604020202020204" pitchFamily="34" charset="0"/>
              </a:rPr>
              <a:t>3</a:t>
            </a:r>
            <a:r>
              <a:rPr lang="en-US" altLang="ko-KR" sz="1600" b="1">
                <a:cs typeface="Arial" panose="020B0604020202020204" pitchFamily="34" charset="0"/>
              </a:rPr>
              <a:t>   =&gt; Register Reference Instruction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B</a:t>
            </a:r>
            <a:r>
              <a:rPr lang="en-US" altLang="ko-KR" sz="1600" b="1" baseline="-25000">
                <a:cs typeface="Arial" panose="020B0604020202020204" pitchFamily="34" charset="0"/>
              </a:rPr>
              <a:t>i</a:t>
            </a:r>
            <a:r>
              <a:rPr lang="en-US" altLang="ko-KR" sz="1600" b="1">
                <a:cs typeface="Arial" panose="020B0604020202020204" pitchFamily="34" charset="0"/>
              </a:rPr>
              <a:t> = IR(i) , i=0,1,2,...,11</a:t>
            </a:r>
          </a:p>
        </p:txBody>
      </p:sp>
      <p:sp>
        <p:nvSpPr>
          <p:cNvPr id="26632" name="Rectangle 5"/>
          <p:cNvSpPr>
            <a:spLocks noChangeArrowheads="1"/>
          </p:cNvSpPr>
          <p:nvPr/>
        </p:nvSpPr>
        <p:spPr bwMode="auto">
          <a:xfrm>
            <a:off x="2968626" y="1471614"/>
            <a:ext cx="48228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-  D</a:t>
            </a:r>
            <a:r>
              <a:rPr lang="en-US" altLang="ko-KR" sz="1600" b="1" baseline="-25000">
                <a:cs typeface="Arial" panose="020B0604020202020204" pitchFamily="34" charset="0"/>
              </a:rPr>
              <a:t>7</a:t>
            </a:r>
            <a:r>
              <a:rPr lang="en-US" altLang="ko-KR" sz="1600" b="1">
                <a:cs typeface="Arial" panose="020B0604020202020204" pitchFamily="34" charset="0"/>
              </a:rPr>
              <a:t> = 1,  I = 0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-  Register Ref. Instr. is specified in b</a:t>
            </a:r>
            <a:r>
              <a:rPr lang="en-US" altLang="ko-KR" sz="1600" b="1" baseline="-25000">
                <a:cs typeface="Arial" panose="020B0604020202020204" pitchFamily="34" charset="0"/>
              </a:rPr>
              <a:t>0</a:t>
            </a:r>
            <a:r>
              <a:rPr lang="en-US" altLang="ko-KR" sz="1600" b="1">
                <a:cs typeface="Arial" panose="020B0604020202020204" pitchFamily="34" charset="0"/>
              </a:rPr>
              <a:t> ~ b</a:t>
            </a:r>
            <a:r>
              <a:rPr lang="en-US" altLang="ko-KR" sz="1600" b="1" baseline="-25000">
                <a:cs typeface="Arial" panose="020B0604020202020204" pitchFamily="34" charset="0"/>
              </a:rPr>
              <a:t>11</a:t>
            </a:r>
            <a:r>
              <a:rPr lang="en-US" altLang="ko-KR" sz="1600" b="1">
                <a:cs typeface="Arial" panose="020B0604020202020204" pitchFamily="34" charset="0"/>
              </a:rPr>
              <a:t> of IR</a:t>
            </a:r>
          </a:p>
          <a:p>
            <a:pPr eaLnBrk="1" hangingPunct="1">
              <a:lnSpc>
                <a:spcPct val="85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-  Execution starts with timing signal T</a:t>
            </a:r>
            <a:r>
              <a:rPr lang="en-US" altLang="ko-KR" sz="1600" b="1" baseline="-25000">
                <a:cs typeface="Arial" panose="020B0604020202020204" pitchFamily="34" charset="0"/>
              </a:rPr>
              <a:t>3</a:t>
            </a:r>
            <a:endParaRPr lang="en-US" altLang="ko-KR" sz="1600" b="1">
              <a:cs typeface="Arial" panose="020B0604020202020204" pitchFamily="34" charset="0"/>
            </a:endParaRPr>
          </a:p>
        </p:txBody>
      </p:sp>
      <p:sp>
        <p:nvSpPr>
          <p:cNvPr id="26633" name="Rectangle 12"/>
          <p:cNvSpPr>
            <a:spLocks noChangeArrowheads="1"/>
          </p:cNvSpPr>
          <p:nvPr/>
        </p:nvSpPr>
        <p:spPr bwMode="auto">
          <a:xfrm>
            <a:off x="2078039" y="1095375"/>
            <a:ext cx="5203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Register Reference Instructions are identified when</a:t>
            </a:r>
          </a:p>
        </p:txBody>
      </p:sp>
      <p:sp>
        <p:nvSpPr>
          <p:cNvPr id="26634" name="Text Box 73"/>
          <p:cNvSpPr txBox="1">
            <a:spLocks noChangeArrowheads="1"/>
          </p:cNvSpPr>
          <p:nvPr/>
        </p:nvSpPr>
        <p:spPr bwMode="auto">
          <a:xfrm>
            <a:off x="2613026" y="3117851"/>
            <a:ext cx="6099175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	r:		SC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CLA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11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CLE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10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E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CMA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9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AC’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CME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8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E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E’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CIR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7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shr AC, AC(15)  E, E  AC(0)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CIL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6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shl AC, AC(0)  E, E  AC(15)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INC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5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AC + 1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SPA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4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(AC(15) = 0)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SNA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3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(AC(15) = 1)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SZA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(AC = 0)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SZE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(E = 0)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HLT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0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S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  (S is a start-stop flip-flop)</a:t>
            </a:r>
          </a:p>
        </p:txBody>
      </p:sp>
      <p:sp>
        <p:nvSpPr>
          <p:cNvPr id="26635" name="Rectangle 74"/>
          <p:cNvSpPr>
            <a:spLocks noChangeArrowheads="1"/>
          </p:cNvSpPr>
          <p:nvPr/>
        </p:nvSpPr>
        <p:spPr bwMode="auto">
          <a:xfrm>
            <a:off x="2552701" y="3162300"/>
            <a:ext cx="6677025" cy="3314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cs typeface="Arial" panose="020B0604020202020204" pitchFamily="34" charset="0"/>
            </a:endParaRPr>
          </a:p>
        </p:txBody>
      </p:sp>
      <p:sp>
        <p:nvSpPr>
          <p:cNvPr id="26636" name="Line 75"/>
          <p:cNvSpPr>
            <a:spLocks noChangeShapeType="1"/>
          </p:cNvSpPr>
          <p:nvPr/>
        </p:nvSpPr>
        <p:spPr bwMode="auto">
          <a:xfrm>
            <a:off x="3314700" y="3171826"/>
            <a:ext cx="0" cy="3305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Line 76"/>
          <p:cNvSpPr>
            <a:spLocks noChangeShapeType="1"/>
          </p:cNvSpPr>
          <p:nvPr/>
        </p:nvSpPr>
        <p:spPr bwMode="auto">
          <a:xfrm>
            <a:off x="4181475" y="3171826"/>
            <a:ext cx="0" cy="3305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064397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65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Reference Instructions</a:t>
            </a:r>
          </a:p>
        </p:txBody>
      </p:sp>
      <p:grpSp>
        <p:nvGrpSpPr>
          <p:cNvPr id="27655" name="Group 21"/>
          <p:cNvGrpSpPr>
            <a:grpSpLocks/>
          </p:cNvGrpSpPr>
          <p:nvPr/>
        </p:nvGrpSpPr>
        <p:grpSpPr bwMode="auto">
          <a:xfrm>
            <a:off x="1901826" y="1081089"/>
            <a:ext cx="8842375" cy="5091108"/>
            <a:chOff x="171450" y="862013"/>
            <a:chExt cx="8842375" cy="5092052"/>
          </a:xfrm>
        </p:grpSpPr>
        <p:sp>
          <p:nvSpPr>
            <p:cNvPr id="27656" name="Rectangle 3"/>
            <p:cNvSpPr>
              <a:spLocks noChangeArrowheads="1"/>
            </p:cNvSpPr>
            <p:nvPr/>
          </p:nvSpPr>
          <p:spPr bwMode="auto">
            <a:xfrm>
              <a:off x="738188" y="862013"/>
              <a:ext cx="34925" cy="157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7657" name="Rectangle 4"/>
            <p:cNvSpPr>
              <a:spLocks noChangeArrowheads="1"/>
            </p:cNvSpPr>
            <p:nvPr/>
          </p:nvSpPr>
          <p:spPr bwMode="auto">
            <a:xfrm>
              <a:off x="171450" y="4595813"/>
              <a:ext cx="6972165" cy="1358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AND to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	D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0</a:t>
              </a:r>
              <a:r>
                <a:rPr lang="en-US" altLang="ko-KR" sz="1200" b="1" dirty="0">
                  <a:cs typeface="Arial" panose="020B0604020202020204" pitchFamily="34" charset="0"/>
                </a:rPr>
                <a:t>T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200" b="1" dirty="0">
                  <a:cs typeface="Arial" panose="020B0604020202020204" pitchFamily="34" charset="0"/>
                </a:rPr>
                <a:t>:	DR 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				Read operand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D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5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:	AC  AC  DR, SC  0			AND with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ADD to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	D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1</a:t>
              </a:r>
              <a:r>
                <a:rPr lang="en-US" altLang="ko-KR" sz="1200" b="1" dirty="0">
                  <a:cs typeface="Arial" panose="020B0604020202020204" pitchFamily="34" charset="0"/>
                </a:rPr>
                <a:t>T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200" b="1" dirty="0">
                  <a:cs typeface="Arial" panose="020B0604020202020204" pitchFamily="34" charset="0"/>
                </a:rPr>
                <a:t>:	DR 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				Read operand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D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5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:	AC  AC + DR, E  </a:t>
              </a:r>
              <a:r>
                <a:rPr lang="en-US" altLang="ko-KR" sz="1200" b="1" dirty="0" err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C</a:t>
              </a:r>
              <a:r>
                <a:rPr lang="en-US" altLang="ko-KR" sz="1200" b="1" baseline="-25000" dirty="0" err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out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, SC  0	Add to AC and store carry in E</a:t>
              </a:r>
            </a:p>
            <a:p>
              <a:pPr eaLnBrk="1" hangingPunct="1">
                <a:lnSpc>
                  <a:spcPct val="102000"/>
                </a:lnSpc>
              </a:pPr>
              <a:endPara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7658" name="Rectangle 6"/>
            <p:cNvSpPr>
              <a:spLocks noChangeArrowheads="1"/>
            </p:cNvSpPr>
            <p:nvPr/>
          </p:nvSpPr>
          <p:spPr bwMode="auto">
            <a:xfrm>
              <a:off x="352425" y="3422650"/>
              <a:ext cx="8661400" cy="1036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effective address of the instruction is in AR and was placed there during 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	timing signal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</a:rPr>
                <a:t> when I = 0, or during timing signal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3</a:t>
              </a:r>
              <a:r>
                <a:rPr lang="en-US" altLang="ko-KR" sz="1600" b="1">
                  <a:cs typeface="Arial" panose="020B0604020202020204" pitchFamily="34" charset="0"/>
                </a:rPr>
                <a:t> when I = 1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Memory cycle is assumed to be short enough to complete in a CPU cycle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execution of MR instruction starts with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4</a:t>
              </a:r>
              <a:endParaRPr lang="en-US" altLang="ko-KR" sz="1600" b="1">
                <a:cs typeface="Arial" panose="020B0604020202020204" pitchFamily="34" charset="0"/>
              </a:endParaRPr>
            </a:p>
          </p:txBody>
        </p:sp>
        <p:sp>
          <p:nvSpPr>
            <p:cNvPr id="27659" name="Rectangle 45"/>
            <p:cNvSpPr>
              <a:spLocks noChangeArrowheads="1"/>
            </p:cNvSpPr>
            <p:nvPr/>
          </p:nvSpPr>
          <p:spPr bwMode="auto">
            <a:xfrm>
              <a:off x="523875" y="1054100"/>
              <a:ext cx="684483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Symbol</a:t>
              </a:r>
            </a:p>
          </p:txBody>
        </p:sp>
        <p:sp>
          <p:nvSpPr>
            <p:cNvPr id="27660" name="Rectangle 46"/>
            <p:cNvSpPr>
              <a:spLocks noChangeArrowheads="1"/>
            </p:cNvSpPr>
            <p:nvPr/>
          </p:nvSpPr>
          <p:spPr bwMode="auto">
            <a:xfrm>
              <a:off x="1301750" y="965200"/>
              <a:ext cx="856004" cy="409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Operation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Decoder</a:t>
              </a:r>
            </a:p>
          </p:txBody>
        </p:sp>
        <p:sp>
          <p:nvSpPr>
            <p:cNvPr id="27661" name="Rectangle 47"/>
            <p:cNvSpPr>
              <a:spLocks noChangeArrowheads="1"/>
            </p:cNvSpPr>
            <p:nvPr/>
          </p:nvSpPr>
          <p:spPr bwMode="auto">
            <a:xfrm>
              <a:off x="2355850" y="1054100"/>
              <a:ext cx="1702389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Symbolic Description</a:t>
              </a:r>
            </a:p>
          </p:txBody>
        </p:sp>
        <p:sp>
          <p:nvSpPr>
            <p:cNvPr id="27662" name="Line 48"/>
            <p:cNvSpPr>
              <a:spLocks noChangeShapeType="1"/>
            </p:cNvSpPr>
            <p:nvPr/>
          </p:nvSpPr>
          <p:spPr bwMode="auto">
            <a:xfrm>
              <a:off x="1225550" y="952500"/>
              <a:ext cx="0" cy="21955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Rectangle 50"/>
            <p:cNvSpPr>
              <a:spLocks noChangeArrowheads="1"/>
            </p:cNvSpPr>
            <p:nvPr/>
          </p:nvSpPr>
          <p:spPr bwMode="auto">
            <a:xfrm>
              <a:off x="428625" y="952500"/>
              <a:ext cx="7700963" cy="21875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7664" name="Text Box 89"/>
            <p:cNvSpPr txBox="1">
              <a:spLocks noChangeArrowheads="1"/>
            </p:cNvSpPr>
            <p:nvPr/>
          </p:nvSpPr>
          <p:spPr bwMode="auto">
            <a:xfrm>
              <a:off x="469900" y="1322388"/>
              <a:ext cx="7100021" cy="18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AND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  M[AR]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ADD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 + M[AR], E  C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out</a:t>
              </a:r>
              <a:endPara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LDA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M[AR]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STA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3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BUN  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PC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AR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BSA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PC, PC  AR + 1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ISZ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M[AR] + 1, if M[AR] + 1 = 0 then PC  PC+1</a:t>
              </a:r>
            </a:p>
          </p:txBody>
        </p:sp>
        <p:sp>
          <p:nvSpPr>
            <p:cNvPr id="27665" name="Line 90"/>
            <p:cNvSpPr>
              <a:spLocks noChangeShapeType="1"/>
            </p:cNvSpPr>
            <p:nvPr/>
          </p:nvSpPr>
          <p:spPr bwMode="auto">
            <a:xfrm>
              <a:off x="2139950" y="971550"/>
              <a:ext cx="0" cy="21955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6" name="Line 91"/>
            <p:cNvSpPr>
              <a:spLocks noChangeShapeType="1"/>
            </p:cNvSpPr>
            <p:nvPr/>
          </p:nvSpPr>
          <p:spPr bwMode="auto">
            <a:xfrm>
              <a:off x="428625" y="1352550"/>
              <a:ext cx="7724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63500" tIns="25400" rIns="63500" bIns="25400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4504810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6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Reference Instructions</a:t>
            </a:r>
          </a:p>
        </p:txBody>
      </p:sp>
      <p:grpSp>
        <p:nvGrpSpPr>
          <p:cNvPr id="28679" name="Group 65"/>
          <p:cNvGrpSpPr>
            <a:grpSpLocks/>
          </p:cNvGrpSpPr>
          <p:nvPr/>
        </p:nvGrpSpPr>
        <p:grpSpPr bwMode="auto">
          <a:xfrm>
            <a:off x="1887843" y="1041400"/>
            <a:ext cx="7367282" cy="5238750"/>
            <a:chOff x="363833" y="946127"/>
            <a:chExt cx="7367545" cy="5333820"/>
          </a:xfrm>
        </p:grpSpPr>
        <p:sp>
          <p:nvSpPr>
            <p:cNvPr id="28680" name="Rectangle 73"/>
            <p:cNvSpPr>
              <a:spLocks noChangeArrowheads="1"/>
            </p:cNvSpPr>
            <p:nvPr/>
          </p:nvSpPr>
          <p:spPr bwMode="auto">
            <a:xfrm>
              <a:off x="5059363" y="3340100"/>
              <a:ext cx="267201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           Memory, PC after execution</a:t>
              </a:r>
            </a:p>
          </p:txBody>
        </p:sp>
        <p:sp>
          <p:nvSpPr>
            <p:cNvPr id="28681" name="Rectangle 8"/>
            <p:cNvSpPr>
              <a:spLocks noChangeArrowheads="1"/>
            </p:cNvSpPr>
            <p:nvPr/>
          </p:nvSpPr>
          <p:spPr bwMode="auto">
            <a:xfrm>
              <a:off x="6353175" y="4770438"/>
              <a:ext cx="298159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28682" name="Rectangle 32"/>
            <p:cNvSpPr>
              <a:spLocks noChangeArrowheads="1"/>
            </p:cNvSpPr>
            <p:nvPr/>
          </p:nvSpPr>
          <p:spPr bwMode="auto">
            <a:xfrm>
              <a:off x="3152775" y="3629025"/>
              <a:ext cx="1504950" cy="262096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8683" name="Rectangle 33"/>
            <p:cNvSpPr>
              <a:spLocks noChangeArrowheads="1"/>
            </p:cNvSpPr>
            <p:nvPr/>
          </p:nvSpPr>
          <p:spPr bwMode="auto">
            <a:xfrm>
              <a:off x="3132138" y="3616325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684" name="Rectangle 34"/>
            <p:cNvSpPr>
              <a:spLocks noChangeArrowheads="1"/>
            </p:cNvSpPr>
            <p:nvPr/>
          </p:nvSpPr>
          <p:spPr bwMode="auto">
            <a:xfrm>
              <a:off x="3424238" y="3616325"/>
              <a:ext cx="50655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28685" name="Rectangle 35"/>
            <p:cNvSpPr>
              <a:spLocks noChangeArrowheads="1"/>
            </p:cNvSpPr>
            <p:nvPr/>
          </p:nvSpPr>
          <p:spPr bwMode="auto">
            <a:xfrm>
              <a:off x="4205288" y="3616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686" name="Rectangle 36"/>
            <p:cNvSpPr>
              <a:spLocks noChangeArrowheads="1"/>
            </p:cNvSpPr>
            <p:nvPr/>
          </p:nvSpPr>
          <p:spPr bwMode="auto">
            <a:xfrm>
              <a:off x="3132138" y="3865563"/>
              <a:ext cx="135453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Next instruction</a:t>
              </a:r>
            </a:p>
          </p:txBody>
        </p:sp>
        <p:sp>
          <p:nvSpPr>
            <p:cNvPr id="28687" name="Rectangle 37"/>
            <p:cNvSpPr>
              <a:spLocks noChangeArrowheads="1"/>
            </p:cNvSpPr>
            <p:nvPr/>
          </p:nvSpPr>
          <p:spPr bwMode="auto">
            <a:xfrm>
              <a:off x="3424238" y="5014913"/>
              <a:ext cx="99706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Subroutine</a:t>
              </a:r>
            </a:p>
          </p:txBody>
        </p:sp>
        <p:sp>
          <p:nvSpPr>
            <p:cNvPr id="28688" name="Line 38"/>
            <p:cNvSpPr>
              <a:spLocks noChangeShapeType="1"/>
            </p:cNvSpPr>
            <p:nvPr/>
          </p:nvSpPr>
          <p:spPr bwMode="auto">
            <a:xfrm>
              <a:off x="3152775" y="38766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9" name="Line 39"/>
            <p:cNvSpPr>
              <a:spLocks noChangeShapeType="1"/>
            </p:cNvSpPr>
            <p:nvPr/>
          </p:nvSpPr>
          <p:spPr bwMode="auto">
            <a:xfrm>
              <a:off x="3152775" y="41243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0" name="Rectangle 40"/>
            <p:cNvSpPr>
              <a:spLocks noChangeArrowheads="1"/>
            </p:cNvSpPr>
            <p:nvPr/>
          </p:nvSpPr>
          <p:spPr bwMode="auto">
            <a:xfrm>
              <a:off x="2774950" y="3616325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8691" name="Rectangle 41"/>
            <p:cNvSpPr>
              <a:spLocks noChangeArrowheads="1"/>
            </p:cNvSpPr>
            <p:nvPr/>
          </p:nvSpPr>
          <p:spPr bwMode="auto">
            <a:xfrm>
              <a:off x="2406650" y="3849688"/>
              <a:ext cx="74219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PC = 21</a:t>
              </a:r>
            </a:p>
          </p:txBody>
        </p:sp>
        <p:sp>
          <p:nvSpPr>
            <p:cNvPr id="28692" name="Line 42"/>
            <p:cNvSpPr>
              <a:spLocks noChangeShapeType="1"/>
            </p:cNvSpPr>
            <p:nvPr/>
          </p:nvSpPr>
          <p:spPr bwMode="auto">
            <a:xfrm>
              <a:off x="3152775" y="47783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3" name="Line 43"/>
            <p:cNvSpPr>
              <a:spLocks noChangeShapeType="1"/>
            </p:cNvSpPr>
            <p:nvPr/>
          </p:nvSpPr>
          <p:spPr bwMode="auto">
            <a:xfrm>
              <a:off x="3152775" y="50260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4" name="Rectangle 44"/>
            <p:cNvSpPr>
              <a:spLocks noChangeArrowheads="1"/>
            </p:cNvSpPr>
            <p:nvPr/>
          </p:nvSpPr>
          <p:spPr bwMode="auto">
            <a:xfrm>
              <a:off x="2316163" y="4751388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AR = 135</a:t>
              </a:r>
            </a:p>
          </p:txBody>
        </p:sp>
        <p:sp>
          <p:nvSpPr>
            <p:cNvPr id="28695" name="Rectangle 45"/>
            <p:cNvSpPr>
              <a:spLocks noChangeArrowheads="1"/>
            </p:cNvSpPr>
            <p:nvPr/>
          </p:nvSpPr>
          <p:spPr bwMode="auto">
            <a:xfrm>
              <a:off x="2698750" y="50149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136</a:t>
              </a:r>
            </a:p>
          </p:txBody>
        </p:sp>
        <p:sp>
          <p:nvSpPr>
            <p:cNvPr id="28696" name="Rectangle 46"/>
            <p:cNvSpPr>
              <a:spLocks noChangeArrowheads="1"/>
            </p:cNvSpPr>
            <p:nvPr/>
          </p:nvSpPr>
          <p:spPr bwMode="auto">
            <a:xfrm>
              <a:off x="3132138" y="6005513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697" name="Rectangle 47"/>
            <p:cNvSpPr>
              <a:spLocks noChangeArrowheads="1"/>
            </p:cNvSpPr>
            <p:nvPr/>
          </p:nvSpPr>
          <p:spPr bwMode="auto">
            <a:xfrm>
              <a:off x="3424238" y="6005513"/>
              <a:ext cx="51456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28698" name="Rectangle 48"/>
            <p:cNvSpPr>
              <a:spLocks noChangeArrowheads="1"/>
            </p:cNvSpPr>
            <p:nvPr/>
          </p:nvSpPr>
          <p:spPr bwMode="auto">
            <a:xfrm>
              <a:off x="4186238" y="60055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699" name="Line 49"/>
            <p:cNvSpPr>
              <a:spLocks noChangeShapeType="1"/>
            </p:cNvSpPr>
            <p:nvPr/>
          </p:nvSpPr>
          <p:spPr bwMode="auto">
            <a:xfrm>
              <a:off x="3152775" y="60166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0" name="Arc 50"/>
            <p:cNvSpPr>
              <a:spLocks/>
            </p:cNvSpPr>
            <p:nvPr/>
          </p:nvSpPr>
          <p:spPr bwMode="auto">
            <a:xfrm>
              <a:off x="3832225" y="5705475"/>
              <a:ext cx="96838" cy="1381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01" name="Line 51"/>
            <p:cNvSpPr>
              <a:spLocks noChangeShapeType="1"/>
            </p:cNvSpPr>
            <p:nvPr/>
          </p:nvSpPr>
          <p:spPr bwMode="auto">
            <a:xfrm>
              <a:off x="3879850" y="5272088"/>
              <a:ext cx="0" cy="4524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2" name="Rectangle 52"/>
            <p:cNvSpPr>
              <a:spLocks noChangeArrowheads="1"/>
            </p:cNvSpPr>
            <p:nvPr/>
          </p:nvSpPr>
          <p:spPr bwMode="auto">
            <a:xfrm>
              <a:off x="2481263" y="3311525"/>
              <a:ext cx="251242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         Memory, PC, AR at time T4</a:t>
              </a:r>
            </a:p>
          </p:txBody>
        </p:sp>
        <p:sp>
          <p:nvSpPr>
            <p:cNvPr id="28703" name="Rectangle 53"/>
            <p:cNvSpPr>
              <a:spLocks noChangeArrowheads="1"/>
            </p:cNvSpPr>
            <p:nvPr/>
          </p:nvSpPr>
          <p:spPr bwMode="auto">
            <a:xfrm>
              <a:off x="5816600" y="3643313"/>
              <a:ext cx="1504950" cy="262096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8704" name="Rectangle 54"/>
            <p:cNvSpPr>
              <a:spLocks noChangeArrowheads="1"/>
            </p:cNvSpPr>
            <p:nvPr/>
          </p:nvSpPr>
          <p:spPr bwMode="auto">
            <a:xfrm>
              <a:off x="5808663" y="3616325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705" name="Rectangle 55"/>
            <p:cNvSpPr>
              <a:spLocks noChangeArrowheads="1"/>
            </p:cNvSpPr>
            <p:nvPr/>
          </p:nvSpPr>
          <p:spPr bwMode="auto">
            <a:xfrm>
              <a:off x="6102350" y="3616325"/>
              <a:ext cx="50655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28706" name="Rectangle 56"/>
            <p:cNvSpPr>
              <a:spLocks noChangeArrowheads="1"/>
            </p:cNvSpPr>
            <p:nvPr/>
          </p:nvSpPr>
          <p:spPr bwMode="auto">
            <a:xfrm>
              <a:off x="6854825" y="3616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07" name="Rectangle 57"/>
            <p:cNvSpPr>
              <a:spLocks noChangeArrowheads="1"/>
            </p:cNvSpPr>
            <p:nvPr/>
          </p:nvSpPr>
          <p:spPr bwMode="auto">
            <a:xfrm>
              <a:off x="5808663" y="3865563"/>
              <a:ext cx="135453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Next instruction</a:t>
              </a:r>
            </a:p>
          </p:txBody>
        </p:sp>
        <p:sp>
          <p:nvSpPr>
            <p:cNvPr id="28708" name="Rectangle 58"/>
            <p:cNvSpPr>
              <a:spLocks noChangeArrowheads="1"/>
            </p:cNvSpPr>
            <p:nvPr/>
          </p:nvSpPr>
          <p:spPr bwMode="auto">
            <a:xfrm>
              <a:off x="6102350" y="5014913"/>
              <a:ext cx="99706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Subroutine</a:t>
              </a:r>
            </a:p>
          </p:txBody>
        </p:sp>
        <p:sp>
          <p:nvSpPr>
            <p:cNvPr id="28709" name="Line 59"/>
            <p:cNvSpPr>
              <a:spLocks noChangeShapeType="1"/>
            </p:cNvSpPr>
            <p:nvPr/>
          </p:nvSpPr>
          <p:spPr bwMode="auto">
            <a:xfrm>
              <a:off x="5829300" y="38766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0" name="Line 60"/>
            <p:cNvSpPr>
              <a:spLocks noChangeShapeType="1"/>
            </p:cNvSpPr>
            <p:nvPr/>
          </p:nvSpPr>
          <p:spPr bwMode="auto">
            <a:xfrm>
              <a:off x="5829300" y="41243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1" name="Rectangle 61"/>
            <p:cNvSpPr>
              <a:spLocks noChangeArrowheads="1"/>
            </p:cNvSpPr>
            <p:nvPr/>
          </p:nvSpPr>
          <p:spPr bwMode="auto">
            <a:xfrm>
              <a:off x="5453063" y="3616325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8712" name="Rectangle 62"/>
            <p:cNvSpPr>
              <a:spLocks noChangeArrowheads="1"/>
            </p:cNvSpPr>
            <p:nvPr/>
          </p:nvSpPr>
          <p:spPr bwMode="auto">
            <a:xfrm>
              <a:off x="5440363" y="3865563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28713" name="Line 63"/>
            <p:cNvSpPr>
              <a:spLocks noChangeShapeType="1"/>
            </p:cNvSpPr>
            <p:nvPr/>
          </p:nvSpPr>
          <p:spPr bwMode="auto">
            <a:xfrm>
              <a:off x="5829300" y="47783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4" name="Line 64"/>
            <p:cNvSpPr>
              <a:spLocks noChangeShapeType="1"/>
            </p:cNvSpPr>
            <p:nvPr/>
          </p:nvSpPr>
          <p:spPr bwMode="auto">
            <a:xfrm>
              <a:off x="5829300" y="50260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5" name="Rectangle 65"/>
            <p:cNvSpPr>
              <a:spLocks noChangeArrowheads="1"/>
            </p:cNvSpPr>
            <p:nvPr/>
          </p:nvSpPr>
          <p:spPr bwMode="auto">
            <a:xfrm>
              <a:off x="5375275" y="476726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16" name="Rectangle 66"/>
            <p:cNvSpPr>
              <a:spLocks noChangeArrowheads="1"/>
            </p:cNvSpPr>
            <p:nvPr/>
          </p:nvSpPr>
          <p:spPr bwMode="auto">
            <a:xfrm>
              <a:off x="4992688" y="5030788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PC = 136</a:t>
              </a:r>
            </a:p>
          </p:txBody>
        </p:sp>
        <p:sp>
          <p:nvSpPr>
            <p:cNvPr id="28717" name="Rectangle 67"/>
            <p:cNvSpPr>
              <a:spLocks noChangeArrowheads="1"/>
            </p:cNvSpPr>
            <p:nvPr/>
          </p:nvSpPr>
          <p:spPr bwMode="auto">
            <a:xfrm>
              <a:off x="5808663" y="6005513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718" name="Rectangle 68"/>
            <p:cNvSpPr>
              <a:spLocks noChangeArrowheads="1"/>
            </p:cNvSpPr>
            <p:nvPr/>
          </p:nvSpPr>
          <p:spPr bwMode="auto">
            <a:xfrm>
              <a:off x="6102350" y="6005513"/>
              <a:ext cx="51456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28719" name="Rectangle 69"/>
            <p:cNvSpPr>
              <a:spLocks noChangeArrowheads="1"/>
            </p:cNvSpPr>
            <p:nvPr/>
          </p:nvSpPr>
          <p:spPr bwMode="auto">
            <a:xfrm>
              <a:off x="6911975" y="60055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20" name="Line 70"/>
            <p:cNvSpPr>
              <a:spLocks noChangeShapeType="1"/>
            </p:cNvSpPr>
            <p:nvPr/>
          </p:nvSpPr>
          <p:spPr bwMode="auto">
            <a:xfrm>
              <a:off x="5829300" y="60166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1" name="Arc 71"/>
            <p:cNvSpPr>
              <a:spLocks/>
            </p:cNvSpPr>
            <p:nvPr/>
          </p:nvSpPr>
          <p:spPr bwMode="auto">
            <a:xfrm>
              <a:off x="6508750" y="5705475"/>
              <a:ext cx="96838" cy="1381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2" name="Line 72"/>
            <p:cNvSpPr>
              <a:spLocks noChangeShapeType="1"/>
            </p:cNvSpPr>
            <p:nvPr/>
          </p:nvSpPr>
          <p:spPr bwMode="auto">
            <a:xfrm>
              <a:off x="6556375" y="5272088"/>
              <a:ext cx="0" cy="4524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3" name="Rectangle 76"/>
            <p:cNvSpPr>
              <a:spLocks noChangeArrowheads="1"/>
            </p:cNvSpPr>
            <p:nvPr/>
          </p:nvSpPr>
          <p:spPr bwMode="auto">
            <a:xfrm>
              <a:off x="363833" y="946127"/>
              <a:ext cx="3904659" cy="1932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cs typeface="Arial" panose="020B0604020202020204" pitchFamily="34" charset="0"/>
                </a:rPr>
                <a:t>LDA: Load to AC</a:t>
              </a:r>
              <a:endParaRPr lang="en-US" altLang="ko-KR" sz="14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cs typeface="Arial" panose="020B0604020202020204" pitchFamily="34" charset="0"/>
                </a:rPr>
                <a:t>	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DR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5</a:t>
              </a:r>
              <a:r>
                <a:rPr lang="en-US" altLang="ko-KR" sz="1400" b="1" dirty="0">
                  <a:cs typeface="Arial" panose="020B0604020202020204" pitchFamily="34" charset="0"/>
                </a:rPr>
                <a:t>:	AC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DR, SC  0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STA: Store AC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3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M[AR]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AC, SC  0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BUN: Branch Unconditionally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PC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AR, SC  0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BSA: Branch and Save Return Address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	</a:t>
              </a:r>
              <a:r>
                <a:rPr lang="en-US" altLang="ko-KR" sz="1400" b="1" dirty="0">
                  <a:cs typeface="Arial" panose="020B0604020202020204" pitchFamily="34" charset="0"/>
                </a:rPr>
                <a:t>M[AR]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PC, PC  AR + 1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6305980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70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Reference Instructions</a:t>
            </a:r>
          </a:p>
        </p:txBody>
      </p:sp>
      <p:sp>
        <p:nvSpPr>
          <p:cNvPr id="29703" name="Rectangle 27"/>
          <p:cNvSpPr>
            <a:spLocks noChangeArrowheads="1"/>
          </p:cNvSpPr>
          <p:nvPr/>
        </p:nvSpPr>
        <p:spPr bwMode="auto">
          <a:xfrm>
            <a:off x="2057401" y="1295400"/>
            <a:ext cx="8101013" cy="273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BSA: 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	D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4</a:t>
            </a:r>
            <a:r>
              <a:rPr lang="en-US" altLang="ko-KR" sz="2000" b="1">
                <a:cs typeface="Arial" panose="020B0604020202020204" pitchFamily="34" charset="0"/>
              </a:rPr>
              <a:t>:	M[AR]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PC,  AR  AR + 1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ko-KR" sz="2000" b="1">
                <a:cs typeface="Arial" panose="020B0604020202020204" pitchFamily="34" charset="0"/>
              </a:rPr>
              <a:t>D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:	PC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AR, SC  0</a:t>
            </a:r>
          </a:p>
          <a:p>
            <a:pPr eaLnBrk="1" hangingPunct="1">
              <a:lnSpc>
                <a:spcPct val="97000"/>
              </a:lnSpc>
            </a:pPr>
            <a:endParaRPr lang="en-US" altLang="ko-KR" sz="2000" b="1">
              <a:solidFill>
                <a:srgbClr val="00000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ISZ: Increment and Skip-if-Zero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ko-KR" sz="2000" b="1">
                <a:cs typeface="Arial" panose="020B0604020202020204" pitchFamily="34" charset="0"/>
              </a:rPr>
              <a:t>D</a:t>
            </a:r>
            <a:r>
              <a:rPr lang="en-US" altLang="ko-KR" sz="2000" b="1" baseline="-25000">
                <a:cs typeface="Arial" panose="020B0604020202020204" pitchFamily="34" charset="0"/>
              </a:rPr>
              <a:t>6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4</a:t>
            </a:r>
            <a:r>
              <a:rPr lang="en-US" altLang="ko-KR" sz="2000" b="1">
                <a:cs typeface="Arial" panose="020B0604020202020204" pitchFamily="34" charset="0"/>
              </a:rPr>
              <a:t>:	DR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M[AR]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	D</a:t>
            </a:r>
            <a:r>
              <a:rPr lang="en-US" altLang="ko-KR" sz="2000" b="1" baseline="-25000">
                <a:cs typeface="Arial" panose="020B0604020202020204" pitchFamily="34" charset="0"/>
              </a:rPr>
              <a:t>6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:	DR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DR + 1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	D</a:t>
            </a:r>
            <a:r>
              <a:rPr lang="en-US" altLang="ko-KR" sz="2000" b="1" baseline="-25000">
                <a:cs typeface="Arial" panose="020B0604020202020204" pitchFamily="34" charset="0"/>
              </a:rPr>
              <a:t>6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4</a:t>
            </a:r>
            <a:r>
              <a:rPr lang="en-US" altLang="ko-KR" sz="2000" b="1">
                <a:cs typeface="Arial" panose="020B0604020202020204" pitchFamily="34" charset="0"/>
              </a:rPr>
              <a:t>:	M[AR]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DR,  if (DR = 0) then (PC  PC + 1),  SC  0</a:t>
            </a:r>
          </a:p>
          <a:p>
            <a:pPr eaLnBrk="1" hangingPunct="1">
              <a:lnSpc>
                <a:spcPct val="97000"/>
              </a:lnSpc>
            </a:pPr>
            <a:endParaRPr lang="en-US" altLang="ko-KR" sz="2000" b="1">
              <a:solidFill>
                <a:srgbClr val="00000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37635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Flow Chart - Memory Reference Instructions</a:t>
            </a:r>
          </a:p>
        </p:txBody>
      </p:sp>
      <p:grpSp>
        <p:nvGrpSpPr>
          <p:cNvPr id="30727" name="Group 126"/>
          <p:cNvGrpSpPr>
            <a:grpSpLocks/>
          </p:cNvGrpSpPr>
          <p:nvPr/>
        </p:nvGrpSpPr>
        <p:grpSpPr bwMode="auto">
          <a:xfrm>
            <a:off x="3352800" y="1058864"/>
            <a:ext cx="5372100" cy="5494337"/>
            <a:chOff x="1090613" y="914400"/>
            <a:chExt cx="5371453" cy="5494035"/>
          </a:xfrm>
        </p:grpSpPr>
        <p:sp>
          <p:nvSpPr>
            <p:cNvPr id="30728" name="Rectangle 4"/>
            <p:cNvSpPr>
              <a:spLocks noChangeArrowheads="1"/>
            </p:cNvSpPr>
            <p:nvPr/>
          </p:nvSpPr>
          <p:spPr bwMode="auto">
            <a:xfrm>
              <a:off x="2438400" y="914400"/>
              <a:ext cx="3080973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>
                  <a:solidFill>
                    <a:srgbClr val="000000"/>
                  </a:solidFill>
                  <a:cs typeface="Arial" panose="020B0604020202020204" pitchFamily="34" charset="0"/>
                </a:rPr>
                <a:t>Memory-reference instruction</a:t>
              </a:r>
            </a:p>
          </p:txBody>
        </p:sp>
        <p:sp>
          <p:nvSpPr>
            <p:cNvPr id="30729" name="Arc 5"/>
            <p:cNvSpPr>
              <a:spLocks/>
            </p:cNvSpPr>
            <p:nvPr/>
          </p:nvSpPr>
          <p:spPr bwMode="auto">
            <a:xfrm>
              <a:off x="3656013" y="1476375"/>
              <a:ext cx="100012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30" name="Line 6"/>
            <p:cNvSpPr>
              <a:spLocks noChangeShapeType="1"/>
            </p:cNvSpPr>
            <p:nvPr/>
          </p:nvSpPr>
          <p:spPr bwMode="auto">
            <a:xfrm>
              <a:off x="3705225" y="1147763"/>
              <a:ext cx="0" cy="3397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1" name="Line 7"/>
            <p:cNvSpPr>
              <a:spLocks noChangeShapeType="1"/>
            </p:cNvSpPr>
            <p:nvPr/>
          </p:nvSpPr>
          <p:spPr bwMode="auto">
            <a:xfrm>
              <a:off x="1728788" y="1600200"/>
              <a:ext cx="46799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2" name="Rectangle 8"/>
            <p:cNvSpPr>
              <a:spLocks noChangeArrowheads="1"/>
            </p:cNvSpPr>
            <p:nvPr/>
          </p:nvSpPr>
          <p:spPr bwMode="auto">
            <a:xfrm>
              <a:off x="1157288" y="2049463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3" name="Rectangle 9"/>
            <p:cNvSpPr>
              <a:spLocks noChangeArrowheads="1"/>
            </p:cNvSpPr>
            <p:nvPr/>
          </p:nvSpPr>
          <p:spPr bwMode="auto">
            <a:xfrm>
              <a:off x="2476500" y="2039938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4" name="Rectangle 10"/>
            <p:cNvSpPr>
              <a:spLocks noChangeArrowheads="1"/>
            </p:cNvSpPr>
            <p:nvPr/>
          </p:nvSpPr>
          <p:spPr bwMode="auto">
            <a:xfrm>
              <a:off x="3819525" y="2049463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5" name="Rectangle 11"/>
            <p:cNvSpPr>
              <a:spLocks noChangeArrowheads="1"/>
            </p:cNvSpPr>
            <p:nvPr/>
          </p:nvSpPr>
          <p:spPr bwMode="auto">
            <a:xfrm>
              <a:off x="5110163" y="1989138"/>
              <a:ext cx="1019511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AC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36" name="Rectangle 12"/>
            <p:cNvSpPr>
              <a:spLocks noChangeArrowheads="1"/>
            </p:cNvSpPr>
            <p:nvPr/>
          </p:nvSpPr>
          <p:spPr bwMode="auto">
            <a:xfrm>
              <a:off x="5267325" y="2151063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37" name="Rectangle 13"/>
            <p:cNvSpPr>
              <a:spLocks noChangeArrowheads="1"/>
            </p:cNvSpPr>
            <p:nvPr/>
          </p:nvSpPr>
          <p:spPr bwMode="auto">
            <a:xfrm>
              <a:off x="1144588" y="2003425"/>
              <a:ext cx="1141412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38" name="Rectangle 14"/>
            <p:cNvSpPr>
              <a:spLocks noChangeArrowheads="1"/>
            </p:cNvSpPr>
            <p:nvPr/>
          </p:nvSpPr>
          <p:spPr bwMode="auto">
            <a:xfrm>
              <a:off x="2466975" y="2003425"/>
              <a:ext cx="1141413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39" name="Rectangle 15"/>
            <p:cNvSpPr>
              <a:spLocks noChangeArrowheads="1"/>
            </p:cNvSpPr>
            <p:nvPr/>
          </p:nvSpPr>
          <p:spPr bwMode="auto">
            <a:xfrm>
              <a:off x="3790950" y="2003425"/>
              <a:ext cx="1139825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40" name="Rectangle 16"/>
            <p:cNvSpPr>
              <a:spLocks noChangeArrowheads="1"/>
            </p:cNvSpPr>
            <p:nvPr/>
          </p:nvSpPr>
          <p:spPr bwMode="auto">
            <a:xfrm>
              <a:off x="5113338" y="2003425"/>
              <a:ext cx="1154112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41" name="Arc 17"/>
            <p:cNvSpPr>
              <a:spLocks/>
            </p:cNvSpPr>
            <p:nvPr/>
          </p:nvSpPr>
          <p:spPr bwMode="auto">
            <a:xfrm>
              <a:off x="1674813" y="1874838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2" name="Line 18"/>
            <p:cNvSpPr>
              <a:spLocks noChangeShapeType="1"/>
            </p:cNvSpPr>
            <p:nvPr/>
          </p:nvSpPr>
          <p:spPr bwMode="auto">
            <a:xfrm flipV="1">
              <a:off x="1722438" y="1587500"/>
              <a:ext cx="0" cy="320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3" name="Arc 19"/>
            <p:cNvSpPr>
              <a:spLocks/>
            </p:cNvSpPr>
            <p:nvPr/>
          </p:nvSpPr>
          <p:spPr bwMode="auto">
            <a:xfrm>
              <a:off x="2995613" y="1874838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4" name="Line 20"/>
            <p:cNvSpPr>
              <a:spLocks noChangeShapeType="1"/>
            </p:cNvSpPr>
            <p:nvPr/>
          </p:nvSpPr>
          <p:spPr bwMode="auto">
            <a:xfrm flipV="1">
              <a:off x="3044825" y="1600200"/>
              <a:ext cx="0" cy="307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5" name="Arc 21"/>
            <p:cNvSpPr>
              <a:spLocks/>
            </p:cNvSpPr>
            <p:nvPr/>
          </p:nvSpPr>
          <p:spPr bwMode="auto">
            <a:xfrm>
              <a:off x="4318000" y="1874838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6" name="Arc 23"/>
            <p:cNvSpPr>
              <a:spLocks/>
            </p:cNvSpPr>
            <p:nvPr/>
          </p:nvSpPr>
          <p:spPr bwMode="auto">
            <a:xfrm>
              <a:off x="5640388" y="1874838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7" name="Line 24"/>
            <p:cNvSpPr>
              <a:spLocks noChangeShapeType="1"/>
            </p:cNvSpPr>
            <p:nvPr/>
          </p:nvSpPr>
          <p:spPr bwMode="auto">
            <a:xfrm flipV="1">
              <a:off x="5689600" y="1603375"/>
              <a:ext cx="0" cy="304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8" name="Rectangle 25"/>
            <p:cNvSpPr>
              <a:spLocks noChangeArrowheads="1"/>
            </p:cNvSpPr>
            <p:nvPr/>
          </p:nvSpPr>
          <p:spPr bwMode="auto">
            <a:xfrm>
              <a:off x="1479550" y="1403350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AND</a:t>
              </a:r>
            </a:p>
          </p:txBody>
        </p:sp>
        <p:sp>
          <p:nvSpPr>
            <p:cNvPr id="30749" name="Rectangle 26"/>
            <p:cNvSpPr>
              <a:spLocks noChangeArrowheads="1"/>
            </p:cNvSpPr>
            <p:nvPr/>
          </p:nvSpPr>
          <p:spPr bwMode="auto">
            <a:xfrm>
              <a:off x="2660650" y="1403350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ADD</a:t>
              </a:r>
            </a:p>
          </p:txBody>
        </p:sp>
        <p:sp>
          <p:nvSpPr>
            <p:cNvPr id="30750" name="Rectangle 27"/>
            <p:cNvSpPr>
              <a:spLocks noChangeArrowheads="1"/>
            </p:cNvSpPr>
            <p:nvPr/>
          </p:nvSpPr>
          <p:spPr bwMode="auto">
            <a:xfrm>
              <a:off x="4202113" y="1403350"/>
              <a:ext cx="47449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LDA</a:t>
              </a:r>
            </a:p>
          </p:txBody>
        </p:sp>
        <p:sp>
          <p:nvSpPr>
            <p:cNvPr id="30751" name="Rectangle 28"/>
            <p:cNvSpPr>
              <a:spLocks noChangeArrowheads="1"/>
            </p:cNvSpPr>
            <p:nvPr/>
          </p:nvSpPr>
          <p:spPr bwMode="auto">
            <a:xfrm>
              <a:off x="5448300" y="1403350"/>
              <a:ext cx="46647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STA</a:t>
              </a:r>
            </a:p>
          </p:txBody>
        </p:sp>
        <p:sp>
          <p:nvSpPr>
            <p:cNvPr id="30752" name="Rectangle 29"/>
            <p:cNvSpPr>
              <a:spLocks noChangeArrowheads="1"/>
            </p:cNvSpPr>
            <p:nvPr/>
          </p:nvSpPr>
          <p:spPr bwMode="auto">
            <a:xfrm>
              <a:off x="1090613" y="2717800"/>
              <a:ext cx="1168591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AC   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3" name="Rectangle 30"/>
            <p:cNvSpPr>
              <a:spLocks noChangeArrowheads="1"/>
            </p:cNvSpPr>
            <p:nvPr/>
          </p:nvSpPr>
          <p:spPr bwMode="auto">
            <a:xfrm>
              <a:off x="1300163" y="288925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54" name="Rectangle 31"/>
            <p:cNvSpPr>
              <a:spLocks noChangeArrowheads="1"/>
            </p:cNvSpPr>
            <p:nvPr/>
          </p:nvSpPr>
          <p:spPr bwMode="auto">
            <a:xfrm>
              <a:off x="1144588" y="2741613"/>
              <a:ext cx="1141412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55" name="Rectangle 32"/>
            <p:cNvSpPr>
              <a:spLocks noChangeArrowheads="1"/>
            </p:cNvSpPr>
            <p:nvPr/>
          </p:nvSpPr>
          <p:spPr bwMode="auto">
            <a:xfrm>
              <a:off x="2427288" y="2735263"/>
              <a:ext cx="1173399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AC +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6" name="Rectangle 33"/>
            <p:cNvSpPr>
              <a:spLocks noChangeArrowheads="1"/>
            </p:cNvSpPr>
            <p:nvPr/>
          </p:nvSpPr>
          <p:spPr bwMode="auto">
            <a:xfrm>
              <a:off x="2427288" y="2901950"/>
              <a:ext cx="81593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E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Cout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7" name="Rectangle 34"/>
            <p:cNvSpPr>
              <a:spLocks noChangeArrowheads="1"/>
            </p:cNvSpPr>
            <p:nvPr/>
          </p:nvSpPr>
          <p:spPr bwMode="auto">
            <a:xfrm>
              <a:off x="2427288" y="3065463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58" name="Rectangle 35"/>
            <p:cNvSpPr>
              <a:spLocks noChangeArrowheads="1"/>
            </p:cNvSpPr>
            <p:nvPr/>
          </p:nvSpPr>
          <p:spPr bwMode="auto">
            <a:xfrm>
              <a:off x="2466975" y="2741613"/>
              <a:ext cx="1141413" cy="569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59" name="Rectangle 36"/>
            <p:cNvSpPr>
              <a:spLocks noChangeArrowheads="1"/>
            </p:cNvSpPr>
            <p:nvPr/>
          </p:nvSpPr>
          <p:spPr bwMode="auto">
            <a:xfrm>
              <a:off x="3970338" y="2727325"/>
              <a:ext cx="80951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60" name="Rectangle 37"/>
            <p:cNvSpPr>
              <a:spLocks noChangeArrowheads="1"/>
            </p:cNvSpPr>
            <p:nvPr/>
          </p:nvSpPr>
          <p:spPr bwMode="auto">
            <a:xfrm>
              <a:off x="4022725" y="288925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61" name="Rectangle 38"/>
            <p:cNvSpPr>
              <a:spLocks noChangeArrowheads="1"/>
            </p:cNvSpPr>
            <p:nvPr/>
          </p:nvSpPr>
          <p:spPr bwMode="auto">
            <a:xfrm>
              <a:off x="3790950" y="2741613"/>
              <a:ext cx="1139825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62" name="Rectangle 39"/>
            <p:cNvSpPr>
              <a:spLocks noChangeArrowheads="1"/>
            </p:cNvSpPr>
            <p:nvPr/>
          </p:nvSpPr>
          <p:spPr bwMode="auto">
            <a:xfrm>
              <a:off x="1933575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3" name="Rectangle 40"/>
            <p:cNvSpPr>
              <a:spLocks noChangeArrowheads="1"/>
            </p:cNvSpPr>
            <p:nvPr/>
          </p:nvSpPr>
          <p:spPr bwMode="auto">
            <a:xfrm>
              <a:off x="2036763" y="182403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64" name="Rectangle 41"/>
            <p:cNvSpPr>
              <a:spLocks noChangeArrowheads="1"/>
            </p:cNvSpPr>
            <p:nvPr/>
          </p:nvSpPr>
          <p:spPr bwMode="auto">
            <a:xfrm>
              <a:off x="223202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65" name="Rectangle 42"/>
            <p:cNvSpPr>
              <a:spLocks noChangeArrowheads="1"/>
            </p:cNvSpPr>
            <p:nvPr/>
          </p:nvSpPr>
          <p:spPr bwMode="auto">
            <a:xfrm>
              <a:off x="3255963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6" name="Rectangle 43"/>
            <p:cNvSpPr>
              <a:spLocks noChangeArrowheads="1"/>
            </p:cNvSpPr>
            <p:nvPr/>
          </p:nvSpPr>
          <p:spPr bwMode="auto">
            <a:xfrm>
              <a:off x="3359150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767" name="Rectangle 44"/>
            <p:cNvSpPr>
              <a:spLocks noChangeArrowheads="1"/>
            </p:cNvSpPr>
            <p:nvPr/>
          </p:nvSpPr>
          <p:spPr bwMode="auto">
            <a:xfrm>
              <a:off x="3554413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68" name="Rectangle 45"/>
            <p:cNvSpPr>
              <a:spLocks noChangeArrowheads="1"/>
            </p:cNvSpPr>
            <p:nvPr/>
          </p:nvSpPr>
          <p:spPr bwMode="auto">
            <a:xfrm>
              <a:off x="4579938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9" name="Rectangle 46"/>
            <p:cNvSpPr>
              <a:spLocks noChangeArrowheads="1"/>
            </p:cNvSpPr>
            <p:nvPr/>
          </p:nvSpPr>
          <p:spPr bwMode="auto">
            <a:xfrm>
              <a:off x="468312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0770" name="Rectangle 47"/>
            <p:cNvSpPr>
              <a:spLocks noChangeArrowheads="1"/>
            </p:cNvSpPr>
            <p:nvPr/>
          </p:nvSpPr>
          <p:spPr bwMode="auto">
            <a:xfrm>
              <a:off x="4875213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71" name="Rectangle 48"/>
            <p:cNvSpPr>
              <a:spLocks noChangeArrowheads="1"/>
            </p:cNvSpPr>
            <p:nvPr/>
          </p:nvSpPr>
          <p:spPr bwMode="auto">
            <a:xfrm>
              <a:off x="5900738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2" name="Rectangle 49"/>
            <p:cNvSpPr>
              <a:spLocks noChangeArrowheads="1"/>
            </p:cNvSpPr>
            <p:nvPr/>
          </p:nvSpPr>
          <p:spPr bwMode="auto">
            <a:xfrm>
              <a:off x="6019800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0773" name="Rectangle 50"/>
            <p:cNvSpPr>
              <a:spLocks noChangeArrowheads="1"/>
            </p:cNvSpPr>
            <p:nvPr/>
          </p:nvSpPr>
          <p:spPr bwMode="auto">
            <a:xfrm>
              <a:off x="620077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74" name="Rectangle 51"/>
            <p:cNvSpPr>
              <a:spLocks noChangeArrowheads="1"/>
            </p:cNvSpPr>
            <p:nvPr/>
          </p:nvSpPr>
          <p:spPr bwMode="auto">
            <a:xfrm>
              <a:off x="1933575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5" name="Rectangle 52"/>
            <p:cNvSpPr>
              <a:spLocks noChangeArrowheads="1"/>
            </p:cNvSpPr>
            <p:nvPr/>
          </p:nvSpPr>
          <p:spPr bwMode="auto">
            <a:xfrm>
              <a:off x="2038350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76" name="Rectangle 53"/>
            <p:cNvSpPr>
              <a:spLocks noChangeArrowheads="1"/>
            </p:cNvSpPr>
            <p:nvPr/>
          </p:nvSpPr>
          <p:spPr bwMode="auto">
            <a:xfrm>
              <a:off x="2232025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77" name="Rectangle 54"/>
            <p:cNvSpPr>
              <a:spLocks noChangeArrowheads="1"/>
            </p:cNvSpPr>
            <p:nvPr/>
          </p:nvSpPr>
          <p:spPr bwMode="auto">
            <a:xfrm>
              <a:off x="3255963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8" name="Rectangle 55"/>
            <p:cNvSpPr>
              <a:spLocks noChangeArrowheads="1"/>
            </p:cNvSpPr>
            <p:nvPr/>
          </p:nvSpPr>
          <p:spPr bwMode="auto">
            <a:xfrm>
              <a:off x="3360738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779" name="Rectangle 56"/>
            <p:cNvSpPr>
              <a:spLocks noChangeArrowheads="1"/>
            </p:cNvSpPr>
            <p:nvPr/>
          </p:nvSpPr>
          <p:spPr bwMode="auto">
            <a:xfrm>
              <a:off x="3554413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80" name="Rectangle 57"/>
            <p:cNvSpPr>
              <a:spLocks noChangeArrowheads="1"/>
            </p:cNvSpPr>
            <p:nvPr/>
          </p:nvSpPr>
          <p:spPr bwMode="auto">
            <a:xfrm>
              <a:off x="4578350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81" name="Rectangle 58"/>
            <p:cNvSpPr>
              <a:spLocks noChangeArrowheads="1"/>
            </p:cNvSpPr>
            <p:nvPr/>
          </p:nvSpPr>
          <p:spPr bwMode="auto">
            <a:xfrm>
              <a:off x="4683125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0782" name="Rectangle 59"/>
            <p:cNvSpPr>
              <a:spLocks noChangeArrowheads="1"/>
            </p:cNvSpPr>
            <p:nvPr/>
          </p:nvSpPr>
          <p:spPr bwMode="auto">
            <a:xfrm>
              <a:off x="4876800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83" name="Arc 60"/>
            <p:cNvSpPr>
              <a:spLocks/>
            </p:cNvSpPr>
            <p:nvPr/>
          </p:nvSpPr>
          <p:spPr bwMode="auto">
            <a:xfrm>
              <a:off x="1674813" y="2613025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4" name="Line 61"/>
            <p:cNvSpPr>
              <a:spLocks noChangeShapeType="1"/>
            </p:cNvSpPr>
            <p:nvPr/>
          </p:nvSpPr>
          <p:spPr bwMode="auto">
            <a:xfrm flipV="1">
              <a:off x="1722438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5" name="Arc 62"/>
            <p:cNvSpPr>
              <a:spLocks/>
            </p:cNvSpPr>
            <p:nvPr/>
          </p:nvSpPr>
          <p:spPr bwMode="auto">
            <a:xfrm>
              <a:off x="2995613" y="2613025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6" name="Line 63"/>
            <p:cNvSpPr>
              <a:spLocks noChangeShapeType="1"/>
            </p:cNvSpPr>
            <p:nvPr/>
          </p:nvSpPr>
          <p:spPr bwMode="auto">
            <a:xfrm flipV="1">
              <a:off x="3044825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7" name="Arc 64"/>
            <p:cNvSpPr>
              <a:spLocks/>
            </p:cNvSpPr>
            <p:nvPr/>
          </p:nvSpPr>
          <p:spPr bwMode="auto">
            <a:xfrm>
              <a:off x="4318000" y="2613025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8" name="Line 66"/>
            <p:cNvSpPr>
              <a:spLocks noChangeShapeType="1"/>
            </p:cNvSpPr>
            <p:nvPr/>
          </p:nvSpPr>
          <p:spPr bwMode="auto">
            <a:xfrm>
              <a:off x="6427788" y="1603375"/>
              <a:ext cx="0" cy="20558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9" name="Line 67"/>
            <p:cNvSpPr>
              <a:spLocks noChangeShapeType="1"/>
            </p:cNvSpPr>
            <p:nvPr/>
          </p:nvSpPr>
          <p:spPr bwMode="auto">
            <a:xfrm>
              <a:off x="1728788" y="3659188"/>
              <a:ext cx="4719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90" name="Rectangle 68"/>
            <p:cNvSpPr>
              <a:spLocks noChangeArrowheads="1"/>
            </p:cNvSpPr>
            <p:nvPr/>
          </p:nvSpPr>
          <p:spPr bwMode="auto">
            <a:xfrm>
              <a:off x="1289050" y="4092575"/>
              <a:ext cx="8015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91" name="Rectangle 69"/>
            <p:cNvSpPr>
              <a:spLocks noChangeArrowheads="1"/>
            </p:cNvSpPr>
            <p:nvPr/>
          </p:nvSpPr>
          <p:spPr bwMode="auto">
            <a:xfrm>
              <a:off x="1279525" y="4283075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92" name="Rectangle 70"/>
            <p:cNvSpPr>
              <a:spLocks noChangeArrowheads="1"/>
            </p:cNvSpPr>
            <p:nvPr/>
          </p:nvSpPr>
          <p:spPr bwMode="auto">
            <a:xfrm>
              <a:off x="2447925" y="4102100"/>
              <a:ext cx="1011496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PC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93" name="Rectangle 71"/>
            <p:cNvSpPr>
              <a:spLocks noChangeArrowheads="1"/>
            </p:cNvSpPr>
            <p:nvPr/>
          </p:nvSpPr>
          <p:spPr bwMode="auto">
            <a:xfrm>
              <a:off x="2438400" y="4283075"/>
              <a:ext cx="104676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 + 1</a:t>
              </a:r>
            </a:p>
          </p:txBody>
        </p:sp>
        <p:sp>
          <p:nvSpPr>
            <p:cNvPr id="30794" name="Rectangle 72"/>
            <p:cNvSpPr>
              <a:spLocks noChangeArrowheads="1"/>
            </p:cNvSpPr>
            <p:nvPr/>
          </p:nvSpPr>
          <p:spPr bwMode="auto">
            <a:xfrm>
              <a:off x="3771900" y="4102100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95" name="Rectangle 73"/>
            <p:cNvSpPr>
              <a:spLocks noChangeArrowheads="1"/>
            </p:cNvSpPr>
            <p:nvPr/>
          </p:nvSpPr>
          <p:spPr bwMode="auto">
            <a:xfrm>
              <a:off x="1144588" y="4064000"/>
              <a:ext cx="1141412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6" name="Rectangle 74"/>
            <p:cNvSpPr>
              <a:spLocks noChangeArrowheads="1"/>
            </p:cNvSpPr>
            <p:nvPr/>
          </p:nvSpPr>
          <p:spPr bwMode="auto">
            <a:xfrm>
              <a:off x="2466975" y="4064000"/>
              <a:ext cx="1141413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7" name="Rectangle 75"/>
            <p:cNvSpPr>
              <a:spLocks noChangeArrowheads="1"/>
            </p:cNvSpPr>
            <p:nvPr/>
          </p:nvSpPr>
          <p:spPr bwMode="auto">
            <a:xfrm>
              <a:off x="3790950" y="4064000"/>
              <a:ext cx="1139825" cy="3175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8" name="Arc 76"/>
            <p:cNvSpPr>
              <a:spLocks/>
            </p:cNvSpPr>
            <p:nvPr/>
          </p:nvSpPr>
          <p:spPr bwMode="auto">
            <a:xfrm>
              <a:off x="1674813" y="3937000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99" name="Line 77"/>
            <p:cNvSpPr>
              <a:spLocks noChangeShapeType="1"/>
            </p:cNvSpPr>
            <p:nvPr/>
          </p:nvSpPr>
          <p:spPr bwMode="auto">
            <a:xfrm flipV="1">
              <a:off x="1722438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0" name="Arc 78"/>
            <p:cNvSpPr>
              <a:spLocks/>
            </p:cNvSpPr>
            <p:nvPr/>
          </p:nvSpPr>
          <p:spPr bwMode="auto">
            <a:xfrm>
              <a:off x="2995613" y="3937000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01" name="Line 79"/>
            <p:cNvSpPr>
              <a:spLocks noChangeShapeType="1"/>
            </p:cNvSpPr>
            <p:nvPr/>
          </p:nvSpPr>
          <p:spPr bwMode="auto">
            <a:xfrm flipV="1">
              <a:off x="3044825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2" name="Arc 80"/>
            <p:cNvSpPr>
              <a:spLocks/>
            </p:cNvSpPr>
            <p:nvPr/>
          </p:nvSpPr>
          <p:spPr bwMode="auto">
            <a:xfrm>
              <a:off x="4318000" y="3937000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03" name="Rectangle 82"/>
            <p:cNvSpPr>
              <a:spLocks noChangeArrowheads="1"/>
            </p:cNvSpPr>
            <p:nvPr/>
          </p:nvSpPr>
          <p:spPr bwMode="auto">
            <a:xfrm>
              <a:off x="1479550" y="3462338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30804" name="Rectangle 83"/>
            <p:cNvSpPr>
              <a:spLocks noChangeArrowheads="1"/>
            </p:cNvSpPr>
            <p:nvPr/>
          </p:nvSpPr>
          <p:spPr bwMode="auto">
            <a:xfrm>
              <a:off x="2660650" y="3462338"/>
              <a:ext cx="48250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30805" name="Rectangle 84"/>
            <p:cNvSpPr>
              <a:spLocks noChangeArrowheads="1"/>
            </p:cNvSpPr>
            <p:nvPr/>
          </p:nvSpPr>
          <p:spPr bwMode="auto">
            <a:xfrm>
              <a:off x="4203700" y="3462338"/>
              <a:ext cx="40235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ISZ</a:t>
              </a:r>
            </a:p>
          </p:txBody>
        </p:sp>
        <p:sp>
          <p:nvSpPr>
            <p:cNvPr id="30806" name="Rectangle 85"/>
            <p:cNvSpPr>
              <a:spLocks noChangeArrowheads="1"/>
            </p:cNvSpPr>
            <p:nvPr/>
          </p:nvSpPr>
          <p:spPr bwMode="auto">
            <a:xfrm>
              <a:off x="1933575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07" name="Rectangle 86"/>
            <p:cNvSpPr>
              <a:spLocks noChangeArrowheads="1"/>
            </p:cNvSpPr>
            <p:nvPr/>
          </p:nvSpPr>
          <p:spPr bwMode="auto">
            <a:xfrm>
              <a:off x="2038350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08" name="Rectangle 87"/>
            <p:cNvSpPr>
              <a:spLocks noChangeArrowheads="1"/>
            </p:cNvSpPr>
            <p:nvPr/>
          </p:nvSpPr>
          <p:spPr bwMode="auto">
            <a:xfrm>
              <a:off x="2232025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09" name="Rectangle 88"/>
            <p:cNvSpPr>
              <a:spLocks noChangeArrowheads="1"/>
            </p:cNvSpPr>
            <p:nvPr/>
          </p:nvSpPr>
          <p:spPr bwMode="auto">
            <a:xfrm>
              <a:off x="3255963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10" name="Rectangle 89"/>
            <p:cNvSpPr>
              <a:spLocks noChangeArrowheads="1"/>
            </p:cNvSpPr>
            <p:nvPr/>
          </p:nvSpPr>
          <p:spPr bwMode="auto">
            <a:xfrm>
              <a:off x="3360738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11" name="Rectangle 90"/>
            <p:cNvSpPr>
              <a:spLocks noChangeArrowheads="1"/>
            </p:cNvSpPr>
            <p:nvPr/>
          </p:nvSpPr>
          <p:spPr bwMode="auto">
            <a:xfrm>
              <a:off x="3554413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12" name="Rectangle 91"/>
            <p:cNvSpPr>
              <a:spLocks noChangeArrowheads="1"/>
            </p:cNvSpPr>
            <p:nvPr/>
          </p:nvSpPr>
          <p:spPr bwMode="auto">
            <a:xfrm>
              <a:off x="4578350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13" name="Rectangle 92"/>
            <p:cNvSpPr>
              <a:spLocks noChangeArrowheads="1"/>
            </p:cNvSpPr>
            <p:nvPr/>
          </p:nvSpPr>
          <p:spPr bwMode="auto">
            <a:xfrm>
              <a:off x="4683125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14" name="Rectangle 93"/>
            <p:cNvSpPr>
              <a:spLocks noChangeArrowheads="1"/>
            </p:cNvSpPr>
            <p:nvPr/>
          </p:nvSpPr>
          <p:spPr bwMode="auto">
            <a:xfrm>
              <a:off x="4876800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15" name="Arc 94"/>
            <p:cNvSpPr>
              <a:spLocks/>
            </p:cNvSpPr>
            <p:nvPr/>
          </p:nvSpPr>
          <p:spPr bwMode="auto">
            <a:xfrm>
              <a:off x="2995613" y="4803775"/>
              <a:ext cx="100012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16" name="Line 95"/>
            <p:cNvSpPr>
              <a:spLocks noChangeShapeType="1"/>
            </p:cNvSpPr>
            <p:nvPr/>
          </p:nvSpPr>
          <p:spPr bwMode="auto">
            <a:xfrm flipV="1">
              <a:off x="3044825" y="451008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17" name="Rectangle 96"/>
            <p:cNvSpPr>
              <a:spLocks noChangeArrowheads="1"/>
            </p:cNvSpPr>
            <p:nvPr/>
          </p:nvSpPr>
          <p:spPr bwMode="auto">
            <a:xfrm>
              <a:off x="3781425" y="4949825"/>
              <a:ext cx="104676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 + 1</a:t>
              </a:r>
            </a:p>
          </p:txBody>
        </p:sp>
        <p:sp>
          <p:nvSpPr>
            <p:cNvPr id="30818" name="Rectangle 97"/>
            <p:cNvSpPr>
              <a:spLocks noChangeArrowheads="1"/>
            </p:cNvSpPr>
            <p:nvPr/>
          </p:nvSpPr>
          <p:spPr bwMode="auto">
            <a:xfrm>
              <a:off x="2466975" y="4930775"/>
              <a:ext cx="1141413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19" name="Rectangle 98"/>
            <p:cNvSpPr>
              <a:spLocks noChangeArrowheads="1"/>
            </p:cNvSpPr>
            <p:nvPr/>
          </p:nvSpPr>
          <p:spPr bwMode="auto">
            <a:xfrm>
              <a:off x="3790950" y="4930775"/>
              <a:ext cx="1139825" cy="3048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20" name="Rectangle 99"/>
            <p:cNvSpPr>
              <a:spLocks noChangeArrowheads="1"/>
            </p:cNvSpPr>
            <p:nvPr/>
          </p:nvSpPr>
          <p:spPr bwMode="auto">
            <a:xfrm>
              <a:off x="3255963" y="468312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21" name="Rectangle 100"/>
            <p:cNvSpPr>
              <a:spLocks noChangeArrowheads="1"/>
            </p:cNvSpPr>
            <p:nvPr/>
          </p:nvSpPr>
          <p:spPr bwMode="auto">
            <a:xfrm>
              <a:off x="3360738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2" name="Rectangle 101"/>
            <p:cNvSpPr>
              <a:spLocks noChangeArrowheads="1"/>
            </p:cNvSpPr>
            <p:nvPr/>
          </p:nvSpPr>
          <p:spPr bwMode="auto">
            <a:xfrm>
              <a:off x="3554413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3" name="Rectangle 102"/>
            <p:cNvSpPr>
              <a:spLocks noChangeArrowheads="1"/>
            </p:cNvSpPr>
            <p:nvPr/>
          </p:nvSpPr>
          <p:spPr bwMode="auto">
            <a:xfrm>
              <a:off x="4578350" y="468312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24" name="Rectangle 103"/>
            <p:cNvSpPr>
              <a:spLocks noChangeArrowheads="1"/>
            </p:cNvSpPr>
            <p:nvPr/>
          </p:nvSpPr>
          <p:spPr bwMode="auto">
            <a:xfrm>
              <a:off x="4683125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25" name="Rectangle 104"/>
            <p:cNvSpPr>
              <a:spLocks noChangeArrowheads="1"/>
            </p:cNvSpPr>
            <p:nvPr/>
          </p:nvSpPr>
          <p:spPr bwMode="auto">
            <a:xfrm>
              <a:off x="4876800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6" name="Arc 105"/>
            <p:cNvSpPr>
              <a:spLocks/>
            </p:cNvSpPr>
            <p:nvPr/>
          </p:nvSpPr>
          <p:spPr bwMode="auto">
            <a:xfrm>
              <a:off x="4318000" y="5529263"/>
              <a:ext cx="100013" cy="112712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27" name="Rectangle 107"/>
            <p:cNvSpPr>
              <a:spLocks noChangeArrowheads="1"/>
            </p:cNvSpPr>
            <p:nvPr/>
          </p:nvSpPr>
          <p:spPr bwMode="auto">
            <a:xfrm>
              <a:off x="2582863" y="4987925"/>
              <a:ext cx="8015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28" name="Rectangle 108"/>
            <p:cNvSpPr>
              <a:spLocks noChangeArrowheads="1"/>
            </p:cNvSpPr>
            <p:nvPr/>
          </p:nvSpPr>
          <p:spPr bwMode="auto">
            <a:xfrm>
              <a:off x="2582863" y="5151438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829" name="Arc 109"/>
            <p:cNvSpPr>
              <a:spLocks/>
            </p:cNvSpPr>
            <p:nvPr/>
          </p:nvSpPr>
          <p:spPr bwMode="auto">
            <a:xfrm>
              <a:off x="4318000" y="4803775"/>
              <a:ext cx="100013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0" name="Rectangle 111"/>
            <p:cNvSpPr>
              <a:spLocks noChangeArrowheads="1"/>
            </p:cNvSpPr>
            <p:nvPr/>
          </p:nvSpPr>
          <p:spPr bwMode="auto">
            <a:xfrm>
              <a:off x="3673475" y="5654675"/>
              <a:ext cx="1019511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1" name="Rectangle 112"/>
            <p:cNvSpPr>
              <a:spLocks noChangeArrowheads="1"/>
            </p:cNvSpPr>
            <p:nvPr/>
          </p:nvSpPr>
          <p:spPr bwMode="auto">
            <a:xfrm>
              <a:off x="3673475" y="5816600"/>
              <a:ext cx="84157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If (DR = 0)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2" name="Rectangle 113"/>
            <p:cNvSpPr>
              <a:spLocks noChangeArrowheads="1"/>
            </p:cNvSpPr>
            <p:nvPr/>
          </p:nvSpPr>
          <p:spPr bwMode="auto">
            <a:xfrm>
              <a:off x="3673475" y="5980113"/>
              <a:ext cx="1460337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then (PC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PC + 1)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3" name="Rectangle 114"/>
            <p:cNvSpPr>
              <a:spLocks noChangeArrowheads="1"/>
            </p:cNvSpPr>
            <p:nvPr/>
          </p:nvSpPr>
          <p:spPr bwMode="auto">
            <a:xfrm>
              <a:off x="3673475" y="614680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834" name="Rectangle 115"/>
            <p:cNvSpPr>
              <a:spLocks noChangeArrowheads="1"/>
            </p:cNvSpPr>
            <p:nvPr/>
          </p:nvSpPr>
          <p:spPr bwMode="auto">
            <a:xfrm>
              <a:off x="3711575" y="5657850"/>
              <a:ext cx="1517650" cy="712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35" name="Rectangle 116"/>
            <p:cNvSpPr>
              <a:spLocks noChangeArrowheads="1"/>
            </p:cNvSpPr>
            <p:nvPr/>
          </p:nvSpPr>
          <p:spPr bwMode="auto">
            <a:xfrm>
              <a:off x="4721225" y="540861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36" name="Rectangle 117"/>
            <p:cNvSpPr>
              <a:spLocks noChangeArrowheads="1"/>
            </p:cNvSpPr>
            <p:nvPr/>
          </p:nvSpPr>
          <p:spPr bwMode="auto">
            <a:xfrm>
              <a:off x="4826000" y="546735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37" name="Rectangle 118"/>
            <p:cNvSpPr>
              <a:spLocks noChangeArrowheads="1"/>
            </p:cNvSpPr>
            <p:nvPr/>
          </p:nvSpPr>
          <p:spPr bwMode="auto">
            <a:xfrm>
              <a:off x="5019675" y="546735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38" name="Rectangle 119"/>
            <p:cNvSpPr>
              <a:spLocks noChangeArrowheads="1"/>
            </p:cNvSpPr>
            <p:nvPr/>
          </p:nvSpPr>
          <p:spPr bwMode="auto">
            <a:xfrm>
              <a:off x="1773238" y="2698750"/>
              <a:ext cx="2885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</a:t>
              </a:r>
            </a:p>
          </p:txBody>
        </p:sp>
        <p:sp>
          <p:nvSpPr>
            <p:cNvPr id="30839" name="Line 121"/>
            <p:cNvSpPr>
              <a:spLocks noChangeShapeType="1"/>
            </p:cNvSpPr>
            <p:nvPr/>
          </p:nvSpPr>
          <p:spPr bwMode="auto">
            <a:xfrm flipV="1">
              <a:off x="4371975" y="1590675"/>
              <a:ext cx="0" cy="304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0" name="Line 122"/>
            <p:cNvSpPr>
              <a:spLocks noChangeShapeType="1"/>
            </p:cNvSpPr>
            <p:nvPr/>
          </p:nvSpPr>
          <p:spPr bwMode="auto">
            <a:xfrm flipV="1">
              <a:off x="4368800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1" name="Line 123"/>
            <p:cNvSpPr>
              <a:spLocks noChangeShapeType="1"/>
            </p:cNvSpPr>
            <p:nvPr/>
          </p:nvSpPr>
          <p:spPr bwMode="auto">
            <a:xfrm flipV="1">
              <a:off x="4359275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2" name="Line 124"/>
            <p:cNvSpPr>
              <a:spLocks noChangeShapeType="1"/>
            </p:cNvSpPr>
            <p:nvPr/>
          </p:nvSpPr>
          <p:spPr bwMode="auto">
            <a:xfrm flipV="1">
              <a:off x="4359275" y="4383088"/>
              <a:ext cx="0" cy="444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3" name="Line 125"/>
            <p:cNvSpPr>
              <a:spLocks noChangeShapeType="1"/>
            </p:cNvSpPr>
            <p:nvPr/>
          </p:nvSpPr>
          <p:spPr bwMode="auto">
            <a:xfrm flipV="1">
              <a:off x="4359275" y="52530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40505406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Input/Output and Interrupt</a:t>
            </a:r>
          </a:p>
        </p:txBody>
      </p:sp>
      <p:grpSp>
        <p:nvGrpSpPr>
          <p:cNvPr id="31751" name="Group 110"/>
          <p:cNvGrpSpPr>
            <a:grpSpLocks/>
          </p:cNvGrpSpPr>
          <p:nvPr/>
        </p:nvGrpSpPr>
        <p:grpSpPr bwMode="auto">
          <a:xfrm>
            <a:off x="2067596" y="1648183"/>
            <a:ext cx="7980608" cy="3557310"/>
            <a:chOff x="461963" y="1036636"/>
            <a:chExt cx="7980608" cy="3557582"/>
          </a:xfrm>
        </p:grpSpPr>
        <p:sp>
          <p:nvSpPr>
            <p:cNvPr id="31752" name="Rectangle 3"/>
            <p:cNvSpPr>
              <a:spLocks noChangeArrowheads="1"/>
            </p:cNvSpPr>
            <p:nvPr/>
          </p:nvSpPr>
          <p:spPr bwMode="auto">
            <a:xfrm>
              <a:off x="461963" y="1503360"/>
              <a:ext cx="2832507" cy="260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 u="sng" dirty="0">
                  <a:cs typeface="Arial" panose="020B0604020202020204" pitchFamily="34" charset="0"/>
                </a:rPr>
                <a:t> Input-Output Configuration</a:t>
              </a:r>
            </a:p>
          </p:txBody>
        </p:sp>
        <p:sp>
          <p:nvSpPr>
            <p:cNvPr id="31753" name="Rectangle 4"/>
            <p:cNvSpPr>
              <a:spLocks noChangeArrowheads="1"/>
            </p:cNvSpPr>
            <p:nvPr/>
          </p:nvSpPr>
          <p:spPr bwMode="auto">
            <a:xfrm>
              <a:off x="623888" y="3544882"/>
              <a:ext cx="3886200" cy="90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marL="609600" indent="-609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INPR</a:t>
              </a:r>
              <a:r>
                <a:rPr lang="en-US" altLang="ko-KR" sz="1200" b="1" dirty="0">
                  <a:cs typeface="Arial" panose="020B0604020202020204" pitchFamily="34" charset="0"/>
                </a:rPr>
                <a:t>	Input register - 8 bits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OUTR</a:t>
              </a:r>
              <a:r>
                <a:rPr lang="en-US" altLang="ko-KR" sz="1200" b="1" dirty="0">
                  <a:cs typeface="Arial" panose="020B0604020202020204" pitchFamily="34" charset="0"/>
                </a:rPr>
                <a:t>	Output register - 8 bits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FGI</a:t>
              </a:r>
              <a:r>
                <a:rPr lang="en-US" altLang="ko-KR" sz="1200" b="1" dirty="0">
                  <a:cs typeface="Arial" panose="020B0604020202020204" pitchFamily="34" charset="0"/>
                </a:rPr>
                <a:t>	Input flag - 1 bit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FGO</a:t>
              </a:r>
              <a:r>
                <a:rPr lang="en-US" altLang="ko-KR" sz="1200" b="1" dirty="0">
                  <a:cs typeface="Arial" panose="020B0604020202020204" pitchFamily="34" charset="0"/>
                </a:rPr>
                <a:t>	Output flag - 1 bit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IEN</a:t>
              </a:r>
              <a:r>
                <a:rPr lang="en-US" altLang="ko-KR" sz="1200" b="1" dirty="0">
                  <a:cs typeface="Arial" panose="020B0604020202020204" pitchFamily="34" charset="0"/>
                </a:rPr>
                <a:t>	Interrupt enable - 1 bit</a:t>
              </a:r>
            </a:p>
          </p:txBody>
        </p:sp>
        <p:sp>
          <p:nvSpPr>
            <p:cNvPr id="31755" name="Rectangle 6"/>
            <p:cNvSpPr>
              <a:spLocks noChangeArrowheads="1"/>
            </p:cNvSpPr>
            <p:nvPr/>
          </p:nvSpPr>
          <p:spPr bwMode="auto">
            <a:xfrm>
              <a:off x="1295400" y="1062036"/>
              <a:ext cx="4632616" cy="366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 dirty="0">
                  <a:cs typeface="Arial" panose="020B0604020202020204" pitchFamily="34" charset="0"/>
                </a:rPr>
                <a:t>A Terminal with a keyboard and a Printer</a:t>
              </a:r>
            </a:p>
          </p:txBody>
        </p:sp>
        <p:sp>
          <p:nvSpPr>
            <p:cNvPr id="31756" name="Rectangle 7"/>
            <p:cNvSpPr>
              <a:spLocks noChangeArrowheads="1"/>
            </p:cNvSpPr>
            <p:nvPr/>
          </p:nvSpPr>
          <p:spPr bwMode="auto">
            <a:xfrm>
              <a:off x="1286412" y="1036636"/>
              <a:ext cx="4779963" cy="3397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57" name="Rectangle 47"/>
            <p:cNvSpPr>
              <a:spLocks noChangeArrowheads="1"/>
            </p:cNvSpPr>
            <p:nvPr/>
          </p:nvSpPr>
          <p:spPr bwMode="auto">
            <a:xfrm>
              <a:off x="552450" y="3538533"/>
              <a:ext cx="2851150" cy="105568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58" name="Rectangle 8"/>
            <p:cNvSpPr>
              <a:spLocks noChangeArrowheads="1"/>
            </p:cNvSpPr>
            <p:nvPr/>
          </p:nvSpPr>
          <p:spPr bwMode="auto">
            <a:xfrm>
              <a:off x="3798888" y="1798634"/>
              <a:ext cx="1093249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Input-output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59" name="Rectangle 9"/>
            <p:cNvSpPr>
              <a:spLocks noChangeArrowheads="1"/>
            </p:cNvSpPr>
            <p:nvPr/>
          </p:nvSpPr>
          <p:spPr bwMode="auto">
            <a:xfrm>
              <a:off x="3952875" y="1924047"/>
              <a:ext cx="78066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terminal</a:t>
              </a:r>
            </a:p>
          </p:txBody>
        </p:sp>
        <p:sp>
          <p:nvSpPr>
            <p:cNvPr id="31760" name="Rectangle 10"/>
            <p:cNvSpPr>
              <a:spLocks noChangeArrowheads="1"/>
            </p:cNvSpPr>
            <p:nvPr/>
          </p:nvSpPr>
          <p:spPr bwMode="auto">
            <a:xfrm>
              <a:off x="5722938" y="1730372"/>
              <a:ext cx="601128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Serial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1" name="Rectangle 11"/>
            <p:cNvSpPr>
              <a:spLocks noChangeArrowheads="1"/>
            </p:cNvSpPr>
            <p:nvPr/>
          </p:nvSpPr>
          <p:spPr bwMode="auto">
            <a:xfrm>
              <a:off x="5351463" y="1857372"/>
              <a:ext cx="1320875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communication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2" name="Rectangle 12"/>
            <p:cNvSpPr>
              <a:spLocks noChangeArrowheads="1"/>
            </p:cNvSpPr>
            <p:nvPr/>
          </p:nvSpPr>
          <p:spPr bwMode="auto">
            <a:xfrm>
              <a:off x="5608638" y="1982784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63" name="Rectangle 13"/>
            <p:cNvSpPr>
              <a:spLocks noChangeArrowheads="1"/>
            </p:cNvSpPr>
            <p:nvPr/>
          </p:nvSpPr>
          <p:spPr bwMode="auto">
            <a:xfrm>
              <a:off x="6969125" y="1741485"/>
              <a:ext cx="1147751" cy="828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Computer</a:t>
              </a:r>
            </a:p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registers and</a:t>
              </a:r>
            </a:p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flip-flops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4" name="Rectangle 16"/>
            <p:cNvSpPr>
              <a:spLocks noChangeArrowheads="1"/>
            </p:cNvSpPr>
            <p:nvPr/>
          </p:nvSpPr>
          <p:spPr bwMode="auto">
            <a:xfrm>
              <a:off x="3933825" y="2335210"/>
              <a:ext cx="67807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Printer</a:t>
              </a:r>
            </a:p>
          </p:txBody>
        </p:sp>
        <p:sp>
          <p:nvSpPr>
            <p:cNvPr id="31765" name="Rectangle 17"/>
            <p:cNvSpPr>
              <a:spLocks noChangeArrowheads="1"/>
            </p:cNvSpPr>
            <p:nvPr/>
          </p:nvSpPr>
          <p:spPr bwMode="auto">
            <a:xfrm>
              <a:off x="3792538" y="3402007"/>
              <a:ext cx="89127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Keyboard</a:t>
              </a:r>
            </a:p>
          </p:txBody>
        </p:sp>
        <p:sp>
          <p:nvSpPr>
            <p:cNvPr id="31766" name="Rectangle 18"/>
            <p:cNvSpPr>
              <a:spLocks noChangeArrowheads="1"/>
            </p:cNvSpPr>
            <p:nvPr/>
          </p:nvSpPr>
          <p:spPr bwMode="auto">
            <a:xfrm>
              <a:off x="5543550" y="2236784"/>
              <a:ext cx="820739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Receiver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7" name="Rectangle 19"/>
            <p:cNvSpPr>
              <a:spLocks noChangeArrowheads="1"/>
            </p:cNvSpPr>
            <p:nvPr/>
          </p:nvSpPr>
          <p:spPr bwMode="auto">
            <a:xfrm>
              <a:off x="5562600" y="2373310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68" name="Rectangle 20"/>
            <p:cNvSpPr>
              <a:spLocks noChangeArrowheads="1"/>
            </p:cNvSpPr>
            <p:nvPr/>
          </p:nvSpPr>
          <p:spPr bwMode="auto">
            <a:xfrm>
              <a:off x="5480050" y="3290884"/>
              <a:ext cx="1019063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Transmitter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9" name="Rectangle 21"/>
            <p:cNvSpPr>
              <a:spLocks noChangeArrowheads="1"/>
            </p:cNvSpPr>
            <p:nvPr/>
          </p:nvSpPr>
          <p:spPr bwMode="auto">
            <a:xfrm>
              <a:off x="5556250" y="3421058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70" name="Rectangle 22"/>
            <p:cNvSpPr>
              <a:spLocks noChangeArrowheads="1"/>
            </p:cNvSpPr>
            <p:nvPr/>
          </p:nvSpPr>
          <p:spPr bwMode="auto">
            <a:xfrm>
              <a:off x="7924800" y="2335210"/>
              <a:ext cx="51777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FGO</a:t>
              </a:r>
            </a:p>
          </p:txBody>
        </p:sp>
        <p:sp>
          <p:nvSpPr>
            <p:cNvPr id="31771" name="Rectangle 23"/>
            <p:cNvSpPr>
              <a:spLocks noChangeArrowheads="1"/>
            </p:cNvSpPr>
            <p:nvPr/>
          </p:nvSpPr>
          <p:spPr bwMode="auto">
            <a:xfrm>
              <a:off x="7185025" y="2335210"/>
              <a:ext cx="61876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OUTR</a:t>
              </a:r>
            </a:p>
          </p:txBody>
        </p:sp>
        <p:sp>
          <p:nvSpPr>
            <p:cNvPr id="31772" name="Rectangle 24"/>
            <p:cNvSpPr>
              <a:spLocks noChangeArrowheads="1"/>
            </p:cNvSpPr>
            <p:nvPr/>
          </p:nvSpPr>
          <p:spPr bwMode="auto">
            <a:xfrm>
              <a:off x="7269163" y="2878133"/>
              <a:ext cx="40395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AC</a:t>
              </a:r>
            </a:p>
          </p:txBody>
        </p:sp>
        <p:sp>
          <p:nvSpPr>
            <p:cNvPr id="31773" name="Rectangle 25"/>
            <p:cNvSpPr>
              <a:spLocks noChangeArrowheads="1"/>
            </p:cNvSpPr>
            <p:nvPr/>
          </p:nvSpPr>
          <p:spPr bwMode="auto">
            <a:xfrm>
              <a:off x="7242175" y="3402007"/>
              <a:ext cx="5498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INPR</a:t>
              </a:r>
            </a:p>
          </p:txBody>
        </p:sp>
        <p:sp>
          <p:nvSpPr>
            <p:cNvPr id="31774" name="Rectangle 26"/>
            <p:cNvSpPr>
              <a:spLocks noChangeArrowheads="1"/>
            </p:cNvSpPr>
            <p:nvPr/>
          </p:nvSpPr>
          <p:spPr bwMode="auto">
            <a:xfrm>
              <a:off x="7950200" y="3402007"/>
              <a:ext cx="44082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FGI</a:t>
              </a:r>
            </a:p>
          </p:txBody>
        </p:sp>
        <p:sp>
          <p:nvSpPr>
            <p:cNvPr id="31775" name="Rectangle 27"/>
            <p:cNvSpPr>
              <a:spLocks noChangeArrowheads="1"/>
            </p:cNvSpPr>
            <p:nvPr/>
          </p:nvSpPr>
          <p:spPr bwMode="auto">
            <a:xfrm>
              <a:off x="8002588" y="2333623"/>
              <a:ext cx="360362" cy="20796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6" name="Rectangle 28"/>
            <p:cNvSpPr>
              <a:spLocks noChangeArrowheads="1"/>
            </p:cNvSpPr>
            <p:nvPr/>
          </p:nvSpPr>
          <p:spPr bwMode="auto">
            <a:xfrm>
              <a:off x="7177088" y="2341559"/>
              <a:ext cx="644525" cy="19208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7" name="Rectangle 29"/>
            <p:cNvSpPr>
              <a:spLocks noChangeArrowheads="1"/>
            </p:cNvSpPr>
            <p:nvPr/>
          </p:nvSpPr>
          <p:spPr bwMode="auto">
            <a:xfrm>
              <a:off x="6958013" y="2886071"/>
              <a:ext cx="1082675" cy="1984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8" name="Rectangle 30"/>
            <p:cNvSpPr>
              <a:spLocks noChangeArrowheads="1"/>
            </p:cNvSpPr>
            <p:nvPr/>
          </p:nvSpPr>
          <p:spPr bwMode="auto">
            <a:xfrm>
              <a:off x="7177088" y="3398833"/>
              <a:ext cx="644525" cy="20002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9" name="Rectangle 31"/>
            <p:cNvSpPr>
              <a:spLocks noChangeArrowheads="1"/>
            </p:cNvSpPr>
            <p:nvPr/>
          </p:nvSpPr>
          <p:spPr bwMode="auto">
            <a:xfrm>
              <a:off x="7989888" y="3398833"/>
              <a:ext cx="347662" cy="1905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0" name="Arc 32"/>
            <p:cNvSpPr>
              <a:spLocks/>
            </p:cNvSpPr>
            <p:nvPr/>
          </p:nvSpPr>
          <p:spPr bwMode="auto">
            <a:xfrm>
              <a:off x="7435850" y="2525709"/>
              <a:ext cx="96838" cy="857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1" name="Arc 33"/>
            <p:cNvSpPr>
              <a:spLocks/>
            </p:cNvSpPr>
            <p:nvPr/>
          </p:nvSpPr>
          <p:spPr bwMode="auto">
            <a:xfrm>
              <a:off x="7427913" y="3076569"/>
              <a:ext cx="98425" cy="857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2" name="Line 34"/>
            <p:cNvSpPr>
              <a:spLocks noChangeShapeType="1"/>
            </p:cNvSpPr>
            <p:nvPr/>
          </p:nvSpPr>
          <p:spPr bwMode="auto">
            <a:xfrm>
              <a:off x="7480300" y="3146421"/>
              <a:ext cx="0" cy="249238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3" name="Arc 35"/>
            <p:cNvSpPr>
              <a:spLocks/>
            </p:cNvSpPr>
            <p:nvPr/>
          </p:nvSpPr>
          <p:spPr bwMode="auto">
            <a:xfrm>
              <a:off x="6519863" y="2403472"/>
              <a:ext cx="122237" cy="69850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4" name="Line 36"/>
            <p:cNvSpPr>
              <a:spLocks noChangeShapeType="1"/>
            </p:cNvSpPr>
            <p:nvPr/>
          </p:nvSpPr>
          <p:spPr bwMode="auto">
            <a:xfrm>
              <a:off x="6623050" y="2441572"/>
              <a:ext cx="5413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5" name="Rectangle 37"/>
            <p:cNvSpPr>
              <a:spLocks noChangeArrowheads="1"/>
            </p:cNvSpPr>
            <p:nvPr/>
          </p:nvSpPr>
          <p:spPr bwMode="auto">
            <a:xfrm>
              <a:off x="5502275" y="2235196"/>
              <a:ext cx="1004888" cy="35083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6" name="Rectangle 38"/>
            <p:cNvSpPr>
              <a:spLocks noChangeArrowheads="1"/>
            </p:cNvSpPr>
            <p:nvPr/>
          </p:nvSpPr>
          <p:spPr bwMode="auto">
            <a:xfrm>
              <a:off x="5502275" y="3300407"/>
              <a:ext cx="1004888" cy="3508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7" name="Arc 39"/>
            <p:cNvSpPr>
              <a:spLocks/>
            </p:cNvSpPr>
            <p:nvPr/>
          </p:nvSpPr>
          <p:spPr bwMode="auto">
            <a:xfrm>
              <a:off x="7056438" y="3468682"/>
              <a:ext cx="122237" cy="71436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8" name="Line 40"/>
            <p:cNvSpPr>
              <a:spLocks noChangeShapeType="1"/>
            </p:cNvSpPr>
            <p:nvPr/>
          </p:nvSpPr>
          <p:spPr bwMode="auto">
            <a:xfrm>
              <a:off x="6519863" y="3508369"/>
              <a:ext cx="5413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9" name="Arc 41"/>
            <p:cNvSpPr>
              <a:spLocks/>
            </p:cNvSpPr>
            <p:nvPr/>
          </p:nvSpPr>
          <p:spPr bwMode="auto">
            <a:xfrm>
              <a:off x="4838700" y="2403472"/>
              <a:ext cx="122238" cy="69850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0" name="Line 42"/>
            <p:cNvSpPr>
              <a:spLocks noChangeShapeType="1"/>
            </p:cNvSpPr>
            <p:nvPr/>
          </p:nvSpPr>
          <p:spPr bwMode="auto">
            <a:xfrm>
              <a:off x="4948238" y="2441572"/>
              <a:ext cx="5413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1" name="Arc 43"/>
            <p:cNvSpPr>
              <a:spLocks/>
            </p:cNvSpPr>
            <p:nvPr/>
          </p:nvSpPr>
          <p:spPr bwMode="auto">
            <a:xfrm>
              <a:off x="5380038" y="3468682"/>
              <a:ext cx="122237" cy="71436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2" name="Line 44"/>
            <p:cNvSpPr>
              <a:spLocks noChangeShapeType="1"/>
            </p:cNvSpPr>
            <p:nvPr/>
          </p:nvSpPr>
          <p:spPr bwMode="auto">
            <a:xfrm>
              <a:off x="4845050" y="3508369"/>
              <a:ext cx="5397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3" name="Rectangle 45"/>
            <p:cNvSpPr>
              <a:spLocks noChangeArrowheads="1"/>
            </p:cNvSpPr>
            <p:nvPr/>
          </p:nvSpPr>
          <p:spPr bwMode="auto">
            <a:xfrm>
              <a:off x="3813175" y="2235198"/>
              <a:ext cx="1019175" cy="35083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94" name="Rectangle 46"/>
            <p:cNvSpPr>
              <a:spLocks noChangeArrowheads="1"/>
            </p:cNvSpPr>
            <p:nvPr/>
          </p:nvSpPr>
          <p:spPr bwMode="auto">
            <a:xfrm>
              <a:off x="3813175" y="3300409"/>
              <a:ext cx="1019175" cy="3508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95" name="Line 49"/>
            <p:cNvSpPr>
              <a:spLocks noChangeShapeType="1"/>
            </p:cNvSpPr>
            <p:nvPr/>
          </p:nvSpPr>
          <p:spPr bwMode="auto">
            <a:xfrm flipV="1">
              <a:off x="7486650" y="2592385"/>
              <a:ext cx="0" cy="2968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6" name="Arc 50"/>
            <p:cNvSpPr>
              <a:spLocks/>
            </p:cNvSpPr>
            <p:nvPr/>
          </p:nvSpPr>
          <p:spPr bwMode="auto">
            <a:xfrm>
              <a:off x="5883275" y="3836983"/>
              <a:ext cx="122238" cy="6826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7" name="Line 51"/>
            <p:cNvSpPr>
              <a:spLocks noChangeShapeType="1"/>
            </p:cNvSpPr>
            <p:nvPr/>
          </p:nvSpPr>
          <p:spPr bwMode="auto">
            <a:xfrm>
              <a:off x="5553075" y="3878260"/>
              <a:ext cx="33496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8" name="Arc 52"/>
            <p:cNvSpPr>
              <a:spLocks/>
            </p:cNvSpPr>
            <p:nvPr/>
          </p:nvSpPr>
          <p:spPr bwMode="auto">
            <a:xfrm>
              <a:off x="5883275" y="4025896"/>
              <a:ext cx="122238" cy="6826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9" name="Line 53"/>
            <p:cNvSpPr>
              <a:spLocks noChangeShapeType="1"/>
            </p:cNvSpPr>
            <p:nvPr/>
          </p:nvSpPr>
          <p:spPr bwMode="auto">
            <a:xfrm flipH="1">
              <a:off x="5521325" y="4062409"/>
              <a:ext cx="373063" cy="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0" name="Rectangle 54"/>
            <p:cNvSpPr>
              <a:spLocks noChangeArrowheads="1"/>
            </p:cNvSpPr>
            <p:nvPr/>
          </p:nvSpPr>
          <p:spPr bwMode="auto">
            <a:xfrm>
              <a:off x="5967413" y="3727444"/>
              <a:ext cx="226985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Serial Communications Path</a:t>
              </a:r>
            </a:p>
          </p:txBody>
        </p:sp>
        <p:sp>
          <p:nvSpPr>
            <p:cNvPr id="31801" name="Rectangle 55"/>
            <p:cNvSpPr>
              <a:spLocks noChangeArrowheads="1"/>
            </p:cNvSpPr>
            <p:nvPr/>
          </p:nvSpPr>
          <p:spPr bwMode="auto">
            <a:xfrm>
              <a:off x="5969000" y="3935413"/>
              <a:ext cx="239809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Parallel Communications Path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643405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Input/Output and Interrupt</a:t>
            </a:r>
          </a:p>
        </p:txBody>
      </p:sp>
      <p:sp>
        <p:nvSpPr>
          <p:cNvPr id="2" name="Rectangle 1"/>
          <p:cNvSpPr/>
          <p:nvPr/>
        </p:nvSpPr>
        <p:spPr>
          <a:xfrm>
            <a:off x="2077615" y="2153391"/>
            <a:ext cx="8055429" cy="228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8000"/>
              </a:lnSpc>
            </a:pPr>
            <a:r>
              <a:rPr lang="en-IN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Transmisson</a:t>
            </a:r>
            <a:r>
              <a:rPr lang="en-IN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-</a:t>
            </a:r>
          </a:p>
          <a:p>
            <a:pPr>
              <a:lnSpc>
                <a:spcPct val="88000"/>
              </a:lnSpc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terminal sends and receives serial information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serial info. from the keyboard is shifted into INPR 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serial info. for the printer is stored in the OUTR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INPR and OUTR communicate with the terminal serially and with the AC in parallel.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flags are needed to </a:t>
            </a:r>
            <a:r>
              <a:rPr lang="en-US" altLang="ko-KR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synchronize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timing difference between  I/O device and the computer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2938591" y="1598837"/>
            <a:ext cx="4333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Terminal with a keyboard and a Printer</a:t>
            </a:r>
          </a:p>
        </p:txBody>
      </p:sp>
    </p:spTree>
    <p:extLst>
      <p:ext uri="{BB962C8B-B14F-4D97-AF65-F5344CB8AC3E}">
        <p14:creationId xmlns:p14="http://schemas.microsoft.com/office/powerpoint/2010/main" xmlns="" val="11832576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Input/Output Instructions</a:t>
            </a:r>
          </a:p>
        </p:txBody>
      </p:sp>
      <p:grpSp>
        <p:nvGrpSpPr>
          <p:cNvPr id="32775" name="Group 75"/>
          <p:cNvGrpSpPr>
            <a:grpSpLocks/>
          </p:cNvGrpSpPr>
          <p:nvPr/>
        </p:nvGrpSpPr>
        <p:grpSpPr bwMode="auto">
          <a:xfrm>
            <a:off x="2219326" y="1522414"/>
            <a:ext cx="7991475" cy="3106737"/>
            <a:chOff x="1000125" y="1522413"/>
            <a:chExt cx="7991475" cy="3106737"/>
          </a:xfrm>
        </p:grpSpPr>
        <p:sp>
          <p:nvSpPr>
            <p:cNvPr id="32776" name="Rectangle 42"/>
            <p:cNvSpPr>
              <a:spLocks noChangeArrowheads="1"/>
            </p:cNvSpPr>
            <p:nvPr/>
          </p:nvSpPr>
          <p:spPr bwMode="auto">
            <a:xfrm>
              <a:off x="1123950" y="1522413"/>
              <a:ext cx="2413000" cy="850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endParaRPr lang="en-US" altLang="ko-KR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D</a:t>
              </a:r>
              <a:r>
                <a:rPr lang="en-US" altLang="ko-KR" baseline="-25000">
                  <a:cs typeface="Arial" panose="020B0604020202020204" pitchFamily="34" charset="0"/>
                </a:rPr>
                <a:t>7</a:t>
              </a:r>
              <a:r>
                <a:rPr lang="en-US" altLang="ko-KR">
                  <a:cs typeface="Arial" panose="020B0604020202020204" pitchFamily="34" charset="0"/>
                </a:rPr>
                <a:t>IT</a:t>
              </a:r>
              <a:r>
                <a:rPr lang="en-US" altLang="ko-KR" baseline="-25000">
                  <a:cs typeface="Arial" panose="020B0604020202020204" pitchFamily="34" charset="0"/>
                </a:rPr>
                <a:t>3</a:t>
              </a:r>
              <a:r>
                <a:rPr lang="en-US" altLang="ko-KR">
                  <a:cs typeface="Arial" panose="020B0604020202020204" pitchFamily="34" charset="0"/>
                </a:rPr>
                <a:t> = p	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IR(i) = </a:t>
              </a:r>
              <a:r>
                <a:rPr lang="en-US" altLang="ko-KR">
                  <a:cs typeface="Arial" panose="020B0604020202020204" pitchFamily="34" charset="0"/>
                </a:rPr>
                <a:t>B</a:t>
              </a:r>
              <a:r>
                <a:rPr lang="en-US" altLang="ko-KR" baseline="-25000">
                  <a:cs typeface="Arial" panose="020B0604020202020204" pitchFamily="34" charset="0"/>
                </a:rPr>
                <a:t>i</a:t>
              </a:r>
              <a:r>
                <a:rPr lang="en-US" altLang="ko-KR">
                  <a:cs typeface="Arial" panose="020B0604020202020204" pitchFamily="34" charset="0"/>
                </a:rPr>
                <a:t>, i = 6, …, 11</a:t>
              </a:r>
              <a:endParaRPr lang="en-US" altLang="ko-KR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2777" name="Rectangle 43"/>
            <p:cNvSpPr>
              <a:spLocks noChangeArrowheads="1"/>
            </p:cNvSpPr>
            <p:nvPr/>
          </p:nvSpPr>
          <p:spPr bwMode="auto">
            <a:xfrm>
              <a:off x="1028700" y="2619375"/>
              <a:ext cx="7848600" cy="191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	p:	SC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0				Clear SC</a:t>
              </a:r>
              <a:endParaRPr lang="en-US" altLang="ko-KR" sz="280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INP	pB</a:t>
              </a:r>
              <a:r>
                <a:rPr lang="en-US" altLang="ko-KR" baseline="-25000">
                  <a:cs typeface="Arial" panose="020B0604020202020204" pitchFamily="34" charset="0"/>
                </a:rPr>
                <a:t>11</a:t>
              </a:r>
              <a:r>
                <a:rPr lang="en-US" altLang="ko-KR">
                  <a:cs typeface="Arial" panose="020B0604020202020204" pitchFamily="34" charset="0"/>
                </a:rPr>
                <a:t>:	AC(0-7)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INPR, FGI  0		Input char. to AC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OUT	pB</a:t>
              </a:r>
              <a:r>
                <a:rPr lang="en-US" altLang="ko-KR" baseline="-25000">
                  <a:cs typeface="Arial" panose="020B0604020202020204" pitchFamily="34" charset="0"/>
                </a:rPr>
                <a:t>10</a:t>
              </a:r>
              <a:r>
                <a:rPr lang="en-US" altLang="ko-KR">
                  <a:cs typeface="Arial" panose="020B0604020202020204" pitchFamily="34" charset="0"/>
                </a:rPr>
                <a:t>:	OUTR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AC(0-7), FGO  0		Output char. from AC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SKI	pB</a:t>
              </a:r>
              <a:r>
                <a:rPr lang="en-US" altLang="ko-KR" baseline="-25000">
                  <a:cs typeface="Arial" panose="020B0604020202020204" pitchFamily="34" charset="0"/>
                </a:rPr>
                <a:t>9</a:t>
              </a:r>
              <a:r>
                <a:rPr lang="en-US" altLang="ko-KR">
                  <a:cs typeface="Arial" panose="020B0604020202020204" pitchFamily="34" charset="0"/>
                </a:rPr>
                <a:t>:	if(FGI = 1) then (PC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 + 1)	Skip on input flag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SKO	pB</a:t>
              </a:r>
              <a:r>
                <a:rPr lang="en-US" altLang="ko-KR" baseline="-25000">
                  <a:cs typeface="Arial" panose="020B0604020202020204" pitchFamily="34" charset="0"/>
                </a:rPr>
                <a:t>8</a:t>
              </a:r>
              <a:r>
                <a:rPr lang="en-US" altLang="ko-KR">
                  <a:cs typeface="Arial" panose="020B0604020202020204" pitchFamily="34" charset="0"/>
                </a:rPr>
                <a:t>:	if(FGO = 1) then (PC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 + 1)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Skip on output flag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ION	</a:t>
              </a:r>
              <a:r>
                <a:rPr lang="en-US" altLang="ko-KR">
                  <a:cs typeface="Arial" panose="020B0604020202020204" pitchFamily="34" charset="0"/>
                </a:rPr>
                <a:t>pB</a:t>
              </a:r>
              <a:r>
                <a:rPr lang="en-US" altLang="ko-KR" baseline="-25000">
                  <a:cs typeface="Arial" panose="020B0604020202020204" pitchFamily="34" charset="0"/>
                </a:rPr>
                <a:t>7</a:t>
              </a:r>
              <a:r>
                <a:rPr lang="en-US" altLang="ko-KR">
                  <a:cs typeface="Arial" panose="020B0604020202020204" pitchFamily="34" charset="0"/>
                </a:rPr>
                <a:t>:	IEN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1				Interrupt enable on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IOF	</a:t>
              </a:r>
              <a:r>
                <a:rPr lang="en-US" altLang="ko-KR">
                  <a:cs typeface="Arial" panose="020B0604020202020204" pitchFamily="34" charset="0"/>
                </a:rPr>
                <a:t>pB</a:t>
              </a:r>
              <a:r>
                <a:rPr lang="en-US" altLang="ko-KR" baseline="-25000">
                  <a:cs typeface="Arial" panose="020B0604020202020204" pitchFamily="34" charset="0"/>
                </a:rPr>
                <a:t>6</a:t>
              </a:r>
              <a:r>
                <a:rPr lang="en-US" altLang="ko-KR">
                  <a:cs typeface="Arial" panose="020B0604020202020204" pitchFamily="34" charset="0"/>
                </a:rPr>
                <a:t>:	IEN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0				Interrupt enable off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2778" name="Rectangle 44"/>
            <p:cNvSpPr>
              <a:spLocks noChangeArrowheads="1"/>
            </p:cNvSpPr>
            <p:nvPr/>
          </p:nvSpPr>
          <p:spPr bwMode="auto">
            <a:xfrm>
              <a:off x="1000125" y="2590800"/>
              <a:ext cx="7991475" cy="203835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32779" name="Line 45"/>
            <p:cNvSpPr>
              <a:spLocks noChangeShapeType="1"/>
            </p:cNvSpPr>
            <p:nvPr/>
          </p:nvSpPr>
          <p:spPr bwMode="auto">
            <a:xfrm>
              <a:off x="1685925" y="2590800"/>
              <a:ext cx="0" cy="2019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0" name="Line 46"/>
            <p:cNvSpPr>
              <a:spLocks noChangeShapeType="1"/>
            </p:cNvSpPr>
            <p:nvPr/>
          </p:nvSpPr>
          <p:spPr bwMode="auto">
            <a:xfrm>
              <a:off x="6191250" y="2600325"/>
              <a:ext cx="0" cy="2019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2322912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Interrupt Initiated Input/Output </a:t>
            </a: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1890713" y="1282701"/>
            <a:ext cx="8604250" cy="3158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endParaRPr lang="en-IN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IN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Open communication only when some data has to be passed --&gt; </a:t>
            </a:r>
            <a:r>
              <a:rPr lang="en-US" altLang="ko-KR" b="1" i="1" dirty="0">
                <a:cs typeface="Arial" panose="020B0604020202020204" pitchFamily="34" charset="0"/>
              </a:rPr>
              <a:t>interrupt</a:t>
            </a:r>
            <a:r>
              <a:rPr lang="en-US" altLang="ko-KR" b="1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The I/O interface, instead of the CPU, monitors the I/O device. </a:t>
            </a: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 When the interface founds that the I/O device is ready for data transfer,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it generates an interrupt request to the CPU</a:t>
            </a:r>
          </a:p>
        </p:txBody>
      </p:sp>
    </p:spTree>
    <p:extLst>
      <p:ext uri="{BB962C8B-B14F-4D97-AF65-F5344CB8AC3E}">
        <p14:creationId xmlns:p14="http://schemas.microsoft.com/office/powerpoint/2010/main" xmlns="" val="15786027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Interrupt Initiated Input/Output </a:t>
            </a: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1890713" y="1282701"/>
            <a:ext cx="8604250" cy="2311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 Upon detecting an interrupt, the CPU stops momentarily the task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it is doing, branches to the service routine to process the data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transfer, and then returns to the task it was performing.</a:t>
            </a: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FGI –  1 new info. Is available to input device……0 info accepted by computer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FGO – 1 info </a:t>
            </a:r>
            <a:r>
              <a:rPr lang="en-US" altLang="ko-KR" b="1" dirty="0" err="1">
                <a:cs typeface="Arial" panose="020B0604020202020204" pitchFamily="34" charset="0"/>
              </a:rPr>
              <a:t>tranffered</a:t>
            </a:r>
            <a:r>
              <a:rPr lang="en-US" altLang="ko-KR" b="1" dirty="0">
                <a:cs typeface="Arial" panose="020B0604020202020204" pitchFamily="34" charset="0"/>
              </a:rPr>
              <a:t> from AC to OUTR………0 don’t load new things</a:t>
            </a:r>
          </a:p>
          <a:p>
            <a:pPr eaLnBrk="1" latin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</p:txBody>
      </p:sp>
      <p:sp>
        <p:nvSpPr>
          <p:cNvPr id="33800" name="Rectangle 4"/>
          <p:cNvSpPr>
            <a:spLocks noChangeArrowheads="1"/>
          </p:cNvSpPr>
          <p:nvPr/>
        </p:nvSpPr>
        <p:spPr bwMode="auto">
          <a:xfrm>
            <a:off x="1697037" y="3449701"/>
            <a:ext cx="3590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IEN (Interrupt-enable flip-flop)</a:t>
            </a:r>
          </a:p>
        </p:txBody>
      </p:sp>
      <p:sp>
        <p:nvSpPr>
          <p:cNvPr id="33801" name="Rectangle 5"/>
          <p:cNvSpPr>
            <a:spLocks noChangeArrowheads="1"/>
          </p:cNvSpPr>
          <p:nvPr/>
        </p:nvSpPr>
        <p:spPr bwMode="auto">
          <a:xfrm>
            <a:off x="2209800" y="4037045"/>
            <a:ext cx="575786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can be set and cleared by instructions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when cleared, the computer cannot be interrupted</a:t>
            </a:r>
          </a:p>
          <a:p>
            <a:pPr eaLnBrk="1" hangingPunct="1">
              <a:lnSpc>
                <a:spcPct val="95000"/>
              </a:lnSpc>
            </a:pPr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39172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22" name="TextBox 8"/>
          <p:cNvSpPr txBox="1">
            <a:spLocks noChangeArrowheads="1"/>
          </p:cNvSpPr>
          <p:nvPr/>
        </p:nvSpPr>
        <p:spPr bwMode="auto">
          <a:xfrm>
            <a:off x="2057400" y="381000"/>
            <a:ext cx="807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Flow Chart of Interrupt Cycle </a:t>
            </a:r>
          </a:p>
        </p:txBody>
      </p:sp>
      <p:grpSp>
        <p:nvGrpSpPr>
          <p:cNvPr id="34823" name="Group 147"/>
          <p:cNvGrpSpPr>
            <a:grpSpLocks/>
          </p:cNvGrpSpPr>
          <p:nvPr/>
        </p:nvGrpSpPr>
        <p:grpSpPr bwMode="auto">
          <a:xfrm>
            <a:off x="276678" y="965200"/>
            <a:ext cx="11470564" cy="5322758"/>
            <a:chOff x="450850" y="808038"/>
            <a:chExt cx="9259564" cy="5322356"/>
          </a:xfrm>
        </p:grpSpPr>
        <p:sp>
          <p:nvSpPr>
            <p:cNvPr id="34825" name="Rectangle 3"/>
            <p:cNvSpPr>
              <a:spLocks noChangeArrowheads="1"/>
            </p:cNvSpPr>
            <p:nvPr/>
          </p:nvSpPr>
          <p:spPr bwMode="auto">
            <a:xfrm>
              <a:off x="5246688" y="808038"/>
              <a:ext cx="1415452" cy="266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cs typeface="Arial" panose="020B0604020202020204" pitchFamily="34" charset="0"/>
                </a:rPr>
                <a:t>R = Interrupt f/f</a:t>
              </a:r>
            </a:p>
          </p:txBody>
        </p:sp>
        <p:sp>
          <p:nvSpPr>
            <p:cNvPr id="34826" name="Rectangle 4"/>
            <p:cNvSpPr>
              <a:spLocks noChangeArrowheads="1"/>
            </p:cNvSpPr>
            <p:nvPr/>
          </p:nvSpPr>
          <p:spPr bwMode="auto">
            <a:xfrm>
              <a:off x="450850" y="4392613"/>
              <a:ext cx="9259564" cy="1737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/>
              <a:endParaRPr lang="en-US" altLang="ko-KR" sz="1600" b="1" dirty="0">
                <a:cs typeface="Arial" panose="020B0604020202020204" pitchFamily="34" charset="0"/>
              </a:endParaRPr>
            </a:p>
            <a:p>
              <a:pPr algn="just" eaLnBrk="1" hangingPunct="1"/>
              <a:endParaRPr lang="en-US" altLang="ko-KR" sz="1600" b="1" dirty="0">
                <a:cs typeface="Arial" panose="020B0604020202020204" pitchFamily="34" charset="0"/>
              </a:endParaRP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The interrupt cycle is a HW implementation of a branch and save return address operation.</a:t>
              </a: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At the beginning of the next instruction cycle, the instruction that is read from memory is in address 1.</a:t>
              </a: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At memory address 1, the programmer must store a branch instruction that sends the control to an interrupt service routine</a:t>
              </a:r>
            </a:p>
            <a:p>
              <a:pPr algn="just" eaLnBrk="1" hangingPunct="1">
                <a:lnSpc>
                  <a:spcPct val="85000"/>
                </a:lnSpc>
              </a:pPr>
              <a:r>
                <a:rPr lang="en-US" altLang="ko-KR" sz="1600" b="1" dirty="0">
                  <a:cs typeface="Arial" panose="020B0604020202020204" pitchFamily="34" charset="0"/>
                </a:rPr>
                <a:t>- The instruction that returns the control to the original program is  "indirect BUN   0"</a:t>
              </a:r>
            </a:p>
          </p:txBody>
        </p:sp>
        <p:sp>
          <p:nvSpPr>
            <p:cNvPr id="62" name="Rectangle 17"/>
            <p:cNvSpPr>
              <a:spLocks noChangeArrowheads="1"/>
            </p:cNvSpPr>
            <p:nvPr/>
          </p:nvSpPr>
          <p:spPr bwMode="auto">
            <a:xfrm>
              <a:off x="4348163" y="1646175"/>
              <a:ext cx="17857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Store return address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34828" name="Group 11"/>
            <p:cNvGrpSpPr>
              <a:grpSpLocks/>
            </p:cNvGrpSpPr>
            <p:nvPr/>
          </p:nvGrpSpPr>
          <p:grpSpPr bwMode="auto">
            <a:xfrm>
              <a:off x="3416300" y="1173163"/>
              <a:ext cx="481013" cy="334962"/>
              <a:chOff x="2115" y="1631"/>
              <a:chExt cx="268" cy="236"/>
            </a:xfrm>
          </p:grpSpPr>
          <p:sp>
            <p:nvSpPr>
              <p:cNvPr id="64" name="Line 7"/>
              <p:cNvSpPr>
                <a:spLocks noChangeShapeType="1"/>
              </p:cNvSpPr>
              <p:nvPr/>
            </p:nvSpPr>
            <p:spPr bwMode="auto">
              <a:xfrm flipH="1">
                <a:off x="2115" y="1631"/>
                <a:ext cx="145" cy="11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5" name="Line 8"/>
              <p:cNvSpPr>
                <a:spLocks noChangeShapeType="1"/>
              </p:cNvSpPr>
              <p:nvPr/>
            </p:nvSpPr>
            <p:spPr bwMode="auto">
              <a:xfrm flipH="1">
                <a:off x="2237" y="1754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6" name="Line 9"/>
              <p:cNvSpPr>
                <a:spLocks noChangeShapeType="1"/>
              </p:cNvSpPr>
              <p:nvPr/>
            </p:nvSpPr>
            <p:spPr bwMode="auto">
              <a:xfrm>
                <a:off x="2253" y="1631"/>
                <a:ext cx="114" cy="11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7" name="Line 10"/>
              <p:cNvSpPr>
                <a:spLocks noChangeShapeType="1"/>
              </p:cNvSpPr>
              <p:nvPr/>
            </p:nvSpPr>
            <p:spPr bwMode="auto">
              <a:xfrm>
                <a:off x="2131" y="1754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68" name="Rectangle 12"/>
            <p:cNvSpPr>
              <a:spLocks noChangeArrowheads="1"/>
            </p:cNvSpPr>
            <p:nvPr/>
          </p:nvSpPr>
          <p:spPr bwMode="auto">
            <a:xfrm>
              <a:off x="3516313" y="1223932"/>
              <a:ext cx="262893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</a:t>
              </a:r>
            </a:p>
          </p:txBody>
        </p:sp>
        <p:sp>
          <p:nvSpPr>
            <p:cNvPr id="69" name="Rectangle 13"/>
            <p:cNvSpPr>
              <a:spLocks noChangeArrowheads="1"/>
            </p:cNvSpPr>
            <p:nvPr/>
          </p:nvSpPr>
          <p:spPr bwMode="auto">
            <a:xfrm>
              <a:off x="3765550" y="1152500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70" name="Rectangle 14"/>
            <p:cNvSpPr>
              <a:spLocks noChangeArrowheads="1"/>
            </p:cNvSpPr>
            <p:nvPr/>
          </p:nvSpPr>
          <p:spPr bwMode="auto">
            <a:xfrm>
              <a:off x="3155950" y="1142976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71" name="Line 15"/>
            <p:cNvSpPr>
              <a:spLocks noChangeShapeType="1"/>
            </p:cNvSpPr>
            <p:nvPr/>
          </p:nvSpPr>
          <p:spPr bwMode="auto">
            <a:xfrm flipV="1">
              <a:off x="3862388" y="1342986"/>
              <a:ext cx="1270000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 flipH="1">
              <a:off x="2397125" y="1342986"/>
              <a:ext cx="1046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3" name="Rectangle 18"/>
            <p:cNvSpPr>
              <a:spLocks noChangeArrowheads="1"/>
            </p:cNvSpPr>
            <p:nvPr/>
          </p:nvSpPr>
          <p:spPr bwMode="auto">
            <a:xfrm>
              <a:off x="4538663" y="1765229"/>
              <a:ext cx="1224695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in location 0</a:t>
              </a:r>
            </a:p>
            <a:p>
              <a:pPr defTabSz="762000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4" name="Rectangle 19"/>
            <p:cNvSpPr>
              <a:spLocks noChangeArrowheads="1"/>
            </p:cNvSpPr>
            <p:nvPr/>
          </p:nvSpPr>
          <p:spPr bwMode="auto">
            <a:xfrm>
              <a:off x="4576763" y="1906505"/>
              <a:ext cx="9569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M[0]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PC</a:t>
              </a:r>
            </a:p>
          </p:txBody>
        </p:sp>
        <p:sp>
          <p:nvSpPr>
            <p:cNvPr id="75" name="Rectangle 20"/>
            <p:cNvSpPr>
              <a:spLocks noChangeArrowheads="1"/>
            </p:cNvSpPr>
            <p:nvPr/>
          </p:nvSpPr>
          <p:spPr bwMode="auto">
            <a:xfrm>
              <a:off x="4229100" y="2538283"/>
              <a:ext cx="17857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Branch to location 1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6" name="Rectangle 21"/>
            <p:cNvSpPr>
              <a:spLocks noChangeArrowheads="1"/>
            </p:cNvSpPr>
            <p:nvPr/>
          </p:nvSpPr>
          <p:spPr bwMode="auto">
            <a:xfrm>
              <a:off x="4641850" y="2682735"/>
              <a:ext cx="71654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1</a:t>
              </a:r>
            </a:p>
          </p:txBody>
        </p:sp>
        <p:sp>
          <p:nvSpPr>
            <p:cNvPr id="77" name="Rectangle 22"/>
            <p:cNvSpPr>
              <a:spLocks noChangeArrowheads="1"/>
            </p:cNvSpPr>
            <p:nvPr/>
          </p:nvSpPr>
          <p:spPr bwMode="auto">
            <a:xfrm>
              <a:off x="4602163" y="3243080"/>
              <a:ext cx="876844" cy="5744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IEN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0</a:t>
              </a:r>
            </a:p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  R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0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8" name="Rectangle 23"/>
            <p:cNvSpPr>
              <a:spLocks noChangeArrowheads="1"/>
            </p:cNvSpPr>
            <p:nvPr/>
          </p:nvSpPr>
          <p:spPr bwMode="auto">
            <a:xfrm>
              <a:off x="4422775" y="1152500"/>
              <a:ext cx="1384996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Interrupt cycle</a:t>
              </a:r>
            </a:p>
          </p:txBody>
        </p:sp>
        <p:sp>
          <p:nvSpPr>
            <p:cNvPr id="79" name="Rectangle 24"/>
            <p:cNvSpPr>
              <a:spLocks noChangeArrowheads="1"/>
            </p:cNvSpPr>
            <p:nvPr/>
          </p:nvSpPr>
          <p:spPr bwMode="auto">
            <a:xfrm>
              <a:off x="1793875" y="1152500"/>
              <a:ext cx="1545296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 cycle</a:t>
              </a:r>
            </a:p>
          </p:txBody>
        </p:sp>
        <p:sp>
          <p:nvSpPr>
            <p:cNvPr id="80" name="Rectangle 25"/>
            <p:cNvSpPr>
              <a:spLocks noChangeArrowheads="1"/>
            </p:cNvSpPr>
            <p:nvPr/>
          </p:nvSpPr>
          <p:spPr bwMode="auto">
            <a:xfrm>
              <a:off x="1677988" y="1673161"/>
              <a:ext cx="14651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Fetch and decode</a:t>
              </a:r>
            </a:p>
            <a:p>
              <a:pPr defTabSz="762000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81" name="Rectangle 26"/>
            <p:cNvSpPr>
              <a:spLocks noChangeArrowheads="1"/>
            </p:cNvSpPr>
            <p:nvPr/>
          </p:nvSpPr>
          <p:spPr bwMode="auto">
            <a:xfrm>
              <a:off x="1909763" y="1814437"/>
              <a:ext cx="1144545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instructions</a:t>
              </a:r>
            </a:p>
          </p:txBody>
        </p:sp>
        <p:sp>
          <p:nvSpPr>
            <p:cNvPr id="82" name="Rectangle 27"/>
            <p:cNvSpPr>
              <a:spLocks noChangeArrowheads="1"/>
            </p:cNvSpPr>
            <p:nvPr/>
          </p:nvSpPr>
          <p:spPr bwMode="auto">
            <a:xfrm>
              <a:off x="1538288" y="1641413"/>
              <a:ext cx="1722437" cy="4381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grpSp>
          <p:nvGrpSpPr>
            <p:cNvPr id="34844" name="Group 32"/>
            <p:cNvGrpSpPr>
              <a:grpSpLocks/>
            </p:cNvGrpSpPr>
            <p:nvPr/>
          </p:nvGrpSpPr>
          <p:grpSpPr bwMode="auto">
            <a:xfrm>
              <a:off x="2681288" y="2274888"/>
              <a:ext cx="479425" cy="333375"/>
              <a:chOff x="1704" y="2409"/>
              <a:chExt cx="268" cy="236"/>
            </a:xfrm>
          </p:grpSpPr>
          <p:sp>
            <p:nvSpPr>
              <p:cNvPr id="84" name="Line 28"/>
              <p:cNvSpPr>
                <a:spLocks noChangeShapeType="1"/>
              </p:cNvSpPr>
              <p:nvPr/>
            </p:nvSpPr>
            <p:spPr bwMode="auto">
              <a:xfrm flipH="1">
                <a:off x="1704" y="2409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5" name="Line 29"/>
              <p:cNvSpPr>
                <a:spLocks noChangeShapeType="1"/>
              </p:cNvSpPr>
              <p:nvPr/>
            </p:nvSpPr>
            <p:spPr bwMode="auto">
              <a:xfrm flipH="1">
                <a:off x="1827" y="2531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6" name="Line 30"/>
              <p:cNvSpPr>
                <a:spLocks noChangeShapeType="1"/>
              </p:cNvSpPr>
              <p:nvPr/>
            </p:nvSpPr>
            <p:spPr bwMode="auto">
              <a:xfrm>
                <a:off x="1843" y="2409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7" name="Line 31"/>
              <p:cNvSpPr>
                <a:spLocks noChangeShapeType="1"/>
              </p:cNvSpPr>
              <p:nvPr/>
            </p:nvSpPr>
            <p:spPr bwMode="auto">
              <a:xfrm>
                <a:off x="1720" y="2531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88" name="Line 34"/>
            <p:cNvSpPr>
              <a:spLocks noChangeShapeType="1"/>
            </p:cNvSpPr>
            <p:nvPr/>
          </p:nvSpPr>
          <p:spPr bwMode="auto">
            <a:xfrm>
              <a:off x="2922588" y="2082705"/>
              <a:ext cx="0" cy="1984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35"/>
            <p:cNvSpPr>
              <a:spLocks noChangeArrowheads="1"/>
            </p:cNvSpPr>
            <p:nvPr/>
          </p:nvSpPr>
          <p:spPr bwMode="auto">
            <a:xfrm>
              <a:off x="2697163" y="2338273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IEN</a:t>
              </a:r>
            </a:p>
          </p:txBody>
        </p:sp>
        <p:grpSp>
          <p:nvGrpSpPr>
            <p:cNvPr id="34847" name="Group 40"/>
            <p:cNvGrpSpPr>
              <a:grpSpLocks/>
            </p:cNvGrpSpPr>
            <p:nvPr/>
          </p:nvGrpSpPr>
          <p:grpSpPr bwMode="auto">
            <a:xfrm>
              <a:off x="2681288" y="2794000"/>
              <a:ext cx="479425" cy="333375"/>
              <a:chOff x="1704" y="2776"/>
              <a:chExt cx="268" cy="236"/>
            </a:xfrm>
          </p:grpSpPr>
          <p:sp>
            <p:nvSpPr>
              <p:cNvPr id="91" name="Line 36"/>
              <p:cNvSpPr>
                <a:spLocks noChangeShapeType="1"/>
              </p:cNvSpPr>
              <p:nvPr/>
            </p:nvSpPr>
            <p:spPr bwMode="auto">
              <a:xfrm flipH="1">
                <a:off x="1704" y="2776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2" name="Line 37"/>
              <p:cNvSpPr>
                <a:spLocks noChangeShapeType="1"/>
              </p:cNvSpPr>
              <p:nvPr/>
            </p:nvSpPr>
            <p:spPr bwMode="auto">
              <a:xfrm flipH="1">
                <a:off x="1827" y="2898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3" name="Line 38"/>
              <p:cNvSpPr>
                <a:spLocks noChangeShapeType="1"/>
              </p:cNvSpPr>
              <p:nvPr/>
            </p:nvSpPr>
            <p:spPr bwMode="auto">
              <a:xfrm>
                <a:off x="1843" y="2776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4" name="Line 39"/>
              <p:cNvSpPr>
                <a:spLocks noChangeShapeType="1"/>
              </p:cNvSpPr>
              <p:nvPr/>
            </p:nvSpPr>
            <p:spPr bwMode="auto">
              <a:xfrm>
                <a:off x="1720" y="2898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95" name="Line 42"/>
            <p:cNvSpPr>
              <a:spLocks noChangeShapeType="1"/>
            </p:cNvSpPr>
            <p:nvPr/>
          </p:nvSpPr>
          <p:spPr bwMode="auto">
            <a:xfrm>
              <a:off x="2916238" y="2609715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Rectangle 43"/>
            <p:cNvSpPr>
              <a:spLocks noChangeArrowheads="1"/>
            </p:cNvSpPr>
            <p:nvPr/>
          </p:nvSpPr>
          <p:spPr bwMode="auto">
            <a:xfrm>
              <a:off x="2716213" y="2850997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FGI</a:t>
              </a:r>
            </a:p>
          </p:txBody>
        </p:sp>
        <p:grpSp>
          <p:nvGrpSpPr>
            <p:cNvPr id="34850" name="Group 48"/>
            <p:cNvGrpSpPr>
              <a:grpSpLocks/>
            </p:cNvGrpSpPr>
            <p:nvPr/>
          </p:nvGrpSpPr>
          <p:grpSpPr bwMode="auto">
            <a:xfrm>
              <a:off x="2681288" y="3314700"/>
              <a:ext cx="479425" cy="333375"/>
              <a:chOff x="1704" y="3143"/>
              <a:chExt cx="268" cy="236"/>
            </a:xfrm>
          </p:grpSpPr>
          <p:sp>
            <p:nvSpPr>
              <p:cNvPr id="98" name="Line 44"/>
              <p:cNvSpPr>
                <a:spLocks noChangeShapeType="1"/>
              </p:cNvSpPr>
              <p:nvPr/>
            </p:nvSpPr>
            <p:spPr bwMode="auto">
              <a:xfrm flipH="1">
                <a:off x="1704" y="3143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9" name="Line 45"/>
              <p:cNvSpPr>
                <a:spLocks noChangeShapeType="1"/>
              </p:cNvSpPr>
              <p:nvPr/>
            </p:nvSpPr>
            <p:spPr bwMode="auto">
              <a:xfrm flipH="1">
                <a:off x="1827" y="3265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100" name="Line 46"/>
              <p:cNvSpPr>
                <a:spLocks noChangeShapeType="1"/>
              </p:cNvSpPr>
              <p:nvPr/>
            </p:nvSpPr>
            <p:spPr bwMode="auto">
              <a:xfrm>
                <a:off x="1843" y="3143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101" name="Line 47"/>
              <p:cNvSpPr>
                <a:spLocks noChangeShapeType="1"/>
              </p:cNvSpPr>
              <p:nvPr/>
            </p:nvSpPr>
            <p:spPr bwMode="auto">
              <a:xfrm>
                <a:off x="1720" y="3265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102" name="Line 50"/>
            <p:cNvSpPr>
              <a:spLocks noChangeShapeType="1"/>
            </p:cNvSpPr>
            <p:nvPr/>
          </p:nvSpPr>
          <p:spPr bwMode="auto">
            <a:xfrm>
              <a:off x="2916238" y="3139900"/>
              <a:ext cx="0" cy="1761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3" name="Rectangle 51"/>
            <p:cNvSpPr>
              <a:spLocks noChangeArrowheads="1"/>
            </p:cNvSpPr>
            <p:nvPr/>
          </p:nvSpPr>
          <p:spPr bwMode="auto">
            <a:xfrm>
              <a:off x="2670175" y="3378007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FGO</a:t>
              </a:r>
            </a:p>
          </p:txBody>
        </p:sp>
        <p:sp>
          <p:nvSpPr>
            <p:cNvPr id="104" name="Line 52"/>
            <p:cNvSpPr>
              <a:spLocks noChangeShapeType="1"/>
            </p:cNvSpPr>
            <p:nvPr/>
          </p:nvSpPr>
          <p:spPr bwMode="auto">
            <a:xfrm flipH="1">
              <a:off x="2540000" y="3481187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5" name="Arc 53"/>
            <p:cNvSpPr>
              <a:spLocks/>
            </p:cNvSpPr>
            <p:nvPr/>
          </p:nvSpPr>
          <p:spPr bwMode="auto">
            <a:xfrm>
              <a:off x="2493963" y="3662148"/>
              <a:ext cx="96837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6" name="Line 54"/>
            <p:cNvSpPr>
              <a:spLocks noChangeShapeType="1"/>
            </p:cNvSpPr>
            <p:nvPr/>
          </p:nvSpPr>
          <p:spPr bwMode="auto">
            <a:xfrm>
              <a:off x="2547938" y="3487536"/>
              <a:ext cx="0" cy="18096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7" name="Line 55"/>
            <p:cNvSpPr>
              <a:spLocks noChangeShapeType="1"/>
            </p:cNvSpPr>
            <p:nvPr/>
          </p:nvSpPr>
          <p:spPr bwMode="auto">
            <a:xfrm flipH="1">
              <a:off x="2320925" y="2962114"/>
              <a:ext cx="387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8" name="Arc 56"/>
            <p:cNvSpPr>
              <a:spLocks/>
            </p:cNvSpPr>
            <p:nvPr/>
          </p:nvSpPr>
          <p:spPr bwMode="auto">
            <a:xfrm>
              <a:off x="2292350" y="3662148"/>
              <a:ext cx="95250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9" name="Line 57"/>
            <p:cNvSpPr>
              <a:spLocks noChangeShapeType="1"/>
            </p:cNvSpPr>
            <p:nvPr/>
          </p:nvSpPr>
          <p:spPr bwMode="auto">
            <a:xfrm>
              <a:off x="2335213" y="2966875"/>
              <a:ext cx="0" cy="7016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0" name="Rectangle 58"/>
            <p:cNvSpPr>
              <a:spLocks noChangeArrowheads="1"/>
            </p:cNvSpPr>
            <p:nvPr/>
          </p:nvSpPr>
          <p:spPr bwMode="auto">
            <a:xfrm>
              <a:off x="1614488" y="2316049"/>
              <a:ext cx="743794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1" name="Rectangle 59"/>
            <p:cNvSpPr>
              <a:spLocks noChangeArrowheads="1"/>
            </p:cNvSpPr>
            <p:nvPr/>
          </p:nvSpPr>
          <p:spPr bwMode="auto">
            <a:xfrm>
              <a:off x="1506538" y="2458914"/>
              <a:ext cx="1144545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instructions</a:t>
              </a:r>
            </a:p>
          </p:txBody>
        </p:sp>
        <p:sp>
          <p:nvSpPr>
            <p:cNvPr id="112" name="Rectangle 60"/>
            <p:cNvSpPr>
              <a:spLocks noChangeArrowheads="1"/>
            </p:cNvSpPr>
            <p:nvPr/>
          </p:nvSpPr>
          <p:spPr bwMode="auto">
            <a:xfrm>
              <a:off x="1538288" y="2336686"/>
              <a:ext cx="922337" cy="37144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3" name="Arc 61"/>
            <p:cNvSpPr>
              <a:spLocks/>
            </p:cNvSpPr>
            <p:nvPr/>
          </p:nvSpPr>
          <p:spPr bwMode="auto">
            <a:xfrm>
              <a:off x="1993900" y="2233506"/>
              <a:ext cx="96838" cy="96831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4" name="Line 62"/>
            <p:cNvSpPr>
              <a:spLocks noChangeShapeType="1"/>
            </p:cNvSpPr>
            <p:nvPr/>
          </p:nvSpPr>
          <p:spPr bwMode="auto">
            <a:xfrm>
              <a:off x="2046288" y="2082705"/>
              <a:ext cx="0" cy="16984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5" name="Arc 63"/>
            <p:cNvSpPr>
              <a:spLocks/>
            </p:cNvSpPr>
            <p:nvPr/>
          </p:nvSpPr>
          <p:spPr bwMode="auto">
            <a:xfrm>
              <a:off x="1930400" y="4174872"/>
              <a:ext cx="98425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6" name="Rectangle 65"/>
            <p:cNvSpPr>
              <a:spLocks noChangeArrowheads="1"/>
            </p:cNvSpPr>
            <p:nvPr/>
          </p:nvSpPr>
          <p:spPr bwMode="auto">
            <a:xfrm>
              <a:off x="2078038" y="3762153"/>
              <a:ext cx="6363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1</a:t>
              </a:r>
            </a:p>
          </p:txBody>
        </p:sp>
        <p:sp>
          <p:nvSpPr>
            <p:cNvPr id="117" name="Rectangle 66"/>
            <p:cNvSpPr>
              <a:spLocks noChangeArrowheads="1"/>
            </p:cNvSpPr>
            <p:nvPr/>
          </p:nvSpPr>
          <p:spPr bwMode="auto">
            <a:xfrm>
              <a:off x="2130425" y="3771678"/>
              <a:ext cx="627063" cy="21112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Rectangle 67"/>
            <p:cNvSpPr>
              <a:spLocks noChangeArrowheads="1"/>
            </p:cNvSpPr>
            <p:nvPr/>
          </p:nvSpPr>
          <p:spPr bwMode="auto">
            <a:xfrm>
              <a:off x="2887663" y="2538283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19" name="Rectangle 68"/>
            <p:cNvSpPr>
              <a:spLocks noChangeArrowheads="1"/>
            </p:cNvSpPr>
            <p:nvPr/>
          </p:nvSpPr>
          <p:spPr bwMode="auto">
            <a:xfrm>
              <a:off x="2393950" y="2774803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20" name="Rectangle 69"/>
            <p:cNvSpPr>
              <a:spLocks noChangeArrowheads="1"/>
            </p:cNvSpPr>
            <p:nvPr/>
          </p:nvSpPr>
          <p:spPr bwMode="auto">
            <a:xfrm>
              <a:off x="2451100" y="3293876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21" name="Rectangle 70"/>
            <p:cNvSpPr>
              <a:spLocks noChangeArrowheads="1"/>
            </p:cNvSpPr>
            <p:nvPr/>
          </p:nvSpPr>
          <p:spPr bwMode="auto">
            <a:xfrm>
              <a:off x="3087688" y="2266841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2" name="Rectangle 71"/>
            <p:cNvSpPr>
              <a:spLocks noChangeArrowheads="1"/>
            </p:cNvSpPr>
            <p:nvPr/>
          </p:nvSpPr>
          <p:spPr bwMode="auto">
            <a:xfrm>
              <a:off x="2887663" y="3058943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3" name="Rectangle 72"/>
            <p:cNvSpPr>
              <a:spLocks noChangeArrowheads="1"/>
            </p:cNvSpPr>
            <p:nvPr/>
          </p:nvSpPr>
          <p:spPr bwMode="auto">
            <a:xfrm>
              <a:off x="2887663" y="3579604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4" name="Arc 73"/>
            <p:cNvSpPr>
              <a:spLocks/>
            </p:cNvSpPr>
            <p:nvPr/>
          </p:nvSpPr>
          <p:spPr bwMode="auto">
            <a:xfrm>
              <a:off x="2870200" y="4181222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5" name="Line 74"/>
            <p:cNvSpPr>
              <a:spLocks noChangeShapeType="1"/>
            </p:cNvSpPr>
            <p:nvPr/>
          </p:nvSpPr>
          <p:spPr bwMode="auto">
            <a:xfrm>
              <a:off x="2916238" y="3655798"/>
              <a:ext cx="0" cy="5254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6" name="Arc 75"/>
            <p:cNvSpPr>
              <a:spLocks/>
            </p:cNvSpPr>
            <p:nvPr/>
          </p:nvSpPr>
          <p:spPr bwMode="auto">
            <a:xfrm>
              <a:off x="2354263" y="4181222"/>
              <a:ext cx="98425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7" name="Line 76"/>
            <p:cNvSpPr>
              <a:spLocks noChangeShapeType="1"/>
            </p:cNvSpPr>
            <p:nvPr/>
          </p:nvSpPr>
          <p:spPr bwMode="auto">
            <a:xfrm>
              <a:off x="2408238" y="3997086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8" name="Arc 77"/>
            <p:cNvSpPr>
              <a:spLocks/>
            </p:cNvSpPr>
            <p:nvPr/>
          </p:nvSpPr>
          <p:spPr bwMode="auto">
            <a:xfrm>
              <a:off x="2354263" y="1530297"/>
              <a:ext cx="98425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9" name="Line 78"/>
            <p:cNvSpPr>
              <a:spLocks noChangeShapeType="1"/>
            </p:cNvSpPr>
            <p:nvPr/>
          </p:nvSpPr>
          <p:spPr bwMode="auto">
            <a:xfrm>
              <a:off x="2408238" y="1346160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0" name="Rectangle 79"/>
            <p:cNvSpPr>
              <a:spLocks noChangeArrowheads="1"/>
            </p:cNvSpPr>
            <p:nvPr/>
          </p:nvSpPr>
          <p:spPr bwMode="auto">
            <a:xfrm>
              <a:off x="4243388" y="1641413"/>
              <a:ext cx="1658937" cy="4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1" name="Arc 80"/>
            <p:cNvSpPr>
              <a:spLocks/>
            </p:cNvSpPr>
            <p:nvPr/>
          </p:nvSpPr>
          <p:spPr bwMode="auto">
            <a:xfrm>
              <a:off x="5070475" y="1530297"/>
              <a:ext cx="96838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2" name="Line 81"/>
            <p:cNvSpPr>
              <a:spLocks noChangeShapeType="1"/>
            </p:cNvSpPr>
            <p:nvPr/>
          </p:nvSpPr>
          <p:spPr bwMode="auto">
            <a:xfrm>
              <a:off x="5113338" y="1346160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3" name="Rectangle 82"/>
            <p:cNvSpPr>
              <a:spLocks noChangeArrowheads="1"/>
            </p:cNvSpPr>
            <p:nvPr/>
          </p:nvSpPr>
          <p:spPr bwMode="auto">
            <a:xfrm>
              <a:off x="4243388" y="2508123"/>
              <a:ext cx="1658937" cy="37462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4" name="Rectangle 83"/>
            <p:cNvSpPr>
              <a:spLocks noChangeArrowheads="1"/>
            </p:cNvSpPr>
            <p:nvPr/>
          </p:nvSpPr>
          <p:spPr bwMode="auto">
            <a:xfrm>
              <a:off x="4462463" y="3252604"/>
              <a:ext cx="1143000" cy="37144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5" name="Arc 84"/>
            <p:cNvSpPr>
              <a:spLocks/>
            </p:cNvSpPr>
            <p:nvPr/>
          </p:nvSpPr>
          <p:spPr bwMode="auto">
            <a:xfrm>
              <a:off x="5067300" y="2414467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6" name="Line 85"/>
            <p:cNvSpPr>
              <a:spLocks noChangeShapeType="1"/>
            </p:cNvSpPr>
            <p:nvPr/>
          </p:nvSpPr>
          <p:spPr bwMode="auto">
            <a:xfrm>
              <a:off x="5113338" y="2136676"/>
              <a:ext cx="0" cy="3000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7" name="Arc 86"/>
            <p:cNvSpPr>
              <a:spLocks/>
            </p:cNvSpPr>
            <p:nvPr/>
          </p:nvSpPr>
          <p:spPr bwMode="auto">
            <a:xfrm>
              <a:off x="5067300" y="3152599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8" name="Line 87"/>
            <p:cNvSpPr>
              <a:spLocks noChangeShapeType="1"/>
            </p:cNvSpPr>
            <p:nvPr/>
          </p:nvSpPr>
          <p:spPr bwMode="auto">
            <a:xfrm>
              <a:off x="5113338" y="2881157"/>
              <a:ext cx="0" cy="28731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9" name="Arc 88"/>
            <p:cNvSpPr>
              <a:spLocks/>
            </p:cNvSpPr>
            <p:nvPr/>
          </p:nvSpPr>
          <p:spPr bwMode="auto">
            <a:xfrm>
              <a:off x="5067300" y="4181222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0" name="Line 89"/>
            <p:cNvSpPr>
              <a:spLocks noChangeShapeType="1"/>
            </p:cNvSpPr>
            <p:nvPr/>
          </p:nvSpPr>
          <p:spPr bwMode="auto">
            <a:xfrm>
              <a:off x="5113338" y="3616114"/>
              <a:ext cx="0" cy="57145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1" name="Freeform 90"/>
            <p:cNvSpPr>
              <a:spLocks/>
            </p:cNvSpPr>
            <p:nvPr/>
          </p:nvSpPr>
          <p:spPr bwMode="auto">
            <a:xfrm>
              <a:off x="1163638" y="877883"/>
              <a:ext cx="3952875" cy="3412868"/>
            </a:xfrm>
            <a:custGeom>
              <a:avLst/>
              <a:gdLst/>
              <a:ahLst/>
              <a:cxnLst>
                <a:cxn ang="0">
                  <a:pos x="2203" y="2404"/>
                </a:cxn>
                <a:cxn ang="0">
                  <a:pos x="0" y="2404"/>
                </a:cxn>
                <a:cxn ang="0">
                  <a:pos x="0" y="0"/>
                </a:cxn>
              </a:cxnLst>
              <a:rect l="0" t="0" r="r" b="b"/>
              <a:pathLst>
                <a:path w="2204" h="2405">
                  <a:moveTo>
                    <a:pt x="2203" y="2404"/>
                  </a:moveTo>
                  <a:lnTo>
                    <a:pt x="0" y="2404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2" name="Line 92"/>
            <p:cNvSpPr>
              <a:spLocks noChangeShapeType="1"/>
            </p:cNvSpPr>
            <p:nvPr/>
          </p:nvSpPr>
          <p:spPr bwMode="auto">
            <a:xfrm flipH="1">
              <a:off x="3656013" y="879471"/>
              <a:ext cx="0" cy="3000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3" name="Line 93"/>
            <p:cNvSpPr>
              <a:spLocks noChangeShapeType="1"/>
            </p:cNvSpPr>
            <p:nvPr/>
          </p:nvSpPr>
          <p:spPr bwMode="auto">
            <a:xfrm flipH="1">
              <a:off x="1149350" y="873121"/>
              <a:ext cx="2511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4" name="Line 94"/>
            <p:cNvSpPr>
              <a:spLocks noChangeShapeType="1"/>
            </p:cNvSpPr>
            <p:nvPr/>
          </p:nvSpPr>
          <p:spPr bwMode="auto">
            <a:xfrm>
              <a:off x="3148013" y="2441453"/>
              <a:ext cx="3143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5" name="Arc 95"/>
            <p:cNvSpPr>
              <a:spLocks/>
            </p:cNvSpPr>
            <p:nvPr/>
          </p:nvSpPr>
          <p:spPr bwMode="auto">
            <a:xfrm>
              <a:off x="3386138" y="4181222"/>
              <a:ext cx="96837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6" name="Line 96"/>
            <p:cNvSpPr>
              <a:spLocks noChangeShapeType="1"/>
            </p:cNvSpPr>
            <p:nvPr/>
          </p:nvSpPr>
          <p:spPr bwMode="auto">
            <a:xfrm>
              <a:off x="3438525" y="2446215"/>
              <a:ext cx="0" cy="174135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7" name="Line 98"/>
            <p:cNvSpPr>
              <a:spLocks noChangeShapeType="1"/>
            </p:cNvSpPr>
            <p:nvPr/>
          </p:nvSpPr>
          <p:spPr bwMode="auto">
            <a:xfrm>
              <a:off x="1981200" y="2693846"/>
              <a:ext cx="0" cy="15413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</p:grpSp>
      <p:sp>
        <p:nvSpPr>
          <p:cNvPr id="34824" name="Rectangle 4"/>
          <p:cNvSpPr>
            <a:spLocks noChangeArrowheads="1"/>
          </p:cNvSpPr>
          <p:nvPr/>
        </p:nvSpPr>
        <p:spPr bwMode="auto">
          <a:xfrm>
            <a:off x="7764464" y="1968500"/>
            <a:ext cx="2670175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609600" indent="-609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INPR</a:t>
            </a:r>
            <a:r>
              <a:rPr lang="en-US" altLang="ko-KR" sz="1200" b="1">
                <a:cs typeface="Arial" panose="020B0604020202020204" pitchFamily="34" charset="0"/>
              </a:rPr>
              <a:t>	Input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OUTR</a:t>
            </a:r>
            <a:r>
              <a:rPr lang="en-US" altLang="ko-KR" sz="1200" b="1">
                <a:cs typeface="Arial" panose="020B0604020202020204" pitchFamily="34" charset="0"/>
              </a:rPr>
              <a:t>	Output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FGI</a:t>
            </a:r>
            <a:r>
              <a:rPr lang="en-US" altLang="ko-KR" sz="1200" b="1">
                <a:cs typeface="Arial" panose="020B0604020202020204" pitchFamily="34" charset="0"/>
              </a:rPr>
              <a:t>	Input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FGO</a:t>
            </a:r>
            <a:r>
              <a:rPr lang="en-US" altLang="ko-KR" sz="1200" b="1">
                <a:cs typeface="Arial" panose="020B0604020202020204" pitchFamily="34" charset="0"/>
              </a:rPr>
              <a:t>	Output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IEN</a:t>
            </a:r>
            <a:r>
              <a:rPr lang="en-US" altLang="ko-KR" sz="1200" b="1">
                <a:cs typeface="Arial" panose="020B0604020202020204" pitchFamily="34" charset="0"/>
              </a:rPr>
              <a:t>	Interrupt enable - 1 bit</a:t>
            </a:r>
          </a:p>
        </p:txBody>
      </p:sp>
    </p:spTree>
    <p:extLst>
      <p:ext uri="{BB962C8B-B14F-4D97-AF65-F5344CB8AC3E}">
        <p14:creationId xmlns:p14="http://schemas.microsoft.com/office/powerpoint/2010/main" xmlns="" val="37923230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6" name="TextBox 8"/>
          <p:cNvSpPr txBox="1">
            <a:spLocks noChangeArrowheads="1"/>
          </p:cNvSpPr>
          <p:nvPr/>
        </p:nvSpPr>
        <p:spPr bwMode="auto">
          <a:xfrm>
            <a:off x="2057400" y="381000"/>
            <a:ext cx="807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Register Transfer Operations in Interrupt Cycle </a:t>
            </a:r>
          </a:p>
        </p:txBody>
      </p:sp>
      <p:grpSp>
        <p:nvGrpSpPr>
          <p:cNvPr id="35847" name="Group 59"/>
          <p:cNvGrpSpPr>
            <a:grpSpLocks/>
          </p:cNvGrpSpPr>
          <p:nvPr/>
        </p:nvGrpSpPr>
        <p:grpSpPr bwMode="auto">
          <a:xfrm>
            <a:off x="2638426" y="1143001"/>
            <a:ext cx="6780213" cy="5332413"/>
            <a:chOff x="685800" y="822325"/>
            <a:chExt cx="6780663" cy="5333051"/>
          </a:xfrm>
        </p:grpSpPr>
        <p:sp>
          <p:nvSpPr>
            <p:cNvPr id="35848" name="Rectangle 3"/>
            <p:cNvSpPr>
              <a:spLocks noChangeArrowheads="1"/>
            </p:cNvSpPr>
            <p:nvPr/>
          </p:nvSpPr>
          <p:spPr bwMode="auto">
            <a:xfrm>
              <a:off x="854075" y="3587750"/>
              <a:ext cx="6612388" cy="2567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>
                  <a:cs typeface="Arial" panose="020B0604020202020204" pitchFamily="34" charset="0"/>
                </a:rPr>
                <a:t> Register Transfer Statements for Interrupt Cycle</a:t>
              </a:r>
            </a:p>
            <a:p>
              <a:pPr eaLnBrk="1" hangingPunct="1">
                <a:lnSpc>
                  <a:spcPct val="85000"/>
                </a:lnSpc>
              </a:pPr>
              <a:r>
                <a:rPr lang="en-US" altLang="ko-KR" sz="1600" b="1">
                  <a:cs typeface="Arial" panose="020B0604020202020204" pitchFamily="34" charset="0"/>
                </a:rPr>
                <a:t>	- R  F/F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1     if IEN (FGI + FGO)T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endParaRPr lang="en-US" altLang="ko-KR" sz="1600" b="1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600" b="1">
                  <a:cs typeface="Arial" panose="020B0604020202020204" pitchFamily="34" charset="0"/>
                </a:rPr>
                <a:t>	  		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</a:t>
              </a:r>
              <a:r>
                <a:rPr lang="en-US" altLang="ko-KR" sz="1600" b="1">
                  <a:cs typeface="Arial" panose="020B0604020202020204" pitchFamily="34" charset="0"/>
                </a:rPr>
                <a:t>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 (IEN)(FGI + FGO):   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1</a:t>
              </a:r>
            </a:p>
            <a:p>
              <a:pPr eaLnBrk="1" hangingPunct="1">
                <a:lnSpc>
                  <a:spcPct val="96000"/>
                </a:lnSpc>
              </a:pPr>
              <a:endParaRPr lang="en-US" altLang="ko-KR" sz="1600" b="1">
                <a:cs typeface="Arial" panose="020B0604020202020204" pitchFamily="34" charset="0"/>
              </a:endParaRP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fetch and decode phases of the instruction cycle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   	must be modified </a:t>
              </a:r>
              <a:r>
                <a:rPr lang="en-US" altLang="ko-KR" sz="1600" b="1">
                  <a:cs typeface="Arial" panose="020B0604020202020204" pitchFamily="34" charset="0"/>
                  <a:sym typeface="Wingdings" panose="05000000000000000000" pitchFamily="2" charset="2"/>
                </a:rPr>
                <a:t></a:t>
              </a:r>
              <a:r>
                <a:rPr lang="en-US" altLang="ko-KR" sz="1600" b="1">
                  <a:cs typeface="Arial" panose="020B0604020202020204" pitchFamily="34" charset="0"/>
                </a:rPr>
                <a:t>Replace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</a:rPr>
                <a:t>,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</a:rPr>
                <a:t>,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</a:rPr>
                <a:t>  with  R'T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</a:rPr>
                <a:t>, R'T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</a:rPr>
                <a:t>, R'T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interrupt cycle :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ko-KR" sz="1600" b="1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</a:rPr>
                <a:t>:	AR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0,  TR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PC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ko-KR" sz="1600" b="1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</a:rPr>
                <a:t>:	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TR,  PC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ko-KR" sz="1600" b="1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</a:rPr>
                <a:t>:	PC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PC + 1,  IEN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0,  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0, SC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685800" y="3956425"/>
              <a:ext cx="208404" cy="1886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85000"/>
                </a:lnSpc>
                <a:defRPr/>
              </a:pPr>
              <a:r>
                <a:rPr lang="en-US" altLang="ko-KR" sz="1050" b="1">
                  <a:cs typeface="Arial" pitchFamily="34" charset="0"/>
                </a:rPr>
                <a:t> </a:t>
              </a:r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2778264" y="4145361"/>
              <a:ext cx="288560" cy="2064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96000"/>
                </a:lnSpc>
                <a:defRPr/>
              </a:pPr>
              <a:r>
                <a:rPr lang="en-US" altLang="ko-KR" sz="1050" b="1">
                  <a:cs typeface="Arial" pitchFamily="34" charset="0"/>
                </a:rPr>
                <a:t>  </a:t>
              </a:r>
            </a:p>
          </p:txBody>
        </p:sp>
        <p:sp>
          <p:nvSpPr>
            <p:cNvPr id="15" name="Rectangle 46"/>
            <p:cNvSpPr>
              <a:spLocks noChangeArrowheads="1"/>
            </p:cNvSpPr>
            <p:nvPr/>
          </p:nvSpPr>
          <p:spPr bwMode="auto">
            <a:xfrm>
              <a:off x="4434137" y="1089057"/>
              <a:ext cx="1946176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After interrupt cycle</a:t>
              </a:r>
            </a:p>
          </p:txBody>
        </p:sp>
        <p:sp>
          <p:nvSpPr>
            <p:cNvPr id="17" name="Line 45"/>
            <p:cNvSpPr>
              <a:spLocks noChangeShapeType="1"/>
            </p:cNvSpPr>
            <p:nvPr/>
          </p:nvSpPr>
          <p:spPr bwMode="auto">
            <a:xfrm>
              <a:off x="4543681" y="3116537"/>
              <a:ext cx="1419319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>
              <a:off x="1924132" y="3116537"/>
              <a:ext cx="1419319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924132" y="1370079"/>
              <a:ext cx="1428845" cy="194015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1897143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>
              <a:off x="2176562" y="1536785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22" name="Rectangle 13"/>
            <p:cNvSpPr>
              <a:spLocks noChangeArrowheads="1"/>
            </p:cNvSpPr>
            <p:nvPr/>
          </p:nvSpPr>
          <p:spPr bwMode="auto">
            <a:xfrm>
              <a:off x="2784614" y="1536785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auto">
            <a:xfrm>
              <a:off x="1924132" y="1546312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auto">
            <a:xfrm>
              <a:off x="1924132" y="1728896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5" name="Rectangle 16"/>
            <p:cNvSpPr>
              <a:spLocks noChangeArrowheads="1"/>
            </p:cNvSpPr>
            <p:nvPr/>
          </p:nvSpPr>
          <p:spPr bwMode="auto">
            <a:xfrm>
              <a:off x="1632013" y="135578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1619312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auto">
            <a:xfrm>
              <a:off x="1924132" y="2389375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8" name="Rectangle 19"/>
            <p:cNvSpPr>
              <a:spLocks noChangeArrowheads="1"/>
            </p:cNvSpPr>
            <p:nvPr/>
          </p:nvSpPr>
          <p:spPr bwMode="auto">
            <a:xfrm>
              <a:off x="1133505" y="2152809"/>
              <a:ext cx="82400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= 256</a:t>
              </a:r>
            </a:p>
          </p:txBody>
        </p:sp>
        <p:sp>
          <p:nvSpPr>
            <p:cNvPr id="29" name="Rectangle 20"/>
            <p:cNvSpPr>
              <a:spLocks noChangeArrowheads="1"/>
            </p:cNvSpPr>
            <p:nvPr/>
          </p:nvSpPr>
          <p:spPr bwMode="auto">
            <a:xfrm>
              <a:off x="1527231" y="2006742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255</a:t>
              </a:r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1897143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31" name="Rectangle 22"/>
            <p:cNvSpPr>
              <a:spLocks noChangeArrowheads="1"/>
            </p:cNvSpPr>
            <p:nvPr/>
          </p:nvSpPr>
          <p:spPr bwMode="auto">
            <a:xfrm>
              <a:off x="2176562" y="310859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32" name="Rectangle 23"/>
            <p:cNvSpPr>
              <a:spLocks noChangeArrowheads="1"/>
            </p:cNvSpPr>
            <p:nvPr/>
          </p:nvSpPr>
          <p:spPr bwMode="auto">
            <a:xfrm>
              <a:off x="3041806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33" name="Rectangle 25"/>
            <p:cNvSpPr>
              <a:spLocks noChangeArrowheads="1"/>
            </p:cNvSpPr>
            <p:nvPr/>
          </p:nvSpPr>
          <p:spPr bwMode="auto">
            <a:xfrm>
              <a:off x="1947947" y="1057303"/>
              <a:ext cx="1545399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Before interrupt</a:t>
              </a:r>
            </a:p>
          </p:txBody>
        </p:sp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2395651" y="1879726"/>
              <a:ext cx="503377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Main</a:t>
              </a:r>
            </a:p>
            <a:p>
              <a:pPr defTabSz="762000" latinLnBrk="1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35" name="Rectangle 27"/>
            <p:cNvSpPr>
              <a:spLocks noChangeArrowheads="1"/>
            </p:cNvSpPr>
            <p:nvPr/>
          </p:nvSpPr>
          <p:spPr bwMode="auto">
            <a:xfrm>
              <a:off x="2274993" y="2028969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36" name="Rectangle 28"/>
            <p:cNvSpPr>
              <a:spLocks noChangeArrowheads="1"/>
            </p:cNvSpPr>
            <p:nvPr/>
          </p:nvSpPr>
          <p:spPr bwMode="auto">
            <a:xfrm>
              <a:off x="1412923" y="2360797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37" name="Rectangle 29"/>
            <p:cNvSpPr>
              <a:spLocks noChangeArrowheads="1"/>
            </p:cNvSpPr>
            <p:nvPr/>
          </p:nvSpPr>
          <p:spPr bwMode="auto">
            <a:xfrm>
              <a:off x="2529010" y="2541794"/>
              <a:ext cx="423222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I/O</a:t>
              </a:r>
            </a:p>
            <a:p>
              <a:pPr defTabSz="762000" latinLnBrk="1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38" name="Rectangle 30"/>
            <p:cNvSpPr>
              <a:spLocks noChangeArrowheads="1"/>
            </p:cNvSpPr>
            <p:nvPr/>
          </p:nvSpPr>
          <p:spPr bwMode="auto">
            <a:xfrm>
              <a:off x="2335322" y="2692624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4543681" y="1370079"/>
              <a:ext cx="1428845" cy="194968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4507167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4784997" y="1536785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5391462" y="1536785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43" name="Line 35"/>
            <p:cNvSpPr>
              <a:spLocks noChangeShapeType="1"/>
            </p:cNvSpPr>
            <p:nvPr/>
          </p:nvSpPr>
          <p:spPr bwMode="auto">
            <a:xfrm>
              <a:off x="4543681" y="1546312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Line 36"/>
            <p:cNvSpPr>
              <a:spLocks noChangeShapeType="1"/>
            </p:cNvSpPr>
            <p:nvPr/>
          </p:nvSpPr>
          <p:spPr bwMode="auto">
            <a:xfrm>
              <a:off x="4543681" y="1728896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4238861" y="135578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888001" y="1536785"/>
              <a:ext cx="663688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= 1</a:t>
              </a:r>
            </a:p>
          </p:txBody>
        </p:sp>
        <p:sp>
          <p:nvSpPr>
            <p:cNvPr id="47" name="Line 39"/>
            <p:cNvSpPr>
              <a:spLocks noChangeShapeType="1"/>
            </p:cNvSpPr>
            <p:nvPr/>
          </p:nvSpPr>
          <p:spPr bwMode="auto">
            <a:xfrm>
              <a:off x="4543681" y="2389375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4068988" y="2171861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256</a:t>
              </a:r>
            </a:p>
          </p:txBody>
        </p:sp>
        <p:sp>
          <p:nvSpPr>
            <p:cNvPr id="49" name="Rectangle 41"/>
            <p:cNvSpPr>
              <a:spLocks noChangeArrowheads="1"/>
            </p:cNvSpPr>
            <p:nvPr/>
          </p:nvSpPr>
          <p:spPr bwMode="auto">
            <a:xfrm>
              <a:off x="4115028" y="2025794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255</a:t>
              </a:r>
            </a:p>
          </p:txBody>
        </p:sp>
        <p:sp>
          <p:nvSpPr>
            <p:cNvPr id="50" name="Rectangle 42"/>
            <p:cNvSpPr>
              <a:spLocks noChangeArrowheads="1"/>
            </p:cNvSpPr>
            <p:nvPr/>
          </p:nvSpPr>
          <p:spPr bwMode="auto">
            <a:xfrm>
              <a:off x="4507167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51" name="Rectangle 43"/>
            <p:cNvSpPr>
              <a:spLocks noChangeArrowheads="1"/>
            </p:cNvSpPr>
            <p:nvPr/>
          </p:nvSpPr>
          <p:spPr bwMode="auto">
            <a:xfrm>
              <a:off x="4784997" y="310859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52" name="Rectangle 44"/>
            <p:cNvSpPr>
              <a:spLocks noChangeArrowheads="1"/>
            </p:cNvSpPr>
            <p:nvPr/>
          </p:nvSpPr>
          <p:spPr bwMode="auto">
            <a:xfrm>
              <a:off x="5648654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35888" name="Rectangle 47"/>
            <p:cNvSpPr>
              <a:spLocks noChangeArrowheads="1"/>
            </p:cNvSpPr>
            <p:nvPr/>
          </p:nvSpPr>
          <p:spPr bwMode="auto">
            <a:xfrm>
              <a:off x="3325957" y="822325"/>
              <a:ext cx="969818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5004087" y="1879726"/>
              <a:ext cx="503377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Main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55" name="Rectangle 49"/>
            <p:cNvSpPr>
              <a:spLocks noChangeArrowheads="1"/>
            </p:cNvSpPr>
            <p:nvPr/>
          </p:nvSpPr>
          <p:spPr bwMode="auto">
            <a:xfrm>
              <a:off x="4881841" y="2028969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56" name="Rectangle 50"/>
            <p:cNvSpPr>
              <a:spLocks noChangeArrowheads="1"/>
            </p:cNvSpPr>
            <p:nvPr/>
          </p:nvSpPr>
          <p:spPr bwMode="auto">
            <a:xfrm>
              <a:off x="4034060" y="2360797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57" name="Rectangle 51"/>
            <p:cNvSpPr>
              <a:spLocks noChangeArrowheads="1"/>
            </p:cNvSpPr>
            <p:nvPr/>
          </p:nvSpPr>
          <p:spPr bwMode="auto">
            <a:xfrm>
              <a:off x="5137445" y="2541794"/>
              <a:ext cx="423222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I/O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58" name="Rectangle 52"/>
            <p:cNvSpPr>
              <a:spLocks noChangeArrowheads="1"/>
            </p:cNvSpPr>
            <p:nvPr/>
          </p:nvSpPr>
          <p:spPr bwMode="auto">
            <a:xfrm>
              <a:off x="4943758" y="2692624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5004087" y="133514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5027116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1360488" y="6540500"/>
            <a:ext cx="91440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grpSp>
        <p:nvGrpSpPr>
          <p:cNvPr id="36871" name="Group 330"/>
          <p:cNvGrpSpPr>
            <a:grpSpLocks/>
          </p:cNvGrpSpPr>
          <p:nvPr/>
        </p:nvGrpSpPr>
        <p:grpSpPr bwMode="auto">
          <a:xfrm>
            <a:off x="2576514" y="971550"/>
            <a:ext cx="6415087" cy="5657850"/>
            <a:chOff x="692150" y="782638"/>
            <a:chExt cx="6415088" cy="5657850"/>
          </a:xfrm>
        </p:grpSpPr>
        <p:sp>
          <p:nvSpPr>
            <p:cNvPr id="36873" name="Rectangle 82"/>
            <p:cNvSpPr>
              <a:spLocks noChangeArrowheads="1"/>
            </p:cNvSpPr>
            <p:nvPr/>
          </p:nvSpPr>
          <p:spPr bwMode="auto">
            <a:xfrm>
              <a:off x="1293813" y="4097338"/>
              <a:ext cx="421589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=1 (I/O)       =0 (Register)                            =1(Indir)         =0(Dir)</a:t>
              </a:r>
            </a:p>
          </p:txBody>
        </p:sp>
        <p:sp>
          <p:nvSpPr>
            <p:cNvPr id="36874" name="Rectangle 4"/>
            <p:cNvSpPr>
              <a:spLocks noChangeArrowheads="1"/>
            </p:cNvSpPr>
            <p:nvPr/>
          </p:nvSpPr>
          <p:spPr bwMode="auto">
            <a:xfrm>
              <a:off x="2922588" y="835025"/>
              <a:ext cx="1833562" cy="3270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5" name="Rectangle 5"/>
            <p:cNvSpPr>
              <a:spLocks noChangeArrowheads="1"/>
            </p:cNvSpPr>
            <p:nvPr/>
          </p:nvSpPr>
          <p:spPr bwMode="auto">
            <a:xfrm>
              <a:off x="2903538" y="782638"/>
              <a:ext cx="175689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start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IEN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76" name="AutoShape 6"/>
            <p:cNvSpPr>
              <a:spLocks noChangeArrowheads="1"/>
            </p:cNvSpPr>
            <p:nvPr/>
          </p:nvSpPr>
          <p:spPr bwMode="auto">
            <a:xfrm>
              <a:off x="3605213" y="1366838"/>
              <a:ext cx="428625" cy="339725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7" name="Rectangle 7"/>
            <p:cNvSpPr>
              <a:spLocks noChangeArrowheads="1"/>
            </p:cNvSpPr>
            <p:nvPr/>
          </p:nvSpPr>
          <p:spPr bwMode="auto">
            <a:xfrm>
              <a:off x="3665538" y="1404938"/>
              <a:ext cx="28533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36878" name="Rectangle 8"/>
            <p:cNvSpPr>
              <a:spLocks noChangeArrowheads="1"/>
            </p:cNvSpPr>
            <p:nvPr/>
          </p:nvSpPr>
          <p:spPr bwMode="auto">
            <a:xfrm>
              <a:off x="1698625" y="1919288"/>
              <a:ext cx="1079500" cy="2174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9" name="Rectangle 9"/>
            <p:cNvSpPr>
              <a:spLocks noChangeArrowheads="1"/>
            </p:cNvSpPr>
            <p:nvPr/>
          </p:nvSpPr>
          <p:spPr bwMode="auto">
            <a:xfrm>
              <a:off x="1746250" y="1898650"/>
              <a:ext cx="80150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</a:t>
              </a:r>
            </a:p>
          </p:txBody>
        </p:sp>
        <p:sp>
          <p:nvSpPr>
            <p:cNvPr id="36880" name="Rectangle 10"/>
            <p:cNvSpPr>
              <a:spLocks noChangeArrowheads="1"/>
            </p:cNvSpPr>
            <p:nvPr/>
          </p:nvSpPr>
          <p:spPr bwMode="auto">
            <a:xfrm>
              <a:off x="2409825" y="1693863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881" name="Rectangle 11"/>
            <p:cNvSpPr>
              <a:spLocks noChangeArrowheads="1"/>
            </p:cNvSpPr>
            <p:nvPr/>
          </p:nvSpPr>
          <p:spPr bwMode="auto">
            <a:xfrm>
              <a:off x="1081088" y="2239963"/>
              <a:ext cx="2249487" cy="2444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2" name="Rectangle 12"/>
            <p:cNvSpPr>
              <a:spLocks noChangeArrowheads="1"/>
            </p:cNvSpPr>
            <p:nvPr/>
          </p:nvSpPr>
          <p:spPr bwMode="auto">
            <a:xfrm>
              <a:off x="1087438" y="2232025"/>
              <a:ext cx="188032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M[AR], 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 + 1</a:t>
              </a:r>
            </a:p>
          </p:txBody>
        </p:sp>
        <p:sp>
          <p:nvSpPr>
            <p:cNvPr id="36883" name="Rectangle 13"/>
            <p:cNvSpPr>
              <a:spLocks noChangeArrowheads="1"/>
            </p:cNvSpPr>
            <p:nvPr/>
          </p:nvSpPr>
          <p:spPr bwMode="auto">
            <a:xfrm>
              <a:off x="2855913" y="2012950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884" name="Rectangle 14"/>
            <p:cNvSpPr>
              <a:spLocks noChangeArrowheads="1"/>
            </p:cNvSpPr>
            <p:nvPr/>
          </p:nvSpPr>
          <p:spPr bwMode="auto">
            <a:xfrm>
              <a:off x="989013" y="2674938"/>
              <a:ext cx="2540000" cy="4159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5" name="Rectangle 15"/>
            <p:cNvSpPr>
              <a:spLocks noChangeArrowheads="1"/>
            </p:cNvSpPr>
            <p:nvPr/>
          </p:nvSpPr>
          <p:spPr bwMode="auto">
            <a:xfrm>
              <a:off x="982663" y="2665413"/>
              <a:ext cx="20823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IR(0~11), I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IR(15)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100" b="1">
                  <a:cs typeface="Arial" panose="020B0604020202020204" pitchFamily="34" charset="0"/>
                </a:rPr>
                <a:t>...D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Decode IR(12 ~ 14)</a:t>
              </a:r>
            </a:p>
          </p:txBody>
        </p:sp>
        <p:sp>
          <p:nvSpPr>
            <p:cNvPr id="36886" name="Rectangle 16"/>
            <p:cNvSpPr>
              <a:spLocks noChangeArrowheads="1"/>
            </p:cNvSpPr>
            <p:nvPr/>
          </p:nvSpPr>
          <p:spPr bwMode="auto">
            <a:xfrm>
              <a:off x="3143250" y="2459038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887" name="Rectangle 17"/>
            <p:cNvSpPr>
              <a:spLocks noChangeArrowheads="1"/>
            </p:cNvSpPr>
            <p:nvPr/>
          </p:nvSpPr>
          <p:spPr bwMode="auto">
            <a:xfrm>
              <a:off x="4725988" y="1919288"/>
              <a:ext cx="1604962" cy="1968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8" name="Rectangle 18"/>
            <p:cNvSpPr>
              <a:spLocks noChangeArrowheads="1"/>
            </p:cNvSpPr>
            <p:nvPr/>
          </p:nvSpPr>
          <p:spPr bwMode="auto">
            <a:xfrm>
              <a:off x="4714875" y="1890713"/>
              <a:ext cx="135453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TR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</a:t>
              </a:r>
            </a:p>
          </p:txBody>
        </p:sp>
        <p:sp>
          <p:nvSpPr>
            <p:cNvPr id="36889" name="Rectangle 19"/>
            <p:cNvSpPr>
              <a:spLocks noChangeArrowheads="1"/>
            </p:cNvSpPr>
            <p:nvPr/>
          </p:nvSpPr>
          <p:spPr bwMode="auto">
            <a:xfrm>
              <a:off x="5921375" y="1654175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890" name="Rectangle 20"/>
            <p:cNvSpPr>
              <a:spLocks noChangeArrowheads="1"/>
            </p:cNvSpPr>
            <p:nvPr/>
          </p:nvSpPr>
          <p:spPr bwMode="auto">
            <a:xfrm>
              <a:off x="4646613" y="2262188"/>
              <a:ext cx="2119312" cy="2428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1" name="Rectangle 21"/>
            <p:cNvSpPr>
              <a:spLocks noChangeArrowheads="1"/>
            </p:cNvSpPr>
            <p:nvPr/>
          </p:nvSpPr>
          <p:spPr bwMode="auto">
            <a:xfrm>
              <a:off x="4745038" y="2251075"/>
              <a:ext cx="157254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TR, 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92" name="Rectangle 22"/>
            <p:cNvSpPr>
              <a:spLocks noChangeArrowheads="1"/>
            </p:cNvSpPr>
            <p:nvPr/>
          </p:nvSpPr>
          <p:spPr bwMode="auto">
            <a:xfrm>
              <a:off x="6407150" y="2014538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893" name="Rectangle 23"/>
            <p:cNvSpPr>
              <a:spLocks noChangeArrowheads="1"/>
            </p:cNvSpPr>
            <p:nvPr/>
          </p:nvSpPr>
          <p:spPr bwMode="auto">
            <a:xfrm>
              <a:off x="4646613" y="2706688"/>
              <a:ext cx="2132012" cy="3730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4" name="Rectangle 24"/>
            <p:cNvSpPr>
              <a:spLocks noChangeArrowheads="1"/>
            </p:cNvSpPr>
            <p:nvPr/>
          </p:nvSpPr>
          <p:spPr bwMode="auto">
            <a:xfrm>
              <a:off x="4699000" y="2676525"/>
              <a:ext cx="163827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 + 1, IEN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95" name="Rectangle 25"/>
            <p:cNvSpPr>
              <a:spLocks noChangeArrowheads="1"/>
            </p:cNvSpPr>
            <p:nvPr/>
          </p:nvSpPr>
          <p:spPr bwMode="auto">
            <a:xfrm>
              <a:off x="6484938" y="2462213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896" name="AutoShape 26"/>
            <p:cNvSpPr>
              <a:spLocks noChangeArrowheads="1"/>
            </p:cNvSpPr>
            <p:nvPr/>
          </p:nvSpPr>
          <p:spPr bwMode="auto">
            <a:xfrm>
              <a:off x="3619500" y="3462338"/>
              <a:ext cx="527050" cy="352425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7" name="Rectangle 27"/>
            <p:cNvSpPr>
              <a:spLocks noChangeArrowheads="1"/>
            </p:cNvSpPr>
            <p:nvPr/>
          </p:nvSpPr>
          <p:spPr bwMode="auto">
            <a:xfrm>
              <a:off x="3713163" y="3497263"/>
              <a:ext cx="3382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6898" name="AutoShape 28"/>
            <p:cNvSpPr>
              <a:spLocks noChangeArrowheads="1"/>
            </p:cNvSpPr>
            <p:nvPr/>
          </p:nvSpPr>
          <p:spPr bwMode="auto">
            <a:xfrm>
              <a:off x="1963738" y="4219575"/>
              <a:ext cx="315912" cy="247650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9" name="Rectangle 29"/>
            <p:cNvSpPr>
              <a:spLocks noChangeArrowheads="1"/>
            </p:cNvSpPr>
            <p:nvPr/>
          </p:nvSpPr>
          <p:spPr bwMode="auto">
            <a:xfrm>
              <a:off x="2006600" y="4222750"/>
              <a:ext cx="22121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6900" name="AutoShape 30"/>
            <p:cNvSpPr>
              <a:spLocks noChangeArrowheads="1"/>
            </p:cNvSpPr>
            <p:nvPr/>
          </p:nvSpPr>
          <p:spPr bwMode="auto">
            <a:xfrm>
              <a:off x="5500688" y="4230688"/>
              <a:ext cx="315912" cy="247650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1" name="Rectangle 31"/>
            <p:cNvSpPr>
              <a:spLocks noChangeArrowheads="1"/>
            </p:cNvSpPr>
            <p:nvPr/>
          </p:nvSpPr>
          <p:spPr bwMode="auto">
            <a:xfrm>
              <a:off x="5551488" y="4233863"/>
              <a:ext cx="22121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6902" name="Rectangle 32"/>
            <p:cNvSpPr>
              <a:spLocks noChangeArrowheads="1"/>
            </p:cNvSpPr>
            <p:nvPr/>
          </p:nvSpPr>
          <p:spPr bwMode="auto">
            <a:xfrm>
              <a:off x="804863" y="5068888"/>
              <a:ext cx="1000125" cy="6365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3" name="Rectangle 33"/>
            <p:cNvSpPr>
              <a:spLocks noChangeArrowheads="1"/>
            </p:cNvSpPr>
            <p:nvPr/>
          </p:nvSpPr>
          <p:spPr bwMode="auto">
            <a:xfrm>
              <a:off x="768350" y="5060950"/>
              <a:ext cx="910507" cy="59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I/O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04" name="Rectangle 34"/>
            <p:cNvSpPr>
              <a:spLocks noChangeArrowheads="1"/>
            </p:cNvSpPr>
            <p:nvPr/>
          </p:nvSpPr>
          <p:spPr bwMode="auto">
            <a:xfrm>
              <a:off x="2370138" y="5068888"/>
              <a:ext cx="1039812" cy="6365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5" name="Rectangle 35"/>
            <p:cNvSpPr>
              <a:spLocks noChangeArrowheads="1"/>
            </p:cNvSpPr>
            <p:nvPr/>
          </p:nvSpPr>
          <p:spPr bwMode="auto">
            <a:xfrm>
              <a:off x="2333625" y="5049838"/>
              <a:ext cx="910507" cy="59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RR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06" name="Rectangle 36"/>
            <p:cNvSpPr>
              <a:spLocks noChangeArrowheads="1"/>
            </p:cNvSpPr>
            <p:nvPr/>
          </p:nvSpPr>
          <p:spPr bwMode="auto">
            <a:xfrm>
              <a:off x="4502150" y="5080000"/>
              <a:ext cx="1117600" cy="2159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7" name="Rectangle 37"/>
            <p:cNvSpPr>
              <a:spLocks noChangeArrowheads="1"/>
            </p:cNvSpPr>
            <p:nvPr/>
          </p:nvSpPr>
          <p:spPr bwMode="auto">
            <a:xfrm>
              <a:off x="4454525" y="5041900"/>
              <a:ext cx="100829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&lt;- M[AR]</a:t>
              </a:r>
            </a:p>
          </p:txBody>
        </p:sp>
        <p:sp>
          <p:nvSpPr>
            <p:cNvPr id="36908" name="Rectangle 38"/>
            <p:cNvSpPr>
              <a:spLocks noChangeArrowheads="1"/>
            </p:cNvSpPr>
            <p:nvPr/>
          </p:nvSpPr>
          <p:spPr bwMode="auto">
            <a:xfrm>
              <a:off x="5726113" y="5091113"/>
              <a:ext cx="1052512" cy="1952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9" name="Rectangle 39"/>
            <p:cNvSpPr>
              <a:spLocks noChangeArrowheads="1"/>
            </p:cNvSpPr>
            <p:nvPr/>
          </p:nvSpPr>
          <p:spPr bwMode="auto">
            <a:xfrm>
              <a:off x="6007100" y="5053013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Idle</a:t>
              </a:r>
            </a:p>
          </p:txBody>
        </p:sp>
        <p:sp>
          <p:nvSpPr>
            <p:cNvPr id="36910" name="Rectangle 40"/>
            <p:cNvSpPr>
              <a:spLocks noChangeArrowheads="1"/>
            </p:cNvSpPr>
            <p:nvPr/>
          </p:nvSpPr>
          <p:spPr bwMode="auto">
            <a:xfrm>
              <a:off x="788988" y="4832350"/>
              <a:ext cx="213840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IT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3 </a:t>
              </a:r>
              <a:r>
                <a:rPr lang="en-US" altLang="ko-KR" sz="1100" b="1">
                  <a:cs typeface="Arial" panose="020B0604020202020204" pitchFamily="34" charset="0"/>
                </a:rPr>
                <a:t>                               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I’T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6911" name="Rectangle 41"/>
            <p:cNvSpPr>
              <a:spLocks noChangeArrowheads="1"/>
            </p:cNvSpPr>
            <p:nvPr/>
          </p:nvSpPr>
          <p:spPr bwMode="auto">
            <a:xfrm>
              <a:off x="4354513" y="4841875"/>
              <a:ext cx="206146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’IT3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cs typeface="Arial" panose="020B0604020202020204" pitchFamily="34" charset="0"/>
                </a:rPr>
                <a:t>                          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’I’T3</a:t>
              </a:r>
            </a:p>
          </p:txBody>
        </p:sp>
        <p:sp>
          <p:nvSpPr>
            <p:cNvPr id="36912" name="Rectangle 42"/>
            <p:cNvSpPr>
              <a:spLocks noChangeArrowheads="1"/>
            </p:cNvSpPr>
            <p:nvPr/>
          </p:nvSpPr>
          <p:spPr bwMode="auto">
            <a:xfrm>
              <a:off x="4949825" y="5638800"/>
              <a:ext cx="1577975" cy="4857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13" name="Rectangle 43"/>
            <p:cNvSpPr>
              <a:spLocks noChangeArrowheads="1"/>
            </p:cNvSpPr>
            <p:nvPr/>
          </p:nvSpPr>
          <p:spPr bwMode="auto">
            <a:xfrm>
              <a:off x="5097463" y="5648325"/>
              <a:ext cx="102111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  MR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14" name="Line 44"/>
            <p:cNvSpPr>
              <a:spLocks noChangeShapeType="1"/>
            </p:cNvSpPr>
            <p:nvPr/>
          </p:nvSpPr>
          <p:spPr bwMode="auto">
            <a:xfrm>
              <a:off x="3817938" y="1173163"/>
              <a:ext cx="0" cy="196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5" name="Line 45"/>
            <p:cNvSpPr>
              <a:spLocks noChangeShapeType="1"/>
            </p:cNvSpPr>
            <p:nvPr/>
          </p:nvSpPr>
          <p:spPr bwMode="auto">
            <a:xfrm flipH="1">
              <a:off x="2265363" y="1536700"/>
              <a:ext cx="1368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6" name="Line 46"/>
            <p:cNvSpPr>
              <a:spLocks noChangeShapeType="1"/>
            </p:cNvSpPr>
            <p:nvPr/>
          </p:nvSpPr>
          <p:spPr bwMode="auto">
            <a:xfrm>
              <a:off x="2279650" y="1544638"/>
              <a:ext cx="0" cy="3540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7" name="Line 47"/>
            <p:cNvSpPr>
              <a:spLocks noChangeShapeType="1"/>
            </p:cNvSpPr>
            <p:nvPr/>
          </p:nvSpPr>
          <p:spPr bwMode="auto">
            <a:xfrm>
              <a:off x="4035425" y="1536700"/>
              <a:ext cx="14938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8" name="Line 48"/>
            <p:cNvSpPr>
              <a:spLocks noChangeShapeType="1"/>
            </p:cNvSpPr>
            <p:nvPr/>
          </p:nvSpPr>
          <p:spPr bwMode="auto">
            <a:xfrm>
              <a:off x="5514975" y="1524000"/>
              <a:ext cx="0" cy="395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9" name="Line 49"/>
            <p:cNvSpPr>
              <a:spLocks noChangeShapeType="1"/>
            </p:cNvSpPr>
            <p:nvPr/>
          </p:nvSpPr>
          <p:spPr bwMode="auto">
            <a:xfrm>
              <a:off x="2265363" y="2147888"/>
              <a:ext cx="0" cy="714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0" name="Line 50"/>
            <p:cNvSpPr>
              <a:spLocks noChangeShapeType="1"/>
            </p:cNvSpPr>
            <p:nvPr/>
          </p:nvSpPr>
          <p:spPr bwMode="auto">
            <a:xfrm>
              <a:off x="2265363" y="2487613"/>
              <a:ext cx="0" cy="17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1" name="Line 51"/>
            <p:cNvSpPr>
              <a:spLocks noChangeShapeType="1"/>
            </p:cNvSpPr>
            <p:nvPr/>
          </p:nvSpPr>
          <p:spPr bwMode="auto">
            <a:xfrm>
              <a:off x="5514975" y="2127250"/>
              <a:ext cx="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2" name="Line 52"/>
            <p:cNvSpPr>
              <a:spLocks noChangeShapeType="1"/>
            </p:cNvSpPr>
            <p:nvPr/>
          </p:nvSpPr>
          <p:spPr bwMode="auto">
            <a:xfrm>
              <a:off x="5508625" y="2508250"/>
              <a:ext cx="0" cy="187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3" name="Line 53"/>
            <p:cNvSpPr>
              <a:spLocks noChangeShapeType="1"/>
            </p:cNvSpPr>
            <p:nvPr/>
          </p:nvSpPr>
          <p:spPr bwMode="auto">
            <a:xfrm>
              <a:off x="2265363" y="3094038"/>
              <a:ext cx="0" cy="88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4" name="Line 54"/>
            <p:cNvSpPr>
              <a:spLocks noChangeShapeType="1"/>
            </p:cNvSpPr>
            <p:nvPr/>
          </p:nvSpPr>
          <p:spPr bwMode="auto">
            <a:xfrm>
              <a:off x="2259013" y="3182938"/>
              <a:ext cx="1638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5" name="Line 55"/>
            <p:cNvSpPr>
              <a:spLocks noChangeShapeType="1"/>
            </p:cNvSpPr>
            <p:nvPr/>
          </p:nvSpPr>
          <p:spPr bwMode="auto">
            <a:xfrm>
              <a:off x="3897313" y="3194050"/>
              <a:ext cx="0" cy="279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6" name="Line 56"/>
            <p:cNvSpPr>
              <a:spLocks noChangeShapeType="1"/>
            </p:cNvSpPr>
            <p:nvPr/>
          </p:nvSpPr>
          <p:spPr bwMode="auto">
            <a:xfrm>
              <a:off x="5495925" y="3079750"/>
              <a:ext cx="0" cy="2079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7" name="Line 57"/>
            <p:cNvSpPr>
              <a:spLocks noChangeShapeType="1"/>
            </p:cNvSpPr>
            <p:nvPr/>
          </p:nvSpPr>
          <p:spPr bwMode="auto">
            <a:xfrm>
              <a:off x="5508625" y="3276600"/>
              <a:ext cx="15732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8" name="Line 58"/>
            <p:cNvSpPr>
              <a:spLocks noChangeShapeType="1"/>
            </p:cNvSpPr>
            <p:nvPr/>
          </p:nvSpPr>
          <p:spPr bwMode="auto">
            <a:xfrm flipV="1">
              <a:off x="7094538" y="1287463"/>
              <a:ext cx="0" cy="2000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9" name="Line 59"/>
            <p:cNvSpPr>
              <a:spLocks noChangeShapeType="1"/>
            </p:cNvSpPr>
            <p:nvPr/>
          </p:nvSpPr>
          <p:spPr bwMode="auto">
            <a:xfrm flipH="1">
              <a:off x="3790950" y="1296988"/>
              <a:ext cx="3316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0" name="Line 60"/>
            <p:cNvSpPr>
              <a:spLocks noChangeShapeType="1"/>
            </p:cNvSpPr>
            <p:nvPr/>
          </p:nvSpPr>
          <p:spPr bwMode="auto">
            <a:xfrm>
              <a:off x="4160838" y="3644900"/>
              <a:ext cx="1519237" cy="47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1" name="Line 61"/>
            <p:cNvSpPr>
              <a:spLocks noChangeShapeType="1"/>
            </p:cNvSpPr>
            <p:nvPr/>
          </p:nvSpPr>
          <p:spPr bwMode="auto">
            <a:xfrm>
              <a:off x="5665788" y="3643313"/>
              <a:ext cx="0" cy="581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2" name="Line 62"/>
            <p:cNvSpPr>
              <a:spLocks noChangeShapeType="1"/>
            </p:cNvSpPr>
            <p:nvPr/>
          </p:nvSpPr>
          <p:spPr bwMode="auto">
            <a:xfrm flipH="1">
              <a:off x="2133600" y="3649663"/>
              <a:ext cx="15001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3" name="Line 63"/>
            <p:cNvSpPr>
              <a:spLocks noChangeShapeType="1"/>
            </p:cNvSpPr>
            <p:nvPr/>
          </p:nvSpPr>
          <p:spPr bwMode="auto">
            <a:xfrm>
              <a:off x="2127250" y="3659188"/>
              <a:ext cx="0" cy="560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4" name="Line 64"/>
            <p:cNvSpPr>
              <a:spLocks noChangeShapeType="1"/>
            </p:cNvSpPr>
            <p:nvPr/>
          </p:nvSpPr>
          <p:spPr bwMode="auto">
            <a:xfrm>
              <a:off x="2276475" y="4343400"/>
              <a:ext cx="5730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5" name="Line 65"/>
            <p:cNvSpPr>
              <a:spLocks noChangeShapeType="1"/>
            </p:cNvSpPr>
            <p:nvPr/>
          </p:nvSpPr>
          <p:spPr bwMode="auto">
            <a:xfrm>
              <a:off x="2844800" y="4352925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6" name="Line 66"/>
            <p:cNvSpPr>
              <a:spLocks noChangeShapeType="1"/>
            </p:cNvSpPr>
            <p:nvPr/>
          </p:nvSpPr>
          <p:spPr bwMode="auto">
            <a:xfrm flipH="1">
              <a:off x="1409700" y="4343400"/>
              <a:ext cx="5794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7" name="Line 68"/>
            <p:cNvSpPr>
              <a:spLocks noChangeShapeType="1"/>
            </p:cNvSpPr>
            <p:nvPr/>
          </p:nvSpPr>
          <p:spPr bwMode="auto">
            <a:xfrm flipH="1">
              <a:off x="5029200" y="4352925"/>
              <a:ext cx="485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8" name="Line 69"/>
            <p:cNvSpPr>
              <a:spLocks noChangeShapeType="1"/>
            </p:cNvSpPr>
            <p:nvPr/>
          </p:nvSpPr>
          <p:spPr bwMode="auto">
            <a:xfrm>
              <a:off x="5041900" y="4364038"/>
              <a:ext cx="0" cy="695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9" name="Line 70"/>
            <p:cNvSpPr>
              <a:spLocks noChangeShapeType="1"/>
            </p:cNvSpPr>
            <p:nvPr/>
          </p:nvSpPr>
          <p:spPr bwMode="auto">
            <a:xfrm>
              <a:off x="5843588" y="4364038"/>
              <a:ext cx="341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0" name="Line 71"/>
            <p:cNvSpPr>
              <a:spLocks noChangeShapeType="1"/>
            </p:cNvSpPr>
            <p:nvPr/>
          </p:nvSpPr>
          <p:spPr bwMode="auto">
            <a:xfrm>
              <a:off x="6199188" y="4373563"/>
              <a:ext cx="0" cy="695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1" name="Line 72"/>
            <p:cNvSpPr>
              <a:spLocks noChangeShapeType="1"/>
            </p:cNvSpPr>
            <p:nvPr/>
          </p:nvSpPr>
          <p:spPr bwMode="auto">
            <a:xfrm>
              <a:off x="5054600" y="5295900"/>
              <a:ext cx="0" cy="333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2" name="Line 73"/>
            <p:cNvSpPr>
              <a:spLocks noChangeShapeType="1"/>
            </p:cNvSpPr>
            <p:nvPr/>
          </p:nvSpPr>
          <p:spPr bwMode="auto">
            <a:xfrm>
              <a:off x="6199188" y="5295900"/>
              <a:ext cx="0" cy="333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3" name="Line 74"/>
            <p:cNvSpPr>
              <a:spLocks noChangeShapeType="1"/>
            </p:cNvSpPr>
            <p:nvPr/>
          </p:nvSpPr>
          <p:spPr bwMode="auto">
            <a:xfrm>
              <a:off x="5732463" y="6130925"/>
              <a:ext cx="0" cy="2825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4" name="Line 75"/>
            <p:cNvSpPr>
              <a:spLocks noChangeShapeType="1"/>
            </p:cNvSpPr>
            <p:nvPr/>
          </p:nvSpPr>
          <p:spPr bwMode="auto">
            <a:xfrm flipH="1">
              <a:off x="692150" y="6423025"/>
              <a:ext cx="50657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5" name="Line 76"/>
            <p:cNvSpPr>
              <a:spLocks noChangeShapeType="1"/>
            </p:cNvSpPr>
            <p:nvPr/>
          </p:nvSpPr>
          <p:spPr bwMode="auto">
            <a:xfrm>
              <a:off x="1436688" y="5695950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6" name="Line 77"/>
            <p:cNvSpPr>
              <a:spLocks noChangeShapeType="1"/>
            </p:cNvSpPr>
            <p:nvPr/>
          </p:nvSpPr>
          <p:spPr bwMode="auto">
            <a:xfrm>
              <a:off x="2857500" y="5695950"/>
              <a:ext cx="0" cy="708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7" name="Line 79"/>
            <p:cNvSpPr>
              <a:spLocks noChangeShapeType="1"/>
            </p:cNvSpPr>
            <p:nvPr/>
          </p:nvSpPr>
          <p:spPr bwMode="auto">
            <a:xfrm flipH="1">
              <a:off x="704850" y="1296988"/>
              <a:ext cx="3125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8" name="Rectangle 80"/>
            <p:cNvSpPr>
              <a:spLocks noChangeArrowheads="1"/>
            </p:cNvSpPr>
            <p:nvPr/>
          </p:nvSpPr>
          <p:spPr bwMode="auto">
            <a:xfrm>
              <a:off x="2262188" y="1312863"/>
              <a:ext cx="368141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=0(Instruction              		=1(Interrupt </a:t>
              </a:r>
            </a:p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     Cycle)                           	      Cycle)</a:t>
              </a:r>
            </a:p>
          </p:txBody>
        </p:sp>
        <p:sp>
          <p:nvSpPr>
            <p:cNvPr id="36949" name="Rectangle 81"/>
            <p:cNvSpPr>
              <a:spLocks noChangeArrowheads="1"/>
            </p:cNvSpPr>
            <p:nvPr/>
          </p:nvSpPr>
          <p:spPr bwMode="auto">
            <a:xfrm>
              <a:off x="1868488" y="3424238"/>
              <a:ext cx="43585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=1(Register or I/O)             		 =0(Memory Ref)</a:t>
              </a:r>
            </a:p>
          </p:txBody>
        </p:sp>
        <p:sp>
          <p:nvSpPr>
            <p:cNvPr id="36950" name="Rectangle 83"/>
            <p:cNvSpPr>
              <a:spLocks noChangeArrowheads="1"/>
            </p:cNvSpPr>
            <p:nvPr/>
          </p:nvSpPr>
          <p:spPr bwMode="auto">
            <a:xfrm>
              <a:off x="6426200" y="5619750"/>
              <a:ext cx="58028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’T4</a:t>
              </a:r>
            </a:p>
          </p:txBody>
        </p:sp>
        <p:sp>
          <p:nvSpPr>
            <p:cNvPr id="36951" name="Line 85"/>
            <p:cNvSpPr>
              <a:spLocks noChangeShapeType="1"/>
            </p:cNvSpPr>
            <p:nvPr/>
          </p:nvSpPr>
          <p:spPr bwMode="auto">
            <a:xfrm>
              <a:off x="1406525" y="4362450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52" name="Line 86"/>
            <p:cNvSpPr>
              <a:spLocks noChangeShapeType="1"/>
            </p:cNvSpPr>
            <p:nvPr/>
          </p:nvSpPr>
          <p:spPr bwMode="auto">
            <a:xfrm flipV="1">
              <a:off x="693738" y="1287463"/>
              <a:ext cx="0" cy="5153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872" name="Rectangle 4"/>
          <p:cNvSpPr>
            <a:spLocks noChangeArrowheads="1"/>
          </p:cNvSpPr>
          <p:nvPr/>
        </p:nvSpPr>
        <p:spPr bwMode="auto">
          <a:xfrm>
            <a:off x="8302626" y="3738564"/>
            <a:ext cx="2670175" cy="90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609600" indent="-609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INPR</a:t>
            </a:r>
            <a:r>
              <a:rPr lang="en-US" altLang="ko-KR" sz="1200" b="1">
                <a:cs typeface="Arial" panose="020B0604020202020204" pitchFamily="34" charset="0"/>
              </a:rPr>
              <a:t>	Input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OUTR</a:t>
            </a:r>
            <a:r>
              <a:rPr lang="en-US" altLang="ko-KR" sz="1200" b="1">
                <a:cs typeface="Arial" panose="020B0604020202020204" pitchFamily="34" charset="0"/>
              </a:rPr>
              <a:t>	Output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FGI</a:t>
            </a:r>
            <a:r>
              <a:rPr lang="en-US" altLang="ko-KR" sz="1200" b="1">
                <a:cs typeface="Arial" panose="020B0604020202020204" pitchFamily="34" charset="0"/>
              </a:rPr>
              <a:t>	Input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FGO</a:t>
            </a:r>
            <a:r>
              <a:rPr lang="en-US" altLang="ko-KR" sz="1200" b="1">
                <a:cs typeface="Arial" panose="020B0604020202020204" pitchFamily="34" charset="0"/>
              </a:rPr>
              <a:t>	Output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IEN</a:t>
            </a:r>
            <a:r>
              <a:rPr lang="en-US" altLang="ko-KR" sz="1200" b="1">
                <a:cs typeface="Arial" panose="020B0604020202020204" pitchFamily="34" charset="0"/>
              </a:rPr>
              <a:t>	Interrupt enable - 1 bit</a:t>
            </a:r>
          </a:p>
        </p:txBody>
      </p:sp>
    </p:spTree>
    <p:extLst>
      <p:ext uri="{BB962C8B-B14F-4D97-AF65-F5344CB8AC3E}">
        <p14:creationId xmlns:p14="http://schemas.microsoft.com/office/powerpoint/2010/main" xmlns="" val="60414454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sp>
        <p:nvSpPr>
          <p:cNvPr id="37895" name="Rectangle 4"/>
          <p:cNvSpPr>
            <a:spLocks noChangeArrowheads="1"/>
          </p:cNvSpPr>
          <p:nvPr/>
        </p:nvSpPr>
        <p:spPr bwMode="auto">
          <a:xfrm>
            <a:off x="2743200" y="1433514"/>
            <a:ext cx="1563688" cy="489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Fetch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Decode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Indirect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Interrupt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                          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Memory-Reference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AND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ADD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LDA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STA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BUN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BSA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ISZ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latinLnBrk="1" hangingPunct="1"/>
            <a:endParaRPr lang="en-US" altLang="ko-KR" sz="1200" b="1">
              <a:cs typeface="Arial" panose="020B0604020202020204" pitchFamily="34" charset="0"/>
            </a:endParaRPr>
          </a:p>
        </p:txBody>
      </p:sp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4281489" y="1433513"/>
            <a:ext cx="1184275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:     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IT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RT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RT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RT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</p:txBody>
      </p:sp>
      <p:sp>
        <p:nvSpPr>
          <p:cNvPr id="37897" name="Rectangle 6"/>
          <p:cNvSpPr>
            <a:spLocks noChangeArrowheads="1"/>
          </p:cNvSpPr>
          <p:nvPr/>
        </p:nvSpPr>
        <p:spPr bwMode="auto">
          <a:xfrm>
            <a:off x="5608638" y="1433514"/>
            <a:ext cx="3344862" cy="470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M[AR], 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D0, ..., D7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Decode IR(12 ~ 14),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	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IR(0 ~ 11), I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IR(15)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0, TR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TR, 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+ 1, IEN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0, 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 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ko-KR" sz="1200" b="1">
                <a:cs typeface="Arial" panose="020B0604020202020204" pitchFamily="34" charset="0"/>
              </a:rPr>
              <a:t> DR,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 + DR, 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C</a:t>
            </a:r>
            <a:r>
              <a:rPr lang="en-US" altLang="ko-KR" sz="1200" b="1" baseline="-25000">
                <a:cs typeface="Arial" panose="020B0604020202020204" pitchFamily="34" charset="0"/>
              </a:rPr>
              <a:t>out</a:t>
            </a:r>
            <a:r>
              <a:rPr lang="en-US" altLang="ko-KR" sz="1200" b="1">
                <a:cs typeface="Arial" panose="020B0604020202020204" pitchFamily="34" charset="0"/>
              </a:rPr>
              <a:t>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PC, 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AR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DR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DR,  if(DR=0)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+ 1),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</p:txBody>
      </p:sp>
      <p:sp>
        <p:nvSpPr>
          <p:cNvPr id="37898" name="Rectangle 9"/>
          <p:cNvSpPr>
            <a:spLocks noChangeArrowheads="1"/>
          </p:cNvSpPr>
          <p:nvPr/>
        </p:nvSpPr>
        <p:spPr bwMode="auto">
          <a:xfrm>
            <a:off x="2628901" y="1238250"/>
            <a:ext cx="7038975" cy="5010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12439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9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sp>
        <p:nvSpPr>
          <p:cNvPr id="38919" name="Rectangle 3"/>
          <p:cNvSpPr>
            <a:spLocks noChangeArrowheads="1"/>
          </p:cNvSpPr>
          <p:nvPr/>
        </p:nvSpPr>
        <p:spPr bwMode="auto">
          <a:xfrm>
            <a:off x="2463800" y="1250950"/>
            <a:ext cx="1589088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Register-Reference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CLA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CLE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CMA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CME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CIR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CIL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INC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SPA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SNA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SZA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SZE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HLT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Input-Output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INP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OUT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SKI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SKO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ION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IOF</a:t>
            </a:r>
          </a:p>
        </p:txBody>
      </p:sp>
      <p:sp>
        <p:nvSpPr>
          <p:cNvPr id="38920" name="Rectangle 4"/>
          <p:cNvSpPr>
            <a:spLocks noChangeArrowheads="1"/>
          </p:cNvSpPr>
          <p:nvPr/>
        </p:nvSpPr>
        <p:spPr bwMode="auto">
          <a:xfrm>
            <a:off x="3930650" y="1250950"/>
            <a:ext cx="118745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 = r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IR(i) = B</a:t>
            </a:r>
            <a:r>
              <a:rPr lang="en-US" altLang="ko-KR" sz="1200" b="1" baseline="-25000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</a:rPr>
              <a:t>      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9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8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IT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 = p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IR(i) = B</a:t>
            </a:r>
            <a:r>
              <a:rPr lang="en-US" altLang="ko-KR" sz="1200" b="1" baseline="-25000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</a:rPr>
              <a:t>        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11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10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9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8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</p:txBody>
      </p:sp>
      <p:sp>
        <p:nvSpPr>
          <p:cNvPr id="38921" name="Rectangle 5"/>
          <p:cNvSpPr>
            <a:spLocks noChangeArrowheads="1"/>
          </p:cNvSpPr>
          <p:nvPr/>
        </p:nvSpPr>
        <p:spPr bwMode="auto">
          <a:xfrm>
            <a:off x="5075239" y="1250950"/>
            <a:ext cx="3235325" cy="507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(Common to all register-reference instr)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(i = 0,1,2, ..., 11)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shr AC, AC(15)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E, 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AC(0)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shl AC, AC(0)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E, 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AC(15)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If(AC(15) =0) then 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If(AC(15) =1) then 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 = 0)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If(E=0)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(Common to all input-output instructions)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(i = 6,7,8,9,10,11)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AC(0-7)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INPR, FGI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OUTR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AC(0-7), FGO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If(FGI=1)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If(FGO=1)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IEN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IEN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</p:txBody>
      </p:sp>
      <p:sp>
        <p:nvSpPr>
          <p:cNvPr id="38922" name="Rectangle 13"/>
          <p:cNvSpPr>
            <a:spLocks noChangeArrowheads="1"/>
          </p:cNvSpPr>
          <p:nvPr/>
        </p:nvSpPr>
        <p:spPr bwMode="auto">
          <a:xfrm>
            <a:off x="2428875" y="1209676"/>
            <a:ext cx="6553200" cy="5191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8836256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40" name="TextBox 5"/>
          <p:cNvSpPr txBox="1">
            <a:spLocks noChangeArrowheads="1"/>
          </p:cNvSpPr>
          <p:nvPr/>
        </p:nvSpPr>
        <p:spPr bwMode="auto">
          <a:xfrm>
            <a:off x="1524000" y="65262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Design of a Basic Computer(BC)</a:t>
            </a:r>
          </a:p>
        </p:txBody>
      </p:sp>
      <p:sp>
        <p:nvSpPr>
          <p:cNvPr id="39943" name="Rectangle 3"/>
          <p:cNvSpPr>
            <a:spLocks noChangeArrowheads="1"/>
          </p:cNvSpPr>
          <p:nvPr/>
        </p:nvSpPr>
        <p:spPr bwMode="auto">
          <a:xfrm>
            <a:off x="1898651" y="1200150"/>
            <a:ext cx="303371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Hardware Components of BC </a:t>
            </a:r>
          </a:p>
        </p:txBody>
      </p:sp>
      <p:sp>
        <p:nvSpPr>
          <p:cNvPr id="39944" name="Rectangle 4"/>
          <p:cNvSpPr>
            <a:spLocks noChangeArrowheads="1"/>
          </p:cNvSpPr>
          <p:nvPr/>
        </p:nvSpPr>
        <p:spPr bwMode="auto">
          <a:xfrm>
            <a:off x="2586038" y="1481138"/>
            <a:ext cx="5092700" cy="25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A memory unit:     4096 x 16.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Registers:  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           AR, PC, DR, AC, IR, TR, OUTR, INPR, and SC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Flip-Flops(Status):  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           I, S, E, R, IEN, FGI, and FGO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Decoders:         a 3x8 Opcode decoder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                           a 4x16 timing decoder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Common bus:   16 bits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Control logic gates: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Adder and Logic circuit:   Connected to AC</a:t>
            </a:r>
          </a:p>
        </p:txBody>
      </p:sp>
      <p:sp>
        <p:nvSpPr>
          <p:cNvPr id="39945" name="Rectangle 5"/>
          <p:cNvSpPr>
            <a:spLocks noChangeArrowheads="1"/>
          </p:cNvSpPr>
          <p:nvPr/>
        </p:nvSpPr>
        <p:spPr bwMode="auto">
          <a:xfrm>
            <a:off x="1889125" y="4356100"/>
            <a:ext cx="20907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Control Logic Gates</a:t>
            </a:r>
          </a:p>
        </p:txBody>
      </p:sp>
      <p:sp>
        <p:nvSpPr>
          <p:cNvPr id="39946" name="Rectangle 7"/>
          <p:cNvSpPr>
            <a:spLocks noChangeArrowheads="1"/>
          </p:cNvSpPr>
          <p:nvPr/>
        </p:nvSpPr>
        <p:spPr bwMode="auto">
          <a:xfrm>
            <a:off x="2251075" y="4695826"/>
            <a:ext cx="5888038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Input Controls of the nine registers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Read and Write Controls of memory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Set, Clear, or Complement Controls of the flip-flops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S</a:t>
            </a:r>
            <a:r>
              <a:rPr lang="en-US" altLang="ko-KR" sz="1600" b="1" baseline="-25000">
                <a:cs typeface="Arial" panose="020B0604020202020204" pitchFamily="34" charset="0"/>
              </a:rPr>
              <a:t>2</a:t>
            </a:r>
            <a:r>
              <a:rPr lang="en-US" altLang="ko-KR" sz="1600" b="1">
                <a:cs typeface="Arial" panose="020B0604020202020204" pitchFamily="34" charset="0"/>
              </a:rPr>
              <a:t>, S</a:t>
            </a:r>
            <a:r>
              <a:rPr lang="en-US" altLang="ko-KR" sz="1600" b="1" baseline="-25000">
                <a:cs typeface="Arial" panose="020B0604020202020204" pitchFamily="34" charset="0"/>
              </a:rPr>
              <a:t>1</a:t>
            </a:r>
            <a:r>
              <a:rPr lang="en-US" altLang="ko-KR" sz="1600" b="1">
                <a:cs typeface="Arial" panose="020B0604020202020204" pitchFamily="34" charset="0"/>
              </a:rPr>
              <a:t>, S</a:t>
            </a:r>
            <a:r>
              <a:rPr lang="en-US" altLang="ko-KR" sz="1600" b="1" baseline="-25000">
                <a:cs typeface="Arial" panose="020B0604020202020204" pitchFamily="34" charset="0"/>
              </a:rPr>
              <a:t>0</a:t>
            </a:r>
            <a:r>
              <a:rPr lang="en-US" altLang="ko-KR" sz="1600" b="1">
                <a:cs typeface="Arial" panose="020B0604020202020204" pitchFamily="34" charset="0"/>
              </a:rPr>
              <a:t>  Controls to select a register for the bus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AC, and Adder and Logic circuit</a:t>
            </a:r>
          </a:p>
          <a:p>
            <a:pPr eaLnBrk="1" hangingPunct="1"/>
            <a:endParaRPr lang="en-US" altLang="ko-KR" sz="16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36378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2472</TotalTime>
  <Words>4442</Words>
  <Application>Microsoft Office PowerPoint</Application>
  <PresentationFormat>Custom</PresentationFormat>
  <Paragraphs>1582</Paragraphs>
  <Slides>90</Slides>
  <Notes>48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1" baseType="lpstr">
      <vt:lpstr>1_Office Theme</vt:lpstr>
      <vt:lpstr>Slide 1</vt:lpstr>
      <vt:lpstr>Computer Organization</vt:lpstr>
      <vt:lpstr>Computer Architecture </vt:lpstr>
      <vt:lpstr>Computer Organization </vt:lpstr>
      <vt:lpstr>Basic Organization of a Computer</vt:lpstr>
      <vt:lpstr>Slide 6</vt:lpstr>
      <vt:lpstr>Example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DK</cp:lastModifiedBy>
  <cp:revision>43</cp:revision>
  <dcterms:created xsi:type="dcterms:W3CDTF">2024-12-19T08:47:23Z</dcterms:created>
  <dcterms:modified xsi:type="dcterms:W3CDTF">2026-02-04T03:32:02Z</dcterms:modified>
</cp:coreProperties>
</file>